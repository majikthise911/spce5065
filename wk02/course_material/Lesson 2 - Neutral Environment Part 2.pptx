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539" r:id="rId3"/>
    <p:sldId id="309" r:id="rId4"/>
    <p:sldId id="287" r:id="rId5"/>
    <p:sldId id="288" r:id="rId6"/>
    <p:sldId id="289" r:id="rId7"/>
    <p:sldId id="285" r:id="rId8"/>
    <p:sldId id="525" r:id="rId9"/>
    <p:sldId id="527" r:id="rId10"/>
    <p:sldId id="528" r:id="rId11"/>
    <p:sldId id="529" r:id="rId12"/>
    <p:sldId id="530" r:id="rId13"/>
    <p:sldId id="337" r:id="rId14"/>
    <p:sldId id="338" r:id="rId15"/>
    <p:sldId id="339" r:id="rId16"/>
    <p:sldId id="340" r:id="rId17"/>
    <p:sldId id="341" r:id="rId18"/>
    <p:sldId id="413" r:id="rId19"/>
    <p:sldId id="342" r:id="rId20"/>
    <p:sldId id="347" r:id="rId21"/>
    <p:sldId id="348" r:id="rId22"/>
    <p:sldId id="349" r:id="rId23"/>
    <p:sldId id="397" r:id="rId24"/>
    <p:sldId id="398" r:id="rId25"/>
    <p:sldId id="344" r:id="rId26"/>
    <p:sldId id="399" r:id="rId27"/>
    <p:sldId id="400" r:id="rId28"/>
    <p:sldId id="402" r:id="rId29"/>
    <p:sldId id="403" r:id="rId30"/>
    <p:sldId id="345" r:id="rId31"/>
    <p:sldId id="404" r:id="rId32"/>
    <p:sldId id="405" r:id="rId33"/>
    <p:sldId id="406" r:id="rId34"/>
    <p:sldId id="407" r:id="rId35"/>
    <p:sldId id="408" r:id="rId36"/>
    <p:sldId id="409" r:id="rId37"/>
    <p:sldId id="414" r:id="rId38"/>
    <p:sldId id="265" r:id="rId39"/>
    <p:sldId id="334" r:id="rId40"/>
    <p:sldId id="531" r:id="rId41"/>
    <p:sldId id="419" r:id="rId42"/>
    <p:sldId id="415" r:id="rId43"/>
    <p:sldId id="293" r:id="rId44"/>
    <p:sldId id="417" r:id="rId45"/>
    <p:sldId id="416" r:id="rId46"/>
    <p:sldId id="336" r:id="rId47"/>
    <p:sldId id="268" r:id="rId48"/>
    <p:sldId id="401"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A88C6E-1EAF-4086-BE4F-267B8428799D}" v="2" dt="2024-06-27T03:41:38.3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708"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47ED9889-C222-4FC3-A984-16A86FB552CA}"/>
    <pc:docChg chg="undo custSel addSld modSld sldOrd">
      <pc:chgData name="Lynnane George" userId="065056628ae16e64" providerId="LiveId" clId="{47ED9889-C222-4FC3-A984-16A86FB552CA}" dt="2021-07-01T00:21:53.185" v="300" actId="20577"/>
      <pc:docMkLst>
        <pc:docMk/>
      </pc:docMkLst>
      <pc:sldChg chg="addSp modSp new mod setBg">
        <pc:chgData name="Lynnane George" userId="065056628ae16e64" providerId="LiveId" clId="{47ED9889-C222-4FC3-A984-16A86FB552CA}" dt="2021-06-30T23:26:32.553" v="41" actId="20577"/>
        <pc:sldMkLst>
          <pc:docMk/>
          <pc:sldMk cId="3025116325" sldId="256"/>
        </pc:sldMkLst>
        <pc:spChg chg="add mod">
          <ac:chgData name="Lynnane George" userId="065056628ae16e64" providerId="LiveId" clId="{47ED9889-C222-4FC3-A984-16A86FB552CA}" dt="2021-06-30T23:26:32.553" v="41" actId="20577"/>
          <ac:spMkLst>
            <pc:docMk/>
            <pc:sldMk cId="3025116325" sldId="256"/>
            <ac:spMk id="3" creationId="{5AE92190-A31A-4094-8DEA-9B74F8843A6B}"/>
          </ac:spMkLst>
        </pc:spChg>
        <pc:spChg chg="add">
          <ac:chgData name="Lynnane George" userId="065056628ae16e64" providerId="LiveId" clId="{47ED9889-C222-4FC3-A984-16A86FB552CA}" dt="2021-06-30T23:25:58.861" v="5" actId="26606"/>
          <ac:spMkLst>
            <pc:docMk/>
            <pc:sldMk cId="3025116325" sldId="256"/>
            <ac:spMk id="7" creationId="{42A4FC2C-047E-45A5-965D-8E1E3BF09BC6}"/>
          </ac:spMkLst>
        </pc:spChg>
        <pc:picChg chg="add mod">
          <ac:chgData name="Lynnane George" userId="065056628ae16e64" providerId="LiveId" clId="{47ED9889-C222-4FC3-A984-16A86FB552CA}" dt="2021-06-30T23:25:58.861" v="5" actId="26606"/>
          <ac:picMkLst>
            <pc:docMk/>
            <pc:sldMk cId="3025116325" sldId="256"/>
            <ac:picMk id="2" creationId="{260A8057-03C2-4F65-931A-95D54666B676}"/>
          </ac:picMkLst>
        </pc:picChg>
      </pc:sldChg>
      <pc:sldChg chg="add">
        <pc:chgData name="Lynnane George" userId="065056628ae16e64" providerId="LiveId" clId="{47ED9889-C222-4FC3-A984-16A86FB552CA}" dt="2021-06-30T23:25:30.109" v="2"/>
        <pc:sldMkLst>
          <pc:docMk/>
          <pc:sldMk cId="854464969" sldId="265"/>
        </pc:sldMkLst>
      </pc:sldChg>
      <pc:sldChg chg="modSp add mod">
        <pc:chgData name="Lynnane George" userId="065056628ae16e64" providerId="LiveId" clId="{47ED9889-C222-4FC3-A984-16A86FB552CA}" dt="2021-06-30T23:25:30.222" v="3" actId="27636"/>
        <pc:sldMkLst>
          <pc:docMk/>
          <pc:sldMk cId="2474921319" sldId="268"/>
        </pc:sldMkLst>
        <pc:spChg chg="mod">
          <ac:chgData name="Lynnane George" userId="065056628ae16e64" providerId="LiveId" clId="{47ED9889-C222-4FC3-A984-16A86FB552CA}" dt="2021-06-30T23:25:30.222" v="3" actId="27636"/>
          <ac:spMkLst>
            <pc:docMk/>
            <pc:sldMk cId="2474921319" sldId="268"/>
            <ac:spMk id="71685" creationId="{00DF8BE1-A00D-4987-8ABC-1DCD3A8D2024}"/>
          </ac:spMkLst>
        </pc:spChg>
      </pc:sldChg>
      <pc:sldChg chg="modSp add mod">
        <pc:chgData name="Lynnane George" userId="065056628ae16e64" providerId="LiveId" clId="{47ED9889-C222-4FC3-A984-16A86FB552CA}" dt="2021-07-01T00:21:53.185" v="300" actId="20577"/>
        <pc:sldMkLst>
          <pc:docMk/>
          <pc:sldMk cId="4049097201" sldId="269"/>
        </pc:sldMkLst>
        <pc:spChg chg="mod">
          <ac:chgData name="Lynnane George" userId="065056628ae16e64" providerId="LiveId" clId="{47ED9889-C222-4FC3-A984-16A86FB552CA}" dt="2021-07-01T00:21:53.185" v="300" actId="20577"/>
          <ac:spMkLst>
            <pc:docMk/>
            <pc:sldMk cId="4049097201" sldId="269"/>
            <ac:spMk id="72707" creationId="{62F27955-53E1-4AA4-8258-95E2CBA77BF7}"/>
          </ac:spMkLst>
        </pc:spChg>
      </pc:sldChg>
      <pc:sldChg chg="modSp add mod">
        <pc:chgData name="Lynnane George" userId="065056628ae16e64" providerId="LiveId" clId="{47ED9889-C222-4FC3-A984-16A86FB552CA}" dt="2021-07-01T00:02:45.137" v="257" actId="255"/>
        <pc:sldMkLst>
          <pc:docMk/>
          <pc:sldMk cId="302614481" sldId="293"/>
        </pc:sldMkLst>
        <pc:spChg chg="mod">
          <ac:chgData name="Lynnane George" userId="065056628ae16e64" providerId="LiveId" clId="{47ED9889-C222-4FC3-A984-16A86FB552CA}" dt="2021-07-01T00:02:45.137" v="257" actId="255"/>
          <ac:spMkLst>
            <pc:docMk/>
            <pc:sldMk cId="302614481" sldId="293"/>
            <ac:spMk id="28675" creationId="{C72CBF0C-CD84-4197-B31C-1D77D46EDF54}"/>
          </ac:spMkLst>
        </pc:spChg>
      </pc:sldChg>
      <pc:sldChg chg="add">
        <pc:chgData name="Lynnane George" userId="065056628ae16e64" providerId="LiveId" clId="{47ED9889-C222-4FC3-A984-16A86FB552CA}" dt="2021-06-30T23:25:30.109" v="2"/>
        <pc:sldMkLst>
          <pc:docMk/>
          <pc:sldMk cId="991366607" sldId="327"/>
        </pc:sldMkLst>
      </pc:sldChg>
      <pc:sldChg chg="delSp add ord setBg delDesignElem">
        <pc:chgData name="Lynnane George" userId="065056628ae16e64" providerId="LiveId" clId="{47ED9889-C222-4FC3-A984-16A86FB552CA}" dt="2021-06-30T23:31:25.227" v="43"/>
        <pc:sldMkLst>
          <pc:docMk/>
          <pc:sldMk cId="2771291573" sldId="333"/>
        </pc:sldMkLst>
        <pc:spChg chg="del">
          <ac:chgData name="Lynnane George" userId="065056628ae16e64" providerId="LiveId" clId="{47ED9889-C222-4FC3-A984-16A86FB552CA}" dt="2021-06-30T23:25:30.109" v="2"/>
          <ac:spMkLst>
            <pc:docMk/>
            <pc:sldMk cId="2771291573" sldId="333"/>
            <ac:spMk id="1028" creationId="{D20EF05B-48CD-41DE-82FE-C25A5A3008F6}"/>
          </ac:spMkLst>
        </pc:spChg>
        <pc:spChg chg="del">
          <ac:chgData name="Lynnane George" userId="065056628ae16e64" providerId="LiveId" clId="{47ED9889-C222-4FC3-A984-16A86FB552CA}" dt="2021-06-30T23:25:30.109" v="2"/>
          <ac:spMkLst>
            <pc:docMk/>
            <pc:sldMk cId="2771291573" sldId="333"/>
            <ac:spMk id="1029" creationId="{C9DFF8EB-B522-4773-B8CF-C10622C1FA6F}"/>
          </ac:spMkLst>
        </pc:spChg>
        <pc:picChg chg="del">
          <ac:chgData name="Lynnane George" userId="065056628ae16e64" providerId="LiveId" clId="{47ED9889-C222-4FC3-A984-16A86FB552CA}" dt="2021-06-30T23:25:30.109" v="2"/>
          <ac:picMkLst>
            <pc:docMk/>
            <pc:sldMk cId="2771291573" sldId="333"/>
            <ac:picMk id="75" creationId="{6EA99E25-F57B-4182-929C-D5A100153A73}"/>
          </ac:picMkLst>
        </pc:picChg>
      </pc:sldChg>
      <pc:sldChg chg="addSp modSp new mod">
        <pc:chgData name="Lynnane George" userId="065056628ae16e64" providerId="LiveId" clId="{47ED9889-C222-4FC3-A984-16A86FB552CA}" dt="2021-07-01T00:01:14.883" v="157" actId="1076"/>
        <pc:sldMkLst>
          <pc:docMk/>
          <pc:sldMk cId="1435104846" sldId="334"/>
        </pc:sldMkLst>
        <pc:spChg chg="mod">
          <ac:chgData name="Lynnane George" userId="065056628ae16e64" providerId="LiveId" clId="{47ED9889-C222-4FC3-A984-16A86FB552CA}" dt="2021-06-30T23:49:30.758" v="88" actId="6549"/>
          <ac:spMkLst>
            <pc:docMk/>
            <pc:sldMk cId="1435104846" sldId="334"/>
            <ac:spMk id="2" creationId="{628CCE6A-8EC2-4FD6-940E-C43EA8B9F281}"/>
          </ac:spMkLst>
        </pc:spChg>
        <pc:spChg chg="add mod">
          <ac:chgData name="Lynnane George" userId="065056628ae16e64" providerId="LiveId" clId="{47ED9889-C222-4FC3-A984-16A86FB552CA}" dt="2021-07-01T00:01:14.883" v="157" actId="1076"/>
          <ac:spMkLst>
            <pc:docMk/>
            <pc:sldMk cId="1435104846" sldId="334"/>
            <ac:spMk id="5" creationId="{76D8868A-E884-44C0-B976-FCE9BDCF6441}"/>
          </ac:spMkLst>
        </pc:spChg>
        <pc:picChg chg="add mod">
          <ac:chgData name="Lynnane George" userId="065056628ae16e64" providerId="LiveId" clId="{47ED9889-C222-4FC3-A984-16A86FB552CA}" dt="2021-06-30T23:50:19.017" v="105" actId="14100"/>
          <ac:picMkLst>
            <pc:docMk/>
            <pc:sldMk cId="1435104846" sldId="334"/>
            <ac:picMk id="4" creationId="{70874F55-B658-4D68-BCEE-4452CF177C8A}"/>
          </ac:picMkLst>
        </pc:picChg>
      </pc:sldChg>
      <pc:sldChg chg="addSp delSp modSp add mod setBg">
        <pc:chgData name="Lynnane George" userId="065056628ae16e64" providerId="LiveId" clId="{47ED9889-C222-4FC3-A984-16A86FB552CA}" dt="2021-07-01T00:02:09.064" v="255" actId="1076"/>
        <pc:sldMkLst>
          <pc:docMk/>
          <pc:sldMk cId="3563176687" sldId="335"/>
        </pc:sldMkLst>
        <pc:spChg chg="mod">
          <ac:chgData name="Lynnane George" userId="065056628ae16e64" providerId="LiveId" clId="{47ED9889-C222-4FC3-A984-16A86FB552CA}" dt="2021-07-01T00:02:09.064" v="255" actId="1076"/>
          <ac:spMkLst>
            <pc:docMk/>
            <pc:sldMk cId="3563176687" sldId="335"/>
            <ac:spMk id="2" creationId="{628CCE6A-8EC2-4FD6-940E-C43EA8B9F281}"/>
          </ac:spMkLst>
        </pc:spChg>
        <pc:spChg chg="del">
          <ac:chgData name="Lynnane George" userId="065056628ae16e64" providerId="LiveId" clId="{47ED9889-C222-4FC3-A984-16A86FB552CA}" dt="2021-07-01T00:00:20.889" v="151" actId="478"/>
          <ac:spMkLst>
            <pc:docMk/>
            <pc:sldMk cId="3563176687" sldId="335"/>
            <ac:spMk id="5" creationId="{76D8868A-E884-44C0-B976-FCE9BDCF6441}"/>
          </ac:spMkLst>
        </pc:spChg>
        <pc:spChg chg="add">
          <ac:chgData name="Lynnane George" userId="065056628ae16e64" providerId="LiveId" clId="{47ED9889-C222-4FC3-A984-16A86FB552CA}" dt="2021-07-01T00:00:25.252" v="153" actId="26606"/>
          <ac:spMkLst>
            <pc:docMk/>
            <pc:sldMk cId="3563176687" sldId="335"/>
            <ac:spMk id="71" creationId="{A8384FB5-9ADC-4DDC-881B-597D56F5B15D}"/>
          </ac:spMkLst>
        </pc:spChg>
        <pc:spChg chg="add">
          <ac:chgData name="Lynnane George" userId="065056628ae16e64" providerId="LiveId" clId="{47ED9889-C222-4FC3-A984-16A86FB552CA}" dt="2021-07-01T00:00:25.252" v="153" actId="26606"/>
          <ac:spMkLst>
            <pc:docMk/>
            <pc:sldMk cId="3563176687" sldId="335"/>
            <ac:spMk id="73" creationId="{91E5A9A7-95C6-4F4F-B00E-C82E07FE62EF}"/>
          </ac:spMkLst>
        </pc:spChg>
        <pc:spChg chg="add">
          <ac:chgData name="Lynnane George" userId="065056628ae16e64" providerId="LiveId" clId="{47ED9889-C222-4FC3-A984-16A86FB552CA}" dt="2021-07-01T00:00:25.252" v="153" actId="26606"/>
          <ac:spMkLst>
            <pc:docMk/>
            <pc:sldMk cId="3563176687" sldId="335"/>
            <ac:spMk id="75" creationId="{D07DD2DE-F619-49DD-B5E7-03A290FF4ED1}"/>
          </ac:spMkLst>
        </pc:spChg>
        <pc:spChg chg="add">
          <ac:chgData name="Lynnane George" userId="065056628ae16e64" providerId="LiveId" clId="{47ED9889-C222-4FC3-A984-16A86FB552CA}" dt="2021-07-01T00:00:25.252" v="153" actId="26606"/>
          <ac:spMkLst>
            <pc:docMk/>
            <pc:sldMk cId="3563176687" sldId="335"/>
            <ac:spMk id="77" creationId="{85149191-5F60-4A28-AAFF-039F96B0F3EC}"/>
          </ac:spMkLst>
        </pc:spChg>
        <pc:spChg chg="add">
          <ac:chgData name="Lynnane George" userId="065056628ae16e64" providerId="LiveId" clId="{47ED9889-C222-4FC3-A984-16A86FB552CA}" dt="2021-07-01T00:00:25.252" v="153" actId="26606"/>
          <ac:spMkLst>
            <pc:docMk/>
            <pc:sldMk cId="3563176687" sldId="335"/>
            <ac:spMk id="79" creationId="{F8260ED5-17F7-4158-B241-D51DD4CF1B7E}"/>
          </ac:spMkLst>
        </pc:spChg>
        <pc:picChg chg="del">
          <ac:chgData name="Lynnane George" userId="065056628ae16e64" providerId="LiveId" clId="{47ED9889-C222-4FC3-A984-16A86FB552CA}" dt="2021-07-01T00:00:18.729" v="150" actId="478"/>
          <ac:picMkLst>
            <pc:docMk/>
            <pc:sldMk cId="3563176687" sldId="335"/>
            <ac:picMk id="4" creationId="{70874F55-B658-4D68-BCEE-4452CF177C8A}"/>
          </ac:picMkLst>
        </pc:picChg>
        <pc:picChg chg="add mod">
          <ac:chgData name="Lynnane George" userId="065056628ae16e64" providerId="LiveId" clId="{47ED9889-C222-4FC3-A984-16A86FB552CA}" dt="2021-07-01T00:00:25.252" v="153" actId="26606"/>
          <ac:picMkLst>
            <pc:docMk/>
            <pc:sldMk cId="3563176687" sldId="335"/>
            <ac:picMk id="1026" creationId="{2102E019-51CD-4589-A0A4-7C17172E1BE9}"/>
          </ac:picMkLst>
        </pc:picChg>
      </pc:sldChg>
      <pc:sldChg chg="addSp modSp new mod setBg">
        <pc:chgData name="Lynnane George" userId="065056628ae16e64" providerId="LiveId" clId="{47ED9889-C222-4FC3-A984-16A86FB552CA}" dt="2021-07-01T00:06:50.411" v="281" actId="26606"/>
        <pc:sldMkLst>
          <pc:docMk/>
          <pc:sldMk cId="3424013081" sldId="336"/>
        </pc:sldMkLst>
        <pc:spChg chg="mod">
          <ac:chgData name="Lynnane George" userId="065056628ae16e64" providerId="LiveId" clId="{47ED9889-C222-4FC3-A984-16A86FB552CA}" dt="2021-07-01T00:06:50.411" v="281" actId="26606"/>
          <ac:spMkLst>
            <pc:docMk/>
            <pc:sldMk cId="3424013081" sldId="336"/>
            <ac:spMk id="2" creationId="{8B99498D-601C-47A4-B2A2-DAB4766A40EC}"/>
          </ac:spMkLst>
        </pc:spChg>
        <pc:spChg chg="add">
          <ac:chgData name="Lynnane George" userId="065056628ae16e64" providerId="LiveId" clId="{47ED9889-C222-4FC3-A984-16A86FB552CA}" dt="2021-07-01T00:06:50.411" v="281" actId="26606"/>
          <ac:spMkLst>
            <pc:docMk/>
            <pc:sldMk cId="3424013081" sldId="336"/>
            <ac:spMk id="71" creationId="{A3BAF07C-C39E-42EB-BB22-8D46691D9735}"/>
          </ac:spMkLst>
        </pc:spChg>
        <pc:spChg chg="add">
          <ac:chgData name="Lynnane George" userId="065056628ae16e64" providerId="LiveId" clId="{47ED9889-C222-4FC3-A984-16A86FB552CA}" dt="2021-07-01T00:06:50.411" v="281" actId="26606"/>
          <ac:spMkLst>
            <pc:docMk/>
            <pc:sldMk cId="3424013081" sldId="336"/>
            <ac:spMk id="94" creationId="{A7795DFA-888F-47E2-B44E-DE1D3B3E46A4}"/>
          </ac:spMkLst>
        </pc:spChg>
        <pc:grpChg chg="add">
          <ac:chgData name="Lynnane George" userId="065056628ae16e64" providerId="LiveId" clId="{47ED9889-C222-4FC3-A984-16A86FB552CA}" dt="2021-07-01T00:06:50.411" v="281" actId="26606"/>
          <ac:grpSpMkLst>
            <pc:docMk/>
            <pc:sldMk cId="3424013081" sldId="336"/>
            <ac:grpSpMk id="73" creationId="{D8E9CF54-0466-4261-9E62-0249E60E1886}"/>
          </ac:grpSpMkLst>
        </pc:grpChg>
        <pc:picChg chg="add mod">
          <ac:chgData name="Lynnane George" userId="065056628ae16e64" providerId="LiveId" clId="{47ED9889-C222-4FC3-A984-16A86FB552CA}" dt="2021-07-01T00:06:50.411" v="281" actId="26606"/>
          <ac:picMkLst>
            <pc:docMk/>
            <pc:sldMk cId="3424013081" sldId="336"/>
            <ac:picMk id="2050" creationId="{686786EE-C9F6-40A7-8E20-80C2ED22A198}"/>
          </ac:picMkLst>
        </pc:picChg>
      </pc:sldChg>
    </pc:docChg>
  </pc:docChgLst>
  <pc:docChgLst>
    <pc:chgData name="Lynnane George" userId="065056628ae16e64" providerId="LiveId" clId="{9CA88C6E-1EAF-4086-BE4F-267B8428799D}"/>
    <pc:docChg chg="custSel delSld modSld">
      <pc:chgData name="Lynnane George" userId="065056628ae16e64" providerId="LiveId" clId="{9CA88C6E-1EAF-4086-BE4F-267B8428799D}" dt="2024-06-27T03:50:57.353" v="231" actId="20577"/>
      <pc:docMkLst>
        <pc:docMk/>
      </pc:docMkLst>
      <pc:sldChg chg="delSp mod">
        <pc:chgData name="Lynnane George" userId="065056628ae16e64" providerId="LiveId" clId="{9CA88C6E-1EAF-4086-BE4F-267B8428799D}" dt="2024-06-27T03:25:36.154" v="3" actId="478"/>
        <pc:sldMkLst>
          <pc:docMk/>
          <pc:sldMk cId="854464969" sldId="265"/>
        </pc:sldMkLst>
        <pc:inkChg chg="del">
          <ac:chgData name="Lynnane George" userId="065056628ae16e64" providerId="LiveId" clId="{9CA88C6E-1EAF-4086-BE4F-267B8428799D}" dt="2024-06-27T03:25:36.154" v="3" actId="478"/>
          <ac:inkMkLst>
            <pc:docMk/>
            <pc:sldMk cId="854464969" sldId="265"/>
            <ac:inkMk id="3" creationId="{F9319689-198D-2092-8AA4-1C75C8AD52D5}"/>
          </ac:inkMkLst>
        </pc:inkChg>
      </pc:sldChg>
      <pc:sldChg chg="del">
        <pc:chgData name="Lynnane George" userId="065056628ae16e64" providerId="LiveId" clId="{9CA88C6E-1EAF-4086-BE4F-267B8428799D}" dt="2024-06-27T03:11:05.802" v="0" actId="47"/>
        <pc:sldMkLst>
          <pc:docMk/>
          <pc:sldMk cId="991366607" sldId="327"/>
        </pc:sldMkLst>
      </pc:sldChg>
      <pc:sldChg chg="delSp mod">
        <pc:chgData name="Lynnane George" userId="065056628ae16e64" providerId="LiveId" clId="{9CA88C6E-1EAF-4086-BE4F-267B8428799D}" dt="2024-06-27T03:26:06.029" v="4" actId="478"/>
        <pc:sldMkLst>
          <pc:docMk/>
          <pc:sldMk cId="1435104846" sldId="334"/>
        </pc:sldMkLst>
        <pc:inkChg chg="del">
          <ac:chgData name="Lynnane George" userId="065056628ae16e64" providerId="LiveId" clId="{9CA88C6E-1EAF-4086-BE4F-267B8428799D}" dt="2024-06-27T03:26:06.029" v="4" actId="478"/>
          <ac:inkMkLst>
            <pc:docMk/>
            <pc:sldMk cId="1435104846" sldId="334"/>
            <ac:inkMk id="3" creationId="{2B9704DD-8523-7C46-D2A4-9C4E3BA753CC}"/>
          </ac:inkMkLst>
        </pc:inkChg>
      </pc:sldChg>
      <pc:sldChg chg="delSp mod">
        <pc:chgData name="Lynnane George" userId="065056628ae16e64" providerId="LiveId" clId="{9CA88C6E-1EAF-4086-BE4F-267B8428799D}" dt="2024-06-27T03:12:23.898" v="1" actId="478"/>
        <pc:sldMkLst>
          <pc:docMk/>
          <pc:sldMk cId="1024280171" sldId="337"/>
        </pc:sldMkLst>
        <pc:inkChg chg="del">
          <ac:chgData name="Lynnane George" userId="065056628ae16e64" providerId="LiveId" clId="{9CA88C6E-1EAF-4086-BE4F-267B8428799D}" dt="2024-06-27T03:12:23.898" v="1" actId="478"/>
          <ac:inkMkLst>
            <pc:docMk/>
            <pc:sldMk cId="1024280171" sldId="337"/>
            <ac:inkMk id="2" creationId="{1CEF5869-A9C5-113F-9C8E-2FBAEB8B62D0}"/>
          </ac:inkMkLst>
        </pc:inkChg>
      </pc:sldChg>
      <pc:sldChg chg="addSp delSp modSp mod">
        <pc:chgData name="Lynnane George" userId="065056628ae16e64" providerId="LiveId" clId="{9CA88C6E-1EAF-4086-BE4F-267B8428799D}" dt="2024-06-27T03:30:08.917" v="10" actId="14100"/>
        <pc:sldMkLst>
          <pc:docMk/>
          <pc:sldMk cId="7364099" sldId="413"/>
        </pc:sldMkLst>
        <pc:spChg chg="mod">
          <ac:chgData name="Lynnane George" userId="065056628ae16e64" providerId="LiveId" clId="{9CA88C6E-1EAF-4086-BE4F-267B8428799D}" dt="2024-06-27T03:29:31.144" v="6" actId="20577"/>
          <ac:spMkLst>
            <pc:docMk/>
            <pc:sldMk cId="7364099" sldId="413"/>
            <ac:spMk id="2" creationId="{870BB0DE-736A-1EB6-8549-BCD077D5CC4D}"/>
          </ac:spMkLst>
        </pc:spChg>
        <pc:graphicFrameChg chg="del">
          <ac:chgData name="Lynnane George" userId="065056628ae16e64" providerId="LiveId" clId="{9CA88C6E-1EAF-4086-BE4F-267B8428799D}" dt="2024-06-27T03:29:36.850" v="7" actId="478"/>
          <ac:graphicFrameMkLst>
            <pc:docMk/>
            <pc:sldMk cId="7364099" sldId="413"/>
            <ac:graphicFrameMk id="4" creationId="{B0618F6E-D022-36FE-C88E-3A4F733948EE}"/>
          </ac:graphicFrameMkLst>
        </pc:graphicFrameChg>
        <pc:picChg chg="add mod">
          <ac:chgData name="Lynnane George" userId="065056628ae16e64" providerId="LiveId" clId="{9CA88C6E-1EAF-4086-BE4F-267B8428799D}" dt="2024-06-27T03:30:08.917" v="10" actId="14100"/>
          <ac:picMkLst>
            <pc:docMk/>
            <pc:sldMk cId="7364099" sldId="413"/>
            <ac:picMk id="6" creationId="{D5A7436D-C2CC-2435-D2AA-AB45C9446261}"/>
          </ac:picMkLst>
        </pc:picChg>
        <pc:inkChg chg="del">
          <ac:chgData name="Lynnane George" userId="065056628ae16e64" providerId="LiveId" clId="{9CA88C6E-1EAF-4086-BE4F-267B8428799D}" dt="2024-06-27T03:13:55.589" v="2" actId="478"/>
          <ac:inkMkLst>
            <pc:docMk/>
            <pc:sldMk cId="7364099" sldId="413"/>
            <ac:inkMk id="3" creationId="{66BB6242-70E6-EF21-3AF9-15A847DC57A8}"/>
          </ac:inkMkLst>
        </pc:inkChg>
      </pc:sldChg>
      <pc:sldChg chg="addSp delSp modSp mod">
        <pc:chgData name="Lynnane George" userId="065056628ae16e64" providerId="LiveId" clId="{9CA88C6E-1EAF-4086-BE4F-267B8428799D}" dt="2024-06-27T03:30:51.407" v="20" actId="20577"/>
        <pc:sldMkLst>
          <pc:docMk/>
          <pc:sldMk cId="4030228537" sldId="419"/>
        </pc:sldMkLst>
        <pc:spChg chg="mod">
          <ac:chgData name="Lynnane George" userId="065056628ae16e64" providerId="LiveId" clId="{9CA88C6E-1EAF-4086-BE4F-267B8428799D}" dt="2024-06-27T03:30:51.407" v="20" actId="20577"/>
          <ac:spMkLst>
            <pc:docMk/>
            <pc:sldMk cId="4030228537" sldId="419"/>
            <ac:spMk id="2" creationId="{5D67B3ED-2EB7-DE39-5C15-33442B99661D}"/>
          </ac:spMkLst>
        </pc:spChg>
        <pc:spChg chg="add mod">
          <ac:chgData name="Lynnane George" userId="065056628ae16e64" providerId="LiveId" clId="{9CA88C6E-1EAF-4086-BE4F-267B8428799D}" dt="2024-06-27T03:30:44.916" v="14" actId="14100"/>
          <ac:spMkLst>
            <pc:docMk/>
            <pc:sldMk cId="4030228537" sldId="419"/>
            <ac:spMk id="4" creationId="{AE08BB72-4BDB-789C-D82D-E1EB84754308}"/>
          </ac:spMkLst>
        </pc:spChg>
        <pc:spChg chg="del">
          <ac:chgData name="Lynnane George" userId="065056628ae16e64" providerId="LiveId" clId="{9CA88C6E-1EAF-4086-BE4F-267B8428799D}" dt="2024-06-27T03:30:39.196" v="11" actId="478"/>
          <ac:spMkLst>
            <pc:docMk/>
            <pc:sldMk cId="4030228537" sldId="419"/>
            <ac:spMk id="5" creationId="{D4893D91-8BB9-8D4B-BE19-2203DEC835A6}"/>
          </ac:spMkLst>
        </pc:spChg>
      </pc:sldChg>
      <pc:sldChg chg="addSp modSp mod">
        <pc:chgData name="Lynnane George" userId="065056628ae16e64" providerId="LiveId" clId="{9CA88C6E-1EAF-4086-BE4F-267B8428799D}" dt="2024-06-27T03:42:16.073" v="185" actId="20577"/>
        <pc:sldMkLst>
          <pc:docMk/>
          <pc:sldMk cId="2253821994" sldId="531"/>
        </pc:sldMkLst>
        <pc:spChg chg="add mod">
          <ac:chgData name="Lynnane George" userId="065056628ae16e64" providerId="LiveId" clId="{9CA88C6E-1EAF-4086-BE4F-267B8428799D}" dt="2024-06-27T03:42:16.073" v="185" actId="20577"/>
          <ac:spMkLst>
            <pc:docMk/>
            <pc:sldMk cId="2253821994" sldId="531"/>
            <ac:spMk id="4" creationId="{5FA2D813-1AE9-5B46-18CC-C3E358220F54}"/>
          </ac:spMkLst>
        </pc:spChg>
      </pc:sldChg>
      <pc:sldChg chg="del">
        <pc:chgData name="Lynnane George" userId="065056628ae16e64" providerId="LiveId" clId="{9CA88C6E-1EAF-4086-BE4F-267B8428799D}" dt="2024-06-27T03:42:42.806" v="186" actId="47"/>
        <pc:sldMkLst>
          <pc:docMk/>
          <pc:sldMk cId="2391916602" sldId="532"/>
        </pc:sldMkLst>
      </pc:sldChg>
      <pc:sldChg chg="modSp mod">
        <pc:chgData name="Lynnane George" userId="065056628ae16e64" providerId="LiveId" clId="{9CA88C6E-1EAF-4086-BE4F-267B8428799D}" dt="2024-06-27T03:50:57.353" v="231" actId="20577"/>
        <pc:sldMkLst>
          <pc:docMk/>
          <pc:sldMk cId="1467999465" sldId="533"/>
        </pc:sldMkLst>
        <pc:spChg chg="mod">
          <ac:chgData name="Lynnane George" userId="065056628ae16e64" providerId="LiveId" clId="{9CA88C6E-1EAF-4086-BE4F-267B8428799D}" dt="2024-06-27T03:50:57.353" v="231" actId="20577"/>
          <ac:spMkLst>
            <pc:docMk/>
            <pc:sldMk cId="1467999465" sldId="533"/>
            <ac:spMk id="3" creationId="{E1DCE7AC-907B-6909-989A-7703C13C9192}"/>
          </ac:spMkLst>
        </pc:spChg>
      </pc:sldChg>
    </pc:docChg>
  </pc:docChgLst>
</pc:chgInfo>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02.74362" units="1/cm"/>
          <inkml:channelProperty channel="Y" name="resolution" value="340.58658" units="1/cm"/>
          <inkml:channelProperty channel="F" name="resolution" value="0" units="1/dev"/>
          <inkml:channelProperty channel="T" name="resolution" value="1" units="1/dev"/>
        </inkml:channelProperties>
      </inkml:inkSource>
      <inkml:timestamp xml:id="ts0" timeString="2022-07-01T01:56:13.435"/>
    </inkml:context>
    <inkml:brush xml:id="br0">
      <inkml:brushProperty name="width" value="0.05292" units="cm"/>
      <inkml:brushProperty name="height" value="0.05292" units="cm"/>
      <inkml:brushProperty name="color" value="#FF0000"/>
    </inkml:brush>
  </inkml:definitions>
  <inkml:trace contextRef="#ctx0" brushRef="#br0">6558 7428 716 0,'-10'3'264'0,"10"-3"-204"0,-4-3-16 16,1 0 132-1,6 6-104-15,-6-6 32 16,3-1-60-16,0-5-28 16,0 6-8-16,0-3 0 0,0 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BFCBDA-5370-4E33-8FA6-B2A99B84593D}" type="datetimeFigureOut">
              <a:rPr lang="en-US" smtClean="0"/>
              <a:t>6/19/2025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B8590-994B-4413-94BB-2FB0892D48D8}" type="slidenum">
              <a:rPr lang="en-US" smtClean="0"/>
              <a:t>‹#›</a:t>
            </a:fld>
            <a:endParaRPr lang="en-US"/>
          </a:p>
        </p:txBody>
      </p:sp>
    </p:spTree>
    <p:extLst>
      <p:ext uri="{BB962C8B-B14F-4D97-AF65-F5344CB8AC3E}">
        <p14:creationId xmlns:p14="http://schemas.microsoft.com/office/powerpoint/2010/main" val="1399915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B8590-994B-4413-94BB-2FB0892D48D8}" type="slidenum">
              <a:rPr lang="en-US" smtClean="0"/>
              <a:t>1</a:t>
            </a:fld>
            <a:endParaRPr lang="en-US"/>
          </a:p>
        </p:txBody>
      </p:sp>
    </p:spTree>
    <p:extLst>
      <p:ext uri="{BB962C8B-B14F-4D97-AF65-F5344CB8AC3E}">
        <p14:creationId xmlns:p14="http://schemas.microsoft.com/office/powerpoint/2010/main" val="685416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450C53-6716-4729-9453-A143C1C0D04A}" type="slidenum">
              <a:rPr lang="en-US" smtClean="0"/>
              <a:pPr/>
              <a:t>23</a:t>
            </a:fld>
            <a:endParaRPr lang="en-US" dirty="0"/>
          </a:p>
        </p:txBody>
      </p:sp>
    </p:spTree>
    <p:extLst>
      <p:ext uri="{BB962C8B-B14F-4D97-AF65-F5344CB8AC3E}">
        <p14:creationId xmlns:p14="http://schemas.microsoft.com/office/powerpoint/2010/main" val="397435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B8590-994B-4413-94BB-2FB0892D48D8}" type="slidenum">
              <a:rPr lang="en-US" smtClean="0"/>
              <a:t>37</a:t>
            </a:fld>
            <a:endParaRPr lang="en-US"/>
          </a:p>
        </p:txBody>
      </p:sp>
    </p:spTree>
    <p:extLst>
      <p:ext uri="{BB962C8B-B14F-4D97-AF65-F5344CB8AC3E}">
        <p14:creationId xmlns:p14="http://schemas.microsoft.com/office/powerpoint/2010/main" val="198092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3C391BA9-1FCF-47D0-93B2-09C787BD43C0}"/>
              </a:ext>
            </a:extLst>
          </p:cNvPr>
          <p:cNvSpPr>
            <a:spLocks noGrp="1" noRot="1" noChangeAspect="1" noChangeArrowheads="1" noTextEdit="1"/>
          </p:cNvSpPr>
          <p:nvPr>
            <p:ph type="sldImg"/>
          </p:nvPr>
        </p:nvSpPr>
        <p:spPr>
          <a:xfrm>
            <a:off x="460375" y="2590800"/>
            <a:ext cx="6124575" cy="3446463"/>
          </a:xfrm>
          <a:ln/>
        </p:spPr>
      </p:sp>
      <p:sp>
        <p:nvSpPr>
          <p:cNvPr id="102404" name="Text Box 4">
            <a:extLst>
              <a:ext uri="{FF2B5EF4-FFF2-40B4-BE49-F238E27FC236}">
                <a16:creationId xmlns:a16="http://schemas.microsoft.com/office/drawing/2014/main" id="{B8F16653-DDDC-4C33-9F4F-A09D723B5426}"/>
              </a:ext>
            </a:extLst>
          </p:cNvPr>
          <p:cNvSpPr txBox="1">
            <a:spLocks noChangeArrowheads="1"/>
          </p:cNvSpPr>
          <p:nvPr/>
        </p:nvSpPr>
        <p:spPr bwMode="auto">
          <a:xfrm>
            <a:off x="714375" y="2236788"/>
            <a:ext cx="9731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Energy of impact breaks bonds</a:t>
            </a:r>
          </a:p>
        </p:txBody>
      </p:sp>
      <p:sp>
        <p:nvSpPr>
          <p:cNvPr id="102405" name="Line 5">
            <a:extLst>
              <a:ext uri="{FF2B5EF4-FFF2-40B4-BE49-F238E27FC236}">
                <a16:creationId xmlns:a16="http://schemas.microsoft.com/office/drawing/2014/main" id="{A6B3BE10-E105-487A-8E1F-F3E326BF01A8}"/>
              </a:ext>
            </a:extLst>
          </p:cNvPr>
          <p:cNvSpPr>
            <a:spLocks noChangeShapeType="1"/>
          </p:cNvSpPr>
          <p:nvPr/>
        </p:nvSpPr>
        <p:spPr bwMode="auto">
          <a:xfrm>
            <a:off x="798513" y="2571750"/>
            <a:ext cx="715962" cy="6731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06" name="Text Box 6">
            <a:extLst>
              <a:ext uri="{FF2B5EF4-FFF2-40B4-BE49-F238E27FC236}">
                <a16:creationId xmlns:a16="http://schemas.microsoft.com/office/drawing/2014/main" id="{675DFD26-D923-42FF-B136-866865F164D6}"/>
              </a:ext>
            </a:extLst>
          </p:cNvPr>
          <p:cNvSpPr txBox="1">
            <a:spLocks noChangeArrowheads="1"/>
          </p:cNvSpPr>
          <p:nvPr/>
        </p:nvSpPr>
        <p:spPr bwMode="auto">
          <a:xfrm>
            <a:off x="381000" y="2006600"/>
            <a:ext cx="236696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“sand blasting” or ablation effect</a:t>
            </a:r>
          </a:p>
        </p:txBody>
      </p:sp>
      <p:sp>
        <p:nvSpPr>
          <p:cNvPr id="102407" name="Text Box 7">
            <a:extLst>
              <a:ext uri="{FF2B5EF4-FFF2-40B4-BE49-F238E27FC236}">
                <a16:creationId xmlns:a16="http://schemas.microsoft.com/office/drawing/2014/main" id="{CEDA9B2A-D1B4-4576-B336-284939F1D385}"/>
              </a:ext>
            </a:extLst>
          </p:cNvPr>
          <p:cNvSpPr txBox="1">
            <a:spLocks noChangeArrowheads="1"/>
          </p:cNvSpPr>
          <p:nvPr/>
        </p:nvSpPr>
        <p:spPr bwMode="auto">
          <a:xfrm>
            <a:off x="4997450" y="2116138"/>
            <a:ext cx="18415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In the absence of surface charging (which energizes surface particles and makes it easier to knock them off)</a:t>
            </a:r>
          </a:p>
        </p:txBody>
      </p:sp>
      <p:sp>
        <p:nvSpPr>
          <p:cNvPr id="102408" name="Line 8">
            <a:extLst>
              <a:ext uri="{FF2B5EF4-FFF2-40B4-BE49-F238E27FC236}">
                <a16:creationId xmlns:a16="http://schemas.microsoft.com/office/drawing/2014/main" id="{3292E080-AD15-48EE-B0F0-D0A87B8E79E9}"/>
              </a:ext>
            </a:extLst>
          </p:cNvPr>
          <p:cNvSpPr>
            <a:spLocks noChangeShapeType="1"/>
          </p:cNvSpPr>
          <p:nvPr/>
        </p:nvSpPr>
        <p:spPr bwMode="auto">
          <a:xfrm flipH="1">
            <a:off x="4575175" y="2581275"/>
            <a:ext cx="1081088" cy="863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09" name="Text Box 9">
            <a:extLst>
              <a:ext uri="{FF2B5EF4-FFF2-40B4-BE49-F238E27FC236}">
                <a16:creationId xmlns:a16="http://schemas.microsoft.com/office/drawing/2014/main" id="{7D5F74DE-E707-434B-AFE4-16031EC91FDA}"/>
              </a:ext>
            </a:extLst>
          </p:cNvPr>
          <p:cNvSpPr txBox="1">
            <a:spLocks noChangeArrowheads="1"/>
          </p:cNvSpPr>
          <p:nvPr/>
        </p:nvSpPr>
        <p:spPr bwMode="auto">
          <a:xfrm>
            <a:off x="5476875" y="4191000"/>
            <a:ext cx="15271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Again, tends to be a concern only for long-term missions</a:t>
            </a:r>
          </a:p>
        </p:txBody>
      </p:sp>
      <p:sp>
        <p:nvSpPr>
          <p:cNvPr id="102410" name="Text Box 10">
            <a:extLst>
              <a:ext uri="{FF2B5EF4-FFF2-40B4-BE49-F238E27FC236}">
                <a16:creationId xmlns:a16="http://schemas.microsoft.com/office/drawing/2014/main" id="{CFC82D15-DCDD-4209-B179-C0966808AAD3}"/>
              </a:ext>
            </a:extLst>
          </p:cNvPr>
          <p:cNvSpPr txBox="1">
            <a:spLocks noChangeArrowheads="1"/>
          </p:cNvSpPr>
          <p:nvPr/>
        </p:nvSpPr>
        <p:spPr bwMode="auto">
          <a:xfrm>
            <a:off x="293688" y="4356100"/>
            <a:ext cx="1335087"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Erosion due to oxidation</a:t>
            </a:r>
          </a:p>
        </p:txBody>
      </p:sp>
      <p:sp>
        <p:nvSpPr>
          <p:cNvPr id="102411" name="Line 11">
            <a:extLst>
              <a:ext uri="{FF2B5EF4-FFF2-40B4-BE49-F238E27FC236}">
                <a16:creationId xmlns:a16="http://schemas.microsoft.com/office/drawing/2014/main" id="{EC3AEDE3-D7D9-4904-BCD5-5B1FD3FAD141}"/>
              </a:ext>
            </a:extLst>
          </p:cNvPr>
          <p:cNvSpPr>
            <a:spLocks noChangeShapeType="1"/>
          </p:cNvSpPr>
          <p:nvPr/>
        </p:nvSpPr>
        <p:spPr bwMode="auto">
          <a:xfrm flipV="1">
            <a:off x="811213" y="3797300"/>
            <a:ext cx="765175" cy="531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2" name="Line 12">
            <a:extLst>
              <a:ext uri="{FF2B5EF4-FFF2-40B4-BE49-F238E27FC236}">
                <a16:creationId xmlns:a16="http://schemas.microsoft.com/office/drawing/2014/main" id="{4F10E4F4-2874-419C-8DEA-060D02D19B63}"/>
              </a:ext>
            </a:extLst>
          </p:cNvPr>
          <p:cNvSpPr>
            <a:spLocks noChangeShapeType="1"/>
          </p:cNvSpPr>
          <p:nvPr/>
        </p:nvSpPr>
        <p:spPr bwMode="auto">
          <a:xfrm flipH="1" flipV="1">
            <a:off x="4900613" y="4195763"/>
            <a:ext cx="606425" cy="1508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3" name="Text Box 13">
            <a:extLst>
              <a:ext uri="{FF2B5EF4-FFF2-40B4-BE49-F238E27FC236}">
                <a16:creationId xmlns:a16="http://schemas.microsoft.com/office/drawing/2014/main" id="{1579E905-10B0-4A84-B1B4-8DDAC5859E3A}"/>
              </a:ext>
            </a:extLst>
          </p:cNvPr>
          <p:cNvSpPr txBox="1">
            <a:spLocks noChangeArrowheads="1"/>
          </p:cNvSpPr>
          <p:nvPr/>
        </p:nvSpPr>
        <p:spPr bwMode="auto">
          <a:xfrm>
            <a:off x="4329113" y="5087938"/>
            <a:ext cx="13557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(remote sensing missions)</a:t>
            </a:r>
          </a:p>
        </p:txBody>
      </p:sp>
      <p:sp>
        <p:nvSpPr>
          <p:cNvPr id="102414" name="Text Box 14">
            <a:extLst>
              <a:ext uri="{FF2B5EF4-FFF2-40B4-BE49-F238E27FC236}">
                <a16:creationId xmlns:a16="http://schemas.microsoft.com/office/drawing/2014/main" id="{3E520AEE-E61A-409B-AB2F-3A45BB38147C}"/>
              </a:ext>
            </a:extLst>
          </p:cNvPr>
          <p:cNvSpPr txBox="1">
            <a:spLocks noChangeArrowheads="1"/>
          </p:cNvSpPr>
          <p:nvPr/>
        </p:nvSpPr>
        <p:spPr bwMode="auto">
          <a:xfrm>
            <a:off x="1290638" y="669925"/>
            <a:ext cx="43465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Although atmospheric density drops by 10 orders of magnitude at an altitude of 300 km, there are still 10</a:t>
            </a:r>
            <a:r>
              <a:rPr lang="en-US" altLang="en-US" sz="900" i="1" baseline="30000"/>
              <a:t>17</a:t>
            </a:r>
            <a:r>
              <a:rPr lang="en-US" altLang="en-US" sz="900" i="1"/>
              <a:t> particles per m</a:t>
            </a:r>
            <a:r>
              <a:rPr lang="en-US" altLang="en-US" sz="900" i="1" baseline="30000"/>
              <a:t>3</a:t>
            </a:r>
            <a:r>
              <a:rPr lang="en-US" altLang="en-US" sz="900" i="1"/>
              <a:t> to interact with the spacecraft both mechanically and chemically</a:t>
            </a:r>
          </a:p>
        </p:txBody>
      </p:sp>
      <p:sp>
        <p:nvSpPr>
          <p:cNvPr id="102416" name="Line 16">
            <a:extLst>
              <a:ext uri="{FF2B5EF4-FFF2-40B4-BE49-F238E27FC236}">
                <a16:creationId xmlns:a16="http://schemas.microsoft.com/office/drawing/2014/main" id="{A57E89A4-ABE9-4066-8676-B32F5605F417}"/>
              </a:ext>
            </a:extLst>
          </p:cNvPr>
          <p:cNvSpPr>
            <a:spLocks noChangeShapeType="1"/>
          </p:cNvSpPr>
          <p:nvPr/>
        </p:nvSpPr>
        <p:spPr bwMode="auto">
          <a:xfrm flipV="1">
            <a:off x="615950" y="4984750"/>
            <a:ext cx="952500" cy="11922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7" name="Text Box 17">
            <a:extLst>
              <a:ext uri="{FF2B5EF4-FFF2-40B4-BE49-F238E27FC236}">
                <a16:creationId xmlns:a16="http://schemas.microsoft.com/office/drawing/2014/main" id="{7F81579A-4391-4C14-BCEB-40F0217D808D}"/>
              </a:ext>
            </a:extLst>
          </p:cNvPr>
          <p:cNvSpPr txBox="1">
            <a:spLocks noChangeArrowheads="1"/>
          </p:cNvSpPr>
          <p:nvPr/>
        </p:nvSpPr>
        <p:spPr bwMode="auto">
          <a:xfrm>
            <a:off x="382588" y="7056438"/>
            <a:ext cx="2366962"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Optical emissions near exterior surfaces (size or relative geometry may be an important factor -- small satellites vs shuttle)</a:t>
            </a:r>
          </a:p>
        </p:txBody>
      </p:sp>
      <p:sp>
        <p:nvSpPr>
          <p:cNvPr id="102418" name="Text Box 18">
            <a:extLst>
              <a:ext uri="{FF2B5EF4-FFF2-40B4-BE49-F238E27FC236}">
                <a16:creationId xmlns:a16="http://schemas.microsoft.com/office/drawing/2014/main" id="{1F2D6973-9F9D-47B4-B38B-EFDD0B0F193E}"/>
              </a:ext>
            </a:extLst>
          </p:cNvPr>
          <p:cNvSpPr txBox="1">
            <a:spLocks noChangeArrowheads="1"/>
          </p:cNvSpPr>
          <p:nvPr/>
        </p:nvSpPr>
        <p:spPr bwMode="auto">
          <a:xfrm>
            <a:off x="344488" y="6180138"/>
            <a:ext cx="3789362"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related phenomenon which may be of concern for optically sensitive experiments is spacecraft glow.  Optical emissions are generated from metastable molecules which have been excited by impact on the surface of the spacecraft.  Investigations show that the surface acts as a catalyst, thus the intensity is dependent on the type of surface material.</a:t>
            </a:r>
          </a:p>
        </p:txBody>
      </p:sp>
      <p:sp>
        <p:nvSpPr>
          <p:cNvPr id="2" name="Notes Placeholder 1">
            <a:extLst>
              <a:ext uri="{FF2B5EF4-FFF2-40B4-BE49-F238E27FC236}">
                <a16:creationId xmlns:a16="http://schemas.microsoft.com/office/drawing/2014/main" id="{00E635E6-CA98-441D-9B50-407AB097A07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694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B8590-994B-4413-94BB-2FB0892D48D8}" type="slidenum">
              <a:rPr lang="en-US" smtClean="0"/>
              <a:t>39</a:t>
            </a:fld>
            <a:endParaRPr lang="en-US"/>
          </a:p>
        </p:txBody>
      </p:sp>
    </p:spTree>
    <p:extLst>
      <p:ext uri="{BB962C8B-B14F-4D97-AF65-F5344CB8AC3E}">
        <p14:creationId xmlns:p14="http://schemas.microsoft.com/office/powerpoint/2010/main" val="2248760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3C391BA9-1FCF-47D0-93B2-09C787BD43C0}"/>
              </a:ext>
            </a:extLst>
          </p:cNvPr>
          <p:cNvSpPr>
            <a:spLocks noGrp="1" noRot="1" noChangeAspect="1" noChangeArrowheads="1" noTextEdit="1"/>
          </p:cNvSpPr>
          <p:nvPr>
            <p:ph type="sldImg"/>
          </p:nvPr>
        </p:nvSpPr>
        <p:spPr>
          <a:xfrm>
            <a:off x="460375" y="2590800"/>
            <a:ext cx="6124575" cy="3446463"/>
          </a:xfrm>
          <a:ln/>
        </p:spPr>
      </p:sp>
      <p:sp>
        <p:nvSpPr>
          <p:cNvPr id="102404" name="Text Box 4">
            <a:extLst>
              <a:ext uri="{FF2B5EF4-FFF2-40B4-BE49-F238E27FC236}">
                <a16:creationId xmlns:a16="http://schemas.microsoft.com/office/drawing/2014/main" id="{B8F16653-DDDC-4C33-9F4F-A09D723B5426}"/>
              </a:ext>
            </a:extLst>
          </p:cNvPr>
          <p:cNvSpPr txBox="1">
            <a:spLocks noChangeArrowheads="1"/>
          </p:cNvSpPr>
          <p:nvPr/>
        </p:nvSpPr>
        <p:spPr bwMode="auto">
          <a:xfrm>
            <a:off x="714375" y="2236788"/>
            <a:ext cx="9731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Energy of impact breaks bonds</a:t>
            </a:r>
          </a:p>
        </p:txBody>
      </p:sp>
      <p:sp>
        <p:nvSpPr>
          <p:cNvPr id="102405" name="Line 5">
            <a:extLst>
              <a:ext uri="{FF2B5EF4-FFF2-40B4-BE49-F238E27FC236}">
                <a16:creationId xmlns:a16="http://schemas.microsoft.com/office/drawing/2014/main" id="{A6B3BE10-E105-487A-8E1F-F3E326BF01A8}"/>
              </a:ext>
            </a:extLst>
          </p:cNvPr>
          <p:cNvSpPr>
            <a:spLocks noChangeShapeType="1"/>
          </p:cNvSpPr>
          <p:nvPr/>
        </p:nvSpPr>
        <p:spPr bwMode="auto">
          <a:xfrm>
            <a:off x="798513" y="2571750"/>
            <a:ext cx="715962" cy="6731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06" name="Text Box 6">
            <a:extLst>
              <a:ext uri="{FF2B5EF4-FFF2-40B4-BE49-F238E27FC236}">
                <a16:creationId xmlns:a16="http://schemas.microsoft.com/office/drawing/2014/main" id="{675DFD26-D923-42FF-B136-866865F164D6}"/>
              </a:ext>
            </a:extLst>
          </p:cNvPr>
          <p:cNvSpPr txBox="1">
            <a:spLocks noChangeArrowheads="1"/>
          </p:cNvSpPr>
          <p:nvPr/>
        </p:nvSpPr>
        <p:spPr bwMode="auto">
          <a:xfrm>
            <a:off x="381000" y="2006600"/>
            <a:ext cx="236696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“sand blasting” or ablation effect</a:t>
            </a:r>
          </a:p>
        </p:txBody>
      </p:sp>
      <p:sp>
        <p:nvSpPr>
          <p:cNvPr id="102407" name="Text Box 7">
            <a:extLst>
              <a:ext uri="{FF2B5EF4-FFF2-40B4-BE49-F238E27FC236}">
                <a16:creationId xmlns:a16="http://schemas.microsoft.com/office/drawing/2014/main" id="{CEDA9B2A-D1B4-4576-B336-284939F1D385}"/>
              </a:ext>
            </a:extLst>
          </p:cNvPr>
          <p:cNvSpPr txBox="1">
            <a:spLocks noChangeArrowheads="1"/>
          </p:cNvSpPr>
          <p:nvPr/>
        </p:nvSpPr>
        <p:spPr bwMode="auto">
          <a:xfrm>
            <a:off x="4997450" y="2116138"/>
            <a:ext cx="18415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In the absence of surface charging (which energizes surface particles and makes it easier to knock them off)</a:t>
            </a:r>
          </a:p>
        </p:txBody>
      </p:sp>
      <p:sp>
        <p:nvSpPr>
          <p:cNvPr id="102408" name="Line 8">
            <a:extLst>
              <a:ext uri="{FF2B5EF4-FFF2-40B4-BE49-F238E27FC236}">
                <a16:creationId xmlns:a16="http://schemas.microsoft.com/office/drawing/2014/main" id="{3292E080-AD15-48EE-B0F0-D0A87B8E79E9}"/>
              </a:ext>
            </a:extLst>
          </p:cNvPr>
          <p:cNvSpPr>
            <a:spLocks noChangeShapeType="1"/>
          </p:cNvSpPr>
          <p:nvPr/>
        </p:nvSpPr>
        <p:spPr bwMode="auto">
          <a:xfrm flipH="1">
            <a:off x="4575175" y="2581275"/>
            <a:ext cx="1081088" cy="863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09" name="Text Box 9">
            <a:extLst>
              <a:ext uri="{FF2B5EF4-FFF2-40B4-BE49-F238E27FC236}">
                <a16:creationId xmlns:a16="http://schemas.microsoft.com/office/drawing/2014/main" id="{7D5F74DE-E707-434B-AFE4-16031EC91FDA}"/>
              </a:ext>
            </a:extLst>
          </p:cNvPr>
          <p:cNvSpPr txBox="1">
            <a:spLocks noChangeArrowheads="1"/>
          </p:cNvSpPr>
          <p:nvPr/>
        </p:nvSpPr>
        <p:spPr bwMode="auto">
          <a:xfrm>
            <a:off x="5476875" y="4191000"/>
            <a:ext cx="15271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Again, tends to be a concern only for long-term missions</a:t>
            </a:r>
          </a:p>
        </p:txBody>
      </p:sp>
      <p:sp>
        <p:nvSpPr>
          <p:cNvPr id="102410" name="Text Box 10">
            <a:extLst>
              <a:ext uri="{FF2B5EF4-FFF2-40B4-BE49-F238E27FC236}">
                <a16:creationId xmlns:a16="http://schemas.microsoft.com/office/drawing/2014/main" id="{CFC82D15-DCDD-4209-B179-C0966808AAD3}"/>
              </a:ext>
            </a:extLst>
          </p:cNvPr>
          <p:cNvSpPr txBox="1">
            <a:spLocks noChangeArrowheads="1"/>
          </p:cNvSpPr>
          <p:nvPr/>
        </p:nvSpPr>
        <p:spPr bwMode="auto">
          <a:xfrm>
            <a:off x="293688" y="4356100"/>
            <a:ext cx="1335087"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Erosion due to oxidation</a:t>
            </a:r>
          </a:p>
        </p:txBody>
      </p:sp>
      <p:sp>
        <p:nvSpPr>
          <p:cNvPr id="102411" name="Line 11">
            <a:extLst>
              <a:ext uri="{FF2B5EF4-FFF2-40B4-BE49-F238E27FC236}">
                <a16:creationId xmlns:a16="http://schemas.microsoft.com/office/drawing/2014/main" id="{EC3AEDE3-D7D9-4904-BCD5-5B1FD3FAD141}"/>
              </a:ext>
            </a:extLst>
          </p:cNvPr>
          <p:cNvSpPr>
            <a:spLocks noChangeShapeType="1"/>
          </p:cNvSpPr>
          <p:nvPr/>
        </p:nvSpPr>
        <p:spPr bwMode="auto">
          <a:xfrm flipV="1">
            <a:off x="811213" y="3797300"/>
            <a:ext cx="765175" cy="531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2" name="Line 12">
            <a:extLst>
              <a:ext uri="{FF2B5EF4-FFF2-40B4-BE49-F238E27FC236}">
                <a16:creationId xmlns:a16="http://schemas.microsoft.com/office/drawing/2014/main" id="{4F10E4F4-2874-419C-8DEA-060D02D19B63}"/>
              </a:ext>
            </a:extLst>
          </p:cNvPr>
          <p:cNvSpPr>
            <a:spLocks noChangeShapeType="1"/>
          </p:cNvSpPr>
          <p:nvPr/>
        </p:nvSpPr>
        <p:spPr bwMode="auto">
          <a:xfrm flipH="1" flipV="1">
            <a:off x="4900613" y="4195763"/>
            <a:ext cx="606425" cy="1508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3" name="Text Box 13">
            <a:extLst>
              <a:ext uri="{FF2B5EF4-FFF2-40B4-BE49-F238E27FC236}">
                <a16:creationId xmlns:a16="http://schemas.microsoft.com/office/drawing/2014/main" id="{1579E905-10B0-4A84-B1B4-8DDAC5859E3A}"/>
              </a:ext>
            </a:extLst>
          </p:cNvPr>
          <p:cNvSpPr txBox="1">
            <a:spLocks noChangeArrowheads="1"/>
          </p:cNvSpPr>
          <p:nvPr/>
        </p:nvSpPr>
        <p:spPr bwMode="auto">
          <a:xfrm>
            <a:off x="4329113" y="5087938"/>
            <a:ext cx="13557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(remote sensing missions)</a:t>
            </a:r>
          </a:p>
        </p:txBody>
      </p:sp>
      <p:sp>
        <p:nvSpPr>
          <p:cNvPr id="102414" name="Text Box 14">
            <a:extLst>
              <a:ext uri="{FF2B5EF4-FFF2-40B4-BE49-F238E27FC236}">
                <a16:creationId xmlns:a16="http://schemas.microsoft.com/office/drawing/2014/main" id="{3E520AEE-E61A-409B-AB2F-3A45BB38147C}"/>
              </a:ext>
            </a:extLst>
          </p:cNvPr>
          <p:cNvSpPr txBox="1">
            <a:spLocks noChangeArrowheads="1"/>
          </p:cNvSpPr>
          <p:nvPr/>
        </p:nvSpPr>
        <p:spPr bwMode="auto">
          <a:xfrm>
            <a:off x="1290638" y="669925"/>
            <a:ext cx="43465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Although atmospheric density drops by 10 orders of magnitude at an altitude of 300 km, there are still 10</a:t>
            </a:r>
            <a:r>
              <a:rPr lang="en-US" altLang="en-US" sz="900" i="1" baseline="30000"/>
              <a:t>17</a:t>
            </a:r>
            <a:r>
              <a:rPr lang="en-US" altLang="en-US" sz="900" i="1"/>
              <a:t> particles per m</a:t>
            </a:r>
            <a:r>
              <a:rPr lang="en-US" altLang="en-US" sz="900" i="1" baseline="30000"/>
              <a:t>3</a:t>
            </a:r>
            <a:r>
              <a:rPr lang="en-US" altLang="en-US" sz="900" i="1"/>
              <a:t> to interact with the spacecraft both mechanically and chemically</a:t>
            </a:r>
          </a:p>
        </p:txBody>
      </p:sp>
      <p:sp>
        <p:nvSpPr>
          <p:cNvPr id="102416" name="Line 16">
            <a:extLst>
              <a:ext uri="{FF2B5EF4-FFF2-40B4-BE49-F238E27FC236}">
                <a16:creationId xmlns:a16="http://schemas.microsoft.com/office/drawing/2014/main" id="{A57E89A4-ABE9-4066-8676-B32F5605F417}"/>
              </a:ext>
            </a:extLst>
          </p:cNvPr>
          <p:cNvSpPr>
            <a:spLocks noChangeShapeType="1"/>
          </p:cNvSpPr>
          <p:nvPr/>
        </p:nvSpPr>
        <p:spPr bwMode="auto">
          <a:xfrm flipV="1">
            <a:off x="615950" y="4984750"/>
            <a:ext cx="952500" cy="11922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7" name="Text Box 17">
            <a:extLst>
              <a:ext uri="{FF2B5EF4-FFF2-40B4-BE49-F238E27FC236}">
                <a16:creationId xmlns:a16="http://schemas.microsoft.com/office/drawing/2014/main" id="{7F81579A-4391-4C14-BCEB-40F0217D808D}"/>
              </a:ext>
            </a:extLst>
          </p:cNvPr>
          <p:cNvSpPr txBox="1">
            <a:spLocks noChangeArrowheads="1"/>
          </p:cNvSpPr>
          <p:nvPr/>
        </p:nvSpPr>
        <p:spPr bwMode="auto">
          <a:xfrm>
            <a:off x="382588" y="7056438"/>
            <a:ext cx="2366962"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Optical emissions near exterior surfaces (size or relative geometry may be an important factor -- small satellites vs shuttle)</a:t>
            </a:r>
          </a:p>
        </p:txBody>
      </p:sp>
      <p:sp>
        <p:nvSpPr>
          <p:cNvPr id="102418" name="Text Box 18">
            <a:extLst>
              <a:ext uri="{FF2B5EF4-FFF2-40B4-BE49-F238E27FC236}">
                <a16:creationId xmlns:a16="http://schemas.microsoft.com/office/drawing/2014/main" id="{1F2D6973-9F9D-47B4-B38B-EFDD0B0F193E}"/>
              </a:ext>
            </a:extLst>
          </p:cNvPr>
          <p:cNvSpPr txBox="1">
            <a:spLocks noChangeArrowheads="1"/>
          </p:cNvSpPr>
          <p:nvPr/>
        </p:nvSpPr>
        <p:spPr bwMode="auto">
          <a:xfrm>
            <a:off x="344488" y="6180138"/>
            <a:ext cx="3789362"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related phenomenon which may be of concern for optically sensitive experiments is spacecraft glow.  Optical emissions are generated from metastable molecules which have been excited by impact on the surface of the spacecraft.  Investigations show that the surface acts as a catalyst, thus the intensity is dependent on the type of surface material.</a:t>
            </a:r>
          </a:p>
        </p:txBody>
      </p:sp>
    </p:spTree>
    <p:extLst>
      <p:ext uri="{BB962C8B-B14F-4D97-AF65-F5344CB8AC3E}">
        <p14:creationId xmlns:p14="http://schemas.microsoft.com/office/powerpoint/2010/main" val="697228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3C391BA9-1FCF-47D0-93B2-09C787BD43C0}"/>
              </a:ext>
            </a:extLst>
          </p:cNvPr>
          <p:cNvSpPr>
            <a:spLocks noGrp="1" noRot="1" noChangeAspect="1" noChangeArrowheads="1" noTextEdit="1"/>
          </p:cNvSpPr>
          <p:nvPr>
            <p:ph type="sldImg"/>
          </p:nvPr>
        </p:nvSpPr>
        <p:spPr>
          <a:xfrm>
            <a:off x="460375" y="2590800"/>
            <a:ext cx="6124575" cy="3446463"/>
          </a:xfrm>
          <a:ln/>
        </p:spPr>
      </p:sp>
      <p:sp>
        <p:nvSpPr>
          <p:cNvPr id="102404" name="Text Box 4">
            <a:extLst>
              <a:ext uri="{FF2B5EF4-FFF2-40B4-BE49-F238E27FC236}">
                <a16:creationId xmlns:a16="http://schemas.microsoft.com/office/drawing/2014/main" id="{B8F16653-DDDC-4C33-9F4F-A09D723B5426}"/>
              </a:ext>
            </a:extLst>
          </p:cNvPr>
          <p:cNvSpPr txBox="1">
            <a:spLocks noChangeArrowheads="1"/>
          </p:cNvSpPr>
          <p:nvPr/>
        </p:nvSpPr>
        <p:spPr bwMode="auto">
          <a:xfrm>
            <a:off x="714375" y="2236788"/>
            <a:ext cx="9731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Energy of impact breaks bonds</a:t>
            </a:r>
          </a:p>
        </p:txBody>
      </p:sp>
      <p:sp>
        <p:nvSpPr>
          <p:cNvPr id="102405" name="Line 5">
            <a:extLst>
              <a:ext uri="{FF2B5EF4-FFF2-40B4-BE49-F238E27FC236}">
                <a16:creationId xmlns:a16="http://schemas.microsoft.com/office/drawing/2014/main" id="{A6B3BE10-E105-487A-8E1F-F3E326BF01A8}"/>
              </a:ext>
            </a:extLst>
          </p:cNvPr>
          <p:cNvSpPr>
            <a:spLocks noChangeShapeType="1"/>
          </p:cNvSpPr>
          <p:nvPr/>
        </p:nvSpPr>
        <p:spPr bwMode="auto">
          <a:xfrm>
            <a:off x="798513" y="2571750"/>
            <a:ext cx="715962" cy="6731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06" name="Text Box 6">
            <a:extLst>
              <a:ext uri="{FF2B5EF4-FFF2-40B4-BE49-F238E27FC236}">
                <a16:creationId xmlns:a16="http://schemas.microsoft.com/office/drawing/2014/main" id="{675DFD26-D923-42FF-B136-866865F164D6}"/>
              </a:ext>
            </a:extLst>
          </p:cNvPr>
          <p:cNvSpPr txBox="1">
            <a:spLocks noChangeArrowheads="1"/>
          </p:cNvSpPr>
          <p:nvPr/>
        </p:nvSpPr>
        <p:spPr bwMode="auto">
          <a:xfrm>
            <a:off x="381000" y="2006600"/>
            <a:ext cx="236696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“sand blasting” or ablation effect</a:t>
            </a:r>
          </a:p>
        </p:txBody>
      </p:sp>
      <p:sp>
        <p:nvSpPr>
          <p:cNvPr id="102407" name="Text Box 7">
            <a:extLst>
              <a:ext uri="{FF2B5EF4-FFF2-40B4-BE49-F238E27FC236}">
                <a16:creationId xmlns:a16="http://schemas.microsoft.com/office/drawing/2014/main" id="{CEDA9B2A-D1B4-4576-B336-284939F1D385}"/>
              </a:ext>
            </a:extLst>
          </p:cNvPr>
          <p:cNvSpPr txBox="1">
            <a:spLocks noChangeArrowheads="1"/>
          </p:cNvSpPr>
          <p:nvPr/>
        </p:nvSpPr>
        <p:spPr bwMode="auto">
          <a:xfrm>
            <a:off x="4997450" y="2116138"/>
            <a:ext cx="18415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In the absence of surface charging (which energizes surface particles and makes it easier to knock them off)</a:t>
            </a:r>
          </a:p>
        </p:txBody>
      </p:sp>
      <p:sp>
        <p:nvSpPr>
          <p:cNvPr id="102408" name="Line 8">
            <a:extLst>
              <a:ext uri="{FF2B5EF4-FFF2-40B4-BE49-F238E27FC236}">
                <a16:creationId xmlns:a16="http://schemas.microsoft.com/office/drawing/2014/main" id="{3292E080-AD15-48EE-B0F0-D0A87B8E79E9}"/>
              </a:ext>
            </a:extLst>
          </p:cNvPr>
          <p:cNvSpPr>
            <a:spLocks noChangeShapeType="1"/>
          </p:cNvSpPr>
          <p:nvPr/>
        </p:nvSpPr>
        <p:spPr bwMode="auto">
          <a:xfrm flipH="1">
            <a:off x="4575175" y="2581275"/>
            <a:ext cx="1081088" cy="863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09" name="Text Box 9">
            <a:extLst>
              <a:ext uri="{FF2B5EF4-FFF2-40B4-BE49-F238E27FC236}">
                <a16:creationId xmlns:a16="http://schemas.microsoft.com/office/drawing/2014/main" id="{7D5F74DE-E707-434B-AFE4-16031EC91FDA}"/>
              </a:ext>
            </a:extLst>
          </p:cNvPr>
          <p:cNvSpPr txBox="1">
            <a:spLocks noChangeArrowheads="1"/>
          </p:cNvSpPr>
          <p:nvPr/>
        </p:nvSpPr>
        <p:spPr bwMode="auto">
          <a:xfrm>
            <a:off x="5476875" y="4191000"/>
            <a:ext cx="15271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Again, tends to be a concern only for long-term missions</a:t>
            </a:r>
          </a:p>
        </p:txBody>
      </p:sp>
      <p:sp>
        <p:nvSpPr>
          <p:cNvPr id="102410" name="Text Box 10">
            <a:extLst>
              <a:ext uri="{FF2B5EF4-FFF2-40B4-BE49-F238E27FC236}">
                <a16:creationId xmlns:a16="http://schemas.microsoft.com/office/drawing/2014/main" id="{CFC82D15-DCDD-4209-B179-C0966808AAD3}"/>
              </a:ext>
            </a:extLst>
          </p:cNvPr>
          <p:cNvSpPr txBox="1">
            <a:spLocks noChangeArrowheads="1"/>
          </p:cNvSpPr>
          <p:nvPr/>
        </p:nvSpPr>
        <p:spPr bwMode="auto">
          <a:xfrm>
            <a:off x="293688" y="4356100"/>
            <a:ext cx="1335087"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Erosion due to oxidation</a:t>
            </a:r>
          </a:p>
        </p:txBody>
      </p:sp>
      <p:sp>
        <p:nvSpPr>
          <p:cNvPr id="102411" name="Line 11">
            <a:extLst>
              <a:ext uri="{FF2B5EF4-FFF2-40B4-BE49-F238E27FC236}">
                <a16:creationId xmlns:a16="http://schemas.microsoft.com/office/drawing/2014/main" id="{EC3AEDE3-D7D9-4904-BCD5-5B1FD3FAD141}"/>
              </a:ext>
            </a:extLst>
          </p:cNvPr>
          <p:cNvSpPr>
            <a:spLocks noChangeShapeType="1"/>
          </p:cNvSpPr>
          <p:nvPr/>
        </p:nvSpPr>
        <p:spPr bwMode="auto">
          <a:xfrm flipV="1">
            <a:off x="811213" y="3797300"/>
            <a:ext cx="765175" cy="531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2" name="Line 12">
            <a:extLst>
              <a:ext uri="{FF2B5EF4-FFF2-40B4-BE49-F238E27FC236}">
                <a16:creationId xmlns:a16="http://schemas.microsoft.com/office/drawing/2014/main" id="{4F10E4F4-2874-419C-8DEA-060D02D19B63}"/>
              </a:ext>
            </a:extLst>
          </p:cNvPr>
          <p:cNvSpPr>
            <a:spLocks noChangeShapeType="1"/>
          </p:cNvSpPr>
          <p:nvPr/>
        </p:nvSpPr>
        <p:spPr bwMode="auto">
          <a:xfrm flipH="1" flipV="1">
            <a:off x="4900613" y="4195763"/>
            <a:ext cx="606425" cy="1508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3" name="Text Box 13">
            <a:extLst>
              <a:ext uri="{FF2B5EF4-FFF2-40B4-BE49-F238E27FC236}">
                <a16:creationId xmlns:a16="http://schemas.microsoft.com/office/drawing/2014/main" id="{1579E905-10B0-4A84-B1B4-8DDAC5859E3A}"/>
              </a:ext>
            </a:extLst>
          </p:cNvPr>
          <p:cNvSpPr txBox="1">
            <a:spLocks noChangeArrowheads="1"/>
          </p:cNvSpPr>
          <p:nvPr/>
        </p:nvSpPr>
        <p:spPr bwMode="auto">
          <a:xfrm>
            <a:off x="4329113" y="5087938"/>
            <a:ext cx="13557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(remote sensing missions)</a:t>
            </a:r>
          </a:p>
        </p:txBody>
      </p:sp>
      <p:sp>
        <p:nvSpPr>
          <p:cNvPr id="102414" name="Text Box 14">
            <a:extLst>
              <a:ext uri="{FF2B5EF4-FFF2-40B4-BE49-F238E27FC236}">
                <a16:creationId xmlns:a16="http://schemas.microsoft.com/office/drawing/2014/main" id="{3E520AEE-E61A-409B-AB2F-3A45BB38147C}"/>
              </a:ext>
            </a:extLst>
          </p:cNvPr>
          <p:cNvSpPr txBox="1">
            <a:spLocks noChangeArrowheads="1"/>
          </p:cNvSpPr>
          <p:nvPr/>
        </p:nvSpPr>
        <p:spPr bwMode="auto">
          <a:xfrm>
            <a:off x="1290638" y="669925"/>
            <a:ext cx="43465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Although atmospheric density drops by 10 orders of magnitude at an altitude of 300 km, there are still 10</a:t>
            </a:r>
            <a:r>
              <a:rPr lang="en-US" altLang="en-US" sz="900" i="1" baseline="30000"/>
              <a:t>17</a:t>
            </a:r>
            <a:r>
              <a:rPr lang="en-US" altLang="en-US" sz="900" i="1"/>
              <a:t> particles per m</a:t>
            </a:r>
            <a:r>
              <a:rPr lang="en-US" altLang="en-US" sz="900" i="1" baseline="30000"/>
              <a:t>3</a:t>
            </a:r>
            <a:r>
              <a:rPr lang="en-US" altLang="en-US" sz="900" i="1"/>
              <a:t> to interact with the spacecraft both mechanically and chemically</a:t>
            </a:r>
          </a:p>
        </p:txBody>
      </p:sp>
      <p:sp>
        <p:nvSpPr>
          <p:cNvPr id="102416" name="Line 16">
            <a:extLst>
              <a:ext uri="{FF2B5EF4-FFF2-40B4-BE49-F238E27FC236}">
                <a16:creationId xmlns:a16="http://schemas.microsoft.com/office/drawing/2014/main" id="{A57E89A4-ABE9-4066-8676-B32F5605F417}"/>
              </a:ext>
            </a:extLst>
          </p:cNvPr>
          <p:cNvSpPr>
            <a:spLocks noChangeShapeType="1"/>
          </p:cNvSpPr>
          <p:nvPr/>
        </p:nvSpPr>
        <p:spPr bwMode="auto">
          <a:xfrm flipV="1">
            <a:off x="615950" y="4984750"/>
            <a:ext cx="952500" cy="11922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17" name="Text Box 17">
            <a:extLst>
              <a:ext uri="{FF2B5EF4-FFF2-40B4-BE49-F238E27FC236}">
                <a16:creationId xmlns:a16="http://schemas.microsoft.com/office/drawing/2014/main" id="{7F81579A-4391-4C14-BCEB-40F0217D808D}"/>
              </a:ext>
            </a:extLst>
          </p:cNvPr>
          <p:cNvSpPr txBox="1">
            <a:spLocks noChangeArrowheads="1"/>
          </p:cNvSpPr>
          <p:nvPr/>
        </p:nvSpPr>
        <p:spPr bwMode="auto">
          <a:xfrm>
            <a:off x="382588" y="7056438"/>
            <a:ext cx="2366962"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Optical emissions near exterior surfaces (size or relative geometry may be an important factor -- small satellites vs shuttle)</a:t>
            </a:r>
          </a:p>
        </p:txBody>
      </p:sp>
      <p:sp>
        <p:nvSpPr>
          <p:cNvPr id="102418" name="Text Box 18">
            <a:extLst>
              <a:ext uri="{FF2B5EF4-FFF2-40B4-BE49-F238E27FC236}">
                <a16:creationId xmlns:a16="http://schemas.microsoft.com/office/drawing/2014/main" id="{1F2D6973-9F9D-47B4-B38B-EFDD0B0F193E}"/>
              </a:ext>
            </a:extLst>
          </p:cNvPr>
          <p:cNvSpPr txBox="1">
            <a:spLocks noChangeArrowheads="1"/>
          </p:cNvSpPr>
          <p:nvPr/>
        </p:nvSpPr>
        <p:spPr bwMode="auto">
          <a:xfrm>
            <a:off x="344488" y="6180138"/>
            <a:ext cx="3789362"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related phenomenon which may be of concern for optically sensitive experiments is spacecraft glow.  Optical emissions are generated from metastable molecules which have been excited by impact on the surface of the spacecraft.  Investigations show that the surface acts as a catalyst, thus the intensity is dependent on the type of surface material.</a:t>
            </a:r>
          </a:p>
        </p:txBody>
      </p:sp>
    </p:spTree>
    <p:extLst>
      <p:ext uri="{BB962C8B-B14F-4D97-AF65-F5344CB8AC3E}">
        <p14:creationId xmlns:p14="http://schemas.microsoft.com/office/powerpoint/2010/main" val="4082886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11233C6C-C960-43B2-9B36-C384EF15E1FD}"/>
              </a:ext>
            </a:extLst>
          </p:cNvPr>
          <p:cNvSpPr>
            <a:spLocks noGrp="1" noRot="1" noChangeAspect="1" noChangeArrowheads="1" noTextEdit="1"/>
          </p:cNvSpPr>
          <p:nvPr>
            <p:ph type="sldImg"/>
          </p:nvPr>
        </p:nvSpPr>
        <p:spPr>
          <a:xfrm>
            <a:off x="460375" y="2590800"/>
            <a:ext cx="6124575" cy="3446463"/>
          </a:xfrm>
          <a:ln/>
        </p:spPr>
      </p:sp>
      <p:sp>
        <p:nvSpPr>
          <p:cNvPr id="105476" name="Text Box 4">
            <a:extLst>
              <a:ext uri="{FF2B5EF4-FFF2-40B4-BE49-F238E27FC236}">
                <a16:creationId xmlns:a16="http://schemas.microsoft.com/office/drawing/2014/main" id="{299B96B1-144F-4D26-8865-93DDAE1180EF}"/>
              </a:ext>
            </a:extLst>
          </p:cNvPr>
          <p:cNvSpPr txBox="1">
            <a:spLocks noChangeArrowheads="1"/>
          </p:cNvSpPr>
          <p:nvPr/>
        </p:nvSpPr>
        <p:spPr bwMode="auto">
          <a:xfrm>
            <a:off x="2432050" y="3000375"/>
            <a:ext cx="1941513"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Solely an energy transfer calculation</a:t>
            </a:r>
          </a:p>
        </p:txBody>
      </p:sp>
      <p:sp>
        <p:nvSpPr>
          <p:cNvPr id="105477" name="Text Box 5">
            <a:extLst>
              <a:ext uri="{FF2B5EF4-FFF2-40B4-BE49-F238E27FC236}">
                <a16:creationId xmlns:a16="http://schemas.microsoft.com/office/drawing/2014/main" id="{8E9115E7-5FE9-43D9-9C01-89D1C8ED3FAC}"/>
              </a:ext>
            </a:extLst>
          </p:cNvPr>
          <p:cNvSpPr txBox="1">
            <a:spLocks noChangeArrowheads="1"/>
          </p:cNvSpPr>
          <p:nvPr/>
        </p:nvSpPr>
        <p:spPr bwMode="auto">
          <a:xfrm>
            <a:off x="3065463" y="3502025"/>
            <a:ext cx="2366962"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Models for mass loss do exist</a:t>
            </a:r>
          </a:p>
        </p:txBody>
      </p:sp>
      <p:sp>
        <p:nvSpPr>
          <p:cNvPr id="105478" name="Text Box 6">
            <a:extLst>
              <a:ext uri="{FF2B5EF4-FFF2-40B4-BE49-F238E27FC236}">
                <a16:creationId xmlns:a16="http://schemas.microsoft.com/office/drawing/2014/main" id="{6CC2D87C-2A10-4FC7-AE73-566D75CE7C69}"/>
              </a:ext>
            </a:extLst>
          </p:cNvPr>
          <p:cNvSpPr txBox="1">
            <a:spLocks noChangeArrowheads="1"/>
          </p:cNvSpPr>
          <p:nvPr/>
        </p:nvSpPr>
        <p:spPr bwMode="auto">
          <a:xfrm>
            <a:off x="2689225" y="4164013"/>
            <a:ext cx="2365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Another signal to noise ratio study</a:t>
            </a:r>
          </a:p>
        </p:txBody>
      </p:sp>
      <p:sp>
        <p:nvSpPr>
          <p:cNvPr id="105479" name="Text Box 7">
            <a:extLst>
              <a:ext uri="{FF2B5EF4-FFF2-40B4-BE49-F238E27FC236}">
                <a16:creationId xmlns:a16="http://schemas.microsoft.com/office/drawing/2014/main" id="{7B3DCB68-F5FC-43FB-A9EC-951D67715130}"/>
              </a:ext>
            </a:extLst>
          </p:cNvPr>
          <p:cNvSpPr txBox="1">
            <a:spLocks noChangeArrowheads="1"/>
          </p:cNvSpPr>
          <p:nvPr/>
        </p:nvSpPr>
        <p:spPr bwMode="auto">
          <a:xfrm>
            <a:off x="2827338" y="4687888"/>
            <a:ext cx="2366962"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Must replace the energy losses</a:t>
            </a:r>
          </a:p>
        </p:txBody>
      </p:sp>
      <p:sp>
        <p:nvSpPr>
          <p:cNvPr id="105480" name="Text Box 8">
            <a:extLst>
              <a:ext uri="{FF2B5EF4-FFF2-40B4-BE49-F238E27FC236}">
                <a16:creationId xmlns:a16="http://schemas.microsoft.com/office/drawing/2014/main" id="{1D9C7AA5-2CF1-46A3-BF68-071E1AB25FE4}"/>
              </a:ext>
            </a:extLst>
          </p:cNvPr>
          <p:cNvSpPr txBox="1">
            <a:spLocks noChangeArrowheads="1"/>
          </p:cNvSpPr>
          <p:nvPr/>
        </p:nvSpPr>
        <p:spPr bwMode="auto">
          <a:xfrm>
            <a:off x="614363" y="4346575"/>
            <a:ext cx="788987"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empirical</a:t>
            </a:r>
          </a:p>
        </p:txBody>
      </p:sp>
      <p:sp>
        <p:nvSpPr>
          <p:cNvPr id="105481" name="Oval 9">
            <a:extLst>
              <a:ext uri="{FF2B5EF4-FFF2-40B4-BE49-F238E27FC236}">
                <a16:creationId xmlns:a16="http://schemas.microsoft.com/office/drawing/2014/main" id="{C46959C9-B5FE-457B-BFED-53A3ADB0DE01}"/>
              </a:ext>
            </a:extLst>
          </p:cNvPr>
          <p:cNvSpPr>
            <a:spLocks noChangeArrowheads="1"/>
          </p:cNvSpPr>
          <p:nvPr/>
        </p:nvSpPr>
        <p:spPr bwMode="auto">
          <a:xfrm>
            <a:off x="1830388" y="3938588"/>
            <a:ext cx="303212" cy="250825"/>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5482" name="Line 10">
            <a:extLst>
              <a:ext uri="{FF2B5EF4-FFF2-40B4-BE49-F238E27FC236}">
                <a16:creationId xmlns:a16="http://schemas.microsoft.com/office/drawing/2014/main" id="{EDEADDBE-AAB4-4C13-8046-6A3453093A15}"/>
              </a:ext>
            </a:extLst>
          </p:cNvPr>
          <p:cNvSpPr>
            <a:spLocks noChangeShapeType="1"/>
          </p:cNvSpPr>
          <p:nvPr/>
        </p:nvSpPr>
        <p:spPr bwMode="auto">
          <a:xfrm flipV="1">
            <a:off x="928688" y="4116388"/>
            <a:ext cx="854075" cy="2222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Tree>
    <p:extLst>
      <p:ext uri="{BB962C8B-B14F-4D97-AF65-F5344CB8AC3E}">
        <p14:creationId xmlns:p14="http://schemas.microsoft.com/office/powerpoint/2010/main" val="4172753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BBD45-3EDA-4581-82F1-09472D2CD4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7D03D3-3D79-4A14-A40F-53C0837A08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698EC0-346D-4766-9939-997C9A080091}"/>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5" name="Footer Placeholder 4">
            <a:extLst>
              <a:ext uri="{FF2B5EF4-FFF2-40B4-BE49-F238E27FC236}">
                <a16:creationId xmlns:a16="http://schemas.microsoft.com/office/drawing/2014/main" id="{18F27533-A72B-4E24-AFA8-57FF2057E9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B4A91-0AA4-4EC7-87DE-97325C76D813}"/>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785007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E303C-19EC-43F5-A638-805483E9FA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593B42-F268-4147-B182-28DE4D2351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FEF55B-1552-44C0-B654-7BEF29E55300}"/>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5" name="Footer Placeholder 4">
            <a:extLst>
              <a:ext uri="{FF2B5EF4-FFF2-40B4-BE49-F238E27FC236}">
                <a16:creationId xmlns:a16="http://schemas.microsoft.com/office/drawing/2014/main" id="{684247DC-E9DF-467E-918A-E32470A719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93ABD-FE2F-4ED6-A700-87217E283333}"/>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3434701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2C538-08B7-46AB-9F60-3A8A0ED573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8F3A82-E952-4A97-BB46-855C0DADE1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8E4176-EFCA-4C1F-BFE2-14D2BA734CFE}"/>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5" name="Footer Placeholder 4">
            <a:extLst>
              <a:ext uri="{FF2B5EF4-FFF2-40B4-BE49-F238E27FC236}">
                <a16:creationId xmlns:a16="http://schemas.microsoft.com/office/drawing/2014/main" id="{8B4007E7-8789-4775-A2FC-12C796E237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8EB19-BE20-4287-85DF-8F0F9CF1D4D9}"/>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615988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637AD-F895-4227-B950-B80F85D57C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11A4A4-9BDD-45B9-AA38-38687E9CC3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646EC1-878F-42EE-A18B-ECAA810DD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654225-CF68-413D-BE5C-A97938DB8780}"/>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6" name="Footer Placeholder 5">
            <a:extLst>
              <a:ext uri="{FF2B5EF4-FFF2-40B4-BE49-F238E27FC236}">
                <a16:creationId xmlns:a16="http://schemas.microsoft.com/office/drawing/2014/main" id="{118D98DF-E0B6-4813-97FF-FB84E04474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68C3EB-5FCC-4A10-B9AC-E35A8A1E425C}"/>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167678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88523-9B7E-4C78-8588-C87F3028C3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A1BE96-13FB-4155-92C6-E6B2848A90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47058E-781D-457F-9928-15884F7B79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F5F251-EACC-4919-9199-CCD39FF4EA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0792D5-E5BB-4A96-8157-0394C770E4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C6C93F-7B64-4807-B643-6EDCA0728C18}"/>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8" name="Footer Placeholder 7">
            <a:extLst>
              <a:ext uri="{FF2B5EF4-FFF2-40B4-BE49-F238E27FC236}">
                <a16:creationId xmlns:a16="http://schemas.microsoft.com/office/drawing/2014/main" id="{D9148168-356A-4761-95AD-FC7DA2D4FE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260DE5-93D4-43DC-A79B-EBFA987E0A09}"/>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2792818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50B5D-6F42-4B17-8F1B-EA2E5C2CD6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0C2F49-FBF3-47E7-BE33-9D4F6D9D25D0}"/>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4" name="Footer Placeholder 3">
            <a:extLst>
              <a:ext uri="{FF2B5EF4-FFF2-40B4-BE49-F238E27FC236}">
                <a16:creationId xmlns:a16="http://schemas.microsoft.com/office/drawing/2014/main" id="{C40C99DD-194F-447E-A62A-27357785B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059AEF-0E79-4220-A18A-036F2D5F8627}"/>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3913427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2A19F6-6F2D-49CD-8397-ED5C6E6E2B06}"/>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3" name="Footer Placeholder 2">
            <a:extLst>
              <a:ext uri="{FF2B5EF4-FFF2-40B4-BE49-F238E27FC236}">
                <a16:creationId xmlns:a16="http://schemas.microsoft.com/office/drawing/2014/main" id="{2CDA2143-6FAA-43F5-A4B0-83010A838F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0991B-1FA9-4F03-BAA1-6473EEEB6461}"/>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3183722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9C0EC-D527-4927-A62F-C2B7E10B46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200FE9-2DDD-454D-8985-146F7F55E3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20307A-D708-42DE-926F-E9B0B0224A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72837F-9024-4645-8EE2-D460352E0B05}"/>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6" name="Footer Placeholder 5">
            <a:extLst>
              <a:ext uri="{FF2B5EF4-FFF2-40B4-BE49-F238E27FC236}">
                <a16:creationId xmlns:a16="http://schemas.microsoft.com/office/drawing/2014/main" id="{6068E358-67AC-4113-A21F-8084F5C45C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44EA37-D8DD-4394-A6F1-D02C90C47409}"/>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385078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D1C2-ADE4-4855-B6B7-F9216F9CA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D000D6-4430-4484-8D5C-DE8C0BE72E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B88B31-A1E3-4A42-8176-BF9D4284E0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4BED91-FFFF-4E68-A910-7E1DF6835DA5}"/>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6" name="Footer Placeholder 5">
            <a:extLst>
              <a:ext uri="{FF2B5EF4-FFF2-40B4-BE49-F238E27FC236}">
                <a16:creationId xmlns:a16="http://schemas.microsoft.com/office/drawing/2014/main" id="{B6EF8F93-1A8F-4AE4-8442-8B6835D82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EA66DA-7A30-45CB-9B8F-FE5770F8814F}"/>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1092689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454A-EC43-470E-ABFF-BEC64D2297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9245F2-1A90-42CF-B57B-3E327F4E9E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D6C0C6-6995-463D-9FD8-27EB62943437}"/>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5" name="Footer Placeholder 4">
            <a:extLst>
              <a:ext uri="{FF2B5EF4-FFF2-40B4-BE49-F238E27FC236}">
                <a16:creationId xmlns:a16="http://schemas.microsoft.com/office/drawing/2014/main" id="{23D3F28D-2D5F-4174-A1E5-1FAB9A0285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40B3B4-7D96-4511-9C63-28E988714625}"/>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3948272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725757-C3C6-4C8A-9647-D03C75B949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CF7736-CFBE-4B00-AE7D-C8B1723B0E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FA4D2B-943C-463D-BBB7-030441184072}"/>
              </a:ext>
            </a:extLst>
          </p:cNvPr>
          <p:cNvSpPr>
            <a:spLocks noGrp="1"/>
          </p:cNvSpPr>
          <p:nvPr>
            <p:ph type="dt" sz="half" idx="10"/>
          </p:nvPr>
        </p:nvSpPr>
        <p:spPr/>
        <p:txBody>
          <a:bodyPr/>
          <a:lstStyle/>
          <a:p>
            <a:fld id="{D4A25B48-ACF9-4B2D-93B6-C89E3F69F155}" type="datetimeFigureOut">
              <a:rPr lang="en-US" smtClean="0"/>
              <a:t>6/19/2025</a:t>
            </a:fld>
            <a:endParaRPr lang="en-US"/>
          </a:p>
        </p:txBody>
      </p:sp>
      <p:sp>
        <p:nvSpPr>
          <p:cNvPr id="5" name="Footer Placeholder 4">
            <a:extLst>
              <a:ext uri="{FF2B5EF4-FFF2-40B4-BE49-F238E27FC236}">
                <a16:creationId xmlns:a16="http://schemas.microsoft.com/office/drawing/2014/main" id="{FD70FD76-5338-45BD-949A-98A51B9260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22100E-878F-4337-B4B3-D6598BD7B57E}"/>
              </a:ext>
            </a:extLst>
          </p:cNvPr>
          <p:cNvSpPr>
            <a:spLocks noGrp="1"/>
          </p:cNvSpPr>
          <p:nvPr>
            <p:ph type="sldNum" sz="quarter" idx="12"/>
          </p:nvPr>
        </p:nvSpPr>
        <p:spPr/>
        <p:txBody>
          <a:bodyPr/>
          <a:lstStyle/>
          <a:p>
            <a:fld id="{E69241F8-1F62-4C01-B250-32B10EE9D0FD}" type="slidenum">
              <a:rPr lang="en-US" smtClean="0"/>
              <a:t>‹#›</a:t>
            </a:fld>
            <a:endParaRPr lang="en-US"/>
          </a:p>
        </p:txBody>
      </p:sp>
    </p:spTree>
    <p:extLst>
      <p:ext uri="{BB962C8B-B14F-4D97-AF65-F5344CB8AC3E}">
        <p14:creationId xmlns:p14="http://schemas.microsoft.com/office/powerpoint/2010/main" val="1281171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E916AB-E2CE-4F53-9A4E-2FBC689DE670}" type="datetime1">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903277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979ED4-8354-444C-8F27-2B2D37B0C5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0FD7D6-40C5-4E2C-8459-C79DAF53AF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21FCBB-52CF-4722-B628-2947136539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A25B48-ACF9-4B2D-93B6-C89E3F69F155}" type="datetimeFigureOut">
              <a:rPr lang="en-US" smtClean="0"/>
              <a:t>6/19/2025</a:t>
            </a:fld>
            <a:endParaRPr lang="en-US"/>
          </a:p>
        </p:txBody>
      </p:sp>
      <p:sp>
        <p:nvSpPr>
          <p:cNvPr id="5" name="Footer Placeholder 4">
            <a:extLst>
              <a:ext uri="{FF2B5EF4-FFF2-40B4-BE49-F238E27FC236}">
                <a16:creationId xmlns:a16="http://schemas.microsoft.com/office/drawing/2014/main" id="{3EB84901-E165-4B16-B8A9-C7E0F6402A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C6C0D1-7650-428C-88CF-C7046EFC35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9241F8-1F62-4C01-B250-32B10EE9D0FD}" type="slidenum">
              <a:rPr lang="en-US" smtClean="0"/>
              <a:t>‹#›</a:t>
            </a:fld>
            <a:endParaRPr lang="en-US"/>
          </a:p>
        </p:txBody>
      </p:sp>
    </p:spTree>
    <p:extLst>
      <p:ext uri="{BB962C8B-B14F-4D97-AF65-F5344CB8AC3E}">
        <p14:creationId xmlns:p14="http://schemas.microsoft.com/office/powerpoint/2010/main" val="2720626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2.jpeg"/><Relationship Id="rId3" Type="http://schemas.openxmlformats.org/officeDocument/2006/relationships/image" Target="../media/image11.jpeg"/><Relationship Id="rId7" Type="http://schemas.openxmlformats.org/officeDocument/2006/relationships/image" Target="../media/image15.jpeg"/><Relationship Id="rId12" Type="http://schemas.openxmlformats.org/officeDocument/2006/relationships/image" Target="../media/image21.png"/><Relationship Id="rId2" Type="http://schemas.openxmlformats.org/officeDocument/2006/relationships/notesSlide" Target="../notesSlides/notesSlide2.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20.jpeg"/><Relationship Id="rId5" Type="http://schemas.openxmlformats.org/officeDocument/2006/relationships/image" Target="../media/image13.jpeg"/><Relationship Id="rId15" Type="http://schemas.openxmlformats.org/officeDocument/2006/relationships/image" Target="../media/image24.jpeg"/><Relationship Id="rId10" Type="http://schemas.openxmlformats.org/officeDocument/2006/relationships/image" Target="../media/image19.png"/><Relationship Id="rId4" Type="http://schemas.openxmlformats.org/officeDocument/2006/relationships/image" Target="../media/image12.jpeg"/><Relationship Id="rId9" Type="http://schemas.openxmlformats.org/officeDocument/2006/relationships/image" Target="../media/image17.jpeg"/><Relationship Id="rId1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2.xml"/><Relationship Id="rId1" Type="http://schemas.openxmlformats.org/officeDocument/2006/relationships/video" Target="https://www.youtube.com/embed/K4DksMCWzfw?feature=oembed"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0.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42.jpeg"/><Relationship Id="rId4" Type="http://schemas.openxmlformats.org/officeDocument/2006/relationships/image" Target="../media/image41.wmf"/></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0.bin"/><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8.wmf"/></Relationships>
</file>

<file path=ppt/slides/_rels/slide46.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hyperlink" Target="https://astronomy.com/magazine/ask-astro/2016/03/plutos-falling-sky" TargetMode="External"/><Relationship Id="rId2" Type="http://schemas.openxmlformats.org/officeDocument/2006/relationships/hyperlink" Target="https://www.colorado.edu/today/2019/08/12/new-timeline-earths-cataclysmic-past" TargetMode="External"/><Relationship Id="rId1" Type="http://schemas.openxmlformats.org/officeDocument/2006/relationships/slideLayout" Target="../slideLayouts/slideLayout12.xml"/><Relationship Id="rId4" Type="http://schemas.openxmlformats.org/officeDocument/2006/relationships/hyperlink" Target="https://mars.nasa.gov/resources/8055/isotopic-clues-to-mars-crust-atmosphere-interac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260A8057-03C2-4F65-931A-95D54666B676}"/>
              </a:ext>
            </a:extLst>
          </p:cNvPr>
          <p:cNvPicPr/>
          <p:nvPr/>
        </p:nvPicPr>
        <p:blipFill rotWithShape="1">
          <a:blip r:embed="rId3" cstate="print">
            <a:extLst>
              <a:ext uri="{28A0092B-C50C-407E-A947-70E740481C1C}">
                <a14:useLocalDpi xmlns:a14="http://schemas.microsoft.com/office/drawing/2010/main" val="0"/>
              </a:ext>
            </a:extLst>
          </a:blip>
          <a:srcRect l="15006" r="7645" b="-1"/>
          <a:stretch/>
        </p:blipFill>
        <p:spPr bwMode="auto">
          <a:xfrm>
            <a:off x="20" y="1282"/>
            <a:ext cx="12191980" cy="6856718"/>
          </a:xfrm>
          <a:prstGeom prst="rect">
            <a:avLst/>
          </a:prstGeom>
          <a:noFill/>
        </p:spPr>
      </p:pic>
      <p:sp>
        <p:nvSpPr>
          <p:cNvPr id="3" name="TextBox 2">
            <a:extLst>
              <a:ext uri="{FF2B5EF4-FFF2-40B4-BE49-F238E27FC236}">
                <a16:creationId xmlns:a16="http://schemas.microsoft.com/office/drawing/2014/main" id="{5AE92190-A31A-4094-8DEA-9B74F8843A6B}"/>
              </a:ext>
            </a:extLst>
          </p:cNvPr>
          <p:cNvSpPr txBox="1"/>
          <p:nvPr/>
        </p:nvSpPr>
        <p:spPr>
          <a:xfrm>
            <a:off x="2039112" y="5742432"/>
            <a:ext cx="7909560" cy="584775"/>
          </a:xfrm>
          <a:prstGeom prst="rect">
            <a:avLst/>
          </a:prstGeom>
          <a:noFill/>
        </p:spPr>
        <p:txBody>
          <a:bodyPr wrap="square" rtlCol="0">
            <a:spAutoFit/>
          </a:bodyPr>
          <a:lstStyle/>
          <a:p>
            <a:pPr algn="ctr"/>
            <a:r>
              <a:rPr lang="en-US" sz="3200" dirty="0">
                <a:solidFill>
                  <a:schemeClr val="bg1"/>
                </a:solidFill>
              </a:rPr>
              <a:t>THE NEUTRAL ENVIRONMENT PART 2</a:t>
            </a:r>
          </a:p>
        </p:txBody>
      </p:sp>
    </p:spTree>
    <p:extLst>
      <p:ext uri="{BB962C8B-B14F-4D97-AF65-F5344CB8AC3E}">
        <p14:creationId xmlns:p14="http://schemas.microsoft.com/office/powerpoint/2010/main" val="3025116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E9922-CACC-4438-91F7-7CF548867190}"/>
              </a:ext>
            </a:extLst>
          </p:cNvPr>
          <p:cNvSpPr>
            <a:spLocks noGrp="1"/>
          </p:cNvSpPr>
          <p:nvPr>
            <p:ph type="title"/>
          </p:nvPr>
        </p:nvSpPr>
        <p:spPr/>
        <p:txBody>
          <a:bodyPr/>
          <a:lstStyle/>
          <a:p>
            <a:pPr algn="ctr"/>
            <a:r>
              <a:rPr lang="en-US" dirty="0"/>
              <a:t>EXAMPLE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483055F-416A-0B35-A4EA-ACAF06E920FA}"/>
                  </a:ext>
                </a:extLst>
              </p:cNvPr>
              <p:cNvSpPr txBox="1"/>
              <p:nvPr/>
            </p:nvSpPr>
            <p:spPr>
              <a:xfrm>
                <a:off x="641350" y="1784350"/>
                <a:ext cx="10833726" cy="3869393"/>
              </a:xfrm>
              <a:prstGeom prst="rect">
                <a:avLst/>
              </a:prstGeom>
              <a:noFill/>
            </p:spPr>
            <p:txBody>
              <a:bodyPr wrap="square" rtlCol="0">
                <a:spAutoFit/>
              </a:bodyPr>
              <a:lstStyle/>
              <a:p>
                <a:r>
                  <a:rPr lang="en-US" dirty="0"/>
                  <a:t>1)  Estimate the erosion depth of a Kapton panel on the spacecraft in the previous example oriented in the ram direction during low, medium, and high solar activity.  The atomic-oxygen number densities are</a:t>
                </a:r>
                <a14:m>
                  <m:oMath xmlns:m="http://schemas.openxmlformats.org/officeDocument/2006/math">
                    <m:r>
                      <a:rPr lang="en-US" b="0" i="1" smtClean="0">
                        <a:latin typeface="Cambria Math" panose="02040503050406030204" pitchFamily="18" charset="0"/>
                      </a:rPr>
                      <m:t> 6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r>
                      <a:rPr lang="en-US" b="0" i="1" smtClean="0">
                        <a:latin typeface="Cambria Math" panose="02040503050406030204" pitchFamily="18" charset="0"/>
                      </a:rPr>
                      <m:t>, 2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7</m:t>
                        </m:r>
                      </m:sup>
                    </m:sSup>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1 </m:t>
                    </m:r>
                    <m:r>
                      <a:rPr lang="en-US" b="0" i="1" smtClean="0">
                        <a:latin typeface="Cambria Math" panose="02040503050406030204" pitchFamily="18" charset="0"/>
                      </a:rPr>
                      <m:t>𝑥</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8 </m:t>
                            </m:r>
                          </m:sup>
                        </m:sSup>
                        <m:r>
                          <a:rPr lang="en-US" b="0" i="1" smtClean="0">
                            <a:latin typeface="Cambria Math" panose="02040503050406030204" pitchFamily="18" charset="0"/>
                          </a:rPr>
                          <m:t>𝑎𝑡𝑜𝑚𝑠</m:t>
                        </m:r>
                      </m:num>
                      <m:den>
                        <m:r>
                          <a:rPr lang="en-US" b="0" i="1" smtClean="0">
                            <a:latin typeface="Cambria Math" panose="02040503050406030204" pitchFamily="18" charset="0"/>
                          </a:rPr>
                          <m:t>,</m:t>
                        </m:r>
                      </m:den>
                    </m:f>
                  </m:oMath>
                </a14:m>
                <a:r>
                  <a:rPr lang="en-US" dirty="0"/>
                  <a:t>, respectively.</a:t>
                </a:r>
              </a:p>
              <a:p>
                <a:endParaRPr lang="en-US" dirty="0"/>
              </a:p>
              <a:p>
                <a:endParaRPr lang="en-US" dirty="0"/>
              </a:p>
              <a:p>
                <a:endParaRPr lang="en-US" dirty="0"/>
              </a:p>
              <a:p>
                <a:endParaRPr lang="en-US" dirty="0"/>
              </a:p>
              <a:p>
                <a:endParaRPr lang="en-US" dirty="0"/>
              </a:p>
              <a:p>
                <a:pPr marL="342900" indent="-342900">
                  <a:buAutoNum type="arabicPeriod" startAt="2"/>
                </a:pPr>
                <a:r>
                  <a:rPr lang="en-US" dirty="0"/>
                  <a:t>If the Kapton panel has a thickness of 100 µm, would the satellite deorbit or would its panel erode first?</a:t>
                </a:r>
              </a:p>
              <a:p>
                <a:pPr marL="342900" indent="-342900">
                  <a:buAutoNum type="arabicPeriod" startAt="2"/>
                </a:pPr>
                <a:endParaRPr lang="en-US" dirty="0"/>
              </a:p>
              <a:p>
                <a:pPr marL="342900" indent="-342900">
                  <a:buAutoNum type="arabicPeriod" startAt="2"/>
                </a:pPr>
                <a:endParaRPr lang="en-US" dirty="0"/>
              </a:p>
              <a:p>
                <a:pPr marL="342900" indent="-342900">
                  <a:buAutoNum type="arabicPeriod" startAt="2"/>
                </a:pPr>
                <a:endParaRPr lang="en-US" dirty="0"/>
              </a:p>
              <a:p>
                <a:pPr marL="342900" indent="-342900">
                  <a:buAutoNum type="arabicPeriod" startAt="2"/>
                </a:pPr>
                <a:r>
                  <a:rPr lang="en-US" dirty="0"/>
                  <a:t>How could you make your estimate more accurate?</a:t>
                </a:r>
              </a:p>
            </p:txBody>
          </p:sp>
        </mc:Choice>
        <mc:Fallback xmlns="">
          <p:sp>
            <p:nvSpPr>
              <p:cNvPr id="3" name="TextBox 2">
                <a:extLst>
                  <a:ext uri="{FF2B5EF4-FFF2-40B4-BE49-F238E27FC236}">
                    <a16:creationId xmlns:a16="http://schemas.microsoft.com/office/drawing/2014/main" id="{2483055F-416A-0B35-A4EA-ACAF06E920FA}"/>
                  </a:ext>
                </a:extLst>
              </p:cNvPr>
              <p:cNvSpPr txBox="1">
                <a:spLocks noRot="1" noChangeAspect="1" noMove="1" noResize="1" noEditPoints="1" noAdjustHandles="1" noChangeArrowheads="1" noChangeShapeType="1" noTextEdit="1"/>
              </p:cNvSpPr>
              <p:nvPr/>
            </p:nvSpPr>
            <p:spPr>
              <a:xfrm>
                <a:off x="641350" y="1784350"/>
                <a:ext cx="10833726" cy="3869393"/>
              </a:xfrm>
              <a:prstGeom prst="rect">
                <a:avLst/>
              </a:prstGeom>
              <a:blipFill>
                <a:blip r:embed="rId2"/>
                <a:stretch>
                  <a:fillRect l="-450" t="-946" b="-1735"/>
                </a:stretch>
              </a:blipFill>
            </p:spPr>
            <p:txBody>
              <a:bodyPr/>
              <a:lstStyle/>
              <a:p>
                <a:r>
                  <a:rPr lang="en-US">
                    <a:noFill/>
                  </a:rPr>
                  <a:t> </a:t>
                </a:r>
              </a:p>
            </p:txBody>
          </p:sp>
        </mc:Fallback>
      </mc:AlternateContent>
      <p:pic>
        <p:nvPicPr>
          <p:cNvPr id="1026" name="Picture 2" descr="NEW! Quick Quiz - Wordy Fun - YouTube">
            <a:extLst>
              <a:ext uri="{FF2B5EF4-FFF2-40B4-BE49-F238E27FC236}">
                <a16:creationId xmlns:a16="http://schemas.microsoft.com/office/drawing/2014/main" id="{C455E292-8426-B9AE-D28E-49012CA57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957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194" y="93323"/>
            <a:ext cx="10364451" cy="1596177"/>
          </a:xfrm>
        </p:spPr>
        <p:txBody>
          <a:bodyPr/>
          <a:lstStyle/>
          <a:p>
            <a:pPr algn="ctr"/>
            <a:r>
              <a:rPr lang="en-US" dirty="0"/>
              <a:t>QUIZ #1</a:t>
            </a:r>
          </a:p>
        </p:txBody>
      </p:sp>
      <p:sp>
        <p:nvSpPr>
          <p:cNvPr id="3" name="Content Placeholder 2"/>
          <p:cNvSpPr>
            <a:spLocks noGrp="1"/>
          </p:cNvSpPr>
          <p:nvPr>
            <p:ph idx="1"/>
          </p:nvPr>
        </p:nvSpPr>
        <p:spPr/>
        <p:txBody>
          <a:bodyPr/>
          <a:lstStyle/>
          <a:p>
            <a:pPr marL="0" indent="0">
              <a:buNone/>
            </a:pPr>
            <a:r>
              <a:rPr lang="en-US" dirty="0"/>
              <a:t>Which of the follow orbits would be affected </a:t>
            </a:r>
            <a:r>
              <a:rPr lang="en-US" i="1" dirty="0"/>
              <a:t>the most </a:t>
            </a:r>
            <a:r>
              <a:rPr lang="en-US" dirty="0"/>
              <a:t>by earth’s atmospheric drag:</a:t>
            </a:r>
          </a:p>
          <a:p>
            <a:pPr marL="457200" indent="-457200">
              <a:buAutoNum type="alphaLcPeriod"/>
            </a:pPr>
            <a:r>
              <a:rPr lang="en-US" dirty="0"/>
              <a:t>A communications satellite (24 hour period)</a:t>
            </a:r>
          </a:p>
          <a:p>
            <a:pPr marL="0" indent="0">
              <a:buNone/>
            </a:pPr>
            <a:r>
              <a:rPr lang="en-US" dirty="0"/>
              <a:t>b.   GPS satellite (12 hour period)</a:t>
            </a:r>
          </a:p>
          <a:p>
            <a:pPr marL="0" indent="0">
              <a:buNone/>
            </a:pPr>
            <a:r>
              <a:rPr lang="en-US" dirty="0"/>
              <a:t>c.    ISS (90 minute period)</a:t>
            </a:r>
          </a:p>
          <a:p>
            <a:pPr marL="0" indent="0">
              <a:buNone/>
            </a:pPr>
            <a:r>
              <a:rPr lang="en-US" dirty="0"/>
              <a:t>d.   Geo graveyard orbit (300 km above Geo)</a:t>
            </a:r>
          </a:p>
          <a:p>
            <a:pPr marL="0" indent="0">
              <a:buNone/>
            </a:pPr>
            <a:r>
              <a:rPr lang="en-US" dirty="0"/>
              <a:t>e.   Artemis (moon mission)</a:t>
            </a:r>
          </a:p>
        </p:txBody>
      </p:sp>
      <p:sp>
        <p:nvSpPr>
          <p:cNvPr id="4" name="Slide Number Placeholder 3"/>
          <p:cNvSpPr>
            <a:spLocks noGrp="1"/>
          </p:cNvSpPr>
          <p:nvPr>
            <p:ph type="sldNum" sz="quarter" idx="12"/>
          </p:nvPr>
        </p:nvSpPr>
        <p:spPr/>
        <p:txBody>
          <a:bodyPr/>
          <a:lstStyle/>
          <a:p>
            <a:fld id="{ED1AABF0-59A5-4037-929A-6287642C3B54}" type="slidenum">
              <a:rPr lang="en-US" smtClean="0"/>
              <a:t>3</a:t>
            </a:fld>
            <a:endParaRPr lang="en-US"/>
          </a:p>
        </p:txBody>
      </p:sp>
    </p:spTree>
    <p:extLst>
      <p:ext uri="{BB962C8B-B14F-4D97-AF65-F5344CB8AC3E}">
        <p14:creationId xmlns:p14="http://schemas.microsoft.com/office/powerpoint/2010/main" val="2624724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796" y="0"/>
            <a:ext cx="10364451" cy="1596177"/>
          </a:xfrm>
        </p:spPr>
        <p:txBody>
          <a:bodyPr/>
          <a:lstStyle/>
          <a:p>
            <a:pPr algn="ctr"/>
            <a:r>
              <a:rPr lang="en-US" dirty="0"/>
              <a:t>	QUIZ #2</a:t>
            </a:r>
          </a:p>
        </p:txBody>
      </p:sp>
      <p:sp>
        <p:nvSpPr>
          <p:cNvPr id="3" name="Content Placeholder 2"/>
          <p:cNvSpPr>
            <a:spLocks noGrp="1"/>
          </p:cNvSpPr>
          <p:nvPr>
            <p:ph idx="1"/>
          </p:nvPr>
        </p:nvSpPr>
        <p:spPr>
          <a:xfrm>
            <a:off x="1103312" y="1297858"/>
            <a:ext cx="8946541" cy="4950541"/>
          </a:xfrm>
        </p:spPr>
        <p:txBody>
          <a:bodyPr>
            <a:normAutofit lnSpcReduction="10000"/>
          </a:bodyPr>
          <a:lstStyle/>
          <a:p>
            <a:pPr marL="0" indent="0">
              <a:buNone/>
            </a:pPr>
            <a:r>
              <a:rPr lang="en-US" dirty="0"/>
              <a:t>Which object would have the largest Coefficient of drag?</a:t>
            </a:r>
          </a:p>
          <a:p>
            <a:pPr marL="0" indent="0">
              <a:buNone/>
            </a:pPr>
            <a:r>
              <a:rPr lang="en-US" dirty="0"/>
              <a:t>a.</a:t>
            </a:r>
          </a:p>
          <a:p>
            <a:pPr marL="0" indent="0">
              <a:buNone/>
            </a:pPr>
            <a:endParaRPr lang="en-US" dirty="0"/>
          </a:p>
          <a:p>
            <a:pPr marL="0" indent="0">
              <a:buNone/>
            </a:pPr>
            <a:r>
              <a:rPr lang="en-US" dirty="0"/>
              <a:t>b.</a:t>
            </a:r>
          </a:p>
          <a:p>
            <a:pPr marL="0" indent="0">
              <a:buNone/>
            </a:pPr>
            <a:endParaRPr lang="en-US" dirty="0"/>
          </a:p>
          <a:p>
            <a:pPr marL="0" indent="0">
              <a:buNone/>
            </a:pPr>
            <a:r>
              <a:rPr lang="en-US" dirty="0"/>
              <a:t>c.</a:t>
            </a:r>
          </a:p>
          <a:p>
            <a:pPr marL="0" indent="0">
              <a:buNone/>
            </a:pPr>
            <a:endParaRPr lang="en-US" dirty="0"/>
          </a:p>
          <a:p>
            <a:pPr marL="0" indent="0">
              <a:buNone/>
            </a:pPr>
            <a:r>
              <a:rPr lang="en-US" dirty="0"/>
              <a:t>d.</a:t>
            </a:r>
          </a:p>
          <a:p>
            <a:pPr marL="0" indent="0">
              <a:buNone/>
            </a:pPr>
            <a:endParaRPr lang="en-US" dirty="0"/>
          </a:p>
          <a:p>
            <a:pPr marL="0" indent="0">
              <a:buNone/>
            </a:pPr>
            <a:r>
              <a:rPr lang="en-US" dirty="0"/>
              <a:t>e.</a:t>
            </a:r>
          </a:p>
          <a:p>
            <a:pPr marL="0" indent="0">
              <a:buNone/>
            </a:pPr>
            <a:endParaRPr lang="en-US" dirty="0"/>
          </a:p>
        </p:txBody>
      </p:sp>
      <p:sp>
        <p:nvSpPr>
          <p:cNvPr id="4" name="Slide Number Placeholder 3"/>
          <p:cNvSpPr>
            <a:spLocks noGrp="1"/>
          </p:cNvSpPr>
          <p:nvPr>
            <p:ph type="sldNum" sz="quarter" idx="12"/>
          </p:nvPr>
        </p:nvSpPr>
        <p:spPr/>
        <p:txBody>
          <a:bodyPr/>
          <a:lstStyle/>
          <a:p>
            <a:fld id="{ED1AABF0-59A5-4037-929A-6287642C3B54}" type="slidenum">
              <a:rPr lang="en-US" smtClean="0"/>
              <a:t>4</a:t>
            </a:fld>
            <a:endParaRPr lang="en-US"/>
          </a:p>
        </p:txBody>
      </p:sp>
      <p:cxnSp>
        <p:nvCxnSpPr>
          <p:cNvPr id="7" name="Straight Arrow Connector 6"/>
          <p:cNvCxnSpPr/>
          <p:nvPr/>
        </p:nvCxnSpPr>
        <p:spPr>
          <a:xfrm flipV="1">
            <a:off x="7188666" y="4350774"/>
            <a:ext cx="1297858" cy="14748"/>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8486524" y="4164056"/>
                <a:ext cx="580504" cy="4029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𝑉</m:t>
                          </m:r>
                        </m:e>
                      </m:acc>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8486524" y="4164056"/>
                <a:ext cx="580504" cy="402931"/>
              </a:xfrm>
              <a:prstGeom prst="rect">
                <a:avLst/>
              </a:prstGeom>
              <a:blipFill rotWithShape="0">
                <a:blip r:embed="rId2"/>
                <a:stretch>
                  <a:fillRect/>
                </a:stretch>
              </a:blipFill>
            </p:spPr>
            <p:txBody>
              <a:bodyPr/>
              <a:lstStyle/>
              <a:p>
                <a:r>
                  <a:rPr lang="en-US">
                    <a:noFill/>
                  </a:rPr>
                  <a:t> </a:t>
                </a:r>
              </a:p>
            </p:txBody>
          </p:sp>
        </mc:Fallback>
      </mc:AlternateContent>
      <p:sp>
        <p:nvSpPr>
          <p:cNvPr id="9" name="Right Triangle 8"/>
          <p:cNvSpPr/>
          <p:nvPr/>
        </p:nvSpPr>
        <p:spPr>
          <a:xfrm>
            <a:off x="1755057" y="2346150"/>
            <a:ext cx="1533833" cy="76691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oon 9"/>
          <p:cNvSpPr/>
          <p:nvPr/>
        </p:nvSpPr>
        <p:spPr>
          <a:xfrm flipH="1">
            <a:off x="2064773" y="3410563"/>
            <a:ext cx="412955" cy="725129"/>
          </a:xfrm>
          <a:prstGeom prst="mo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755057" y="5320752"/>
            <a:ext cx="781664" cy="7751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755057" y="4344763"/>
            <a:ext cx="781664" cy="7669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Terminator 5"/>
          <p:cNvSpPr/>
          <p:nvPr/>
        </p:nvSpPr>
        <p:spPr>
          <a:xfrm>
            <a:off x="1755057" y="1853248"/>
            <a:ext cx="1533833" cy="196778"/>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6452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230" y="-88138"/>
            <a:ext cx="10364451" cy="1596177"/>
          </a:xfrm>
        </p:spPr>
        <p:txBody>
          <a:bodyPr/>
          <a:lstStyle/>
          <a:p>
            <a:pPr algn="ctr"/>
            <a:r>
              <a:rPr lang="en-US" dirty="0"/>
              <a:t>	QUIZ #3</a:t>
            </a:r>
          </a:p>
        </p:txBody>
      </p:sp>
      <p:sp>
        <p:nvSpPr>
          <p:cNvPr id="3" name="Content Placeholder 2"/>
          <p:cNvSpPr>
            <a:spLocks noGrp="1"/>
          </p:cNvSpPr>
          <p:nvPr>
            <p:ph idx="1"/>
          </p:nvPr>
        </p:nvSpPr>
        <p:spPr>
          <a:xfrm>
            <a:off x="1103312" y="1297858"/>
            <a:ext cx="8946541" cy="4950541"/>
          </a:xfrm>
        </p:spPr>
        <p:txBody>
          <a:bodyPr>
            <a:normAutofit lnSpcReduction="10000"/>
          </a:bodyPr>
          <a:lstStyle/>
          <a:p>
            <a:pPr marL="0" indent="0">
              <a:buNone/>
            </a:pPr>
            <a:r>
              <a:rPr lang="en-US" dirty="0"/>
              <a:t>Which object would have the largest Ballistic Coefficient?</a:t>
            </a:r>
          </a:p>
          <a:p>
            <a:pPr marL="0" indent="0">
              <a:buNone/>
            </a:pPr>
            <a:r>
              <a:rPr lang="en-US" dirty="0"/>
              <a:t>a.</a:t>
            </a:r>
          </a:p>
          <a:p>
            <a:pPr marL="0" indent="0">
              <a:buNone/>
            </a:pPr>
            <a:endParaRPr lang="en-US" dirty="0"/>
          </a:p>
          <a:p>
            <a:pPr marL="0" indent="0">
              <a:buNone/>
            </a:pPr>
            <a:r>
              <a:rPr lang="en-US" dirty="0"/>
              <a:t>b.</a:t>
            </a:r>
          </a:p>
          <a:p>
            <a:pPr marL="0" indent="0">
              <a:buNone/>
            </a:pPr>
            <a:endParaRPr lang="en-US" dirty="0"/>
          </a:p>
          <a:p>
            <a:pPr marL="0" indent="0">
              <a:buNone/>
            </a:pPr>
            <a:r>
              <a:rPr lang="en-US" dirty="0"/>
              <a:t>c.</a:t>
            </a:r>
          </a:p>
          <a:p>
            <a:pPr marL="0" indent="0">
              <a:buNone/>
            </a:pPr>
            <a:endParaRPr lang="en-US" dirty="0"/>
          </a:p>
          <a:p>
            <a:pPr marL="0" indent="0">
              <a:buNone/>
            </a:pPr>
            <a:r>
              <a:rPr lang="en-US" dirty="0"/>
              <a:t>d.</a:t>
            </a:r>
          </a:p>
          <a:p>
            <a:pPr marL="0" indent="0">
              <a:buNone/>
            </a:pPr>
            <a:endParaRPr lang="en-US" dirty="0"/>
          </a:p>
          <a:p>
            <a:pPr marL="0" indent="0">
              <a:buNone/>
            </a:pPr>
            <a:r>
              <a:rPr lang="en-US" dirty="0"/>
              <a:t>e.</a:t>
            </a:r>
          </a:p>
          <a:p>
            <a:pPr marL="0" indent="0">
              <a:buNone/>
            </a:pPr>
            <a:endParaRPr lang="en-US" dirty="0"/>
          </a:p>
        </p:txBody>
      </p:sp>
      <p:sp>
        <p:nvSpPr>
          <p:cNvPr id="4" name="Slide Number Placeholder 3"/>
          <p:cNvSpPr>
            <a:spLocks noGrp="1"/>
          </p:cNvSpPr>
          <p:nvPr>
            <p:ph type="sldNum" sz="quarter" idx="12"/>
          </p:nvPr>
        </p:nvSpPr>
        <p:spPr/>
        <p:txBody>
          <a:bodyPr/>
          <a:lstStyle/>
          <a:p>
            <a:fld id="{ED1AABF0-59A5-4037-929A-6287642C3B54}" type="slidenum">
              <a:rPr lang="en-US" smtClean="0"/>
              <a:t>5</a:t>
            </a:fld>
            <a:endParaRPr lang="en-US"/>
          </a:p>
        </p:txBody>
      </p:sp>
      <p:cxnSp>
        <p:nvCxnSpPr>
          <p:cNvPr id="7" name="Straight Arrow Connector 6"/>
          <p:cNvCxnSpPr/>
          <p:nvPr/>
        </p:nvCxnSpPr>
        <p:spPr>
          <a:xfrm flipV="1">
            <a:off x="7188666" y="4350774"/>
            <a:ext cx="1297858" cy="14748"/>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8486524" y="4164056"/>
                <a:ext cx="580504" cy="4029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𝑉</m:t>
                          </m:r>
                        </m:e>
                      </m:acc>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8486524" y="4164056"/>
                <a:ext cx="580504" cy="402931"/>
              </a:xfrm>
              <a:prstGeom prst="rect">
                <a:avLst/>
              </a:prstGeom>
              <a:blipFill rotWithShape="0">
                <a:blip r:embed="rId2"/>
                <a:stretch>
                  <a:fillRect/>
                </a:stretch>
              </a:blipFill>
            </p:spPr>
            <p:txBody>
              <a:bodyPr/>
              <a:lstStyle/>
              <a:p>
                <a:r>
                  <a:rPr lang="en-US">
                    <a:noFill/>
                  </a:rPr>
                  <a:t> </a:t>
                </a:r>
              </a:p>
            </p:txBody>
          </p:sp>
        </mc:Fallback>
      </mc:AlternateContent>
      <p:sp>
        <p:nvSpPr>
          <p:cNvPr id="9" name="Right Triangle 8"/>
          <p:cNvSpPr/>
          <p:nvPr/>
        </p:nvSpPr>
        <p:spPr>
          <a:xfrm>
            <a:off x="1755057" y="2346150"/>
            <a:ext cx="1533833" cy="76691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oon 9"/>
          <p:cNvSpPr/>
          <p:nvPr/>
        </p:nvSpPr>
        <p:spPr>
          <a:xfrm flipH="1">
            <a:off x="2064773" y="3410563"/>
            <a:ext cx="412955" cy="725129"/>
          </a:xfrm>
          <a:prstGeom prst="mo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755057" y="5320752"/>
            <a:ext cx="781664" cy="7751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755057" y="4344763"/>
            <a:ext cx="781664" cy="7669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Terminator 5"/>
          <p:cNvSpPr/>
          <p:nvPr/>
        </p:nvSpPr>
        <p:spPr>
          <a:xfrm>
            <a:off x="1755057" y="1853248"/>
            <a:ext cx="1533833" cy="196778"/>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7278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QUIZ #4</a:t>
            </a:r>
          </a:p>
        </p:txBody>
      </p:sp>
      <p:sp>
        <p:nvSpPr>
          <p:cNvPr id="3" name="Content Placeholder 2"/>
          <p:cNvSpPr>
            <a:spLocks noGrp="1"/>
          </p:cNvSpPr>
          <p:nvPr>
            <p:ph idx="1"/>
          </p:nvPr>
        </p:nvSpPr>
        <p:spPr/>
        <p:txBody>
          <a:bodyPr>
            <a:normAutofit/>
          </a:bodyPr>
          <a:lstStyle/>
          <a:p>
            <a:pPr marL="0" indent="0">
              <a:buNone/>
            </a:pPr>
            <a:r>
              <a:rPr lang="en-US" dirty="0"/>
              <a:t>Which of the follow is true about drag’s effect on an orbit’s total energy, potential energy, and kinetic energy?</a:t>
            </a:r>
          </a:p>
          <a:p>
            <a:pPr marL="0" indent="0">
              <a:buNone/>
            </a:pPr>
            <a:endParaRPr lang="en-US" dirty="0"/>
          </a:p>
          <a:p>
            <a:pPr marL="457200" indent="-457200">
              <a:buAutoNum type="alphaLcPeriod"/>
            </a:pPr>
            <a:r>
              <a:rPr lang="el-GR" dirty="0"/>
              <a:t>ε</a:t>
            </a:r>
            <a:r>
              <a:rPr lang="en-US" dirty="0"/>
              <a:t> increases, PE increases, KE decreases</a:t>
            </a:r>
          </a:p>
          <a:p>
            <a:pPr marL="457200" indent="-457200">
              <a:buFont typeface="Wingdings 3" charset="2"/>
              <a:buAutoNum type="alphaLcPeriod"/>
            </a:pPr>
            <a:r>
              <a:rPr lang="el-GR" dirty="0"/>
              <a:t>ε</a:t>
            </a:r>
            <a:r>
              <a:rPr lang="en-US" dirty="0"/>
              <a:t> increases, PE decreases, KE increases</a:t>
            </a:r>
          </a:p>
          <a:p>
            <a:pPr marL="457200" indent="-457200">
              <a:buFont typeface="Wingdings 3" charset="2"/>
              <a:buAutoNum type="alphaLcPeriod"/>
            </a:pPr>
            <a:r>
              <a:rPr lang="el-GR" dirty="0"/>
              <a:t>ε</a:t>
            </a:r>
            <a:r>
              <a:rPr lang="en-US" dirty="0"/>
              <a:t> decreases, PE increases, KE decreases</a:t>
            </a:r>
          </a:p>
          <a:p>
            <a:pPr marL="457200" indent="-457200">
              <a:buFont typeface="Wingdings 3" charset="2"/>
              <a:buAutoNum type="alphaLcPeriod"/>
            </a:pPr>
            <a:r>
              <a:rPr lang="el-GR" dirty="0"/>
              <a:t>ε</a:t>
            </a:r>
            <a:r>
              <a:rPr lang="en-US" dirty="0"/>
              <a:t> decreases, PE decreases, KE increases</a:t>
            </a:r>
          </a:p>
          <a:p>
            <a:pPr marL="457200" indent="-457200">
              <a:buFont typeface="Wingdings 3" charset="2"/>
              <a:buAutoNum type="alphaLcPeriod"/>
            </a:pPr>
            <a:r>
              <a:rPr lang="en-US" dirty="0"/>
              <a:t>All remain constant</a:t>
            </a:r>
          </a:p>
          <a:p>
            <a:pPr marL="457200" indent="-457200">
              <a:buFont typeface="Wingdings 3" charset="2"/>
              <a:buAutoNum type="alphaLcPeriod"/>
            </a:pPr>
            <a:endParaRPr lang="en-US" dirty="0"/>
          </a:p>
          <a:p>
            <a:pPr marL="457200" indent="-457200">
              <a:buFont typeface="Wingdings 3" charset="2"/>
              <a:buAutoNum type="alphaLcPeriod"/>
            </a:pPr>
            <a:endParaRPr lang="en-US" dirty="0"/>
          </a:p>
          <a:p>
            <a:pPr marL="457200" indent="-457200">
              <a:buAutoNum type="alphaLcPeriod"/>
            </a:pPr>
            <a:endParaRPr lang="en-US" dirty="0"/>
          </a:p>
        </p:txBody>
      </p:sp>
      <p:sp>
        <p:nvSpPr>
          <p:cNvPr id="4" name="Slide Number Placeholder 3"/>
          <p:cNvSpPr>
            <a:spLocks noGrp="1"/>
          </p:cNvSpPr>
          <p:nvPr>
            <p:ph type="sldNum" sz="quarter" idx="12"/>
          </p:nvPr>
        </p:nvSpPr>
        <p:spPr/>
        <p:txBody>
          <a:bodyPr/>
          <a:lstStyle/>
          <a:p>
            <a:fld id="{ED1AABF0-59A5-4037-929A-6287642C3B54}" type="slidenum">
              <a:rPr lang="en-US" smtClean="0"/>
              <a:t>6</a:t>
            </a:fld>
            <a:endParaRPr lang="en-US"/>
          </a:p>
        </p:txBody>
      </p:sp>
    </p:spTree>
    <p:extLst>
      <p:ext uri="{BB962C8B-B14F-4D97-AF65-F5344CB8AC3E}">
        <p14:creationId xmlns:p14="http://schemas.microsoft.com/office/powerpoint/2010/main" val="341108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QUIZ #5</a:t>
            </a:r>
          </a:p>
        </p:txBody>
      </p:sp>
      <p:sp>
        <p:nvSpPr>
          <p:cNvPr id="3" name="Content Placeholder 2"/>
          <p:cNvSpPr>
            <a:spLocks noGrp="1"/>
          </p:cNvSpPr>
          <p:nvPr>
            <p:ph idx="1"/>
          </p:nvPr>
        </p:nvSpPr>
        <p:spPr/>
        <p:txBody>
          <a:bodyPr/>
          <a:lstStyle/>
          <a:p>
            <a:pPr marL="0" indent="0">
              <a:buNone/>
            </a:pPr>
            <a:r>
              <a:rPr lang="en-US" dirty="0"/>
              <a:t>Which of the COEs are affect by drag and how? (select all that apply)</a:t>
            </a:r>
          </a:p>
          <a:p>
            <a:endParaRPr lang="en-US" dirty="0"/>
          </a:p>
          <a:p>
            <a:pPr marL="457200" indent="-457200">
              <a:buAutoNum type="alphaLcPeriod"/>
            </a:pPr>
            <a:r>
              <a:rPr lang="en-US" dirty="0"/>
              <a:t>Semi-major axis increases</a:t>
            </a:r>
          </a:p>
          <a:p>
            <a:pPr marL="457200" indent="-457200">
              <a:buAutoNum type="alphaLcPeriod"/>
            </a:pPr>
            <a:r>
              <a:rPr lang="en-US" dirty="0"/>
              <a:t>Semi-major axis decreases</a:t>
            </a:r>
          </a:p>
          <a:p>
            <a:pPr marL="457200" indent="-457200">
              <a:buAutoNum type="alphaLcPeriod"/>
            </a:pPr>
            <a:r>
              <a:rPr lang="en-US" dirty="0"/>
              <a:t>Eccentricity increases</a:t>
            </a:r>
          </a:p>
          <a:p>
            <a:pPr marL="457200" indent="-457200">
              <a:buAutoNum type="alphaLcPeriod"/>
            </a:pPr>
            <a:r>
              <a:rPr lang="en-US" dirty="0"/>
              <a:t>Eccentricity decreases</a:t>
            </a:r>
          </a:p>
          <a:p>
            <a:pPr marL="457200" indent="-457200">
              <a:buAutoNum type="alphaLcPeriod"/>
            </a:pPr>
            <a:r>
              <a:rPr lang="en-US" dirty="0"/>
              <a:t>Inclination increases</a:t>
            </a:r>
          </a:p>
          <a:p>
            <a:endParaRPr lang="en-US" dirty="0"/>
          </a:p>
          <a:p>
            <a:endParaRPr lang="en-US" dirty="0"/>
          </a:p>
        </p:txBody>
      </p:sp>
      <p:sp>
        <p:nvSpPr>
          <p:cNvPr id="4" name="Slide Number Placeholder 3"/>
          <p:cNvSpPr>
            <a:spLocks noGrp="1"/>
          </p:cNvSpPr>
          <p:nvPr>
            <p:ph type="sldNum" sz="quarter" idx="12"/>
          </p:nvPr>
        </p:nvSpPr>
        <p:spPr/>
        <p:txBody>
          <a:bodyPr/>
          <a:lstStyle/>
          <a:p>
            <a:fld id="{ED1AABF0-59A5-4037-929A-6287642C3B54}" type="slidenum">
              <a:rPr lang="en-US" smtClean="0"/>
              <a:t>7</a:t>
            </a:fld>
            <a:endParaRPr lang="en-US"/>
          </a:p>
        </p:txBody>
      </p:sp>
    </p:spTree>
    <p:extLst>
      <p:ext uri="{BB962C8B-B14F-4D97-AF65-F5344CB8AC3E}">
        <p14:creationId xmlns:p14="http://schemas.microsoft.com/office/powerpoint/2010/main" val="20167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9BD0-667C-AD5E-A759-2A4019501AA1}"/>
              </a:ext>
            </a:extLst>
          </p:cNvPr>
          <p:cNvSpPr>
            <a:spLocks noGrp="1"/>
          </p:cNvSpPr>
          <p:nvPr>
            <p:ph type="title"/>
          </p:nvPr>
        </p:nvSpPr>
        <p:spPr/>
        <p:txBody>
          <a:bodyPr/>
          <a:lstStyle/>
          <a:p>
            <a:r>
              <a:rPr lang="en-US" dirty="0"/>
              <a:t>	quiz #6</a:t>
            </a:r>
          </a:p>
        </p:txBody>
      </p:sp>
      <p:sp>
        <p:nvSpPr>
          <p:cNvPr id="3" name="Content Placeholder 2">
            <a:extLst>
              <a:ext uri="{FF2B5EF4-FFF2-40B4-BE49-F238E27FC236}">
                <a16:creationId xmlns:a16="http://schemas.microsoft.com/office/drawing/2014/main" id="{C28E50DB-18DF-68C5-5CF8-71CE184ABF29}"/>
              </a:ext>
            </a:extLst>
          </p:cNvPr>
          <p:cNvSpPr>
            <a:spLocks noGrp="1"/>
          </p:cNvSpPr>
          <p:nvPr>
            <p:ph idx="1"/>
          </p:nvPr>
        </p:nvSpPr>
        <p:spPr/>
        <p:txBody>
          <a:bodyPr/>
          <a:lstStyle/>
          <a:p>
            <a:pPr marL="0" indent="0">
              <a:buNone/>
            </a:pPr>
            <a:r>
              <a:rPr lang="en-US" dirty="0"/>
              <a:t>IN WHICH ATMOSPHERIC LAYER IS THE EARTH’S OZONE?</a:t>
            </a:r>
          </a:p>
          <a:p>
            <a:pPr marL="0" indent="0">
              <a:buNone/>
            </a:pPr>
            <a:endParaRPr lang="en-US" dirty="0"/>
          </a:p>
          <a:p>
            <a:pPr marL="457200" indent="-457200">
              <a:buAutoNum type="alphaUcPeriod"/>
            </a:pPr>
            <a:r>
              <a:rPr lang="en-US" dirty="0"/>
              <a:t>TROPOSPHERE</a:t>
            </a:r>
          </a:p>
          <a:p>
            <a:pPr marL="457200" indent="-457200">
              <a:buAutoNum type="alphaUcPeriod"/>
            </a:pPr>
            <a:r>
              <a:rPr lang="en-US" dirty="0"/>
              <a:t>STRATOSPHERE</a:t>
            </a:r>
          </a:p>
          <a:p>
            <a:pPr marL="457200" indent="-457200">
              <a:buAutoNum type="alphaUcPeriod"/>
            </a:pPr>
            <a:r>
              <a:rPr lang="en-US" dirty="0"/>
              <a:t>MESOSPHERE</a:t>
            </a:r>
          </a:p>
          <a:p>
            <a:pPr marL="457200" indent="-457200">
              <a:buAutoNum type="alphaUcPeriod"/>
            </a:pPr>
            <a:r>
              <a:rPr lang="en-US" dirty="0"/>
              <a:t>THERMOSPHERE</a:t>
            </a:r>
          </a:p>
          <a:p>
            <a:pPr marL="457200" indent="-457200">
              <a:buAutoNum type="alphaUcPeriod"/>
            </a:pPr>
            <a:r>
              <a:rPr lang="en-US" dirty="0"/>
              <a:t>EXOSPHERE</a:t>
            </a:r>
          </a:p>
          <a:p>
            <a:pPr marL="0" indent="0">
              <a:buNone/>
            </a:pPr>
            <a:endParaRPr lang="en-US" dirty="0"/>
          </a:p>
        </p:txBody>
      </p:sp>
      <p:sp>
        <p:nvSpPr>
          <p:cNvPr id="4" name="Slide Number Placeholder 3">
            <a:extLst>
              <a:ext uri="{FF2B5EF4-FFF2-40B4-BE49-F238E27FC236}">
                <a16:creationId xmlns:a16="http://schemas.microsoft.com/office/drawing/2014/main" id="{4DEB28AD-5AF9-136A-F50D-985BBE1B587B}"/>
              </a:ext>
            </a:extLst>
          </p:cNvPr>
          <p:cNvSpPr>
            <a:spLocks noGrp="1"/>
          </p:cNvSpPr>
          <p:nvPr>
            <p:ph type="sldNum" sz="quarter" idx="12"/>
          </p:nvPr>
        </p:nvSpPr>
        <p:spPr/>
        <p:txBody>
          <a:bodyPr/>
          <a:lstStyle/>
          <a:p>
            <a:fld id="{24520853-C384-4919-8F9A-9CB57A0B2B64}" type="slidenum">
              <a:rPr lang="en-US" smtClean="0"/>
              <a:t>8</a:t>
            </a:fld>
            <a:endParaRPr lang="en-US"/>
          </a:p>
        </p:txBody>
      </p:sp>
    </p:spTree>
    <p:extLst>
      <p:ext uri="{BB962C8B-B14F-4D97-AF65-F5344CB8AC3E}">
        <p14:creationId xmlns:p14="http://schemas.microsoft.com/office/powerpoint/2010/main" val="1024497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9BD0-667C-AD5E-A759-2A4019501AA1}"/>
              </a:ext>
            </a:extLst>
          </p:cNvPr>
          <p:cNvSpPr>
            <a:spLocks noGrp="1"/>
          </p:cNvSpPr>
          <p:nvPr>
            <p:ph type="title"/>
          </p:nvPr>
        </p:nvSpPr>
        <p:spPr/>
        <p:txBody>
          <a:bodyPr/>
          <a:lstStyle/>
          <a:p>
            <a:r>
              <a:rPr lang="en-US" dirty="0"/>
              <a:t>	quiz #7</a:t>
            </a:r>
          </a:p>
        </p:txBody>
      </p:sp>
      <p:sp>
        <p:nvSpPr>
          <p:cNvPr id="3" name="Content Placeholder 2">
            <a:extLst>
              <a:ext uri="{FF2B5EF4-FFF2-40B4-BE49-F238E27FC236}">
                <a16:creationId xmlns:a16="http://schemas.microsoft.com/office/drawing/2014/main" id="{C28E50DB-18DF-68C5-5CF8-71CE184ABF29}"/>
              </a:ext>
            </a:extLst>
          </p:cNvPr>
          <p:cNvSpPr>
            <a:spLocks noGrp="1"/>
          </p:cNvSpPr>
          <p:nvPr>
            <p:ph idx="1"/>
          </p:nvPr>
        </p:nvSpPr>
        <p:spPr/>
        <p:txBody>
          <a:bodyPr/>
          <a:lstStyle/>
          <a:p>
            <a:pPr marL="0" indent="0">
              <a:buNone/>
            </a:pPr>
            <a:r>
              <a:rPr lang="en-US" dirty="0"/>
              <a:t>Which of the earth’s atmospheric layers is nearly isothermal?</a:t>
            </a:r>
          </a:p>
          <a:p>
            <a:pPr marL="0" indent="0">
              <a:buNone/>
            </a:pPr>
            <a:endParaRPr lang="en-US" dirty="0"/>
          </a:p>
          <a:p>
            <a:pPr marL="457200" indent="-457200">
              <a:buAutoNum type="alphaUcPeriod"/>
            </a:pPr>
            <a:r>
              <a:rPr lang="en-US" dirty="0"/>
              <a:t>TROPOSPHERE</a:t>
            </a:r>
          </a:p>
          <a:p>
            <a:pPr marL="457200" indent="-457200">
              <a:buAutoNum type="alphaUcPeriod"/>
            </a:pPr>
            <a:r>
              <a:rPr lang="en-US" dirty="0"/>
              <a:t>STRATOSPHERE</a:t>
            </a:r>
          </a:p>
          <a:p>
            <a:pPr marL="457200" indent="-457200">
              <a:buAutoNum type="alphaUcPeriod"/>
            </a:pPr>
            <a:r>
              <a:rPr lang="en-US" dirty="0"/>
              <a:t>MESOSPHERE</a:t>
            </a:r>
          </a:p>
          <a:p>
            <a:pPr marL="457200" indent="-457200">
              <a:buAutoNum type="alphaUcPeriod"/>
            </a:pPr>
            <a:r>
              <a:rPr lang="en-US" dirty="0"/>
              <a:t>THERMOSPHERE</a:t>
            </a:r>
          </a:p>
          <a:p>
            <a:pPr marL="457200" indent="-457200">
              <a:buAutoNum type="alphaUcPeriod"/>
            </a:pPr>
            <a:r>
              <a:rPr lang="en-US" dirty="0"/>
              <a:t>EXOSPHERE</a:t>
            </a:r>
          </a:p>
          <a:p>
            <a:pPr marL="0" indent="0">
              <a:buNone/>
            </a:pPr>
            <a:endParaRPr lang="en-US" dirty="0"/>
          </a:p>
        </p:txBody>
      </p:sp>
      <p:sp>
        <p:nvSpPr>
          <p:cNvPr id="4" name="Slide Number Placeholder 3">
            <a:extLst>
              <a:ext uri="{FF2B5EF4-FFF2-40B4-BE49-F238E27FC236}">
                <a16:creationId xmlns:a16="http://schemas.microsoft.com/office/drawing/2014/main" id="{4DEB28AD-5AF9-136A-F50D-985BBE1B587B}"/>
              </a:ext>
            </a:extLst>
          </p:cNvPr>
          <p:cNvSpPr>
            <a:spLocks noGrp="1"/>
          </p:cNvSpPr>
          <p:nvPr>
            <p:ph type="sldNum" sz="quarter" idx="12"/>
          </p:nvPr>
        </p:nvSpPr>
        <p:spPr/>
        <p:txBody>
          <a:bodyPr/>
          <a:lstStyle/>
          <a:p>
            <a:fld id="{24520853-C384-4919-8F9A-9CB57A0B2B64}" type="slidenum">
              <a:rPr lang="en-US" smtClean="0"/>
              <a:t>9</a:t>
            </a:fld>
            <a:endParaRPr lang="en-US"/>
          </a:p>
        </p:txBody>
      </p:sp>
    </p:spTree>
    <p:extLst>
      <p:ext uri="{BB962C8B-B14F-4D97-AF65-F5344CB8AC3E}">
        <p14:creationId xmlns:p14="http://schemas.microsoft.com/office/powerpoint/2010/main" val="3368484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9BD0-667C-AD5E-A759-2A4019501AA1}"/>
              </a:ext>
            </a:extLst>
          </p:cNvPr>
          <p:cNvSpPr>
            <a:spLocks noGrp="1"/>
          </p:cNvSpPr>
          <p:nvPr>
            <p:ph type="title"/>
          </p:nvPr>
        </p:nvSpPr>
        <p:spPr/>
        <p:txBody>
          <a:bodyPr/>
          <a:lstStyle/>
          <a:p>
            <a:r>
              <a:rPr lang="en-US" dirty="0"/>
              <a:t>	quiz #8</a:t>
            </a:r>
          </a:p>
        </p:txBody>
      </p:sp>
      <p:sp>
        <p:nvSpPr>
          <p:cNvPr id="3" name="Content Placeholder 2">
            <a:extLst>
              <a:ext uri="{FF2B5EF4-FFF2-40B4-BE49-F238E27FC236}">
                <a16:creationId xmlns:a16="http://schemas.microsoft.com/office/drawing/2014/main" id="{C28E50DB-18DF-68C5-5CF8-71CE184ABF29}"/>
              </a:ext>
            </a:extLst>
          </p:cNvPr>
          <p:cNvSpPr>
            <a:spLocks noGrp="1"/>
          </p:cNvSpPr>
          <p:nvPr>
            <p:ph idx="1"/>
          </p:nvPr>
        </p:nvSpPr>
        <p:spPr/>
        <p:txBody>
          <a:bodyPr/>
          <a:lstStyle/>
          <a:p>
            <a:pPr marL="0" indent="0">
              <a:buNone/>
            </a:pPr>
            <a:r>
              <a:rPr lang="en-US" dirty="0"/>
              <a:t>In this class, we consider space to begin at the </a:t>
            </a:r>
            <a:r>
              <a:rPr lang="en-US" dirty="0" err="1"/>
              <a:t>karman</a:t>
            </a:r>
            <a:r>
              <a:rPr lang="en-US" dirty="0"/>
              <a:t> line</a:t>
            </a:r>
          </a:p>
          <a:p>
            <a:pPr marL="0" indent="0">
              <a:buNone/>
            </a:pPr>
            <a:endParaRPr lang="en-US" dirty="0"/>
          </a:p>
          <a:p>
            <a:pPr marL="0" indent="0">
              <a:buNone/>
            </a:pPr>
            <a:r>
              <a:rPr lang="en-US" dirty="0"/>
              <a:t>a. True</a:t>
            </a:r>
          </a:p>
          <a:p>
            <a:pPr marL="0" indent="0">
              <a:buNone/>
            </a:pPr>
            <a:r>
              <a:rPr lang="en-US" dirty="0"/>
              <a:t>b.  false</a:t>
            </a:r>
          </a:p>
        </p:txBody>
      </p:sp>
      <p:sp>
        <p:nvSpPr>
          <p:cNvPr id="4" name="Slide Number Placeholder 3">
            <a:extLst>
              <a:ext uri="{FF2B5EF4-FFF2-40B4-BE49-F238E27FC236}">
                <a16:creationId xmlns:a16="http://schemas.microsoft.com/office/drawing/2014/main" id="{4DEB28AD-5AF9-136A-F50D-985BBE1B587B}"/>
              </a:ext>
            </a:extLst>
          </p:cNvPr>
          <p:cNvSpPr>
            <a:spLocks noGrp="1"/>
          </p:cNvSpPr>
          <p:nvPr>
            <p:ph type="sldNum" sz="quarter" idx="12"/>
          </p:nvPr>
        </p:nvSpPr>
        <p:spPr/>
        <p:txBody>
          <a:bodyPr/>
          <a:lstStyle/>
          <a:p>
            <a:fld id="{24520853-C384-4919-8F9A-9CB57A0B2B64}" type="slidenum">
              <a:rPr lang="en-US" smtClean="0"/>
              <a:t>10</a:t>
            </a:fld>
            <a:endParaRPr lang="en-US"/>
          </a:p>
        </p:txBody>
      </p:sp>
    </p:spTree>
    <p:extLst>
      <p:ext uri="{BB962C8B-B14F-4D97-AF65-F5344CB8AC3E}">
        <p14:creationId xmlns:p14="http://schemas.microsoft.com/office/powerpoint/2010/main" val="1983001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9BD0-667C-AD5E-A759-2A4019501AA1}"/>
              </a:ext>
            </a:extLst>
          </p:cNvPr>
          <p:cNvSpPr>
            <a:spLocks noGrp="1"/>
          </p:cNvSpPr>
          <p:nvPr>
            <p:ph type="title"/>
          </p:nvPr>
        </p:nvSpPr>
        <p:spPr/>
        <p:txBody>
          <a:bodyPr/>
          <a:lstStyle/>
          <a:p>
            <a:r>
              <a:rPr lang="en-US" dirty="0"/>
              <a:t>	quiz #9</a:t>
            </a:r>
          </a:p>
        </p:txBody>
      </p:sp>
      <p:sp>
        <p:nvSpPr>
          <p:cNvPr id="3" name="Content Placeholder 2">
            <a:extLst>
              <a:ext uri="{FF2B5EF4-FFF2-40B4-BE49-F238E27FC236}">
                <a16:creationId xmlns:a16="http://schemas.microsoft.com/office/drawing/2014/main" id="{C28E50DB-18DF-68C5-5CF8-71CE184ABF29}"/>
              </a:ext>
            </a:extLst>
          </p:cNvPr>
          <p:cNvSpPr>
            <a:spLocks noGrp="1"/>
          </p:cNvSpPr>
          <p:nvPr>
            <p:ph idx="1"/>
          </p:nvPr>
        </p:nvSpPr>
        <p:spPr/>
        <p:txBody>
          <a:bodyPr/>
          <a:lstStyle/>
          <a:p>
            <a:pPr marL="0" indent="0">
              <a:buNone/>
            </a:pPr>
            <a:r>
              <a:rPr lang="en-US" dirty="0"/>
              <a:t>Atomic oxygen is relatively stable above the stratosphere; i.e. does not vary much with the sun’s solar cycle</a:t>
            </a:r>
          </a:p>
          <a:p>
            <a:pPr marL="0" indent="0">
              <a:buNone/>
            </a:pPr>
            <a:r>
              <a:rPr lang="en-US" dirty="0"/>
              <a:t>a. True</a:t>
            </a:r>
          </a:p>
          <a:p>
            <a:pPr marL="0" indent="0">
              <a:buNone/>
            </a:pPr>
            <a:r>
              <a:rPr lang="en-US" dirty="0"/>
              <a:t>b.  false</a:t>
            </a:r>
          </a:p>
        </p:txBody>
      </p:sp>
      <p:sp>
        <p:nvSpPr>
          <p:cNvPr id="4" name="Slide Number Placeholder 3">
            <a:extLst>
              <a:ext uri="{FF2B5EF4-FFF2-40B4-BE49-F238E27FC236}">
                <a16:creationId xmlns:a16="http://schemas.microsoft.com/office/drawing/2014/main" id="{4DEB28AD-5AF9-136A-F50D-985BBE1B587B}"/>
              </a:ext>
            </a:extLst>
          </p:cNvPr>
          <p:cNvSpPr>
            <a:spLocks noGrp="1"/>
          </p:cNvSpPr>
          <p:nvPr>
            <p:ph type="sldNum" sz="quarter" idx="12"/>
          </p:nvPr>
        </p:nvSpPr>
        <p:spPr/>
        <p:txBody>
          <a:bodyPr/>
          <a:lstStyle/>
          <a:p>
            <a:fld id="{24520853-C384-4919-8F9A-9CB57A0B2B64}" type="slidenum">
              <a:rPr lang="en-US" smtClean="0"/>
              <a:t>11</a:t>
            </a:fld>
            <a:endParaRPr lang="en-US"/>
          </a:p>
        </p:txBody>
      </p:sp>
    </p:spTree>
    <p:extLst>
      <p:ext uri="{BB962C8B-B14F-4D97-AF65-F5344CB8AC3E}">
        <p14:creationId xmlns:p14="http://schemas.microsoft.com/office/powerpoint/2010/main" val="3434952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9BD0-667C-AD5E-A759-2A4019501AA1}"/>
              </a:ext>
            </a:extLst>
          </p:cNvPr>
          <p:cNvSpPr>
            <a:spLocks noGrp="1"/>
          </p:cNvSpPr>
          <p:nvPr>
            <p:ph type="title"/>
          </p:nvPr>
        </p:nvSpPr>
        <p:spPr>
          <a:xfrm>
            <a:off x="472987" y="135526"/>
            <a:ext cx="10364451" cy="1596177"/>
          </a:xfrm>
        </p:spPr>
        <p:txBody>
          <a:bodyPr/>
          <a:lstStyle/>
          <a:p>
            <a:r>
              <a:rPr lang="en-US" dirty="0"/>
              <a:t>	quiz #10</a:t>
            </a:r>
          </a:p>
        </p:txBody>
      </p:sp>
      <p:sp>
        <p:nvSpPr>
          <p:cNvPr id="3" name="Content Placeholder 2">
            <a:extLst>
              <a:ext uri="{FF2B5EF4-FFF2-40B4-BE49-F238E27FC236}">
                <a16:creationId xmlns:a16="http://schemas.microsoft.com/office/drawing/2014/main" id="{C28E50DB-18DF-68C5-5CF8-71CE184ABF29}"/>
              </a:ext>
            </a:extLst>
          </p:cNvPr>
          <p:cNvSpPr>
            <a:spLocks noGrp="1"/>
          </p:cNvSpPr>
          <p:nvPr>
            <p:ph idx="1"/>
          </p:nvPr>
        </p:nvSpPr>
        <p:spPr>
          <a:xfrm>
            <a:off x="913774" y="1818453"/>
            <a:ext cx="10364452" cy="3424107"/>
          </a:xfrm>
        </p:spPr>
        <p:txBody>
          <a:bodyPr>
            <a:normAutofit lnSpcReduction="10000"/>
          </a:bodyPr>
          <a:lstStyle/>
          <a:p>
            <a:pPr marL="0" indent="0">
              <a:buNone/>
            </a:pPr>
            <a:r>
              <a:rPr lang="en-US" dirty="0"/>
              <a:t>Which of the earth’s atmospheric layers is the coldest?</a:t>
            </a:r>
          </a:p>
          <a:p>
            <a:pPr marL="0" indent="0">
              <a:buNone/>
            </a:pPr>
            <a:endParaRPr lang="en-US" dirty="0"/>
          </a:p>
          <a:p>
            <a:pPr marL="457200" indent="-457200">
              <a:buAutoNum type="alphaUcPeriod"/>
            </a:pPr>
            <a:r>
              <a:rPr lang="en-US" dirty="0"/>
              <a:t>TROPOSPHERE</a:t>
            </a:r>
          </a:p>
          <a:p>
            <a:pPr marL="457200" indent="-457200">
              <a:buAutoNum type="alphaUcPeriod"/>
            </a:pPr>
            <a:r>
              <a:rPr lang="en-US" dirty="0"/>
              <a:t>STRATOSPHERE</a:t>
            </a:r>
          </a:p>
          <a:p>
            <a:pPr marL="457200" indent="-457200">
              <a:buAutoNum type="alphaUcPeriod"/>
            </a:pPr>
            <a:r>
              <a:rPr lang="en-US" dirty="0"/>
              <a:t>MESOSPHERE</a:t>
            </a:r>
          </a:p>
          <a:p>
            <a:pPr marL="457200" indent="-457200">
              <a:buAutoNum type="alphaUcPeriod"/>
            </a:pPr>
            <a:r>
              <a:rPr lang="en-US" dirty="0"/>
              <a:t>THERMOSPHERE</a:t>
            </a:r>
          </a:p>
          <a:p>
            <a:pPr marL="457200" indent="-457200">
              <a:buAutoNum type="alphaUcPeriod"/>
            </a:pPr>
            <a:r>
              <a:rPr lang="en-US" dirty="0"/>
              <a:t>EXOSPHERE</a:t>
            </a:r>
          </a:p>
          <a:p>
            <a:pPr marL="0" indent="0">
              <a:buNone/>
            </a:pPr>
            <a:endParaRPr lang="en-US" dirty="0"/>
          </a:p>
        </p:txBody>
      </p:sp>
      <p:sp>
        <p:nvSpPr>
          <p:cNvPr id="4" name="Slide Number Placeholder 3">
            <a:extLst>
              <a:ext uri="{FF2B5EF4-FFF2-40B4-BE49-F238E27FC236}">
                <a16:creationId xmlns:a16="http://schemas.microsoft.com/office/drawing/2014/main" id="{4DEB28AD-5AF9-136A-F50D-985BBE1B587B}"/>
              </a:ext>
            </a:extLst>
          </p:cNvPr>
          <p:cNvSpPr>
            <a:spLocks noGrp="1"/>
          </p:cNvSpPr>
          <p:nvPr>
            <p:ph type="sldNum" sz="quarter" idx="12"/>
          </p:nvPr>
        </p:nvSpPr>
        <p:spPr/>
        <p:txBody>
          <a:bodyPr/>
          <a:lstStyle/>
          <a:p>
            <a:fld id="{24520853-C384-4919-8F9A-9CB57A0B2B64}" type="slidenum">
              <a:rPr lang="en-US" smtClean="0"/>
              <a:t>12</a:t>
            </a:fld>
            <a:endParaRPr lang="en-US"/>
          </a:p>
        </p:txBody>
      </p:sp>
    </p:spTree>
    <p:extLst>
      <p:ext uri="{BB962C8B-B14F-4D97-AF65-F5344CB8AC3E}">
        <p14:creationId xmlns:p14="http://schemas.microsoft.com/office/powerpoint/2010/main" val="26629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0C23F5AB-B618-5960-9704-FAB5CB3A9ADA}"/>
              </a:ext>
            </a:extLst>
          </p:cNvPr>
          <p:cNvGraphicFramePr>
            <a:graphicFrameLocks noChangeAspect="1"/>
          </p:cNvGraphicFramePr>
          <p:nvPr>
            <p:extLst>
              <p:ext uri="{D42A27DB-BD31-4B8C-83A1-F6EECF244321}">
                <p14:modId xmlns:p14="http://schemas.microsoft.com/office/powerpoint/2010/main" val="1841222461"/>
              </p:ext>
            </p:extLst>
          </p:nvPr>
        </p:nvGraphicFramePr>
        <p:xfrm>
          <a:off x="1568449" y="252242"/>
          <a:ext cx="7799363" cy="4131210"/>
        </p:xfrm>
        <a:graphic>
          <a:graphicData uri="http://schemas.openxmlformats.org/presentationml/2006/ole">
            <mc:AlternateContent xmlns:mc="http://schemas.openxmlformats.org/markup-compatibility/2006">
              <mc:Choice xmlns:v="urn:schemas-microsoft-com:vml" Requires="v">
                <p:oleObj name="Bitmap Image" r:id="rId2" imgW="4091040" imgH="2166840" progId="Paint.Picture">
                  <p:embed/>
                </p:oleObj>
              </mc:Choice>
              <mc:Fallback>
                <p:oleObj name="Bitmap Image" r:id="rId2" imgW="4091040" imgH="2166840" progId="Paint.Picture">
                  <p:embed/>
                  <p:pic>
                    <p:nvPicPr>
                      <p:cNvPr id="4" name="Object 3">
                        <a:extLst>
                          <a:ext uri="{FF2B5EF4-FFF2-40B4-BE49-F238E27FC236}">
                            <a16:creationId xmlns:a16="http://schemas.microsoft.com/office/drawing/2014/main" id="{0C23F5AB-B618-5960-9704-FAB5CB3A9ADA}"/>
                          </a:ext>
                        </a:extLst>
                      </p:cNvPr>
                      <p:cNvPicPr/>
                      <p:nvPr/>
                    </p:nvPicPr>
                    <p:blipFill>
                      <a:blip r:embed="rId3"/>
                      <a:stretch>
                        <a:fillRect/>
                      </a:stretch>
                    </p:blipFill>
                    <p:spPr>
                      <a:xfrm>
                        <a:off x="1568449" y="252242"/>
                        <a:ext cx="7799363" cy="4131210"/>
                      </a:xfrm>
                      <a:prstGeom prst="rect">
                        <a:avLst/>
                      </a:prstGeom>
                    </p:spPr>
                  </p:pic>
                </p:oleObj>
              </mc:Fallback>
            </mc:AlternateContent>
          </a:graphicData>
        </a:graphic>
      </p:graphicFrame>
    </p:spTree>
    <p:extLst>
      <p:ext uri="{BB962C8B-B14F-4D97-AF65-F5344CB8AC3E}">
        <p14:creationId xmlns:p14="http://schemas.microsoft.com/office/powerpoint/2010/main" val="1024280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4E585EA-75FD-4025-8270-F66A58A15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FB4C1EB-3485-0FA7-EB30-BB69149B2356}"/>
              </a:ext>
            </a:extLst>
          </p:cNvPr>
          <p:cNvSpPr>
            <a:spLocks noGrp="1"/>
          </p:cNvSpPr>
          <p:nvPr>
            <p:ph type="title"/>
          </p:nvPr>
        </p:nvSpPr>
        <p:spPr>
          <a:xfrm>
            <a:off x="833002" y="365125"/>
            <a:ext cx="10520702" cy="1325563"/>
          </a:xfrm>
        </p:spPr>
        <p:txBody>
          <a:bodyPr>
            <a:normAutofit/>
          </a:bodyPr>
          <a:lstStyle/>
          <a:p>
            <a:pPr algn="ctr"/>
            <a:r>
              <a:rPr lang="en-US" dirty="0">
                <a:solidFill>
                  <a:srgbClr val="FFFFFF"/>
                </a:solidFill>
              </a:rPr>
              <a:t>DALTON’S LAW OF PARTIAL PRESSURES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09B69E7-1894-4BD0-15B9-16E347103FF6}"/>
                  </a:ext>
                </a:extLst>
              </p14:cNvPr>
              <p14:cNvContentPartPr/>
              <p14:nvPr/>
            </p14:nvContentPartPr>
            <p14:xfrm>
              <a:off x="2354760" y="2663640"/>
              <a:ext cx="6480" cy="11880"/>
            </p14:xfrm>
          </p:contentPart>
        </mc:Choice>
        <mc:Fallback xmlns="">
          <p:pic>
            <p:nvPicPr>
              <p:cNvPr id="3" name="Ink 2">
                <a:extLst>
                  <a:ext uri="{FF2B5EF4-FFF2-40B4-BE49-F238E27FC236}">
                    <a16:creationId xmlns:a16="http://schemas.microsoft.com/office/drawing/2014/main" id="{709B69E7-1894-4BD0-15B9-16E347103FF6}"/>
                  </a:ext>
                </a:extLst>
              </p:cNvPr>
              <p:cNvPicPr/>
              <p:nvPr/>
            </p:nvPicPr>
            <p:blipFill>
              <a:blip r:embed="rId3"/>
              <a:stretch>
                <a:fillRect/>
              </a:stretch>
            </p:blipFill>
            <p:spPr>
              <a:xfrm>
                <a:off x="2345400" y="2654280"/>
                <a:ext cx="25200" cy="30600"/>
              </a:xfrm>
              <a:prstGeom prst="rect">
                <a:avLst/>
              </a:prstGeom>
            </p:spPr>
          </p:pic>
        </mc:Fallback>
      </mc:AlternateContent>
    </p:spTree>
    <p:extLst>
      <p:ext uri="{BB962C8B-B14F-4D97-AF65-F5344CB8AC3E}">
        <p14:creationId xmlns:p14="http://schemas.microsoft.com/office/powerpoint/2010/main" val="3247713653"/>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4E585EA-75FD-4025-8270-F66A58A15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F5C9F53-C9A5-4B31-2345-3A3F6A0F2205}"/>
              </a:ext>
            </a:extLst>
          </p:cNvPr>
          <p:cNvSpPr>
            <a:spLocks noGrp="1"/>
          </p:cNvSpPr>
          <p:nvPr>
            <p:ph type="title"/>
          </p:nvPr>
        </p:nvSpPr>
        <p:spPr>
          <a:xfrm>
            <a:off x="833002" y="365125"/>
            <a:ext cx="10520702" cy="1325563"/>
          </a:xfrm>
        </p:spPr>
        <p:txBody>
          <a:bodyPr>
            <a:normAutofit/>
          </a:bodyPr>
          <a:lstStyle/>
          <a:p>
            <a:pPr algn="ctr"/>
            <a:r>
              <a:rPr lang="en-US" dirty="0">
                <a:solidFill>
                  <a:srgbClr val="FFFFFF"/>
                </a:solidFill>
              </a:rPr>
              <a:t>AVOGADRO’S LAW</a:t>
            </a:r>
          </a:p>
        </p:txBody>
      </p:sp>
    </p:spTree>
    <p:extLst>
      <p:ext uri="{BB962C8B-B14F-4D97-AF65-F5344CB8AC3E}">
        <p14:creationId xmlns:p14="http://schemas.microsoft.com/office/powerpoint/2010/main" val="8758794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4E585EA-75FD-4025-8270-F66A58A15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3525629-9211-967B-F1D6-EF3AE40F5D5F}"/>
              </a:ext>
            </a:extLst>
          </p:cNvPr>
          <p:cNvSpPr>
            <a:spLocks noGrp="1"/>
          </p:cNvSpPr>
          <p:nvPr>
            <p:ph type="title"/>
          </p:nvPr>
        </p:nvSpPr>
        <p:spPr>
          <a:xfrm>
            <a:off x="833002" y="365125"/>
            <a:ext cx="10520702" cy="1325563"/>
          </a:xfrm>
        </p:spPr>
        <p:txBody>
          <a:bodyPr>
            <a:normAutofit/>
          </a:bodyPr>
          <a:lstStyle/>
          <a:p>
            <a:r>
              <a:rPr lang="en-US">
                <a:solidFill>
                  <a:srgbClr val="FFFFFF"/>
                </a:solidFill>
              </a:rPr>
              <a:t>EXAMPLE 1	</a:t>
            </a:r>
          </a:p>
        </p:txBody>
      </p:sp>
      <p:sp>
        <p:nvSpPr>
          <p:cNvPr id="3" name="Content Placeholder 2">
            <a:extLst>
              <a:ext uri="{FF2B5EF4-FFF2-40B4-BE49-F238E27FC236}">
                <a16:creationId xmlns:a16="http://schemas.microsoft.com/office/drawing/2014/main" id="{040CB5E1-8BA0-C7D2-D7A3-DDB4985AA7CF}"/>
              </a:ext>
            </a:extLst>
          </p:cNvPr>
          <p:cNvSpPr>
            <a:spLocks noGrp="1"/>
          </p:cNvSpPr>
          <p:nvPr>
            <p:ph idx="1"/>
          </p:nvPr>
        </p:nvSpPr>
        <p:spPr>
          <a:xfrm>
            <a:off x="838201" y="2022601"/>
            <a:ext cx="10515598" cy="4154361"/>
          </a:xfrm>
        </p:spPr>
        <p:txBody>
          <a:bodyPr>
            <a:normAutofit/>
          </a:bodyPr>
          <a:lstStyle/>
          <a:p>
            <a:pPr marL="0" indent="0">
              <a:buNone/>
            </a:pPr>
            <a:r>
              <a:rPr lang="en-US" sz="2000">
                <a:solidFill>
                  <a:srgbClr val="FFFFFF"/>
                </a:solidFill>
              </a:rPr>
              <a:t>Given a sample gas as a pressure of 6.34 atm consisting of 1.39 total moles of which 0.50 mole is nitrogen.  Determine the partial pressure of nitrogen.</a:t>
            </a:r>
          </a:p>
        </p:txBody>
      </p:sp>
    </p:spTree>
    <p:extLst>
      <p:ext uri="{BB962C8B-B14F-4D97-AF65-F5344CB8AC3E}">
        <p14:creationId xmlns:p14="http://schemas.microsoft.com/office/powerpoint/2010/main" val="4195284353"/>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64F718-7FAC-4056-9FA9-A603EC682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0"/>
            <a:ext cx="121904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74639F7-E3C7-4165-A83E-6386A86BA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6356349" cy="6858000"/>
          </a:xfrm>
          <a:custGeom>
            <a:avLst/>
            <a:gdLst>
              <a:gd name="connsiteX0" fmla="*/ 7539895 w 7539895"/>
              <a:gd name="connsiteY0" fmla="*/ 6858000 h 6858000"/>
              <a:gd name="connsiteX1" fmla="*/ 0 w 7539895"/>
              <a:gd name="connsiteY1" fmla="*/ 6858000 h 6858000"/>
              <a:gd name="connsiteX2" fmla="*/ 0 w 7539895"/>
              <a:gd name="connsiteY2" fmla="*/ 0 h 6858000"/>
              <a:gd name="connsiteX3" fmla="*/ 4363741 w 7539895"/>
              <a:gd name="connsiteY3" fmla="*/ 0 h 6858000"/>
            </a:gdLst>
            <a:ahLst/>
            <a:cxnLst>
              <a:cxn ang="0">
                <a:pos x="connsiteX0" y="connsiteY0"/>
              </a:cxn>
              <a:cxn ang="0">
                <a:pos x="connsiteX1" y="connsiteY1"/>
              </a:cxn>
              <a:cxn ang="0">
                <a:pos x="connsiteX2" y="connsiteY2"/>
              </a:cxn>
              <a:cxn ang="0">
                <a:pos x="connsiteX3" y="connsiteY3"/>
              </a:cxn>
            </a:cxnLst>
            <a:rect l="l" t="t" r="r" b="b"/>
            <a:pathLst>
              <a:path w="7539895" h="6858000">
                <a:moveTo>
                  <a:pt x="7539895" y="6858000"/>
                </a:moveTo>
                <a:lnTo>
                  <a:pt x="0" y="6858000"/>
                </a:lnTo>
                <a:lnTo>
                  <a:pt x="0" y="0"/>
                </a:lnTo>
                <a:lnTo>
                  <a:pt x="4363741" y="0"/>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B3AF0F1-707A-463E-B5EE-33C63A40C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5979591" cy="6858000"/>
          </a:xfrm>
          <a:custGeom>
            <a:avLst/>
            <a:gdLst>
              <a:gd name="connsiteX0" fmla="*/ 7092985 w 7092985"/>
              <a:gd name="connsiteY0" fmla="*/ 6858000 h 6858000"/>
              <a:gd name="connsiteX1" fmla="*/ 0 w 7092985"/>
              <a:gd name="connsiteY1" fmla="*/ 6858000 h 6858000"/>
              <a:gd name="connsiteX2" fmla="*/ 0 w 7092985"/>
              <a:gd name="connsiteY2" fmla="*/ 0 h 6858000"/>
              <a:gd name="connsiteX3" fmla="*/ 3916831 w 7092985"/>
              <a:gd name="connsiteY3" fmla="*/ 0 h 6858000"/>
            </a:gdLst>
            <a:ahLst/>
            <a:cxnLst>
              <a:cxn ang="0">
                <a:pos x="connsiteX0" y="connsiteY0"/>
              </a:cxn>
              <a:cxn ang="0">
                <a:pos x="connsiteX1" y="connsiteY1"/>
              </a:cxn>
              <a:cxn ang="0">
                <a:pos x="connsiteX2" y="connsiteY2"/>
              </a:cxn>
              <a:cxn ang="0">
                <a:pos x="connsiteX3" y="connsiteY3"/>
              </a:cxn>
            </a:cxnLst>
            <a:rect l="l" t="t" r="r" b="b"/>
            <a:pathLst>
              <a:path w="7092985" h="6858000">
                <a:moveTo>
                  <a:pt x="7092985" y="6858000"/>
                </a:moveTo>
                <a:lnTo>
                  <a:pt x="0" y="6858000"/>
                </a:lnTo>
                <a:lnTo>
                  <a:pt x="0" y="0"/>
                </a:lnTo>
                <a:lnTo>
                  <a:pt x="391683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FA12F6-BB98-EE79-D2E0-9E8E0E5575C1}"/>
              </a:ext>
            </a:extLst>
          </p:cNvPr>
          <p:cNvSpPr>
            <a:spLocks noGrp="1"/>
          </p:cNvSpPr>
          <p:nvPr>
            <p:ph type="title"/>
          </p:nvPr>
        </p:nvSpPr>
        <p:spPr>
          <a:xfrm>
            <a:off x="838200" y="704088"/>
            <a:ext cx="3529953" cy="2980944"/>
          </a:xfrm>
        </p:spPr>
        <p:txBody>
          <a:bodyPr>
            <a:normAutofit/>
          </a:bodyPr>
          <a:lstStyle/>
          <a:p>
            <a:r>
              <a:rPr lang="en-US">
                <a:solidFill>
                  <a:schemeClr val="bg1"/>
                </a:solidFill>
              </a:rPr>
              <a:t>EXAMPLE 2</a:t>
            </a:r>
          </a:p>
        </p:txBody>
      </p:sp>
      <p:sp>
        <p:nvSpPr>
          <p:cNvPr id="3" name="Content Placeholder 2">
            <a:extLst>
              <a:ext uri="{FF2B5EF4-FFF2-40B4-BE49-F238E27FC236}">
                <a16:creationId xmlns:a16="http://schemas.microsoft.com/office/drawing/2014/main" id="{0E6877B0-5609-79E7-7D06-5AB6F3391AA2}"/>
              </a:ext>
            </a:extLst>
          </p:cNvPr>
          <p:cNvSpPr>
            <a:spLocks noGrp="1"/>
          </p:cNvSpPr>
          <p:nvPr>
            <p:ph idx="1"/>
          </p:nvPr>
        </p:nvSpPr>
        <p:spPr>
          <a:xfrm>
            <a:off x="6212410" y="704088"/>
            <a:ext cx="5135293" cy="5248656"/>
          </a:xfrm>
        </p:spPr>
        <p:txBody>
          <a:bodyPr anchor="ctr">
            <a:normAutofit/>
          </a:bodyPr>
          <a:lstStyle/>
          <a:p>
            <a:pPr marL="0" indent="0">
              <a:buNone/>
            </a:pPr>
            <a:r>
              <a:rPr lang="en-US" sz="2400" dirty="0"/>
              <a:t>Determine the molar mass of the atmosphere of the Earth at sea level, given that the fractional components by volume are oxygen ~ 21%, nitrogen ~ 78.1% and argon ~ 0.9%</a:t>
            </a:r>
          </a:p>
        </p:txBody>
      </p:sp>
    </p:spTree>
    <p:extLst>
      <p:ext uri="{BB962C8B-B14F-4D97-AF65-F5344CB8AC3E}">
        <p14:creationId xmlns:p14="http://schemas.microsoft.com/office/powerpoint/2010/main" val="1286181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BB0DE-736A-1EB6-8549-BCD077D5CC4D}"/>
              </a:ext>
            </a:extLst>
          </p:cNvPr>
          <p:cNvSpPr>
            <a:spLocks noGrp="1"/>
          </p:cNvSpPr>
          <p:nvPr>
            <p:ph type="title"/>
          </p:nvPr>
        </p:nvSpPr>
        <p:spPr/>
        <p:txBody>
          <a:bodyPr/>
          <a:lstStyle/>
          <a:p>
            <a:pPr algn="ctr"/>
            <a:r>
              <a:rPr lang="en-US" dirty="0"/>
              <a:t>HOMEWORK 3 PROBLEM 5</a:t>
            </a:r>
          </a:p>
        </p:txBody>
      </p:sp>
      <p:pic>
        <p:nvPicPr>
          <p:cNvPr id="6" name="Picture 5">
            <a:extLst>
              <a:ext uri="{FF2B5EF4-FFF2-40B4-BE49-F238E27FC236}">
                <a16:creationId xmlns:a16="http://schemas.microsoft.com/office/drawing/2014/main" id="{D5A7436D-C2CC-2435-D2AA-AB45C9446261}"/>
              </a:ext>
            </a:extLst>
          </p:cNvPr>
          <p:cNvPicPr>
            <a:picLocks noChangeAspect="1"/>
          </p:cNvPicPr>
          <p:nvPr/>
        </p:nvPicPr>
        <p:blipFill>
          <a:blip r:embed="rId2"/>
          <a:stretch>
            <a:fillRect/>
          </a:stretch>
        </p:blipFill>
        <p:spPr>
          <a:xfrm>
            <a:off x="750623" y="2128345"/>
            <a:ext cx="10820337" cy="2632841"/>
          </a:xfrm>
          <a:prstGeom prst="rect">
            <a:avLst/>
          </a:prstGeom>
        </p:spPr>
      </p:pic>
    </p:spTree>
    <p:extLst>
      <p:ext uri="{BB962C8B-B14F-4D97-AF65-F5344CB8AC3E}">
        <p14:creationId xmlns:p14="http://schemas.microsoft.com/office/powerpoint/2010/main" val="7364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EARTH’S ATMOSPHERE</a:t>
            </a:r>
          </a:p>
        </p:txBody>
      </p:sp>
      <p:pic>
        <p:nvPicPr>
          <p:cNvPr id="5" name="Picture 2" descr="Drawing of part of Earth's surface, with helium and hydrogen atoms in atmosphere, heading upward toward space.">
            <a:extLst>
              <a:ext uri="{FF2B5EF4-FFF2-40B4-BE49-F238E27FC236}">
                <a16:creationId xmlns:a16="http://schemas.microsoft.com/office/drawing/2014/main" id="{5EB6B48F-BD91-1671-AB63-3496D569E3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77316" y="956449"/>
            <a:ext cx="6780700" cy="4942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819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EARTH’S ATMOSPHERE</a:t>
            </a:r>
          </a:p>
        </p:txBody>
      </p:sp>
      <p:pic>
        <p:nvPicPr>
          <p:cNvPr id="1026" name="Picture 2" descr="See the source image">
            <a:extLst>
              <a:ext uri="{FF2B5EF4-FFF2-40B4-BE49-F238E27FC236}">
                <a16:creationId xmlns:a16="http://schemas.microsoft.com/office/drawing/2014/main" id="{AD5A0402-1802-77C1-E8BE-3FA269C4A5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27297" y="1675227"/>
            <a:ext cx="8137405"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388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kern="1200" dirty="0">
                <a:solidFill>
                  <a:srgbClr val="FFFFFF"/>
                </a:solidFill>
                <a:latin typeface="+mj-lt"/>
                <a:ea typeface="+mj-ea"/>
                <a:cs typeface="+mj-cs"/>
              </a:rPr>
              <a:t>EARTH’S ATMOSPHERE</a:t>
            </a:r>
          </a:p>
        </p:txBody>
      </p:sp>
      <p:pic>
        <p:nvPicPr>
          <p:cNvPr id="2050" name="Picture 2" descr="See the source image">
            <a:extLst>
              <a:ext uri="{FF2B5EF4-FFF2-40B4-BE49-F238E27FC236}">
                <a16:creationId xmlns:a16="http://schemas.microsoft.com/office/drawing/2014/main" id="{08C37289-9CD7-5974-B8B0-9FC27D9818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53822" y="221501"/>
            <a:ext cx="6553545" cy="62695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57D91888-2548-5523-0880-7426EF1F95F0}"/>
              </a:ext>
            </a:extLst>
          </p:cNvPr>
          <p:cNvCxnSpPr/>
          <p:nvPr/>
        </p:nvCxnSpPr>
        <p:spPr>
          <a:xfrm flipV="1">
            <a:off x="5026360" y="209806"/>
            <a:ext cx="0" cy="3146445"/>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E00FD77-2226-5118-683F-1C77A49E8FDA}"/>
              </a:ext>
            </a:extLst>
          </p:cNvPr>
          <p:cNvSpPr txBox="1"/>
          <p:nvPr/>
        </p:nvSpPr>
        <p:spPr>
          <a:xfrm>
            <a:off x="3662647" y="1842868"/>
            <a:ext cx="1491175" cy="369332"/>
          </a:xfrm>
          <a:prstGeom prst="rect">
            <a:avLst/>
          </a:prstGeom>
          <a:noFill/>
        </p:spPr>
        <p:txBody>
          <a:bodyPr wrap="square" rtlCol="0">
            <a:spAutoFit/>
          </a:bodyPr>
          <a:lstStyle/>
          <a:p>
            <a:r>
              <a:rPr lang="en-US" dirty="0">
                <a:solidFill>
                  <a:srgbClr val="FF0000"/>
                </a:solidFill>
              </a:rPr>
              <a:t>IONOSPHERE</a:t>
            </a:r>
          </a:p>
        </p:txBody>
      </p:sp>
    </p:spTree>
    <p:extLst>
      <p:ext uri="{BB962C8B-B14F-4D97-AF65-F5344CB8AC3E}">
        <p14:creationId xmlns:p14="http://schemas.microsoft.com/office/powerpoint/2010/main" val="398761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C821-7E09-2149-71E4-3037D4CDBBAB}"/>
              </a:ext>
            </a:extLst>
          </p:cNvPr>
          <p:cNvSpPr>
            <a:spLocks noGrp="1"/>
          </p:cNvSpPr>
          <p:nvPr>
            <p:ph type="title"/>
          </p:nvPr>
        </p:nvSpPr>
        <p:spPr/>
        <p:txBody>
          <a:bodyPr/>
          <a:lstStyle/>
          <a:p>
            <a:pPr algn="ctr"/>
            <a:r>
              <a:rPr lang="en-US" dirty="0"/>
              <a:t>CONSITUENTS OF HETEROSPHERE</a:t>
            </a:r>
          </a:p>
        </p:txBody>
      </p:sp>
      <p:graphicFrame>
        <p:nvGraphicFramePr>
          <p:cNvPr id="6" name="Object 5">
            <a:extLst>
              <a:ext uri="{FF2B5EF4-FFF2-40B4-BE49-F238E27FC236}">
                <a16:creationId xmlns:a16="http://schemas.microsoft.com/office/drawing/2014/main" id="{54EB95BC-A8DC-3929-6B99-734911DBCDB3}"/>
              </a:ext>
            </a:extLst>
          </p:cNvPr>
          <p:cNvGraphicFramePr>
            <a:graphicFrameLocks noChangeAspect="1"/>
          </p:cNvGraphicFramePr>
          <p:nvPr>
            <p:extLst>
              <p:ext uri="{D42A27DB-BD31-4B8C-83A1-F6EECF244321}">
                <p14:modId xmlns:p14="http://schemas.microsoft.com/office/powerpoint/2010/main" val="2241404194"/>
              </p:ext>
            </p:extLst>
          </p:nvPr>
        </p:nvGraphicFramePr>
        <p:xfrm>
          <a:off x="645120" y="2099380"/>
          <a:ext cx="5014781" cy="3739613"/>
        </p:xfrm>
        <a:graphic>
          <a:graphicData uri="http://schemas.openxmlformats.org/presentationml/2006/ole">
            <mc:AlternateContent xmlns:mc="http://schemas.openxmlformats.org/markup-compatibility/2006">
              <mc:Choice xmlns:v="urn:schemas-microsoft-com:vml" Requires="v">
                <p:oleObj name="Bitmap Image" r:id="rId2" imgW="3614760" imgH="2695680" progId="Paint.Picture">
                  <p:embed/>
                </p:oleObj>
              </mc:Choice>
              <mc:Fallback>
                <p:oleObj name="Bitmap Image" r:id="rId2" imgW="3614760" imgH="2695680" progId="Paint.Picture">
                  <p:embed/>
                  <p:pic>
                    <p:nvPicPr>
                      <p:cNvPr id="6" name="Object 5">
                        <a:extLst>
                          <a:ext uri="{FF2B5EF4-FFF2-40B4-BE49-F238E27FC236}">
                            <a16:creationId xmlns:a16="http://schemas.microsoft.com/office/drawing/2014/main" id="{54EB95BC-A8DC-3929-6B99-734911DBCDB3}"/>
                          </a:ext>
                        </a:extLst>
                      </p:cNvPr>
                      <p:cNvPicPr/>
                      <p:nvPr/>
                    </p:nvPicPr>
                    <p:blipFill>
                      <a:blip r:embed="rId3"/>
                      <a:stretch>
                        <a:fillRect/>
                      </a:stretch>
                    </p:blipFill>
                    <p:spPr>
                      <a:xfrm>
                        <a:off x="645120" y="2099380"/>
                        <a:ext cx="5014781" cy="373961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CA6E92C-7069-EED1-FDCB-76237489FBF6}"/>
              </a:ext>
            </a:extLst>
          </p:cNvPr>
          <p:cNvGraphicFramePr>
            <a:graphicFrameLocks noChangeAspect="1"/>
          </p:cNvGraphicFramePr>
          <p:nvPr>
            <p:extLst>
              <p:ext uri="{D42A27DB-BD31-4B8C-83A1-F6EECF244321}">
                <p14:modId xmlns:p14="http://schemas.microsoft.com/office/powerpoint/2010/main" val="441756661"/>
              </p:ext>
            </p:extLst>
          </p:nvPr>
        </p:nvGraphicFramePr>
        <p:xfrm>
          <a:off x="6293308" y="2218007"/>
          <a:ext cx="4687285" cy="3474720"/>
        </p:xfrm>
        <a:graphic>
          <a:graphicData uri="http://schemas.openxmlformats.org/presentationml/2006/ole">
            <mc:AlternateContent xmlns:mc="http://schemas.openxmlformats.org/markup-compatibility/2006">
              <mc:Choice xmlns:v="urn:schemas-microsoft-com:vml" Requires="v">
                <p:oleObj name="Bitmap Image" r:id="rId4" imgW="3424320" imgH="2538360" progId="Paint.Picture">
                  <p:embed/>
                </p:oleObj>
              </mc:Choice>
              <mc:Fallback>
                <p:oleObj name="Bitmap Image" r:id="rId4" imgW="3424320" imgH="2538360" progId="Paint.Picture">
                  <p:embed/>
                  <p:pic>
                    <p:nvPicPr>
                      <p:cNvPr id="7" name="Object 6">
                        <a:extLst>
                          <a:ext uri="{FF2B5EF4-FFF2-40B4-BE49-F238E27FC236}">
                            <a16:creationId xmlns:a16="http://schemas.microsoft.com/office/drawing/2014/main" id="{DCA6E92C-7069-EED1-FDCB-76237489FBF6}"/>
                          </a:ext>
                        </a:extLst>
                      </p:cNvPr>
                      <p:cNvPicPr/>
                      <p:nvPr/>
                    </p:nvPicPr>
                    <p:blipFill>
                      <a:blip r:embed="rId5"/>
                      <a:stretch>
                        <a:fillRect/>
                      </a:stretch>
                    </p:blipFill>
                    <p:spPr>
                      <a:xfrm>
                        <a:off x="6293308" y="2218007"/>
                        <a:ext cx="4687285" cy="3474720"/>
                      </a:xfrm>
                      <a:prstGeom prst="rect">
                        <a:avLst/>
                      </a:prstGeom>
                    </p:spPr>
                  </p:pic>
                </p:oleObj>
              </mc:Fallback>
            </mc:AlternateContent>
          </a:graphicData>
        </a:graphic>
      </p:graphicFrame>
    </p:spTree>
    <p:extLst>
      <p:ext uri="{BB962C8B-B14F-4D97-AF65-F5344CB8AC3E}">
        <p14:creationId xmlns:p14="http://schemas.microsoft.com/office/powerpoint/2010/main" val="1574074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91713" y="-73024"/>
            <a:ext cx="8229600" cy="1143000"/>
          </a:xfrm>
        </p:spPr>
        <p:txBody>
          <a:bodyPr>
            <a:noAutofit/>
          </a:bodyPr>
          <a:lstStyle/>
          <a:p>
            <a:pPr algn="ctr" eaLnBrk="1" hangingPunct="1"/>
            <a:r>
              <a:rPr lang="en-US" sz="3600" dirty="0"/>
              <a:t>Planets</a:t>
            </a:r>
          </a:p>
        </p:txBody>
      </p:sp>
      <p:pic>
        <p:nvPicPr>
          <p:cNvPr id="1026" name="Picture 2" descr="C:\Users\Lynnanegt\Desktop\Mercury_Globe-MESSENGER_mosaic_centered_at_0degN-0de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1127760"/>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917476" y="1721019"/>
            <a:ext cx="959325" cy="1015663"/>
          </a:xfrm>
          <a:prstGeom prst="rect">
            <a:avLst/>
          </a:prstGeom>
        </p:spPr>
        <p:txBody>
          <a:bodyPr wrap="square">
            <a:spAutoFit/>
          </a:bodyPr>
          <a:lstStyle/>
          <a:p>
            <a:r>
              <a:rPr lang="en-US" sz="6000" dirty="0"/>
              <a:t>☿</a:t>
            </a:r>
          </a:p>
        </p:txBody>
      </p:sp>
      <p:pic>
        <p:nvPicPr>
          <p:cNvPr id="1027" name="Picture 3" descr="C:\Users\Lynnanegt\Desktop\Venus-rea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1" y="3066128"/>
            <a:ext cx="1724025" cy="17240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99698" y="3677300"/>
            <a:ext cx="1474295" cy="769441"/>
          </a:xfrm>
          <a:prstGeom prst="rect">
            <a:avLst/>
          </a:prstGeom>
        </p:spPr>
        <p:txBody>
          <a:bodyPr wrap="square">
            <a:spAutoFit/>
          </a:bodyPr>
          <a:lstStyle/>
          <a:p>
            <a:r>
              <a:rPr lang="en-US" sz="4400" dirty="0"/>
              <a:t>♀</a:t>
            </a:r>
          </a:p>
        </p:txBody>
      </p:sp>
      <p:pic>
        <p:nvPicPr>
          <p:cNvPr id="1028" name="Picture 4" descr="C:\Users\Lynnanegt\Desktop\The_Earth_seen_from_Apollo_1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1" y="5072973"/>
            <a:ext cx="1644351" cy="164435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9588" y="5775469"/>
            <a:ext cx="476250"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descr="C:\Users\Lynnanegt\Desktop\Water_ice_clouds_hanging_above_Tharsis_PIA02653.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65067" y="1127760"/>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Lynnanegt\Desktop\Mars_symbol_svg.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7400" y="1815681"/>
            <a:ext cx="476250" cy="45958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Users\Lynnanegt\Desktop\Jupiter_by_Cassini-Huygens.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69892" y="3117101"/>
            <a:ext cx="1748117" cy="168760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C:\Users\Lynnanegt\Desktop\Jupiter_symbol_svg.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21396" y="3686964"/>
            <a:ext cx="750110" cy="75011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Users\Lynnanegt\Desktop\280px-Saturn-cassini-March-27-2004.jp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65067" y="5112466"/>
            <a:ext cx="1847678" cy="1491951"/>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C:\Users\Lynnanegt\Desktop\Saturn_symbol_svg.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8789" y="5688162"/>
            <a:ext cx="695325" cy="69532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Users\Lynnanegt\Desktop\Uranus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54241" y="1580483"/>
            <a:ext cx="1793093" cy="17930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descr="C:\Users\Lynnanegt\Desktop\25px-Uranus_symbol_svg.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617674" y="2045473"/>
            <a:ext cx="691209" cy="69120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C:\Users\Lynnanegt\Desktop\Neptune.jp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58803" y="3974822"/>
            <a:ext cx="1742380" cy="171334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5" descr="C:\Users\Lynnanegt\Desktop\Neptune_symbol_svg.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99764" y="4872924"/>
            <a:ext cx="609118" cy="609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03442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See the source image">
            <a:extLst>
              <a:ext uri="{FF2B5EF4-FFF2-40B4-BE49-F238E27FC236}">
                <a16:creationId xmlns:a16="http://schemas.microsoft.com/office/drawing/2014/main" id="{FB4F36BA-FC31-6002-6EE6-01ADE8984F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079"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0A63BB69-273A-4DF1-9C9D-E73835A1F646}"/>
              </a:ext>
            </a:extLst>
          </p:cNvPr>
          <p:cNvSpPr>
            <a:spLocks noGrp="1"/>
          </p:cNvSpPr>
          <p:nvPr>
            <p:ph type="title"/>
          </p:nvPr>
        </p:nvSpPr>
        <p:spPr>
          <a:xfrm>
            <a:off x="709448" y="1913950"/>
            <a:ext cx="4204137" cy="1342754"/>
          </a:xfrm>
        </p:spPr>
        <p:txBody>
          <a:bodyPr>
            <a:normAutofit/>
          </a:bodyPr>
          <a:lstStyle/>
          <a:p>
            <a:pPr algn="ctr"/>
            <a:r>
              <a:rPr lang="en-US" sz="2800"/>
              <a:t>5 MAIN MEANS OF LOSS OF PLANETARY ATMOSPHERE</a:t>
            </a:r>
          </a:p>
        </p:txBody>
      </p:sp>
      <p:cxnSp>
        <p:nvCxnSpPr>
          <p:cNvPr id="3081" name="Straight Connector 3080">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D84525-9807-71AD-9B45-9AB7E4650723}"/>
              </a:ext>
            </a:extLst>
          </p:cNvPr>
          <p:cNvSpPr>
            <a:spLocks noGrp="1"/>
          </p:cNvSpPr>
          <p:nvPr>
            <p:ph idx="1"/>
          </p:nvPr>
        </p:nvSpPr>
        <p:spPr>
          <a:xfrm>
            <a:off x="525516" y="3417573"/>
            <a:ext cx="4593021" cy="2619839"/>
          </a:xfrm>
        </p:spPr>
        <p:txBody>
          <a:bodyPr anchor="ctr">
            <a:noAutofit/>
          </a:bodyPr>
          <a:lstStyle/>
          <a:p>
            <a:pPr marL="514350" indent="-514350">
              <a:buAutoNum type="arabicParenR"/>
            </a:pPr>
            <a:r>
              <a:rPr lang="en-US" sz="1800" dirty="0"/>
              <a:t>Thermal escape</a:t>
            </a:r>
          </a:p>
          <a:p>
            <a:pPr marL="514350" indent="-514350">
              <a:buAutoNum type="arabicParenR"/>
            </a:pPr>
            <a:endParaRPr lang="en-US" sz="1800" dirty="0"/>
          </a:p>
          <a:p>
            <a:pPr marL="514350" indent="-514350">
              <a:buAutoNum type="arabicParenR"/>
            </a:pPr>
            <a:r>
              <a:rPr lang="en-US" sz="1800" dirty="0"/>
              <a:t>Bombardment</a:t>
            </a:r>
          </a:p>
          <a:p>
            <a:pPr marL="514350" indent="-514350">
              <a:buAutoNum type="arabicParenR"/>
            </a:pPr>
            <a:endParaRPr lang="en-US" sz="1800" dirty="0"/>
          </a:p>
          <a:p>
            <a:pPr marL="514350" indent="-514350">
              <a:buAutoNum type="arabicParenR"/>
            </a:pPr>
            <a:r>
              <a:rPr lang="en-US" sz="1800" dirty="0"/>
              <a:t>Atmospheric cratering</a:t>
            </a:r>
          </a:p>
          <a:p>
            <a:pPr marL="514350" indent="-514350">
              <a:buAutoNum type="arabicParenR"/>
            </a:pPr>
            <a:endParaRPr lang="en-US" sz="1800" dirty="0"/>
          </a:p>
          <a:p>
            <a:pPr marL="514350" indent="-514350">
              <a:buAutoNum type="arabicParenR"/>
            </a:pPr>
            <a:r>
              <a:rPr lang="en-US" sz="1800" dirty="0"/>
              <a:t>Condensation</a:t>
            </a:r>
          </a:p>
          <a:p>
            <a:pPr marL="514350" indent="-514350">
              <a:buAutoNum type="arabicParenR"/>
            </a:pPr>
            <a:endParaRPr lang="en-US" sz="1800" dirty="0"/>
          </a:p>
          <a:p>
            <a:pPr marL="514350" indent="-514350">
              <a:buAutoNum type="arabicParenR"/>
            </a:pPr>
            <a:r>
              <a:rPr lang="en-US" sz="1800" dirty="0"/>
              <a:t>Chemical reaction</a:t>
            </a:r>
          </a:p>
        </p:txBody>
      </p:sp>
    </p:spTree>
    <p:extLst>
      <p:ext uri="{BB962C8B-B14F-4D97-AF65-F5344CB8AC3E}">
        <p14:creationId xmlns:p14="http://schemas.microsoft.com/office/powerpoint/2010/main" val="233886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p:txBody>
          <a:bodyPr/>
          <a:lstStyle/>
          <a:p>
            <a:pPr algn="ctr"/>
            <a:r>
              <a:rPr lang="en-US" dirty="0"/>
              <a:t>PLANETARY ATMOSPHERIC LOSS</a:t>
            </a:r>
          </a:p>
        </p:txBody>
      </p:sp>
      <p:sp>
        <p:nvSpPr>
          <p:cNvPr id="3" name="Content Placeholder 2">
            <a:extLst>
              <a:ext uri="{FF2B5EF4-FFF2-40B4-BE49-F238E27FC236}">
                <a16:creationId xmlns:a16="http://schemas.microsoft.com/office/drawing/2014/main" id="{B218B125-86F3-4D35-E07D-4764A291C07C}"/>
              </a:ext>
            </a:extLst>
          </p:cNvPr>
          <p:cNvSpPr>
            <a:spLocks noGrp="1"/>
          </p:cNvSpPr>
          <p:nvPr>
            <p:ph idx="1"/>
          </p:nvPr>
        </p:nvSpPr>
        <p:spPr>
          <a:xfrm>
            <a:off x="838200" y="1825625"/>
            <a:ext cx="4591405" cy="4351338"/>
          </a:xfrm>
        </p:spPr>
        <p:txBody>
          <a:bodyPr/>
          <a:lstStyle/>
          <a:p>
            <a:pPr marL="0" indent="0">
              <a:buNone/>
            </a:pPr>
            <a:r>
              <a:rPr lang="en-US" dirty="0"/>
              <a:t>THERMAL ESCAPE</a:t>
            </a:r>
          </a:p>
          <a:p>
            <a:pPr marL="0" indent="0">
              <a:buNone/>
            </a:pPr>
            <a:r>
              <a:rPr lang="en-US" dirty="0"/>
              <a:t>Lower mass and higher temperature particles can overcome gravitational attraction of the planet</a:t>
            </a:r>
          </a:p>
          <a:p>
            <a:endParaRPr lang="en-US" dirty="0"/>
          </a:p>
          <a:p>
            <a:pPr marL="0" indent="0">
              <a:buNone/>
            </a:pPr>
            <a:endParaRPr lang="en-US" dirty="0"/>
          </a:p>
        </p:txBody>
      </p:sp>
      <p:graphicFrame>
        <p:nvGraphicFramePr>
          <p:cNvPr id="4" name="Object 3">
            <a:extLst>
              <a:ext uri="{FF2B5EF4-FFF2-40B4-BE49-F238E27FC236}">
                <a16:creationId xmlns:a16="http://schemas.microsoft.com/office/drawing/2014/main" id="{246E94C2-5320-5467-BFA5-3EC280EE60CE}"/>
              </a:ext>
            </a:extLst>
          </p:cNvPr>
          <p:cNvGraphicFramePr>
            <a:graphicFrameLocks noChangeAspect="1"/>
          </p:cNvGraphicFramePr>
          <p:nvPr>
            <p:extLst>
              <p:ext uri="{D42A27DB-BD31-4B8C-83A1-F6EECF244321}">
                <p14:modId xmlns:p14="http://schemas.microsoft.com/office/powerpoint/2010/main" val="787183966"/>
              </p:ext>
            </p:extLst>
          </p:nvPr>
        </p:nvGraphicFramePr>
        <p:xfrm>
          <a:off x="8680690" y="1486328"/>
          <a:ext cx="2620618" cy="5130504"/>
        </p:xfrm>
        <a:graphic>
          <a:graphicData uri="http://schemas.openxmlformats.org/presentationml/2006/ole">
            <mc:AlternateContent xmlns:mc="http://schemas.openxmlformats.org/markup-compatibility/2006">
              <mc:Choice xmlns:v="urn:schemas-microsoft-com:vml" Requires="v">
                <p:oleObj name="Bitmap Image" r:id="rId2" imgW="1014480" imgH="1986120" progId="Paint.Picture">
                  <p:embed/>
                </p:oleObj>
              </mc:Choice>
              <mc:Fallback>
                <p:oleObj name="Bitmap Image" r:id="rId2" imgW="1014480" imgH="1986120" progId="Paint.Picture">
                  <p:embed/>
                  <p:pic>
                    <p:nvPicPr>
                      <p:cNvPr id="4" name="Object 3">
                        <a:extLst>
                          <a:ext uri="{FF2B5EF4-FFF2-40B4-BE49-F238E27FC236}">
                            <a16:creationId xmlns:a16="http://schemas.microsoft.com/office/drawing/2014/main" id="{246E94C2-5320-5467-BFA5-3EC280EE60CE}"/>
                          </a:ext>
                        </a:extLst>
                      </p:cNvPr>
                      <p:cNvPicPr/>
                      <p:nvPr/>
                    </p:nvPicPr>
                    <p:blipFill>
                      <a:blip r:embed="rId3"/>
                      <a:stretch>
                        <a:fillRect/>
                      </a:stretch>
                    </p:blipFill>
                    <p:spPr>
                      <a:xfrm>
                        <a:off x="8680690" y="1486328"/>
                        <a:ext cx="2620618" cy="5130504"/>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BED78622-4B08-FD6F-F4AD-3B3D770D2B97}"/>
              </a:ext>
            </a:extLst>
          </p:cNvPr>
          <p:cNvGraphicFramePr>
            <a:graphicFrameLocks noChangeAspect="1"/>
          </p:cNvGraphicFramePr>
          <p:nvPr>
            <p:extLst>
              <p:ext uri="{D42A27DB-BD31-4B8C-83A1-F6EECF244321}">
                <p14:modId xmlns:p14="http://schemas.microsoft.com/office/powerpoint/2010/main" val="4294611845"/>
              </p:ext>
            </p:extLst>
          </p:nvPr>
        </p:nvGraphicFramePr>
        <p:xfrm>
          <a:off x="5001963" y="2553499"/>
          <a:ext cx="3255773" cy="2895589"/>
        </p:xfrm>
        <a:graphic>
          <a:graphicData uri="http://schemas.openxmlformats.org/presentationml/2006/ole">
            <mc:AlternateContent xmlns:mc="http://schemas.openxmlformats.org/markup-compatibility/2006">
              <mc:Choice xmlns:v="urn:schemas-microsoft-com:vml" Requires="v">
                <p:oleObj name="Bitmap Image" r:id="rId4" imgW="2195640" imgH="1952640" progId="Paint.Picture">
                  <p:embed/>
                </p:oleObj>
              </mc:Choice>
              <mc:Fallback>
                <p:oleObj name="Bitmap Image" r:id="rId4" imgW="2195640" imgH="1952640" progId="Paint.Picture">
                  <p:embed/>
                  <p:pic>
                    <p:nvPicPr>
                      <p:cNvPr id="5" name="Object 4">
                        <a:extLst>
                          <a:ext uri="{FF2B5EF4-FFF2-40B4-BE49-F238E27FC236}">
                            <a16:creationId xmlns:a16="http://schemas.microsoft.com/office/drawing/2014/main" id="{BED78622-4B08-FD6F-F4AD-3B3D770D2B97}"/>
                          </a:ext>
                        </a:extLst>
                      </p:cNvPr>
                      <p:cNvPicPr/>
                      <p:nvPr/>
                    </p:nvPicPr>
                    <p:blipFill>
                      <a:blip r:embed="rId5"/>
                      <a:stretch>
                        <a:fillRect/>
                      </a:stretch>
                    </p:blipFill>
                    <p:spPr>
                      <a:xfrm>
                        <a:off x="5001963" y="2553499"/>
                        <a:ext cx="3255773" cy="2895589"/>
                      </a:xfrm>
                      <a:prstGeom prst="rect">
                        <a:avLst/>
                      </a:prstGeom>
                    </p:spPr>
                  </p:pic>
                </p:oleObj>
              </mc:Fallback>
            </mc:AlternateContent>
          </a:graphicData>
        </a:graphic>
      </p:graphicFrame>
    </p:spTree>
    <p:extLst>
      <p:ext uri="{BB962C8B-B14F-4D97-AF65-F5344CB8AC3E}">
        <p14:creationId xmlns:p14="http://schemas.microsoft.com/office/powerpoint/2010/main" val="602830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p:txBody>
          <a:bodyPr/>
          <a:lstStyle/>
          <a:p>
            <a:pPr algn="ctr"/>
            <a:r>
              <a:rPr lang="en-US" dirty="0"/>
              <a:t>PLANETARY ATMOSPHERIC LOSS</a:t>
            </a:r>
          </a:p>
        </p:txBody>
      </p:sp>
      <p:sp>
        <p:nvSpPr>
          <p:cNvPr id="3" name="Content Placeholder 2">
            <a:extLst>
              <a:ext uri="{FF2B5EF4-FFF2-40B4-BE49-F238E27FC236}">
                <a16:creationId xmlns:a16="http://schemas.microsoft.com/office/drawing/2014/main" id="{B218B125-86F3-4D35-E07D-4764A291C07C}"/>
              </a:ext>
            </a:extLst>
          </p:cNvPr>
          <p:cNvSpPr>
            <a:spLocks noGrp="1"/>
          </p:cNvSpPr>
          <p:nvPr>
            <p:ph idx="1"/>
          </p:nvPr>
        </p:nvSpPr>
        <p:spPr>
          <a:xfrm>
            <a:off x="838200" y="1825625"/>
            <a:ext cx="4591405" cy="4351338"/>
          </a:xfrm>
        </p:spPr>
        <p:txBody>
          <a:bodyPr/>
          <a:lstStyle/>
          <a:p>
            <a:pPr marL="0" indent="0">
              <a:buNone/>
            </a:pPr>
            <a:r>
              <a:rPr lang="en-US" dirty="0"/>
              <a:t>BOMBARDMENT </a:t>
            </a:r>
          </a:p>
          <a:p>
            <a:pPr marL="0" indent="0">
              <a:buNone/>
            </a:pPr>
            <a:r>
              <a:rPr lang="en-US" dirty="0"/>
              <a:t>Impact by extraplanetary particles can increase the atmospheric thermal velocities and break up heavier molecules into lighter atoms and molecules so they can escape	</a:t>
            </a:r>
          </a:p>
          <a:p>
            <a:endParaRPr lang="en-US" dirty="0"/>
          </a:p>
          <a:p>
            <a:pPr marL="0" indent="0">
              <a:buNone/>
            </a:pPr>
            <a:endParaRPr lang="en-US" dirty="0"/>
          </a:p>
        </p:txBody>
      </p:sp>
      <p:graphicFrame>
        <p:nvGraphicFramePr>
          <p:cNvPr id="5" name="Object 4">
            <a:extLst>
              <a:ext uri="{FF2B5EF4-FFF2-40B4-BE49-F238E27FC236}">
                <a16:creationId xmlns:a16="http://schemas.microsoft.com/office/drawing/2014/main" id="{E575DE8E-5B31-8B8E-DFC2-A8F28E2E1127}"/>
              </a:ext>
            </a:extLst>
          </p:cNvPr>
          <p:cNvGraphicFramePr>
            <a:graphicFrameLocks noChangeAspect="1"/>
          </p:cNvGraphicFramePr>
          <p:nvPr>
            <p:extLst>
              <p:ext uri="{D42A27DB-BD31-4B8C-83A1-F6EECF244321}">
                <p14:modId xmlns:p14="http://schemas.microsoft.com/office/powerpoint/2010/main" val="2172893258"/>
              </p:ext>
            </p:extLst>
          </p:nvPr>
        </p:nvGraphicFramePr>
        <p:xfrm>
          <a:off x="6762397" y="1472501"/>
          <a:ext cx="3631094" cy="5134674"/>
        </p:xfrm>
        <a:graphic>
          <a:graphicData uri="http://schemas.openxmlformats.org/presentationml/2006/ole">
            <mc:AlternateContent xmlns:mc="http://schemas.openxmlformats.org/markup-compatibility/2006">
              <mc:Choice xmlns:v="urn:schemas-microsoft-com:vml" Requires="v">
                <p:oleObj name="Bitmap Image" r:id="rId2" imgW="3381480" imgH="4781520" progId="Paint.Picture">
                  <p:embed/>
                </p:oleObj>
              </mc:Choice>
              <mc:Fallback>
                <p:oleObj name="Bitmap Image" r:id="rId2" imgW="3381480" imgH="4781520" progId="Paint.Picture">
                  <p:embed/>
                  <p:pic>
                    <p:nvPicPr>
                      <p:cNvPr id="5" name="Object 4">
                        <a:extLst>
                          <a:ext uri="{FF2B5EF4-FFF2-40B4-BE49-F238E27FC236}">
                            <a16:creationId xmlns:a16="http://schemas.microsoft.com/office/drawing/2014/main" id="{E575DE8E-5B31-8B8E-DFC2-A8F28E2E1127}"/>
                          </a:ext>
                        </a:extLst>
                      </p:cNvPr>
                      <p:cNvPicPr/>
                      <p:nvPr/>
                    </p:nvPicPr>
                    <p:blipFill>
                      <a:blip r:embed="rId3"/>
                      <a:stretch>
                        <a:fillRect/>
                      </a:stretch>
                    </p:blipFill>
                    <p:spPr>
                      <a:xfrm>
                        <a:off x="6762397" y="1472501"/>
                        <a:ext cx="3631094" cy="5134674"/>
                      </a:xfrm>
                      <a:prstGeom prst="rect">
                        <a:avLst/>
                      </a:prstGeom>
                    </p:spPr>
                  </p:pic>
                </p:oleObj>
              </mc:Fallback>
            </mc:AlternateContent>
          </a:graphicData>
        </a:graphic>
      </p:graphicFrame>
    </p:spTree>
    <p:extLst>
      <p:ext uri="{BB962C8B-B14F-4D97-AF65-F5344CB8AC3E}">
        <p14:creationId xmlns:p14="http://schemas.microsoft.com/office/powerpoint/2010/main" val="169744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See the source image">
            <a:extLst>
              <a:ext uri="{FF2B5EF4-FFF2-40B4-BE49-F238E27FC236}">
                <a16:creationId xmlns:a16="http://schemas.microsoft.com/office/drawing/2014/main" id="{473AC2CC-2EE0-8CCD-FF15-0CC1AE9E72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329" r="-1" b="-1"/>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5" name="Rectangle 410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a:xfrm>
            <a:off x="7531610" y="365125"/>
            <a:ext cx="3822189" cy="1899912"/>
          </a:xfrm>
        </p:spPr>
        <p:txBody>
          <a:bodyPr>
            <a:normAutofit/>
          </a:bodyPr>
          <a:lstStyle/>
          <a:p>
            <a:r>
              <a:rPr lang="en-US" sz="4000"/>
              <a:t>PLANETARY ATMOSPHERIC LOSS</a:t>
            </a:r>
          </a:p>
        </p:txBody>
      </p:sp>
      <p:sp>
        <p:nvSpPr>
          <p:cNvPr id="3" name="Content Placeholder 2">
            <a:extLst>
              <a:ext uri="{FF2B5EF4-FFF2-40B4-BE49-F238E27FC236}">
                <a16:creationId xmlns:a16="http://schemas.microsoft.com/office/drawing/2014/main" id="{B218B125-86F3-4D35-E07D-4764A291C07C}"/>
              </a:ext>
            </a:extLst>
          </p:cNvPr>
          <p:cNvSpPr>
            <a:spLocks noGrp="1"/>
          </p:cNvSpPr>
          <p:nvPr>
            <p:ph idx="1"/>
          </p:nvPr>
        </p:nvSpPr>
        <p:spPr>
          <a:xfrm>
            <a:off x="7531610" y="2434201"/>
            <a:ext cx="3822189" cy="3742762"/>
          </a:xfrm>
        </p:spPr>
        <p:txBody>
          <a:bodyPr>
            <a:normAutofit/>
          </a:bodyPr>
          <a:lstStyle/>
          <a:p>
            <a:pPr marL="0" indent="0">
              <a:buNone/>
            </a:pPr>
            <a:r>
              <a:rPr lang="en-US" sz="2000"/>
              <a:t>ATMOSPHERIC CRATERING</a:t>
            </a:r>
          </a:p>
          <a:p>
            <a:r>
              <a:rPr lang="en-US" sz="2000"/>
              <a:t>Large impacts on the surface impart sufficient energy to allow constituents to escape</a:t>
            </a:r>
          </a:p>
          <a:p>
            <a:pPr marL="0" indent="0">
              <a:buNone/>
            </a:pPr>
            <a:endParaRPr lang="en-US" sz="2000"/>
          </a:p>
        </p:txBody>
      </p:sp>
    </p:spTree>
    <p:extLst>
      <p:ext uri="{BB962C8B-B14F-4D97-AF65-F5344CB8AC3E}">
        <p14:creationId xmlns:p14="http://schemas.microsoft.com/office/powerpoint/2010/main" val="786629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2" name="Rectangle 513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a:xfrm>
            <a:off x="589560" y="856180"/>
            <a:ext cx="4560584" cy="1128068"/>
          </a:xfrm>
        </p:spPr>
        <p:txBody>
          <a:bodyPr anchor="ctr">
            <a:normAutofit/>
          </a:bodyPr>
          <a:lstStyle/>
          <a:p>
            <a:r>
              <a:rPr lang="en-US" sz="3700"/>
              <a:t>PLANETARY ATMOSPHERIC LOSS</a:t>
            </a:r>
          </a:p>
        </p:txBody>
      </p:sp>
      <p:grpSp>
        <p:nvGrpSpPr>
          <p:cNvPr id="5137" name="Group 513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5139" name="Rectangle 513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6" name="Rectangle 513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38" name="Rectangle 513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18B125-86F3-4D35-E07D-4764A291C07C}"/>
              </a:ext>
            </a:extLst>
          </p:cNvPr>
          <p:cNvSpPr>
            <a:spLocks noGrp="1"/>
          </p:cNvSpPr>
          <p:nvPr>
            <p:ph idx="1"/>
          </p:nvPr>
        </p:nvSpPr>
        <p:spPr>
          <a:xfrm>
            <a:off x="590719" y="2330505"/>
            <a:ext cx="4559425" cy="3979585"/>
          </a:xfrm>
        </p:spPr>
        <p:txBody>
          <a:bodyPr anchor="ctr">
            <a:normAutofit/>
          </a:bodyPr>
          <a:lstStyle/>
          <a:p>
            <a:pPr marL="0" indent="0">
              <a:buNone/>
            </a:pPr>
            <a:r>
              <a:rPr lang="en-US" sz="2000" dirty="0"/>
              <a:t>CONDENSATION</a:t>
            </a:r>
          </a:p>
          <a:p>
            <a:r>
              <a:rPr lang="en-US" sz="2000" dirty="0"/>
              <a:t>Atmospheric constituents condense on the planet’s surface</a:t>
            </a:r>
          </a:p>
          <a:p>
            <a:pPr marL="0" indent="0">
              <a:buNone/>
            </a:pPr>
            <a:endParaRPr lang="en-US" sz="2000" dirty="0"/>
          </a:p>
        </p:txBody>
      </p:sp>
      <p:sp>
        <p:nvSpPr>
          <p:cNvPr id="5140" name="Rectangle 513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2" name="Rectangle 514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See the source image">
            <a:extLst>
              <a:ext uri="{FF2B5EF4-FFF2-40B4-BE49-F238E27FC236}">
                <a16:creationId xmlns:a16="http://schemas.microsoft.com/office/drawing/2014/main" id="{75084E15-33BE-2647-F1F2-E0A7ACB9AE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028" b="-3"/>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830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A81E7530-396C-45F0-92F4-A885648D16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Processes in Mars' surface material can explain why particular xenon (Xe) and krypton (Kr) isotopes are more abundant in the Martian atmosphere than expected, as measured by NASA's Curiosity rover. Cosmic rays striking barium (Ba) or bromine (Br) atoms can alter isotopic ratios of xenon and krypton.">
            <a:extLst>
              <a:ext uri="{FF2B5EF4-FFF2-40B4-BE49-F238E27FC236}">
                <a16:creationId xmlns:a16="http://schemas.microsoft.com/office/drawing/2014/main" id="{BC0EA4AB-940D-AA8E-461A-AB19ECD6C4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0" r="1" b="14659"/>
          <a:stretch/>
        </p:blipFill>
        <p:spPr bwMode="auto">
          <a:xfrm>
            <a:off x="603671" y="-1"/>
            <a:ext cx="11588329" cy="6857999"/>
          </a:xfrm>
          <a:prstGeom prst="rect">
            <a:avLst/>
          </a:prstGeom>
          <a:noFill/>
          <a:extLst>
            <a:ext uri="{909E8E84-426E-40DD-AFC4-6F175D3DCCD1}">
              <a14:hiddenFill xmlns:a14="http://schemas.microsoft.com/office/drawing/2010/main">
                <a:solidFill>
                  <a:srgbClr val="FFFFFF"/>
                </a:solidFill>
              </a14:hiddenFill>
            </a:ext>
          </a:extLst>
        </p:spPr>
      </p:pic>
      <p:sp>
        <p:nvSpPr>
          <p:cNvPr id="6153" name="Rectangle 6152">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19898" cy="6858000"/>
          </a:xfrm>
          <a:prstGeom prst="rect">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7574-257F-94F8-5E4E-CE3A28221C3B}"/>
              </a:ext>
            </a:extLst>
          </p:cNvPr>
          <p:cNvSpPr>
            <a:spLocks noGrp="1"/>
          </p:cNvSpPr>
          <p:nvPr>
            <p:ph type="title"/>
          </p:nvPr>
        </p:nvSpPr>
        <p:spPr>
          <a:xfrm>
            <a:off x="1166649" y="721805"/>
            <a:ext cx="3874686" cy="2147520"/>
          </a:xfrm>
        </p:spPr>
        <p:txBody>
          <a:bodyPr>
            <a:normAutofit/>
          </a:bodyPr>
          <a:lstStyle/>
          <a:p>
            <a:r>
              <a:rPr lang="en-US">
                <a:solidFill>
                  <a:schemeClr val="bg1"/>
                </a:solidFill>
              </a:rPr>
              <a:t>PLANETARY ATMOSPHERIC LOSS</a:t>
            </a:r>
          </a:p>
        </p:txBody>
      </p:sp>
      <p:sp>
        <p:nvSpPr>
          <p:cNvPr id="6155" name="Rectangle 6154">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57" name="Group 6156">
            <a:extLst>
              <a:ext uri="{FF2B5EF4-FFF2-40B4-BE49-F238E27FC236}">
                <a16:creationId xmlns:a16="http://schemas.microsoft.com/office/drawing/2014/main" id="{81DE8B58-F373-409E-A253-4380A66091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1188720" y="73152"/>
            <a:chExt cx="1178966" cy="232963"/>
          </a:xfrm>
        </p:grpSpPr>
        <p:sp>
          <p:nvSpPr>
            <p:cNvPr id="6158" name="Rectangle 64">
              <a:extLst>
                <a:ext uri="{FF2B5EF4-FFF2-40B4-BE49-F238E27FC236}">
                  <a16:creationId xmlns:a16="http://schemas.microsoft.com/office/drawing/2014/main" id="{F5ACE265-D22D-48CC-99DE-EB81AE922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854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9" name="Rectangle 66">
              <a:extLst>
                <a:ext uri="{FF2B5EF4-FFF2-40B4-BE49-F238E27FC236}">
                  <a16:creationId xmlns:a16="http://schemas.microsoft.com/office/drawing/2014/main" id="{6FE80EEA-F4ED-4436-8861-0BEAAEFE7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854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0" name="Rectangle 64">
              <a:extLst>
                <a:ext uri="{FF2B5EF4-FFF2-40B4-BE49-F238E27FC236}">
                  <a16:creationId xmlns:a16="http://schemas.microsoft.com/office/drawing/2014/main" id="{C3642BC8-86E8-47D0-8846-3E4D49E4B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3586"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1" name="Rectangle 66">
              <a:extLst>
                <a:ext uri="{FF2B5EF4-FFF2-40B4-BE49-F238E27FC236}">
                  <a16:creationId xmlns:a16="http://schemas.microsoft.com/office/drawing/2014/main" id="{82D35214-3634-4180-BF0E-45B614516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3586"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2" name="Rectangle 64">
              <a:extLst>
                <a:ext uri="{FF2B5EF4-FFF2-40B4-BE49-F238E27FC236}">
                  <a16:creationId xmlns:a16="http://schemas.microsoft.com/office/drawing/2014/main" id="{15BE89E6-3D1C-42B5-A950-E72889F8B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3863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3" name="Rectangle 66">
              <a:extLst>
                <a:ext uri="{FF2B5EF4-FFF2-40B4-BE49-F238E27FC236}">
                  <a16:creationId xmlns:a16="http://schemas.microsoft.com/office/drawing/2014/main" id="{473771CC-5097-4E08-9606-24B0BC9A0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3863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4" name="Rectangle 64">
              <a:extLst>
                <a:ext uri="{FF2B5EF4-FFF2-40B4-BE49-F238E27FC236}">
                  <a16:creationId xmlns:a16="http://schemas.microsoft.com/office/drawing/2014/main" id="{BE872634-00DA-47BD-880D-5C05FFADC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3675"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5" name="Rectangle 66">
              <a:extLst>
                <a:ext uri="{FF2B5EF4-FFF2-40B4-BE49-F238E27FC236}">
                  <a16:creationId xmlns:a16="http://schemas.microsoft.com/office/drawing/2014/main" id="{4F151F5C-DE9B-460E-BC51-471F4A8A5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3675"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6" name="Rectangle 64">
              <a:extLst>
                <a:ext uri="{FF2B5EF4-FFF2-40B4-BE49-F238E27FC236}">
                  <a16:creationId xmlns:a16="http://schemas.microsoft.com/office/drawing/2014/main" id="{34557B8A-4D2F-4D0D-B746-59EA85318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8720"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7" name="Rectangle 66">
              <a:extLst>
                <a:ext uri="{FF2B5EF4-FFF2-40B4-BE49-F238E27FC236}">
                  <a16:creationId xmlns:a16="http://schemas.microsoft.com/office/drawing/2014/main" id="{C764CD8E-E409-4E9B-8E87-746DDE36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8720"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8" name="Rectangle 64">
              <a:extLst>
                <a:ext uri="{FF2B5EF4-FFF2-40B4-BE49-F238E27FC236}">
                  <a16:creationId xmlns:a16="http://schemas.microsoft.com/office/drawing/2014/main" id="{8E27A01D-2F01-4286-9453-3FBF6E84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331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9" name="Rectangle 66">
              <a:extLst>
                <a:ext uri="{FF2B5EF4-FFF2-40B4-BE49-F238E27FC236}">
                  <a16:creationId xmlns:a16="http://schemas.microsoft.com/office/drawing/2014/main" id="{460487A5-12EB-422E-9588-8FF06FAF7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331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0" name="Rectangle 64">
              <a:extLst>
                <a:ext uri="{FF2B5EF4-FFF2-40B4-BE49-F238E27FC236}">
                  <a16:creationId xmlns:a16="http://schemas.microsoft.com/office/drawing/2014/main" id="{7D522D20-C9F7-4B34-9066-4B43ADAAB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88363"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1" name="Rectangle 66">
              <a:extLst>
                <a:ext uri="{FF2B5EF4-FFF2-40B4-BE49-F238E27FC236}">
                  <a16:creationId xmlns:a16="http://schemas.microsoft.com/office/drawing/2014/main" id="{97B04F2C-295B-447A-8941-0AD4F5551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88363"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2" name="Rectangle 64">
              <a:extLst>
                <a:ext uri="{FF2B5EF4-FFF2-40B4-BE49-F238E27FC236}">
                  <a16:creationId xmlns:a16="http://schemas.microsoft.com/office/drawing/2014/main" id="{17D7FF91-B366-4534-B9B4-5710926EE7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6340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3" name="Rectangle 66">
              <a:extLst>
                <a:ext uri="{FF2B5EF4-FFF2-40B4-BE49-F238E27FC236}">
                  <a16:creationId xmlns:a16="http://schemas.microsoft.com/office/drawing/2014/main" id="{B5B8116C-ADD9-4826-9C37-270377E8F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6340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4" name="Rectangle 64">
              <a:extLst>
                <a:ext uri="{FF2B5EF4-FFF2-40B4-BE49-F238E27FC236}">
                  <a16:creationId xmlns:a16="http://schemas.microsoft.com/office/drawing/2014/main" id="{22D01D96-8DB8-40BF-83AC-4CA49EC26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8452"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5" name="Rectangle 66">
              <a:extLst>
                <a:ext uri="{FF2B5EF4-FFF2-40B4-BE49-F238E27FC236}">
                  <a16:creationId xmlns:a16="http://schemas.microsoft.com/office/drawing/2014/main" id="{44B584CD-5E60-4B15-847C-B30D15DA1A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8452"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6" name="Rectangle 64">
              <a:extLst>
                <a:ext uri="{FF2B5EF4-FFF2-40B4-BE49-F238E27FC236}">
                  <a16:creationId xmlns:a16="http://schemas.microsoft.com/office/drawing/2014/main" id="{CF2BB7DC-B968-4F0B-9748-BF0E6E297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13497"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7" name="Rectangle 66">
              <a:extLst>
                <a:ext uri="{FF2B5EF4-FFF2-40B4-BE49-F238E27FC236}">
                  <a16:creationId xmlns:a16="http://schemas.microsoft.com/office/drawing/2014/main" id="{CF12C159-3F09-4861-9450-ECD5DB310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13497"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79" name="Rectangle 6178">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18B125-86F3-4D35-E07D-4764A291C07C}"/>
              </a:ext>
            </a:extLst>
          </p:cNvPr>
          <p:cNvSpPr>
            <a:spLocks noGrp="1"/>
          </p:cNvSpPr>
          <p:nvPr>
            <p:ph idx="1"/>
          </p:nvPr>
        </p:nvSpPr>
        <p:spPr>
          <a:xfrm>
            <a:off x="1166649" y="3379979"/>
            <a:ext cx="3874685" cy="3186359"/>
          </a:xfrm>
        </p:spPr>
        <p:txBody>
          <a:bodyPr anchor="ctr">
            <a:normAutofit/>
          </a:bodyPr>
          <a:lstStyle/>
          <a:p>
            <a:pPr marL="0" indent="0">
              <a:buNone/>
            </a:pPr>
            <a:r>
              <a:rPr lang="en-US" sz="1800">
                <a:solidFill>
                  <a:schemeClr val="bg1"/>
                </a:solidFill>
              </a:rPr>
              <a:t>CHEMICAL REACTION</a:t>
            </a:r>
          </a:p>
          <a:p>
            <a:r>
              <a:rPr lang="en-US" sz="1800">
                <a:solidFill>
                  <a:schemeClr val="bg1"/>
                </a:solidFill>
              </a:rPr>
              <a:t>Atmosphere combines with the material on the planetary surface</a:t>
            </a:r>
          </a:p>
          <a:p>
            <a:pPr marL="0" indent="0">
              <a:buNone/>
            </a:pPr>
            <a:endParaRPr lang="en-US" sz="1800">
              <a:solidFill>
                <a:schemeClr val="bg1"/>
              </a:solidFill>
            </a:endParaRPr>
          </a:p>
        </p:txBody>
      </p:sp>
    </p:spTree>
    <p:extLst>
      <p:ext uri="{BB962C8B-B14F-4D97-AF65-F5344CB8AC3E}">
        <p14:creationId xmlns:p14="http://schemas.microsoft.com/office/powerpoint/2010/main" val="775023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7F4A7A-D8DA-9651-1E62-C7CE9A50B3D2}"/>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kern="1200">
                <a:solidFill>
                  <a:srgbClr val="FFFFFF"/>
                </a:solidFill>
                <a:latin typeface="+mj-lt"/>
                <a:ea typeface="+mj-ea"/>
                <a:cs typeface="+mj-cs"/>
              </a:rPr>
              <a:t>ESCAPE VELOCITIES FOR CONSISTUENTS</a:t>
            </a:r>
          </a:p>
        </p:txBody>
      </p:sp>
      <p:pic>
        <p:nvPicPr>
          <p:cNvPr id="7170" name="Picture 2" descr="See the source image">
            <a:extLst>
              <a:ext uri="{FF2B5EF4-FFF2-40B4-BE49-F238E27FC236}">
                <a16:creationId xmlns:a16="http://schemas.microsoft.com/office/drawing/2014/main" id="{DA220B52-3C3B-7BE1-CAE0-457EAE04492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65036" y="961812"/>
            <a:ext cx="5335327"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309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EE3BAF-55DB-D3A1-45E3-CFC61F7119AA}"/>
              </a:ext>
            </a:extLst>
          </p:cNvPr>
          <p:cNvSpPr>
            <a:spLocks noGrp="1"/>
          </p:cNvSpPr>
          <p:nvPr>
            <p:ph type="title"/>
          </p:nvPr>
        </p:nvSpPr>
        <p:spPr>
          <a:xfrm>
            <a:off x="594360" y="640263"/>
            <a:ext cx="3822192" cy="1344975"/>
          </a:xfrm>
        </p:spPr>
        <p:txBody>
          <a:bodyPr>
            <a:normAutofit/>
          </a:bodyPr>
          <a:lstStyle/>
          <a:p>
            <a:r>
              <a:rPr lang="en-US" sz="3300">
                <a:solidFill>
                  <a:schemeClr val="bg1"/>
                </a:solidFill>
              </a:rPr>
              <a:t>HOW PLANETS GAIN ATMOSPHERIC GASES</a:t>
            </a:r>
          </a:p>
        </p:txBody>
      </p:sp>
      <p:cxnSp>
        <p:nvCxnSpPr>
          <p:cNvPr id="8201" name="Straight Connector 8200">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E28BA88-6327-A2F5-E565-87D4886F5205}"/>
              </a:ext>
            </a:extLst>
          </p:cNvPr>
          <p:cNvSpPr>
            <a:spLocks noGrp="1"/>
          </p:cNvSpPr>
          <p:nvPr>
            <p:ph idx="1"/>
          </p:nvPr>
        </p:nvSpPr>
        <p:spPr>
          <a:xfrm>
            <a:off x="593610" y="2121763"/>
            <a:ext cx="3822192" cy="3773010"/>
          </a:xfrm>
        </p:spPr>
        <p:txBody>
          <a:bodyPr>
            <a:normAutofit/>
          </a:bodyPr>
          <a:lstStyle/>
          <a:p>
            <a:r>
              <a:rPr lang="en-US" sz="2000">
                <a:solidFill>
                  <a:schemeClr val="bg1"/>
                </a:solidFill>
              </a:rPr>
              <a:t>OUTGASSING</a:t>
            </a:r>
          </a:p>
          <a:p>
            <a:pPr marL="0" indent="0">
              <a:buNone/>
            </a:pPr>
            <a:endParaRPr lang="en-US" sz="2000">
              <a:solidFill>
                <a:schemeClr val="bg1"/>
              </a:solidFill>
            </a:endParaRPr>
          </a:p>
          <a:p>
            <a:r>
              <a:rPr lang="en-US" sz="2000">
                <a:solidFill>
                  <a:schemeClr val="bg1"/>
                </a:solidFill>
              </a:rPr>
              <a:t>EVAPORATION AND SUBLIMINATION</a:t>
            </a:r>
          </a:p>
          <a:p>
            <a:endParaRPr lang="en-US" sz="2000">
              <a:solidFill>
                <a:schemeClr val="bg1"/>
              </a:solidFill>
            </a:endParaRPr>
          </a:p>
          <a:p>
            <a:r>
              <a:rPr lang="en-US" sz="2000">
                <a:solidFill>
                  <a:schemeClr val="bg1"/>
                </a:solidFill>
              </a:rPr>
              <a:t>BOMBARDMENT</a:t>
            </a:r>
          </a:p>
        </p:txBody>
      </p:sp>
      <p:pic>
        <p:nvPicPr>
          <p:cNvPr id="8194" name="Picture 2" descr="See the source image">
            <a:extLst>
              <a:ext uri="{FF2B5EF4-FFF2-40B4-BE49-F238E27FC236}">
                <a16:creationId xmlns:a16="http://schemas.microsoft.com/office/drawing/2014/main" id="{BD341E4F-41D0-5965-92D0-EED78C9DFD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10716" y="877531"/>
            <a:ext cx="6596652" cy="4947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3664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2AC420E-F79A-4FB7-8013-94B1E8B63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CD1EA40-7116-4FCB-9369-70F29FAA9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592824" cy="32339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B9778F-E1F0-FDBF-857C-06D7C2F6B2AE}"/>
              </a:ext>
            </a:extLst>
          </p:cNvPr>
          <p:cNvSpPr>
            <a:spLocks noGrp="1"/>
          </p:cNvSpPr>
          <p:nvPr>
            <p:ph type="title"/>
          </p:nvPr>
        </p:nvSpPr>
        <p:spPr>
          <a:xfrm>
            <a:off x="1166648" y="655591"/>
            <a:ext cx="4929352" cy="2315616"/>
          </a:xfrm>
        </p:spPr>
        <p:txBody>
          <a:bodyPr>
            <a:normAutofit/>
          </a:bodyPr>
          <a:lstStyle/>
          <a:p>
            <a:r>
              <a:rPr lang="en-US" dirty="0"/>
              <a:t>OUTGASSING</a:t>
            </a:r>
            <a:endParaRPr lang="en-US"/>
          </a:p>
        </p:txBody>
      </p:sp>
      <p:sp>
        <p:nvSpPr>
          <p:cNvPr id="13" name="Rectangle 12">
            <a:extLst>
              <a:ext uri="{FF2B5EF4-FFF2-40B4-BE49-F238E27FC236}">
                <a16:creationId xmlns:a16="http://schemas.microsoft.com/office/drawing/2014/main" id="{BF647E38-F93D-4661-8D77-CE13EEB65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8E8872B6-836E-4281-A971-D133C61875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16" name="Rectangle 64">
              <a:extLst>
                <a:ext uri="{FF2B5EF4-FFF2-40B4-BE49-F238E27FC236}">
                  <a16:creationId xmlns:a16="http://schemas.microsoft.com/office/drawing/2014/main" id="{0B655FA0-F08E-419A-83F5-23E3ADA5A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66">
              <a:extLst>
                <a:ext uri="{FF2B5EF4-FFF2-40B4-BE49-F238E27FC236}">
                  <a16:creationId xmlns:a16="http://schemas.microsoft.com/office/drawing/2014/main" id="{AD8E9261-7E3D-4B22-9B39-8CC1D4F43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64">
              <a:extLst>
                <a:ext uri="{FF2B5EF4-FFF2-40B4-BE49-F238E27FC236}">
                  <a16:creationId xmlns:a16="http://schemas.microsoft.com/office/drawing/2014/main" id="{632485D7-A2AD-470C-BD26-EABCF63F9C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6">
              <a:extLst>
                <a:ext uri="{FF2B5EF4-FFF2-40B4-BE49-F238E27FC236}">
                  <a16:creationId xmlns:a16="http://schemas.microsoft.com/office/drawing/2014/main" id="{22BD4173-4E70-447E-9DFE-F4E5CB830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4">
              <a:extLst>
                <a:ext uri="{FF2B5EF4-FFF2-40B4-BE49-F238E27FC236}">
                  <a16:creationId xmlns:a16="http://schemas.microsoft.com/office/drawing/2014/main" id="{037F912F-356C-4A91-B15E-7A1D626E6D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6">
              <a:extLst>
                <a:ext uri="{FF2B5EF4-FFF2-40B4-BE49-F238E27FC236}">
                  <a16:creationId xmlns:a16="http://schemas.microsoft.com/office/drawing/2014/main" id="{49B3E584-4770-448C-AEA7-2CEE9F85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4">
              <a:extLst>
                <a:ext uri="{FF2B5EF4-FFF2-40B4-BE49-F238E27FC236}">
                  <a16:creationId xmlns:a16="http://schemas.microsoft.com/office/drawing/2014/main" id="{BB0DAED8-C4B6-4A57-9196-B11759865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6">
              <a:extLst>
                <a:ext uri="{FF2B5EF4-FFF2-40B4-BE49-F238E27FC236}">
                  <a16:creationId xmlns:a16="http://schemas.microsoft.com/office/drawing/2014/main" id="{72B27AFA-86A5-4FB9-9FE1-33E250396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4">
              <a:extLst>
                <a:ext uri="{FF2B5EF4-FFF2-40B4-BE49-F238E27FC236}">
                  <a16:creationId xmlns:a16="http://schemas.microsoft.com/office/drawing/2014/main" id="{655899FB-5538-4E4C-B95A-D3BA49BBD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6">
              <a:extLst>
                <a:ext uri="{FF2B5EF4-FFF2-40B4-BE49-F238E27FC236}">
                  <a16:creationId xmlns:a16="http://schemas.microsoft.com/office/drawing/2014/main" id="{885694C0-F226-4392-885A-1056B163F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4">
              <a:extLst>
                <a:ext uri="{FF2B5EF4-FFF2-40B4-BE49-F238E27FC236}">
                  <a16:creationId xmlns:a16="http://schemas.microsoft.com/office/drawing/2014/main" id="{483E3282-BB58-46D8-BB45-F7F2DBCCF1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6">
              <a:extLst>
                <a:ext uri="{FF2B5EF4-FFF2-40B4-BE49-F238E27FC236}">
                  <a16:creationId xmlns:a16="http://schemas.microsoft.com/office/drawing/2014/main" id="{402E8DFE-1141-4DAF-AB0C-A74CC0EFD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4">
              <a:extLst>
                <a:ext uri="{FF2B5EF4-FFF2-40B4-BE49-F238E27FC236}">
                  <a16:creationId xmlns:a16="http://schemas.microsoft.com/office/drawing/2014/main" id="{B261BAA8-8B84-4751-80F6-9153C68F2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6">
              <a:extLst>
                <a:ext uri="{FF2B5EF4-FFF2-40B4-BE49-F238E27FC236}">
                  <a16:creationId xmlns:a16="http://schemas.microsoft.com/office/drawing/2014/main" id="{10FB8389-B4B0-4276-A6EB-5535937738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4">
              <a:extLst>
                <a:ext uri="{FF2B5EF4-FFF2-40B4-BE49-F238E27FC236}">
                  <a16:creationId xmlns:a16="http://schemas.microsoft.com/office/drawing/2014/main" id="{7E496AA7-168D-4B53-A954-31C3A61C22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6">
              <a:extLst>
                <a:ext uri="{FF2B5EF4-FFF2-40B4-BE49-F238E27FC236}">
                  <a16:creationId xmlns:a16="http://schemas.microsoft.com/office/drawing/2014/main" id="{E0223324-6476-4A1F-B26F-77CB4E5AA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4">
              <a:extLst>
                <a:ext uri="{FF2B5EF4-FFF2-40B4-BE49-F238E27FC236}">
                  <a16:creationId xmlns:a16="http://schemas.microsoft.com/office/drawing/2014/main" id="{81E2E8B6-2216-47C5-A3C2-1DBAD819E3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6">
              <a:extLst>
                <a:ext uri="{FF2B5EF4-FFF2-40B4-BE49-F238E27FC236}">
                  <a16:creationId xmlns:a16="http://schemas.microsoft.com/office/drawing/2014/main" id="{9A0ABF1C-7928-4DD3-B9A6-6B5995997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4">
              <a:extLst>
                <a:ext uri="{FF2B5EF4-FFF2-40B4-BE49-F238E27FC236}">
                  <a16:creationId xmlns:a16="http://schemas.microsoft.com/office/drawing/2014/main" id="{8D1F42DA-9F6E-477D-B3BB-92EC089DBC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6">
              <a:extLst>
                <a:ext uri="{FF2B5EF4-FFF2-40B4-BE49-F238E27FC236}">
                  <a16:creationId xmlns:a16="http://schemas.microsoft.com/office/drawing/2014/main" id="{9457FA40-677B-4BAA-BF89-253A485DD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D6C80E47-971C-437F-B030-191115B01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33984"/>
            <a:ext cx="606971"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title="Animation of `Oumuamua outgassing and rotating">
            <a:hlinkClick r:id="" action="ppaction://media"/>
            <a:extLst>
              <a:ext uri="{FF2B5EF4-FFF2-40B4-BE49-F238E27FC236}">
                <a16:creationId xmlns:a16="http://schemas.microsoft.com/office/drawing/2014/main" id="{38070758-2CCF-FACC-FD5B-DE7F21382F65}"/>
              </a:ext>
            </a:extLst>
          </p:cNvPr>
          <p:cNvPicPr>
            <a:picLocks noRot="1" noChangeAspect="1"/>
          </p:cNvPicPr>
          <p:nvPr>
            <a:videoFile r:link="rId1"/>
          </p:nvPr>
        </p:nvPicPr>
        <p:blipFill>
          <a:blip r:embed="rId3"/>
          <a:stretch>
            <a:fillRect/>
          </a:stretch>
        </p:blipFill>
        <p:spPr>
          <a:xfrm>
            <a:off x="885814" y="3497267"/>
            <a:ext cx="5491019" cy="3102428"/>
          </a:xfrm>
          <a:prstGeom prst="rect">
            <a:avLst/>
          </a:prstGeom>
        </p:spPr>
      </p:pic>
      <p:sp>
        <p:nvSpPr>
          <p:cNvPr id="3" name="Content Placeholder 2">
            <a:extLst>
              <a:ext uri="{FF2B5EF4-FFF2-40B4-BE49-F238E27FC236}">
                <a16:creationId xmlns:a16="http://schemas.microsoft.com/office/drawing/2014/main" id="{16B1E802-1BD1-3C90-9A35-CD2CA3D9E76C}"/>
              </a:ext>
            </a:extLst>
          </p:cNvPr>
          <p:cNvSpPr>
            <a:spLocks noGrp="1"/>
          </p:cNvSpPr>
          <p:nvPr>
            <p:ph idx="1"/>
          </p:nvPr>
        </p:nvSpPr>
        <p:spPr>
          <a:xfrm>
            <a:off x="7169101" y="521207"/>
            <a:ext cx="4496426" cy="5957789"/>
          </a:xfrm>
        </p:spPr>
        <p:txBody>
          <a:bodyPr anchor="ctr">
            <a:normAutofit/>
          </a:bodyPr>
          <a:lstStyle/>
          <a:p>
            <a:r>
              <a:rPr lang="en-US" sz="2200"/>
              <a:t>Volcanoes expel water, carbon dioxide, molecular nitrogen, hydrogen sulfide and sulfur dioxide</a:t>
            </a:r>
          </a:p>
        </p:txBody>
      </p:sp>
    </p:spTree>
    <p:extLst>
      <p:ext uri="{BB962C8B-B14F-4D97-AF65-F5344CB8AC3E}">
        <p14:creationId xmlns:p14="http://schemas.microsoft.com/office/powerpoint/2010/main" val="363914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3" name="Rectangle 9222">
            <a:extLst>
              <a:ext uri="{FF2B5EF4-FFF2-40B4-BE49-F238E27FC236}">
                <a16:creationId xmlns:a16="http://schemas.microsoft.com/office/drawing/2014/main" id="{AB45A142-4255-493C-8284-5D566C121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602A7-7F6E-9113-9959-B37FF8849984}"/>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100" kern="1200">
                <a:solidFill>
                  <a:srgbClr val="FFFFFF"/>
                </a:solidFill>
                <a:latin typeface="+mj-lt"/>
                <a:ea typeface="+mj-ea"/>
                <a:cs typeface="+mj-cs"/>
              </a:rPr>
              <a:t>EVAPORATION AND SUBLIMINATION</a:t>
            </a:r>
          </a:p>
        </p:txBody>
      </p:sp>
      <p:sp>
        <p:nvSpPr>
          <p:cNvPr id="3" name="Content Placeholder 2">
            <a:extLst>
              <a:ext uri="{FF2B5EF4-FFF2-40B4-BE49-F238E27FC236}">
                <a16:creationId xmlns:a16="http://schemas.microsoft.com/office/drawing/2014/main" id="{35B12D9A-4BAE-772A-DDDD-FD5763CF4B93}"/>
              </a:ext>
            </a:extLst>
          </p:cNvPr>
          <p:cNvSpPr>
            <a:spLocks noGrp="1"/>
          </p:cNvSpPr>
          <p:nvPr>
            <p:ph idx="1"/>
          </p:nvPr>
        </p:nvSpPr>
        <p:spPr>
          <a:xfrm>
            <a:off x="674237" y="4170501"/>
            <a:ext cx="3657600" cy="1525597"/>
          </a:xfrm>
        </p:spPr>
        <p:txBody>
          <a:bodyPr vert="horz" lIns="91440" tIns="45720" rIns="91440" bIns="45720" rtlCol="0">
            <a:normAutofit/>
          </a:bodyPr>
          <a:lstStyle/>
          <a:p>
            <a:pPr marL="0" indent="0" algn="ctr">
              <a:buNone/>
            </a:pPr>
            <a:r>
              <a:rPr lang="en-US" sz="2000" kern="1200">
                <a:solidFill>
                  <a:srgbClr val="FFFFFF"/>
                </a:solidFill>
                <a:latin typeface="+mn-lt"/>
                <a:ea typeface="+mn-ea"/>
                <a:cs typeface="+mn-cs"/>
              </a:rPr>
              <a:t>Surface material are released into the atmosphere</a:t>
            </a:r>
          </a:p>
        </p:txBody>
      </p:sp>
      <p:cxnSp>
        <p:nvCxnSpPr>
          <p:cNvPr id="9225" name="Straight Connector 9224">
            <a:extLst>
              <a:ext uri="{FF2B5EF4-FFF2-40B4-BE49-F238E27FC236}">
                <a16:creationId xmlns:a16="http://schemas.microsoft.com/office/drawing/2014/main" id="{38FB9660-F42F-4313-BBC4-47C007FE4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9218" name="Picture 2" descr="See the source image">
            <a:extLst>
              <a:ext uri="{FF2B5EF4-FFF2-40B4-BE49-F238E27FC236}">
                <a16:creationId xmlns:a16="http://schemas.microsoft.com/office/drawing/2014/main" id="{53DE1D60-B803-2C7D-E80A-7009BB015DB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53822" y="975392"/>
            <a:ext cx="6553545" cy="4915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388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See the source image">
            <a:extLst>
              <a:ext uri="{FF2B5EF4-FFF2-40B4-BE49-F238E27FC236}">
                <a16:creationId xmlns:a16="http://schemas.microsoft.com/office/drawing/2014/main" id="{8F51C5DD-8BF6-B036-E410-F2CB90700A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67"/>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10249" name="Rectangle 10248">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602A7-7F6E-9113-9959-B37FF8849984}"/>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BOMBARDMENT</a:t>
            </a:r>
          </a:p>
        </p:txBody>
      </p:sp>
      <p:sp>
        <p:nvSpPr>
          <p:cNvPr id="3" name="Content Placeholder 2">
            <a:extLst>
              <a:ext uri="{FF2B5EF4-FFF2-40B4-BE49-F238E27FC236}">
                <a16:creationId xmlns:a16="http://schemas.microsoft.com/office/drawing/2014/main" id="{35B12D9A-4BAE-772A-DDDD-FD5763CF4B93}"/>
              </a:ext>
            </a:extLst>
          </p:cNvPr>
          <p:cNvSpPr>
            <a:spLocks noGrp="1"/>
          </p:cNvSpPr>
          <p:nvPr>
            <p:ph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pPr marL="0" indent="0" algn="ctr">
              <a:buNone/>
            </a:pPr>
            <a:r>
              <a:rPr lang="en-US" sz="2400">
                <a:solidFill>
                  <a:srgbClr val="FFFFFF"/>
                </a:solidFill>
              </a:rPr>
              <a:t>Surface materials are vaporized by comets and asteroids</a:t>
            </a:r>
          </a:p>
        </p:txBody>
      </p:sp>
    </p:spTree>
    <p:extLst>
      <p:ext uri="{BB962C8B-B14F-4D97-AF65-F5344CB8AC3E}">
        <p14:creationId xmlns:p14="http://schemas.microsoft.com/office/powerpoint/2010/main" val="5835702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See the source image">
            <a:extLst>
              <a:ext uri="{FF2B5EF4-FFF2-40B4-BE49-F238E27FC236}">
                <a16:creationId xmlns:a16="http://schemas.microsoft.com/office/drawing/2014/main" id="{90F35689-7410-6269-2F12-FF2775D912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85" r="-1" b="-1"/>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11273" name="Rectangle 1127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7811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3122-7CD1-391A-10E7-A8A4F915A445}"/>
              </a:ext>
            </a:extLst>
          </p:cNvPr>
          <p:cNvSpPr>
            <a:spLocks noGrp="1"/>
          </p:cNvSpPr>
          <p:nvPr>
            <p:ph type="title"/>
          </p:nvPr>
        </p:nvSpPr>
        <p:spPr/>
        <p:txBody>
          <a:bodyPr/>
          <a:lstStyle/>
          <a:p>
            <a:r>
              <a:rPr lang="en-US" dirty="0"/>
              <a:t>PLANETARY ATMSOPHERIC PARAMETERS</a:t>
            </a:r>
          </a:p>
        </p:txBody>
      </p:sp>
      <p:graphicFrame>
        <p:nvGraphicFramePr>
          <p:cNvPr id="3" name="Object 2">
            <a:extLst>
              <a:ext uri="{FF2B5EF4-FFF2-40B4-BE49-F238E27FC236}">
                <a16:creationId xmlns:a16="http://schemas.microsoft.com/office/drawing/2014/main" id="{82A8A11B-BE31-4BEA-37C8-B9548E0CF255}"/>
              </a:ext>
            </a:extLst>
          </p:cNvPr>
          <p:cNvGraphicFramePr>
            <a:graphicFrameLocks noChangeAspect="1"/>
          </p:cNvGraphicFramePr>
          <p:nvPr>
            <p:extLst>
              <p:ext uri="{D42A27DB-BD31-4B8C-83A1-F6EECF244321}">
                <p14:modId xmlns:p14="http://schemas.microsoft.com/office/powerpoint/2010/main" val="3009699089"/>
              </p:ext>
            </p:extLst>
          </p:nvPr>
        </p:nvGraphicFramePr>
        <p:xfrm>
          <a:off x="1445618" y="1748667"/>
          <a:ext cx="7903951" cy="4305130"/>
        </p:xfrm>
        <a:graphic>
          <a:graphicData uri="http://schemas.openxmlformats.org/presentationml/2006/ole">
            <mc:AlternateContent xmlns:mc="http://schemas.openxmlformats.org/markup-compatibility/2006">
              <mc:Choice xmlns:v="urn:schemas-microsoft-com:vml" Requires="v">
                <p:oleObj name="Bitmap Image" r:id="rId2" imgW="3357720" imgH="1828800" progId="Paint.Picture">
                  <p:embed/>
                </p:oleObj>
              </mc:Choice>
              <mc:Fallback>
                <p:oleObj name="Bitmap Image" r:id="rId2" imgW="3357720" imgH="1828800" progId="Paint.Picture">
                  <p:embed/>
                  <p:pic>
                    <p:nvPicPr>
                      <p:cNvPr id="3" name="Object 2">
                        <a:extLst>
                          <a:ext uri="{FF2B5EF4-FFF2-40B4-BE49-F238E27FC236}">
                            <a16:creationId xmlns:a16="http://schemas.microsoft.com/office/drawing/2014/main" id="{82A8A11B-BE31-4BEA-37C8-B9548E0CF255}"/>
                          </a:ext>
                        </a:extLst>
                      </p:cNvPr>
                      <p:cNvPicPr/>
                      <p:nvPr/>
                    </p:nvPicPr>
                    <p:blipFill>
                      <a:blip r:embed="rId3"/>
                      <a:stretch>
                        <a:fillRect/>
                      </a:stretch>
                    </p:blipFill>
                    <p:spPr>
                      <a:xfrm>
                        <a:off x="1445618" y="1748667"/>
                        <a:ext cx="7903951" cy="4305130"/>
                      </a:xfrm>
                      <a:prstGeom prst="rect">
                        <a:avLst/>
                      </a:prstGeom>
                    </p:spPr>
                  </p:pic>
                </p:oleObj>
              </mc:Fallback>
            </mc:AlternateContent>
          </a:graphicData>
        </a:graphic>
      </p:graphicFrame>
    </p:spTree>
    <p:extLst>
      <p:ext uri="{BB962C8B-B14F-4D97-AF65-F5344CB8AC3E}">
        <p14:creationId xmlns:p14="http://schemas.microsoft.com/office/powerpoint/2010/main" val="3072429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8CE24-C181-2B5C-4801-63CE95A907FD}"/>
              </a:ext>
            </a:extLst>
          </p:cNvPr>
          <p:cNvSpPr>
            <a:spLocks noGrp="1"/>
          </p:cNvSpPr>
          <p:nvPr>
            <p:ph type="title"/>
          </p:nvPr>
        </p:nvSpPr>
        <p:spPr/>
        <p:txBody>
          <a:bodyPr/>
          <a:lstStyle/>
          <a:p>
            <a:pPr algn="ctr"/>
            <a:r>
              <a:rPr lang="en-US" dirty="0"/>
              <a:t>ATOMIC OXYGEN</a:t>
            </a:r>
          </a:p>
        </p:txBody>
      </p:sp>
      <p:graphicFrame>
        <p:nvGraphicFramePr>
          <p:cNvPr id="3" name="Object 2">
            <a:extLst>
              <a:ext uri="{FF2B5EF4-FFF2-40B4-BE49-F238E27FC236}">
                <a16:creationId xmlns:a16="http://schemas.microsoft.com/office/drawing/2014/main" id="{12732EB8-A295-22FE-9B3F-E500D3DC81D2}"/>
              </a:ext>
            </a:extLst>
          </p:cNvPr>
          <p:cNvGraphicFramePr>
            <a:graphicFrameLocks noChangeAspect="1"/>
          </p:cNvGraphicFramePr>
          <p:nvPr>
            <p:extLst>
              <p:ext uri="{D42A27DB-BD31-4B8C-83A1-F6EECF244321}">
                <p14:modId xmlns:p14="http://schemas.microsoft.com/office/powerpoint/2010/main" val="232351649"/>
              </p:ext>
            </p:extLst>
          </p:nvPr>
        </p:nvGraphicFramePr>
        <p:xfrm>
          <a:off x="1589625" y="1795975"/>
          <a:ext cx="8378868" cy="4514020"/>
        </p:xfrm>
        <a:graphic>
          <a:graphicData uri="http://schemas.openxmlformats.org/presentationml/2006/ole">
            <mc:AlternateContent xmlns:mc="http://schemas.openxmlformats.org/markup-compatibility/2006">
              <mc:Choice xmlns:v="urn:schemas-microsoft-com:vml" Requires="v">
                <p:oleObj name="Bitmap Image" r:id="rId3" imgW="2643120" imgH="1424160" progId="Paint.Picture">
                  <p:embed/>
                </p:oleObj>
              </mc:Choice>
              <mc:Fallback>
                <p:oleObj name="Bitmap Image" r:id="rId3" imgW="2643120" imgH="1424160" progId="Paint.Picture">
                  <p:embed/>
                  <p:pic>
                    <p:nvPicPr>
                      <p:cNvPr id="3" name="Object 2">
                        <a:extLst>
                          <a:ext uri="{FF2B5EF4-FFF2-40B4-BE49-F238E27FC236}">
                            <a16:creationId xmlns:a16="http://schemas.microsoft.com/office/drawing/2014/main" id="{12732EB8-A295-22FE-9B3F-E500D3DC81D2}"/>
                          </a:ext>
                        </a:extLst>
                      </p:cNvPr>
                      <p:cNvPicPr/>
                      <p:nvPr/>
                    </p:nvPicPr>
                    <p:blipFill>
                      <a:blip r:embed="rId4"/>
                      <a:stretch>
                        <a:fillRect/>
                      </a:stretch>
                    </p:blipFill>
                    <p:spPr>
                      <a:xfrm>
                        <a:off x="1589625" y="1795975"/>
                        <a:ext cx="8378868" cy="4514020"/>
                      </a:xfrm>
                      <a:prstGeom prst="rect">
                        <a:avLst/>
                      </a:prstGeom>
                    </p:spPr>
                  </p:pic>
                </p:oleObj>
              </mc:Fallback>
            </mc:AlternateContent>
          </a:graphicData>
        </a:graphic>
      </p:graphicFrame>
    </p:spTree>
    <p:extLst>
      <p:ext uri="{BB962C8B-B14F-4D97-AF65-F5344CB8AC3E}">
        <p14:creationId xmlns:p14="http://schemas.microsoft.com/office/powerpoint/2010/main" val="4128652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62EAA4C-E6EE-4F33-95B9-6806DD3708F1}"/>
              </a:ext>
            </a:extLst>
          </p:cNvPr>
          <p:cNvSpPr>
            <a:spLocks noGrp="1" noChangeArrowheads="1"/>
          </p:cNvSpPr>
          <p:nvPr>
            <p:ph type="title"/>
          </p:nvPr>
        </p:nvSpPr>
        <p:spPr>
          <a:xfrm>
            <a:off x="1865314" y="535525"/>
            <a:ext cx="8547100" cy="762000"/>
          </a:xfrm>
        </p:spPr>
        <p:txBody>
          <a:bodyPr/>
          <a:lstStyle/>
          <a:p>
            <a:pPr>
              <a:defRPr/>
            </a:pPr>
            <a:r>
              <a:rPr lang="en-US" altLang="en-US" sz="2400" dirty="0"/>
              <a:t>Atmospheric Neutral Environment</a:t>
            </a:r>
            <a:endParaRPr lang="en-US" altLang="en-US" dirty="0"/>
          </a:p>
        </p:txBody>
      </p:sp>
      <p:sp>
        <p:nvSpPr>
          <p:cNvPr id="28675" name="Rectangle 3">
            <a:extLst>
              <a:ext uri="{FF2B5EF4-FFF2-40B4-BE49-F238E27FC236}">
                <a16:creationId xmlns:a16="http://schemas.microsoft.com/office/drawing/2014/main" id="{C72CBF0C-CD84-4197-B31C-1D77D46EDF54}"/>
              </a:ext>
            </a:extLst>
          </p:cNvPr>
          <p:cNvSpPr>
            <a:spLocks noChangeArrowheads="1"/>
          </p:cNvSpPr>
          <p:nvPr/>
        </p:nvSpPr>
        <p:spPr bwMode="auto">
          <a:xfrm>
            <a:off x="1371492" y="1740831"/>
            <a:ext cx="8855075" cy="559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50000"/>
              </a:spcBef>
              <a:buFontTx/>
              <a:buChar char="•"/>
              <a:defRPr/>
            </a:pPr>
            <a:r>
              <a:rPr lang="en-US" altLang="en-US" sz="2000" dirty="0">
                <a:latin typeface="Arial" charset="0"/>
              </a:rPr>
              <a:t>Atomic Oxygen Attack:</a:t>
            </a:r>
          </a:p>
          <a:p>
            <a:pPr lvl="1">
              <a:spcBef>
                <a:spcPct val="10000"/>
              </a:spcBef>
              <a:buFontTx/>
              <a:buChar char="–"/>
              <a:defRPr/>
            </a:pPr>
            <a:r>
              <a:rPr lang="en-US" altLang="en-US" sz="2000" dirty="0">
                <a:latin typeface="Arial" charset="0"/>
              </a:rPr>
              <a:t>Atomic oxygen is the predominant atmospheric constituent from 200 km to 600 km and reacts chemically with surface materials</a:t>
            </a:r>
          </a:p>
          <a:p>
            <a:pPr lvl="1">
              <a:spcBef>
                <a:spcPct val="10000"/>
              </a:spcBef>
              <a:buFontTx/>
              <a:buChar char="–"/>
              <a:defRPr/>
            </a:pPr>
            <a:r>
              <a:rPr lang="en-US" altLang="en-US" sz="2000" dirty="0">
                <a:latin typeface="Arial" charset="0"/>
              </a:rPr>
              <a:t>Leads to solar array degradation, thermal property changes, and structural weakening</a:t>
            </a:r>
          </a:p>
        </p:txBody>
      </p:sp>
      <p:sp>
        <p:nvSpPr>
          <p:cNvPr id="2" name="Slide Number Placeholder 1">
            <a:extLst>
              <a:ext uri="{FF2B5EF4-FFF2-40B4-BE49-F238E27FC236}">
                <a16:creationId xmlns:a16="http://schemas.microsoft.com/office/drawing/2014/main" id="{54478A50-D790-482F-BE8A-B8B973344A72}"/>
              </a:ext>
            </a:extLst>
          </p:cNvPr>
          <p:cNvSpPr>
            <a:spLocks noGrp="1"/>
          </p:cNvSpPr>
          <p:nvPr>
            <p:ph type="sldNum" sz="quarter" idx="12"/>
          </p:nvPr>
        </p:nvSpPr>
        <p:spPr/>
        <p:txBody>
          <a:bodyPr/>
          <a:lstStyle/>
          <a:p>
            <a:fld id="{C83C362F-97FB-4C1E-B0F0-C3069DD0CDD1}" type="slidenum">
              <a:rPr lang="en-US" smtClean="0"/>
              <a:t>38</a:t>
            </a:fld>
            <a:endParaRPr lang="en-US"/>
          </a:p>
        </p:txBody>
      </p:sp>
      <p:grpSp>
        <p:nvGrpSpPr>
          <p:cNvPr id="23" name="Group 23">
            <a:extLst>
              <a:ext uri="{FF2B5EF4-FFF2-40B4-BE49-F238E27FC236}">
                <a16:creationId xmlns:a16="http://schemas.microsoft.com/office/drawing/2014/main" id="{85FE115C-5AFB-4E8D-A188-E450DED34F47}"/>
              </a:ext>
            </a:extLst>
          </p:cNvPr>
          <p:cNvGrpSpPr>
            <a:grpSpLocks/>
          </p:cNvGrpSpPr>
          <p:nvPr/>
        </p:nvGrpSpPr>
        <p:grpSpPr bwMode="auto">
          <a:xfrm>
            <a:off x="5645162" y="4571009"/>
            <a:ext cx="5067300" cy="1090613"/>
            <a:chOff x="1468" y="1856"/>
            <a:chExt cx="3192" cy="687"/>
          </a:xfrm>
        </p:grpSpPr>
        <p:graphicFrame>
          <p:nvGraphicFramePr>
            <p:cNvPr id="24" name="Object 5">
              <a:extLst>
                <a:ext uri="{FF2B5EF4-FFF2-40B4-BE49-F238E27FC236}">
                  <a16:creationId xmlns:a16="http://schemas.microsoft.com/office/drawing/2014/main" id="{8109D479-05BC-4AF3-8C23-1B9BAE64EFBA}"/>
                </a:ext>
              </a:extLst>
            </p:cNvPr>
            <p:cNvGraphicFramePr>
              <a:graphicFrameLocks/>
            </p:cNvGraphicFramePr>
            <p:nvPr/>
          </p:nvGraphicFramePr>
          <p:xfrm>
            <a:off x="1983" y="2089"/>
            <a:ext cx="1678" cy="193"/>
          </p:xfrm>
          <a:graphic>
            <a:graphicData uri="http://schemas.openxmlformats.org/presentationml/2006/ole">
              <mc:AlternateContent xmlns:mc="http://schemas.openxmlformats.org/markup-compatibility/2006">
                <mc:Choice xmlns:v="urn:schemas-microsoft-com:vml" Requires="v">
                  <p:oleObj name="Equation" r:id="rId3" imgW="1307532" imgH="203112" progId="Equation.3">
                    <p:embed/>
                  </p:oleObj>
                </mc:Choice>
                <mc:Fallback>
                  <p:oleObj name="Equation" r:id="rId3" imgW="1307532" imgH="203112" progId="Equation.3">
                    <p:embed/>
                    <p:pic>
                      <p:nvPicPr>
                        <p:cNvPr id="24" name="Object 5">
                          <a:extLst>
                            <a:ext uri="{FF2B5EF4-FFF2-40B4-BE49-F238E27FC236}">
                              <a16:creationId xmlns:a16="http://schemas.microsoft.com/office/drawing/2014/main" id="{8109D479-05BC-4AF3-8C23-1B9BAE64EFB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3" y="2089"/>
                          <a:ext cx="1678"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5" name="Rectangle 6">
              <a:extLst>
                <a:ext uri="{FF2B5EF4-FFF2-40B4-BE49-F238E27FC236}">
                  <a16:creationId xmlns:a16="http://schemas.microsoft.com/office/drawing/2014/main" id="{0429600B-AC14-41A8-A8A2-D2E8F2CA6FE6}"/>
                </a:ext>
              </a:extLst>
            </p:cNvPr>
            <p:cNvSpPr>
              <a:spLocks noChangeArrowheads="1"/>
            </p:cNvSpPr>
            <p:nvPr/>
          </p:nvSpPr>
          <p:spPr bwMode="auto">
            <a:xfrm>
              <a:off x="3280" y="1856"/>
              <a:ext cx="1068"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200">
                  <a:latin typeface="Arial" charset="0"/>
                </a:rPr>
                <a:t>reaction efficiency</a:t>
              </a:r>
              <a:endParaRPr lang="en-US" altLang="en-US" sz="1600">
                <a:latin typeface="Arial" charset="0"/>
              </a:endParaRPr>
            </a:p>
          </p:txBody>
        </p:sp>
        <p:sp>
          <p:nvSpPr>
            <p:cNvPr id="26" name="Rectangle 7">
              <a:extLst>
                <a:ext uri="{FF2B5EF4-FFF2-40B4-BE49-F238E27FC236}">
                  <a16:creationId xmlns:a16="http://schemas.microsoft.com/office/drawing/2014/main" id="{6602F1B2-E728-40F4-832C-716B34511206}"/>
                </a:ext>
              </a:extLst>
            </p:cNvPr>
            <p:cNvSpPr>
              <a:spLocks noChangeArrowheads="1"/>
            </p:cNvSpPr>
            <p:nvPr/>
          </p:nvSpPr>
          <p:spPr bwMode="auto">
            <a:xfrm>
              <a:off x="1468" y="2305"/>
              <a:ext cx="1068"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200">
                  <a:latin typeface="Arial" charset="0"/>
                </a:rPr>
                <a:t>material density</a:t>
              </a:r>
            </a:p>
          </p:txBody>
        </p:sp>
        <p:sp>
          <p:nvSpPr>
            <p:cNvPr id="27" name="Rectangle 8">
              <a:extLst>
                <a:ext uri="{FF2B5EF4-FFF2-40B4-BE49-F238E27FC236}">
                  <a16:creationId xmlns:a16="http://schemas.microsoft.com/office/drawing/2014/main" id="{A052CBDA-A3AD-4ADD-B7CA-00505BF386D0}"/>
                </a:ext>
              </a:extLst>
            </p:cNvPr>
            <p:cNvSpPr>
              <a:spLocks noChangeArrowheads="1"/>
            </p:cNvSpPr>
            <p:nvPr/>
          </p:nvSpPr>
          <p:spPr bwMode="auto">
            <a:xfrm>
              <a:off x="3592" y="2368"/>
              <a:ext cx="1068"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200">
                  <a:latin typeface="Arial" charset="0"/>
                </a:rPr>
                <a:t>atomic oxygen flux</a:t>
              </a:r>
            </a:p>
          </p:txBody>
        </p:sp>
        <p:sp>
          <p:nvSpPr>
            <p:cNvPr id="28" name="Line 9">
              <a:extLst>
                <a:ext uri="{FF2B5EF4-FFF2-40B4-BE49-F238E27FC236}">
                  <a16:creationId xmlns:a16="http://schemas.microsoft.com/office/drawing/2014/main" id="{2FF9E6AA-8325-4B42-8D82-800E3F312E78}"/>
                </a:ext>
              </a:extLst>
            </p:cNvPr>
            <p:cNvSpPr>
              <a:spLocks noChangeShapeType="1"/>
            </p:cNvSpPr>
            <p:nvPr/>
          </p:nvSpPr>
          <p:spPr bwMode="auto">
            <a:xfrm flipH="1" flipV="1">
              <a:off x="3077" y="2293"/>
              <a:ext cx="523" cy="148"/>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9" name="Line 10">
              <a:extLst>
                <a:ext uri="{FF2B5EF4-FFF2-40B4-BE49-F238E27FC236}">
                  <a16:creationId xmlns:a16="http://schemas.microsoft.com/office/drawing/2014/main" id="{3D8D3691-1493-45C5-8402-7D4B69664681}"/>
                </a:ext>
              </a:extLst>
            </p:cNvPr>
            <p:cNvSpPr>
              <a:spLocks noChangeShapeType="1"/>
            </p:cNvSpPr>
            <p:nvPr/>
          </p:nvSpPr>
          <p:spPr bwMode="auto">
            <a:xfrm flipV="1">
              <a:off x="2251" y="2243"/>
              <a:ext cx="224" cy="135"/>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30" name="Line 11">
              <a:extLst>
                <a:ext uri="{FF2B5EF4-FFF2-40B4-BE49-F238E27FC236}">
                  <a16:creationId xmlns:a16="http://schemas.microsoft.com/office/drawing/2014/main" id="{666FF5AA-8F4F-46A7-90CA-27BA13064F3C}"/>
                </a:ext>
              </a:extLst>
            </p:cNvPr>
            <p:cNvSpPr>
              <a:spLocks noChangeShapeType="1"/>
            </p:cNvSpPr>
            <p:nvPr/>
          </p:nvSpPr>
          <p:spPr bwMode="auto">
            <a:xfrm flipH="1">
              <a:off x="2809" y="1938"/>
              <a:ext cx="469" cy="141"/>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pSp>
      <p:pic>
        <p:nvPicPr>
          <p:cNvPr id="3109" name="Picture 37" descr="http://www.nasa.gov/sites/default/files/edshade.jpg">
            <a:extLst>
              <a:ext uri="{FF2B5EF4-FFF2-40B4-BE49-F238E27FC236}">
                <a16:creationId xmlns:a16="http://schemas.microsoft.com/office/drawing/2014/main" id="{1E4EB0FF-816B-4BA9-8939-855BDE3DA4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657600"/>
            <a:ext cx="4796897" cy="3200401"/>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
            <a:extLst>
              <a:ext uri="{FF2B5EF4-FFF2-40B4-BE49-F238E27FC236}">
                <a16:creationId xmlns:a16="http://schemas.microsoft.com/office/drawing/2014/main" id="{9B3E9601-05F1-4BF9-9DC3-52C374447057}"/>
              </a:ext>
            </a:extLst>
          </p:cNvPr>
          <p:cNvSpPr>
            <a:spLocks noChangeArrowheads="1"/>
          </p:cNvSpPr>
          <p:nvPr/>
        </p:nvSpPr>
        <p:spPr bwMode="auto">
          <a:xfrm>
            <a:off x="5984876" y="4061620"/>
            <a:ext cx="8855075" cy="559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lvl="1">
              <a:spcBef>
                <a:spcPct val="10000"/>
              </a:spcBef>
              <a:buFontTx/>
              <a:buChar char="–"/>
              <a:defRPr/>
            </a:pPr>
            <a:r>
              <a:rPr lang="en-US" altLang="en-US" sz="2000" dirty="0">
                <a:latin typeface="Arial" charset="0"/>
              </a:rPr>
              <a:t>Mass loss is:</a:t>
            </a:r>
          </a:p>
        </p:txBody>
      </p:sp>
    </p:spTree>
    <p:extLst>
      <p:ext uri="{BB962C8B-B14F-4D97-AF65-F5344CB8AC3E}">
        <p14:creationId xmlns:p14="http://schemas.microsoft.com/office/powerpoint/2010/main" val="85446496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CCE6A-8EC2-4FD6-940E-C43EA8B9F281}"/>
              </a:ext>
            </a:extLst>
          </p:cNvPr>
          <p:cNvSpPr>
            <a:spLocks noGrp="1"/>
          </p:cNvSpPr>
          <p:nvPr>
            <p:ph type="title"/>
          </p:nvPr>
        </p:nvSpPr>
        <p:spPr/>
        <p:txBody>
          <a:bodyPr/>
          <a:lstStyle/>
          <a:p>
            <a:r>
              <a:rPr lang="en-US" dirty="0"/>
              <a:t>Rate of change of thickness of material</a:t>
            </a:r>
          </a:p>
        </p:txBody>
      </p:sp>
      <p:pic>
        <p:nvPicPr>
          <p:cNvPr id="4" name="Picture 3">
            <a:extLst>
              <a:ext uri="{FF2B5EF4-FFF2-40B4-BE49-F238E27FC236}">
                <a16:creationId xmlns:a16="http://schemas.microsoft.com/office/drawing/2014/main" id="{70874F55-B658-4D68-BCEE-4452CF177C8A}"/>
              </a:ext>
            </a:extLst>
          </p:cNvPr>
          <p:cNvPicPr>
            <a:picLocks noChangeAspect="1"/>
          </p:cNvPicPr>
          <p:nvPr/>
        </p:nvPicPr>
        <p:blipFill>
          <a:blip r:embed="rId3"/>
          <a:stretch>
            <a:fillRect/>
          </a:stretch>
        </p:blipFill>
        <p:spPr>
          <a:xfrm>
            <a:off x="5960057" y="1276084"/>
            <a:ext cx="5393743" cy="5216791"/>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D8868A-E884-44C0-B976-FCE9BDCF6441}"/>
                  </a:ext>
                </a:extLst>
              </p:cNvPr>
              <p:cNvSpPr txBox="1"/>
              <p:nvPr/>
            </p:nvSpPr>
            <p:spPr>
              <a:xfrm>
                <a:off x="256032" y="3383895"/>
                <a:ext cx="5166360"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𝑑𝑥</m:t>
                      </m:r>
                      <m:r>
                        <a:rPr lang="en-US" sz="4000" b="0" i="1" smtClean="0">
                          <a:latin typeface="Cambria Math" panose="02040503050406030204" pitchFamily="18" charset="0"/>
                        </a:rPr>
                        <m:t>=</m:t>
                      </m:r>
                      <m:r>
                        <a:rPr lang="en-US" sz="4000" b="0" i="1" smtClean="0">
                          <a:latin typeface="Cambria Math" panose="02040503050406030204" pitchFamily="18" charset="0"/>
                        </a:rPr>
                        <m:t>𝑅𝐸</m:t>
                      </m:r>
                      <m:r>
                        <a:rPr lang="az-Cyrl-AZ" sz="4000" b="0" i="1" smtClean="0">
                          <a:latin typeface="Cambria Math" panose="02040503050406030204" pitchFamily="18" charset="0"/>
                        </a:rPr>
                        <m:t>ф</m:t>
                      </m:r>
                      <m:r>
                        <a:rPr lang="en-US" sz="4000" b="0" i="1" smtClean="0">
                          <a:latin typeface="Cambria Math" panose="02040503050406030204" pitchFamily="18" charset="0"/>
                        </a:rPr>
                        <m:t>𝑑𝑡</m:t>
                      </m:r>
                    </m:oMath>
                  </m:oMathPara>
                </a14:m>
                <a:endParaRPr lang="en-US" sz="4000" dirty="0"/>
              </a:p>
            </p:txBody>
          </p:sp>
        </mc:Choice>
        <mc:Fallback xmlns="">
          <p:sp>
            <p:nvSpPr>
              <p:cNvPr id="5" name="TextBox 4">
                <a:extLst>
                  <a:ext uri="{FF2B5EF4-FFF2-40B4-BE49-F238E27FC236}">
                    <a16:creationId xmlns:a16="http://schemas.microsoft.com/office/drawing/2014/main" id="{76D8868A-E884-44C0-B976-FCE9BDCF6441}"/>
                  </a:ext>
                </a:extLst>
              </p:cNvPr>
              <p:cNvSpPr txBox="1">
                <a:spLocks noRot="1" noChangeAspect="1" noMove="1" noResize="1" noEditPoints="1" noAdjustHandles="1" noChangeArrowheads="1" noChangeShapeType="1" noTextEdit="1"/>
              </p:cNvSpPr>
              <p:nvPr/>
            </p:nvSpPr>
            <p:spPr>
              <a:xfrm>
                <a:off x="256032" y="3383895"/>
                <a:ext cx="5166360" cy="70788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35104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1D5ED-C597-9C4E-2AAA-3747FC70182F}"/>
              </a:ext>
            </a:extLst>
          </p:cNvPr>
          <p:cNvSpPr>
            <a:spLocks noGrp="1"/>
          </p:cNvSpPr>
          <p:nvPr>
            <p:ph type="title"/>
          </p:nvPr>
        </p:nvSpPr>
        <p:spPr/>
        <p:txBody>
          <a:bodyPr/>
          <a:lstStyle/>
          <a:p>
            <a:pPr algn="ctr"/>
            <a:r>
              <a:rPr lang="en-US" dirty="0"/>
              <a:t>EXAMPLE</a:t>
            </a:r>
          </a:p>
        </p:txBody>
      </p:sp>
      <p:graphicFrame>
        <p:nvGraphicFramePr>
          <p:cNvPr id="3" name="Object 2">
            <a:extLst>
              <a:ext uri="{FF2B5EF4-FFF2-40B4-BE49-F238E27FC236}">
                <a16:creationId xmlns:a16="http://schemas.microsoft.com/office/drawing/2014/main" id="{F114F73A-AC9C-8AE3-DC62-27C2CB082926}"/>
              </a:ext>
            </a:extLst>
          </p:cNvPr>
          <p:cNvGraphicFramePr>
            <a:graphicFrameLocks noChangeAspect="1"/>
          </p:cNvGraphicFramePr>
          <p:nvPr>
            <p:extLst>
              <p:ext uri="{D42A27DB-BD31-4B8C-83A1-F6EECF244321}">
                <p14:modId xmlns:p14="http://schemas.microsoft.com/office/powerpoint/2010/main" val="2783289235"/>
              </p:ext>
            </p:extLst>
          </p:nvPr>
        </p:nvGraphicFramePr>
        <p:xfrm>
          <a:off x="1239838" y="1397001"/>
          <a:ext cx="10094101" cy="1522412"/>
        </p:xfrm>
        <a:graphic>
          <a:graphicData uri="http://schemas.openxmlformats.org/presentationml/2006/ole">
            <mc:AlternateContent xmlns:mc="http://schemas.openxmlformats.org/markup-compatibility/2006">
              <mc:Choice xmlns:v="urn:schemas-microsoft-com:vml" Requires="v">
                <p:oleObj name="Bitmap Image" r:id="rId2" imgW="6662880" imgH="1004760" progId="Paint.Picture">
                  <p:embed/>
                </p:oleObj>
              </mc:Choice>
              <mc:Fallback>
                <p:oleObj name="Bitmap Image" r:id="rId2" imgW="6662880" imgH="1004760" progId="Paint.Picture">
                  <p:embed/>
                  <p:pic>
                    <p:nvPicPr>
                      <p:cNvPr id="3" name="Object 2">
                        <a:extLst>
                          <a:ext uri="{FF2B5EF4-FFF2-40B4-BE49-F238E27FC236}">
                            <a16:creationId xmlns:a16="http://schemas.microsoft.com/office/drawing/2014/main" id="{F114F73A-AC9C-8AE3-DC62-27C2CB082926}"/>
                          </a:ext>
                        </a:extLst>
                      </p:cNvPr>
                      <p:cNvPicPr/>
                      <p:nvPr/>
                    </p:nvPicPr>
                    <p:blipFill>
                      <a:blip r:embed="rId3"/>
                      <a:stretch>
                        <a:fillRect/>
                      </a:stretch>
                    </p:blipFill>
                    <p:spPr>
                      <a:xfrm>
                        <a:off x="1239838" y="1397001"/>
                        <a:ext cx="10094101" cy="1522412"/>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5FA2D813-1AE9-5B46-18CC-C3E358220F54}"/>
              </a:ext>
            </a:extLst>
          </p:cNvPr>
          <p:cNvSpPr txBox="1"/>
          <p:nvPr/>
        </p:nvSpPr>
        <p:spPr>
          <a:xfrm>
            <a:off x="1712890" y="2820473"/>
            <a:ext cx="9040969" cy="646331"/>
          </a:xfrm>
          <a:prstGeom prst="rect">
            <a:avLst/>
          </a:prstGeom>
          <a:noFill/>
        </p:spPr>
        <p:txBody>
          <a:bodyPr wrap="square" rtlCol="0">
            <a:spAutoFit/>
          </a:bodyPr>
          <a:lstStyle/>
          <a:p>
            <a:r>
              <a:rPr lang="en-US" dirty="0"/>
              <a:t>If the Kapton panel has a thickness of 50 µm would the satellite deorbit first (with no orbital corrections) or would its panel erode first?</a:t>
            </a:r>
          </a:p>
        </p:txBody>
      </p:sp>
    </p:spTree>
    <p:extLst>
      <p:ext uri="{BB962C8B-B14F-4D97-AF65-F5344CB8AC3E}">
        <p14:creationId xmlns:p14="http://schemas.microsoft.com/office/powerpoint/2010/main" val="2253821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7B3ED-2EB7-DE39-5C15-33442B99661D}"/>
              </a:ext>
            </a:extLst>
          </p:cNvPr>
          <p:cNvSpPr>
            <a:spLocks noGrp="1"/>
          </p:cNvSpPr>
          <p:nvPr>
            <p:ph type="title"/>
          </p:nvPr>
        </p:nvSpPr>
        <p:spPr>
          <a:xfrm>
            <a:off x="528711" y="369814"/>
            <a:ext cx="10515600" cy="1325563"/>
          </a:xfrm>
        </p:spPr>
        <p:txBody>
          <a:bodyPr/>
          <a:lstStyle/>
          <a:p>
            <a:pPr algn="ctr"/>
            <a:r>
              <a:rPr lang="en-US" dirty="0"/>
              <a:t>HOMEWORK 3 PROBLEM 4</a:t>
            </a:r>
          </a:p>
        </p:txBody>
      </p:sp>
      <p:sp>
        <p:nvSpPr>
          <p:cNvPr id="4" name="TextBox 3">
            <a:extLst>
              <a:ext uri="{FF2B5EF4-FFF2-40B4-BE49-F238E27FC236}">
                <a16:creationId xmlns:a16="http://schemas.microsoft.com/office/drawing/2014/main" id="{AE08BB72-4BDB-789C-D82D-E1EB84754308}"/>
              </a:ext>
            </a:extLst>
          </p:cNvPr>
          <p:cNvSpPr txBox="1"/>
          <p:nvPr/>
        </p:nvSpPr>
        <p:spPr>
          <a:xfrm>
            <a:off x="2195848" y="1745087"/>
            <a:ext cx="7418231" cy="1561005"/>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4.  Determine the erosion depth per year of a Kapton panel of a spacecraft oriented in the RAM direction (the side that points in the direction of the satellite’s velocity vector) at an altitude of 450 km during low, medium, and high solar activity.  The atomic-oxygen number densities are 6 x 10</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6</a:t>
            </a:r>
            <a:r>
              <a:rPr lang="en-US" sz="1800" dirty="0">
                <a:effectLst/>
                <a:latin typeface="Calibri" panose="020F0502020204030204" pitchFamily="34" charset="0"/>
                <a:ea typeface="Calibri" panose="020F0502020204030204" pitchFamily="34" charset="0"/>
                <a:cs typeface="Times New Roman" panose="02020603050405020304" pitchFamily="18" charset="0"/>
              </a:rPr>
              <a:t>, 2 x 10</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7</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1 x 10</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8</a:t>
            </a:r>
            <a:r>
              <a:rPr lang="en-US" sz="1800" dirty="0">
                <a:effectLst/>
                <a:latin typeface="Calibri" panose="020F0502020204030204" pitchFamily="34" charset="0"/>
                <a:ea typeface="Calibri" panose="020F0502020204030204" pitchFamily="34" charset="0"/>
                <a:cs typeface="Times New Roman" panose="02020603050405020304" pitchFamily="18" charset="0"/>
              </a:rPr>
              <a:t> atoms/cm</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3</a:t>
            </a:r>
            <a:r>
              <a:rPr lang="en-US" sz="1800" dirty="0">
                <a:effectLst/>
                <a:latin typeface="Calibri" panose="020F0502020204030204" pitchFamily="34" charset="0"/>
                <a:ea typeface="Calibri" panose="020F0502020204030204" pitchFamily="34" charset="0"/>
                <a:cs typeface="Times New Roman" panose="02020603050405020304" pitchFamily="18" charset="0"/>
              </a:rPr>
              <a:t>, respectively.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0228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AA1F2-A435-BE87-BB16-CB5C771ADA41}"/>
              </a:ext>
            </a:extLst>
          </p:cNvPr>
          <p:cNvSpPr>
            <a:spLocks noGrp="1"/>
          </p:cNvSpPr>
          <p:nvPr>
            <p:ph type="title"/>
          </p:nvPr>
        </p:nvSpPr>
        <p:spPr/>
        <p:txBody>
          <a:bodyPr/>
          <a:lstStyle/>
          <a:p>
            <a:pPr algn="ctr"/>
            <a:r>
              <a:rPr lang="en-US" dirty="0"/>
              <a:t>QUANTIFYING THE EFFECTS</a:t>
            </a:r>
          </a:p>
        </p:txBody>
      </p:sp>
      <p:graphicFrame>
        <p:nvGraphicFramePr>
          <p:cNvPr id="3" name="Object 2">
            <a:extLst>
              <a:ext uri="{FF2B5EF4-FFF2-40B4-BE49-F238E27FC236}">
                <a16:creationId xmlns:a16="http://schemas.microsoft.com/office/drawing/2014/main" id="{7D5477FB-C8A9-297E-5124-3E2A6A2C1A96}"/>
              </a:ext>
            </a:extLst>
          </p:cNvPr>
          <p:cNvGraphicFramePr>
            <a:graphicFrameLocks noChangeAspect="1"/>
          </p:cNvGraphicFramePr>
          <p:nvPr>
            <p:extLst>
              <p:ext uri="{D42A27DB-BD31-4B8C-83A1-F6EECF244321}">
                <p14:modId xmlns:p14="http://schemas.microsoft.com/office/powerpoint/2010/main" val="4064090848"/>
              </p:ext>
            </p:extLst>
          </p:nvPr>
        </p:nvGraphicFramePr>
        <p:xfrm>
          <a:off x="6480359" y="2074222"/>
          <a:ext cx="5711641" cy="4418653"/>
        </p:xfrm>
        <a:graphic>
          <a:graphicData uri="http://schemas.openxmlformats.org/presentationml/2006/ole">
            <mc:AlternateContent xmlns:mc="http://schemas.openxmlformats.org/markup-compatibility/2006">
              <mc:Choice xmlns:v="urn:schemas-microsoft-com:vml" Requires="v">
                <p:oleObj name="Bitmap Image" r:id="rId2" imgW="2419200" imgH="1871640" progId="Paint.Picture">
                  <p:embed/>
                </p:oleObj>
              </mc:Choice>
              <mc:Fallback>
                <p:oleObj name="Bitmap Image" r:id="rId2" imgW="2419200" imgH="1871640" progId="Paint.Picture">
                  <p:embed/>
                  <p:pic>
                    <p:nvPicPr>
                      <p:cNvPr id="3" name="Object 2">
                        <a:extLst>
                          <a:ext uri="{FF2B5EF4-FFF2-40B4-BE49-F238E27FC236}">
                            <a16:creationId xmlns:a16="http://schemas.microsoft.com/office/drawing/2014/main" id="{7D5477FB-C8A9-297E-5124-3E2A6A2C1A96}"/>
                          </a:ext>
                        </a:extLst>
                      </p:cNvPr>
                      <p:cNvPicPr/>
                      <p:nvPr/>
                    </p:nvPicPr>
                    <p:blipFill>
                      <a:blip r:embed="rId3"/>
                      <a:stretch>
                        <a:fillRect/>
                      </a:stretch>
                    </p:blipFill>
                    <p:spPr>
                      <a:xfrm>
                        <a:off x="6480359" y="2074222"/>
                        <a:ext cx="5711641" cy="4418653"/>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9BEA2F22-A270-5CE4-D78C-C4A7CF4142E7}"/>
              </a:ext>
            </a:extLst>
          </p:cNvPr>
          <p:cNvSpPr txBox="1"/>
          <p:nvPr/>
        </p:nvSpPr>
        <p:spPr>
          <a:xfrm>
            <a:off x="522514" y="2016224"/>
            <a:ext cx="5304656" cy="2249083"/>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AC3F1E54-DEC8-A7EB-F36D-4B7288D0D333}"/>
              </a:ext>
            </a:extLst>
          </p:cNvPr>
          <p:cNvSpPr txBox="1"/>
          <p:nvPr/>
        </p:nvSpPr>
        <p:spPr>
          <a:xfrm>
            <a:off x="522514" y="1965108"/>
            <a:ext cx="6105466" cy="4401205"/>
          </a:xfrm>
          <a:prstGeom prst="rect">
            <a:avLst/>
          </a:prstGeom>
          <a:noFill/>
        </p:spPr>
        <p:txBody>
          <a:bodyPr wrap="square" rtlCol="0">
            <a:spAutoFit/>
          </a:bodyPr>
          <a:lstStyle/>
          <a:p>
            <a:pPr marL="342900" indent="-342900">
              <a:buAutoNum type="arabicPeriod"/>
            </a:pPr>
            <a:r>
              <a:rPr lang="en-US" sz="2800" dirty="0"/>
              <a:t>Ground testing</a:t>
            </a:r>
          </a:p>
          <a:p>
            <a:pPr marL="342900" indent="-342900">
              <a:buAutoNum type="arabicPeriod"/>
            </a:pPr>
            <a:r>
              <a:rPr lang="en-US" sz="2800" dirty="0"/>
              <a:t>Estimate atomic oxygen fluence in space as a function of altitude, worst case solar activity and geographic location</a:t>
            </a:r>
          </a:p>
          <a:p>
            <a:pPr marL="342900" indent="-342900">
              <a:buAutoNum type="arabicPeriod"/>
            </a:pPr>
            <a:r>
              <a:rPr lang="en-US" sz="2800" dirty="0"/>
              <a:t>Carry out statistical analysis to determine the degradations</a:t>
            </a:r>
          </a:p>
          <a:p>
            <a:pPr marL="342900" indent="-342900">
              <a:buAutoNum type="arabicPeriod"/>
            </a:pPr>
            <a:r>
              <a:rPr lang="en-US" sz="2800" dirty="0"/>
              <a:t>Compare with other similar materials</a:t>
            </a:r>
          </a:p>
          <a:p>
            <a:pPr marL="342900" indent="-342900">
              <a:buAutoNum type="arabicPeriod"/>
            </a:pPr>
            <a:r>
              <a:rPr lang="en-US" sz="2800" dirty="0"/>
              <a:t>Add material as needed to survive expected effects</a:t>
            </a:r>
          </a:p>
        </p:txBody>
      </p:sp>
    </p:spTree>
    <p:extLst>
      <p:ext uri="{BB962C8B-B14F-4D97-AF65-F5344CB8AC3E}">
        <p14:creationId xmlns:p14="http://schemas.microsoft.com/office/powerpoint/2010/main" val="3467104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80" name="Rectangle 28679">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4" name="Rectangle 2">
            <a:extLst>
              <a:ext uri="{FF2B5EF4-FFF2-40B4-BE49-F238E27FC236}">
                <a16:creationId xmlns:a16="http://schemas.microsoft.com/office/drawing/2014/main" id="{462EAA4C-E6EE-4F33-95B9-6806DD3708F1}"/>
              </a:ext>
            </a:extLst>
          </p:cNvPr>
          <p:cNvSpPr>
            <a:spLocks noGrp="1" noChangeArrowheads="1"/>
          </p:cNvSpPr>
          <p:nvPr>
            <p:ph type="title"/>
          </p:nvPr>
        </p:nvSpPr>
        <p:spPr>
          <a:xfrm>
            <a:off x="594360" y="640263"/>
            <a:ext cx="3822192" cy="1344975"/>
          </a:xfrm>
        </p:spPr>
        <p:txBody>
          <a:bodyPr vert="horz" lIns="91440" tIns="45720" rIns="91440" bIns="45720" rtlCol="0" anchor="ctr">
            <a:normAutofit/>
          </a:bodyPr>
          <a:lstStyle/>
          <a:p>
            <a:pPr>
              <a:defRPr/>
            </a:pPr>
            <a:r>
              <a:rPr lang="en-US" altLang="en-US" sz="3300" kern="1200">
                <a:solidFill>
                  <a:schemeClr val="bg1"/>
                </a:solidFill>
                <a:latin typeface="+mj-lt"/>
                <a:ea typeface="+mj-ea"/>
                <a:cs typeface="+mj-cs"/>
              </a:rPr>
              <a:t>Atmospheric Neutral Environment</a:t>
            </a:r>
          </a:p>
        </p:txBody>
      </p:sp>
      <p:cxnSp>
        <p:nvCxnSpPr>
          <p:cNvPr id="28682" name="Straight Connector 28681">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28675" name="Rectangle 3">
            <a:extLst>
              <a:ext uri="{FF2B5EF4-FFF2-40B4-BE49-F238E27FC236}">
                <a16:creationId xmlns:a16="http://schemas.microsoft.com/office/drawing/2014/main" id="{C72CBF0C-CD84-4197-B31C-1D77D46EDF54}"/>
              </a:ext>
            </a:extLst>
          </p:cNvPr>
          <p:cNvSpPr>
            <a:spLocks noChangeArrowheads="1"/>
          </p:cNvSpPr>
          <p:nvPr/>
        </p:nvSpPr>
        <p:spPr bwMode="auto">
          <a:xfrm>
            <a:off x="593610" y="2121763"/>
            <a:ext cx="3822192" cy="377301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ormAutofit/>
          </a:bodyPr>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indent="-228600">
              <a:lnSpc>
                <a:spcPct val="90000"/>
              </a:lnSpc>
              <a:spcBef>
                <a:spcPct val="20000"/>
              </a:spcBef>
              <a:buFont typeface="Arial" panose="020B0604020202020204" pitchFamily="34" charset="0"/>
              <a:buChar char="•"/>
              <a:defRPr/>
            </a:pPr>
            <a:r>
              <a:rPr lang="en-US" altLang="en-US" sz="2000">
                <a:solidFill>
                  <a:schemeClr val="bg1"/>
                </a:solidFill>
                <a:latin typeface="+mn-lt"/>
              </a:rPr>
              <a:t>Physical Sputtering:</a:t>
            </a:r>
          </a:p>
          <a:p>
            <a:pPr lvl="1" indent="-228600">
              <a:lnSpc>
                <a:spcPct val="90000"/>
              </a:lnSpc>
              <a:spcBef>
                <a:spcPct val="10000"/>
              </a:spcBef>
              <a:buFont typeface="Arial" panose="020B0604020202020204" pitchFamily="34" charset="0"/>
              <a:buChar char="•"/>
              <a:defRPr/>
            </a:pPr>
            <a:r>
              <a:rPr lang="en-US" altLang="en-US" sz="2000">
                <a:solidFill>
                  <a:schemeClr val="bg1"/>
                </a:solidFill>
                <a:latin typeface="+mn-lt"/>
              </a:rPr>
              <a:t>Neutral molecule collisions with spacecraft surface</a:t>
            </a:r>
          </a:p>
          <a:p>
            <a:pPr lvl="1" indent="-228600">
              <a:lnSpc>
                <a:spcPct val="90000"/>
              </a:lnSpc>
              <a:spcBef>
                <a:spcPct val="10000"/>
              </a:spcBef>
              <a:buFont typeface="Arial" panose="020B0604020202020204" pitchFamily="34" charset="0"/>
              <a:buChar char="•"/>
              <a:defRPr/>
            </a:pPr>
            <a:r>
              <a:rPr lang="en-US" altLang="en-US" sz="2000">
                <a:solidFill>
                  <a:schemeClr val="bg1"/>
                </a:solidFill>
                <a:latin typeface="+mn-lt"/>
              </a:rPr>
              <a:t>Effect can be greatly increased with spacecraft charging</a:t>
            </a:r>
          </a:p>
          <a:p>
            <a:pPr lvl="1" indent="-228600">
              <a:lnSpc>
                <a:spcPct val="90000"/>
              </a:lnSpc>
              <a:spcBef>
                <a:spcPct val="10000"/>
              </a:spcBef>
              <a:buFont typeface="Arial" panose="020B0604020202020204" pitchFamily="34" charset="0"/>
              <a:buChar char="•"/>
              <a:defRPr/>
            </a:pPr>
            <a:r>
              <a:rPr lang="en-US" altLang="en-US" sz="2000">
                <a:solidFill>
                  <a:schemeClr val="bg1"/>
                </a:solidFill>
                <a:latin typeface="+mn-lt"/>
              </a:rPr>
              <a:t>Usually only significant factor for long duration missions (&gt;30 years)</a:t>
            </a:r>
          </a:p>
        </p:txBody>
      </p:sp>
      <p:pic>
        <p:nvPicPr>
          <p:cNvPr id="1026" name="Picture 2" descr="See the source image">
            <a:extLst>
              <a:ext uri="{FF2B5EF4-FFF2-40B4-BE49-F238E27FC236}">
                <a16:creationId xmlns:a16="http://schemas.microsoft.com/office/drawing/2014/main" id="{9CC5FB88-2543-FA1E-0790-345E728E95B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10716" y="877531"/>
            <a:ext cx="6596652" cy="494748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54478A50-D790-482F-BE8A-B8B973344A7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43</a:t>
            </a:fld>
            <a:endParaRPr lang="en-US"/>
          </a:p>
        </p:txBody>
      </p:sp>
    </p:spTree>
    <p:extLst>
      <p:ext uri="{BB962C8B-B14F-4D97-AF65-F5344CB8AC3E}">
        <p14:creationId xmlns:p14="http://schemas.microsoft.com/office/powerpoint/2010/main" val="30261448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955C-A37B-1225-460B-AD825AAFC41A}"/>
              </a:ext>
            </a:extLst>
          </p:cNvPr>
          <p:cNvSpPr>
            <a:spLocks noGrp="1"/>
          </p:cNvSpPr>
          <p:nvPr>
            <p:ph type="title"/>
          </p:nvPr>
        </p:nvSpPr>
        <p:spPr/>
        <p:txBody>
          <a:bodyPr/>
          <a:lstStyle/>
          <a:p>
            <a:pPr algn="ctr"/>
            <a:r>
              <a:rPr lang="en-US" dirty="0"/>
              <a:t>SPUTTERING YIELDS AT 100 EV IMPACT ENERGY</a:t>
            </a:r>
          </a:p>
        </p:txBody>
      </p:sp>
      <p:graphicFrame>
        <p:nvGraphicFramePr>
          <p:cNvPr id="3" name="Object 2">
            <a:extLst>
              <a:ext uri="{FF2B5EF4-FFF2-40B4-BE49-F238E27FC236}">
                <a16:creationId xmlns:a16="http://schemas.microsoft.com/office/drawing/2014/main" id="{E742C28D-B1A0-4893-117F-29BA116A7631}"/>
              </a:ext>
            </a:extLst>
          </p:cNvPr>
          <p:cNvGraphicFramePr>
            <a:graphicFrameLocks noChangeAspect="1"/>
          </p:cNvGraphicFramePr>
          <p:nvPr>
            <p:extLst>
              <p:ext uri="{D42A27DB-BD31-4B8C-83A1-F6EECF244321}">
                <p14:modId xmlns:p14="http://schemas.microsoft.com/office/powerpoint/2010/main" val="502458907"/>
              </p:ext>
            </p:extLst>
          </p:nvPr>
        </p:nvGraphicFramePr>
        <p:xfrm>
          <a:off x="619065" y="2182114"/>
          <a:ext cx="10144334" cy="3883595"/>
        </p:xfrm>
        <a:graphic>
          <a:graphicData uri="http://schemas.openxmlformats.org/presentationml/2006/ole">
            <mc:AlternateContent xmlns:mc="http://schemas.openxmlformats.org/markup-compatibility/2006">
              <mc:Choice xmlns:v="urn:schemas-microsoft-com:vml" Requires="v">
                <p:oleObj name="Bitmap Image" r:id="rId2" imgW="3495600" imgH="1338120" progId="Paint.Picture">
                  <p:embed/>
                </p:oleObj>
              </mc:Choice>
              <mc:Fallback>
                <p:oleObj name="Bitmap Image" r:id="rId2" imgW="3495600" imgH="1338120" progId="Paint.Picture">
                  <p:embed/>
                  <p:pic>
                    <p:nvPicPr>
                      <p:cNvPr id="3" name="Object 2">
                        <a:extLst>
                          <a:ext uri="{FF2B5EF4-FFF2-40B4-BE49-F238E27FC236}">
                            <a16:creationId xmlns:a16="http://schemas.microsoft.com/office/drawing/2014/main" id="{E742C28D-B1A0-4893-117F-29BA116A7631}"/>
                          </a:ext>
                        </a:extLst>
                      </p:cNvPr>
                      <p:cNvPicPr/>
                      <p:nvPr/>
                    </p:nvPicPr>
                    <p:blipFill>
                      <a:blip r:embed="rId3"/>
                      <a:stretch>
                        <a:fillRect/>
                      </a:stretch>
                    </p:blipFill>
                    <p:spPr>
                      <a:xfrm>
                        <a:off x="619065" y="2182114"/>
                        <a:ext cx="10144334" cy="3883595"/>
                      </a:xfrm>
                      <a:prstGeom prst="rect">
                        <a:avLst/>
                      </a:prstGeom>
                    </p:spPr>
                  </p:pic>
                </p:oleObj>
              </mc:Fallback>
            </mc:AlternateContent>
          </a:graphicData>
        </a:graphic>
      </p:graphicFrame>
    </p:spTree>
    <p:extLst>
      <p:ext uri="{BB962C8B-B14F-4D97-AF65-F5344CB8AC3E}">
        <p14:creationId xmlns:p14="http://schemas.microsoft.com/office/powerpoint/2010/main" val="36472471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62EAA4C-E6EE-4F33-95B9-6806DD3708F1}"/>
              </a:ext>
            </a:extLst>
          </p:cNvPr>
          <p:cNvSpPr>
            <a:spLocks noGrp="1" noChangeArrowheads="1"/>
          </p:cNvSpPr>
          <p:nvPr>
            <p:ph type="title"/>
          </p:nvPr>
        </p:nvSpPr>
        <p:spPr>
          <a:xfrm>
            <a:off x="1858637" y="633415"/>
            <a:ext cx="8547100" cy="762000"/>
          </a:xfrm>
        </p:spPr>
        <p:txBody>
          <a:bodyPr/>
          <a:lstStyle/>
          <a:p>
            <a:pPr>
              <a:defRPr/>
            </a:pPr>
            <a:r>
              <a:rPr lang="en-US" altLang="en-US" sz="2400" dirty="0"/>
              <a:t>Atmospheric Neutral Environment – Spacecraft Glow</a:t>
            </a:r>
            <a:endParaRPr lang="en-US" altLang="en-US" dirty="0"/>
          </a:p>
        </p:txBody>
      </p:sp>
      <p:sp>
        <p:nvSpPr>
          <p:cNvPr id="28675" name="Rectangle 3">
            <a:extLst>
              <a:ext uri="{FF2B5EF4-FFF2-40B4-BE49-F238E27FC236}">
                <a16:creationId xmlns:a16="http://schemas.microsoft.com/office/drawing/2014/main" id="{C72CBF0C-CD84-4197-B31C-1D77D46EDF54}"/>
              </a:ext>
            </a:extLst>
          </p:cNvPr>
          <p:cNvSpPr>
            <a:spLocks noChangeArrowheads="1"/>
          </p:cNvSpPr>
          <p:nvPr/>
        </p:nvSpPr>
        <p:spPr bwMode="auto">
          <a:xfrm>
            <a:off x="2175533" y="1677769"/>
            <a:ext cx="8855075" cy="559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lvl="1">
              <a:spcBef>
                <a:spcPct val="10000"/>
              </a:spcBef>
              <a:buFontTx/>
              <a:buChar char="–"/>
              <a:defRPr/>
            </a:pPr>
            <a:r>
              <a:rPr lang="en-US" altLang="en-US" dirty="0">
                <a:latin typeface="Arial" charset="0"/>
              </a:rPr>
              <a:t>Not well understood, but is a function of altitude and reaction with neutral environment</a:t>
            </a:r>
          </a:p>
          <a:p>
            <a:pPr lvl="1">
              <a:spcBef>
                <a:spcPct val="10000"/>
              </a:spcBef>
              <a:buFontTx/>
              <a:buChar char="–"/>
              <a:defRPr/>
            </a:pPr>
            <a:r>
              <a:rPr lang="en-US" altLang="en-US" dirty="0">
                <a:latin typeface="Arial" charset="0"/>
              </a:rPr>
              <a:t>Can have </a:t>
            </a:r>
            <a:r>
              <a:rPr lang="en-US" altLang="en-US" dirty="0">
                <a:solidFill>
                  <a:schemeClr val="accent2"/>
                </a:solidFill>
                <a:latin typeface="Arial" charset="0"/>
              </a:rPr>
              <a:t>mission-limiting impact on optical sensors</a:t>
            </a:r>
          </a:p>
          <a:p>
            <a:pPr lvl="1">
              <a:spcBef>
                <a:spcPct val="10000"/>
              </a:spcBef>
              <a:buFontTx/>
              <a:buChar char="–"/>
              <a:defRPr/>
            </a:pPr>
            <a:r>
              <a:rPr lang="en-US" altLang="en-US" dirty="0">
                <a:latin typeface="Arial" charset="0"/>
              </a:rPr>
              <a:t>Brightness is function of altitude:</a:t>
            </a:r>
          </a:p>
        </p:txBody>
      </p:sp>
      <p:grpSp>
        <p:nvGrpSpPr>
          <p:cNvPr id="22532" name="Group 19">
            <a:extLst>
              <a:ext uri="{FF2B5EF4-FFF2-40B4-BE49-F238E27FC236}">
                <a16:creationId xmlns:a16="http://schemas.microsoft.com/office/drawing/2014/main" id="{0CEFBC4B-4374-4999-9F5B-0658C3460A6E}"/>
              </a:ext>
            </a:extLst>
          </p:cNvPr>
          <p:cNvGrpSpPr>
            <a:grpSpLocks/>
          </p:cNvGrpSpPr>
          <p:nvPr/>
        </p:nvGrpSpPr>
        <p:grpSpPr bwMode="auto">
          <a:xfrm>
            <a:off x="3787134" y="3988154"/>
            <a:ext cx="4976813" cy="614363"/>
            <a:chOff x="1365" y="3670"/>
            <a:chExt cx="3135" cy="387"/>
          </a:xfrm>
        </p:grpSpPr>
        <p:graphicFrame>
          <p:nvGraphicFramePr>
            <p:cNvPr id="22536" name="Object 14">
              <a:extLst>
                <a:ext uri="{FF2B5EF4-FFF2-40B4-BE49-F238E27FC236}">
                  <a16:creationId xmlns:a16="http://schemas.microsoft.com/office/drawing/2014/main" id="{BECB1C0A-96C5-4760-8369-BE793ABCA99B}"/>
                </a:ext>
              </a:extLst>
            </p:cNvPr>
            <p:cNvGraphicFramePr>
              <a:graphicFrameLocks/>
            </p:cNvGraphicFramePr>
            <p:nvPr>
              <p:extLst>
                <p:ext uri="{D42A27DB-BD31-4B8C-83A1-F6EECF244321}">
                  <p14:modId xmlns:p14="http://schemas.microsoft.com/office/powerpoint/2010/main" val="567295641"/>
                </p:ext>
              </p:extLst>
            </p:nvPr>
          </p:nvGraphicFramePr>
          <p:xfrm>
            <a:off x="2029" y="3670"/>
            <a:ext cx="1625" cy="186"/>
          </p:xfrm>
          <a:graphic>
            <a:graphicData uri="http://schemas.openxmlformats.org/presentationml/2006/ole">
              <mc:AlternateContent xmlns:mc="http://schemas.openxmlformats.org/markup-compatibility/2006">
                <mc:Choice xmlns:v="urn:schemas-microsoft-com:vml" Requires="v">
                  <p:oleObj name="Equation" r:id="rId3" imgW="1422400" imgH="203200" progId="Equation.3">
                    <p:embed/>
                  </p:oleObj>
                </mc:Choice>
                <mc:Fallback>
                  <p:oleObj name="Equation" r:id="rId3" imgW="1422400" imgH="203200" progId="Equation.3">
                    <p:embed/>
                    <p:pic>
                      <p:nvPicPr>
                        <p:cNvPr id="22536" name="Object 14">
                          <a:extLst>
                            <a:ext uri="{FF2B5EF4-FFF2-40B4-BE49-F238E27FC236}">
                              <a16:creationId xmlns:a16="http://schemas.microsoft.com/office/drawing/2014/main" id="{BECB1C0A-96C5-4760-8369-BE793ABCA99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9" y="3670"/>
                          <a:ext cx="16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8687" name="Rectangle 15">
              <a:extLst>
                <a:ext uri="{FF2B5EF4-FFF2-40B4-BE49-F238E27FC236}">
                  <a16:creationId xmlns:a16="http://schemas.microsoft.com/office/drawing/2014/main" id="{AE9DF870-5ABD-476A-865E-0EE240E9A4F5}"/>
                </a:ext>
              </a:extLst>
            </p:cNvPr>
            <p:cNvSpPr>
              <a:spLocks noChangeArrowheads="1"/>
            </p:cNvSpPr>
            <p:nvPr/>
          </p:nvSpPr>
          <p:spPr bwMode="auto">
            <a:xfrm>
              <a:off x="1365" y="3875"/>
              <a:ext cx="562"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a:defRPr/>
              </a:pPr>
              <a:r>
                <a:rPr lang="en-US" altLang="en-US" sz="1200">
                  <a:latin typeface="Arial" charset="0"/>
                </a:rPr>
                <a:t>brightness</a:t>
              </a:r>
            </a:p>
          </p:txBody>
        </p:sp>
        <p:sp>
          <p:nvSpPr>
            <p:cNvPr id="28688" name="Rectangle 16">
              <a:extLst>
                <a:ext uri="{FF2B5EF4-FFF2-40B4-BE49-F238E27FC236}">
                  <a16:creationId xmlns:a16="http://schemas.microsoft.com/office/drawing/2014/main" id="{32D424D4-354B-4017-AECD-3B6A150C7158}"/>
                </a:ext>
              </a:extLst>
            </p:cNvPr>
            <p:cNvSpPr>
              <a:spLocks noChangeArrowheads="1"/>
            </p:cNvSpPr>
            <p:nvPr/>
          </p:nvSpPr>
          <p:spPr bwMode="auto">
            <a:xfrm>
              <a:off x="4072" y="3882"/>
              <a:ext cx="428"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a:defRPr/>
              </a:pPr>
              <a:r>
                <a:rPr lang="en-US" altLang="en-US" sz="1200">
                  <a:latin typeface="Arial" charset="0"/>
                </a:rPr>
                <a:t>altitude</a:t>
              </a:r>
            </a:p>
          </p:txBody>
        </p:sp>
        <p:sp>
          <p:nvSpPr>
            <p:cNvPr id="28689" name="Line 17">
              <a:extLst>
                <a:ext uri="{FF2B5EF4-FFF2-40B4-BE49-F238E27FC236}">
                  <a16:creationId xmlns:a16="http://schemas.microsoft.com/office/drawing/2014/main" id="{0AD94578-1AEB-4EB6-9C07-2B71BB27FBA9}"/>
                </a:ext>
              </a:extLst>
            </p:cNvPr>
            <p:cNvSpPr>
              <a:spLocks noChangeShapeType="1"/>
            </p:cNvSpPr>
            <p:nvPr/>
          </p:nvSpPr>
          <p:spPr bwMode="auto">
            <a:xfrm flipV="1">
              <a:off x="1918" y="3833"/>
              <a:ext cx="416" cy="137"/>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8690" name="Line 18">
              <a:extLst>
                <a:ext uri="{FF2B5EF4-FFF2-40B4-BE49-F238E27FC236}">
                  <a16:creationId xmlns:a16="http://schemas.microsoft.com/office/drawing/2014/main" id="{10C28310-0950-429A-99B0-FEE19AB9B083}"/>
                </a:ext>
              </a:extLst>
            </p:cNvPr>
            <p:cNvSpPr>
              <a:spLocks noChangeShapeType="1"/>
            </p:cNvSpPr>
            <p:nvPr/>
          </p:nvSpPr>
          <p:spPr bwMode="auto">
            <a:xfrm flipH="1" flipV="1">
              <a:off x="3653" y="3833"/>
              <a:ext cx="398" cy="116"/>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pSp>
      <p:sp>
        <p:nvSpPr>
          <p:cNvPr id="28693" name="Text Box 21">
            <a:extLst>
              <a:ext uri="{FF2B5EF4-FFF2-40B4-BE49-F238E27FC236}">
                <a16:creationId xmlns:a16="http://schemas.microsoft.com/office/drawing/2014/main" id="{706099F7-CF6B-4679-8730-8ED4FB784912}"/>
              </a:ext>
            </a:extLst>
          </p:cNvPr>
          <p:cNvSpPr txBox="1">
            <a:spLocks noChangeArrowheads="1"/>
          </p:cNvSpPr>
          <p:nvPr/>
        </p:nvSpPr>
        <p:spPr bwMode="auto">
          <a:xfrm>
            <a:off x="3995230" y="5095012"/>
            <a:ext cx="38592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en-US" sz="1400" dirty="0">
                <a:latin typeface="Arial" charset="0"/>
              </a:rPr>
              <a:t>(B measured in </a:t>
            </a:r>
            <a:r>
              <a:rPr lang="en-US" altLang="en-US" sz="1400" dirty="0" err="1">
                <a:latin typeface="Arial" charset="0"/>
              </a:rPr>
              <a:t>Rayleighs</a:t>
            </a:r>
            <a:r>
              <a:rPr lang="en-US" altLang="en-US" sz="1400" dirty="0">
                <a:latin typeface="Arial" charset="0"/>
              </a:rPr>
              <a:t>;  H measured in km)</a:t>
            </a:r>
          </a:p>
        </p:txBody>
      </p:sp>
      <p:sp>
        <p:nvSpPr>
          <p:cNvPr id="2" name="Slide Number Placeholder 1">
            <a:extLst>
              <a:ext uri="{FF2B5EF4-FFF2-40B4-BE49-F238E27FC236}">
                <a16:creationId xmlns:a16="http://schemas.microsoft.com/office/drawing/2014/main" id="{54478A50-D790-482F-BE8A-B8B973344A72}"/>
              </a:ext>
            </a:extLst>
          </p:cNvPr>
          <p:cNvSpPr>
            <a:spLocks noGrp="1"/>
          </p:cNvSpPr>
          <p:nvPr>
            <p:ph type="sldNum" sz="quarter" idx="12"/>
          </p:nvPr>
        </p:nvSpPr>
        <p:spPr/>
        <p:txBody>
          <a:bodyPr/>
          <a:lstStyle/>
          <a:p>
            <a:fld id="{C83C362F-97FB-4C1E-B0F0-C3069DD0CDD1}" type="slidenum">
              <a:rPr lang="en-US" smtClean="0"/>
              <a:t>45</a:t>
            </a:fld>
            <a:endParaRPr lang="en-US"/>
          </a:p>
        </p:txBody>
      </p:sp>
    </p:spTree>
    <p:extLst>
      <p:ext uri="{BB962C8B-B14F-4D97-AF65-F5344CB8AC3E}">
        <p14:creationId xmlns:p14="http://schemas.microsoft.com/office/powerpoint/2010/main" val="401326645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3061" cy="686920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74"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8B99498D-601C-47A4-B2A2-DAB4766A40EC}"/>
              </a:ext>
            </a:extLst>
          </p:cNvPr>
          <p:cNvSpPr>
            <a:spLocks noGrp="1"/>
          </p:cNvSpPr>
          <p:nvPr>
            <p:ph type="title"/>
          </p:nvPr>
        </p:nvSpPr>
        <p:spPr>
          <a:xfrm>
            <a:off x="1378425" y="5199797"/>
            <a:ext cx="9435152" cy="789673"/>
          </a:xfrm>
        </p:spPr>
        <p:txBody>
          <a:bodyPr vert="horz" lIns="91440" tIns="45720" rIns="91440" bIns="45720" rtlCol="0" anchor="ctr">
            <a:normAutofit/>
          </a:bodyPr>
          <a:lstStyle/>
          <a:p>
            <a:pPr algn="ctr"/>
            <a:r>
              <a:rPr lang="en-US" sz="4000" kern="1200">
                <a:solidFill>
                  <a:schemeClr val="bg1"/>
                </a:solidFill>
                <a:latin typeface="+mj-lt"/>
                <a:ea typeface="+mj-ea"/>
                <a:cs typeface="+mj-cs"/>
              </a:rPr>
              <a:t>SPACECRAFT GLOW</a:t>
            </a:r>
          </a:p>
        </p:txBody>
      </p:sp>
      <p:sp>
        <p:nvSpPr>
          <p:cNvPr id="94" name="Freeform: Shape 93">
            <a:extLst>
              <a:ext uri="{FF2B5EF4-FFF2-40B4-BE49-F238E27FC236}">
                <a16:creationId xmlns:a16="http://schemas.microsoft.com/office/drawing/2014/main" id="{A7795DFA-888F-47E2-B44E-DE1D3B3E4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58957"/>
          </a:xfrm>
          <a:custGeom>
            <a:avLst/>
            <a:gdLst>
              <a:gd name="connsiteX0" fmla="*/ 0 w 12192000"/>
              <a:gd name="connsiteY0" fmla="*/ 0 h 5058957"/>
              <a:gd name="connsiteX1" fmla="*/ 12192000 w 12192000"/>
              <a:gd name="connsiteY1" fmla="*/ 0 h 5058957"/>
              <a:gd name="connsiteX2" fmla="*/ 12192000 w 12192000"/>
              <a:gd name="connsiteY2" fmla="*/ 259692 h 5058957"/>
              <a:gd name="connsiteX3" fmla="*/ 12192000 w 12192000"/>
              <a:gd name="connsiteY3" fmla="*/ 3542069 h 5058957"/>
              <a:gd name="connsiteX4" fmla="*/ 12192000 w 12192000"/>
              <a:gd name="connsiteY4" fmla="*/ 3734194 h 5058957"/>
              <a:gd name="connsiteX5" fmla="*/ 12192000 w 12192000"/>
              <a:gd name="connsiteY5" fmla="*/ 4710012 h 5058957"/>
              <a:gd name="connsiteX6" fmla="*/ 12113803 w 12192000"/>
              <a:gd name="connsiteY6" fmla="*/ 4718295 h 5058957"/>
              <a:gd name="connsiteX7" fmla="*/ 6753597 w 12192000"/>
              <a:gd name="connsiteY7" fmla="*/ 5041852 h 5058957"/>
              <a:gd name="connsiteX8" fmla="*/ 400746 w 12192000"/>
              <a:gd name="connsiteY8" fmla="*/ 4870509 h 5058957"/>
              <a:gd name="connsiteX9" fmla="*/ 0 w 12192000"/>
              <a:gd name="connsiteY9" fmla="*/ 4833533 h 5058957"/>
              <a:gd name="connsiteX10" fmla="*/ 0 w 12192000"/>
              <a:gd name="connsiteY10" fmla="*/ 3734194 h 5058957"/>
              <a:gd name="connsiteX11" fmla="*/ 0 w 12192000"/>
              <a:gd name="connsiteY11" fmla="*/ 3542069 h 5058957"/>
              <a:gd name="connsiteX12" fmla="*/ 0 w 12192000"/>
              <a:gd name="connsiteY12" fmla="*/ 259692 h 505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058957">
                <a:moveTo>
                  <a:pt x="0" y="0"/>
                </a:moveTo>
                <a:lnTo>
                  <a:pt x="12192000" y="0"/>
                </a:lnTo>
                <a:lnTo>
                  <a:pt x="12192000" y="259692"/>
                </a:lnTo>
                <a:lnTo>
                  <a:pt x="12192000" y="3542069"/>
                </a:lnTo>
                <a:lnTo>
                  <a:pt x="12192000" y="3734194"/>
                </a:lnTo>
                <a:lnTo>
                  <a:pt x="12192000" y="4710012"/>
                </a:lnTo>
                <a:lnTo>
                  <a:pt x="12113803" y="4718295"/>
                </a:lnTo>
                <a:cubicBezTo>
                  <a:pt x="10139508" y="4916244"/>
                  <a:pt x="8237152" y="5009247"/>
                  <a:pt x="6753597" y="5041852"/>
                </a:cubicBezTo>
                <a:cubicBezTo>
                  <a:pt x="4940362" y="5081701"/>
                  <a:pt x="2657278" y="5062371"/>
                  <a:pt x="400746" y="4870509"/>
                </a:cubicBezTo>
                <a:lnTo>
                  <a:pt x="0" y="4833533"/>
                </a:lnTo>
                <a:lnTo>
                  <a:pt x="0" y="3734194"/>
                </a:lnTo>
                <a:lnTo>
                  <a:pt x="0" y="3542069"/>
                </a:lnTo>
                <a:lnTo>
                  <a:pt x="0" y="259692"/>
                </a:lnTo>
                <a:close/>
              </a:path>
            </a:pathLst>
          </a:custGeom>
          <a:solidFill>
            <a:schemeClr val="bg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2050" name="Picture 2">
            <a:extLst>
              <a:ext uri="{FF2B5EF4-FFF2-40B4-BE49-F238E27FC236}">
                <a16:creationId xmlns:a16="http://schemas.microsoft.com/office/drawing/2014/main" id="{686786EE-C9F6-40A7-8E20-80C2ED22A19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85679"/>
            <a:ext cx="10914060" cy="3547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013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a:extLst>
              <a:ext uri="{FF2B5EF4-FFF2-40B4-BE49-F238E27FC236}">
                <a16:creationId xmlns:a16="http://schemas.microsoft.com/office/drawing/2014/main" id="{79CE8097-89F6-4563-90A2-BD0A906B9283}"/>
              </a:ext>
            </a:extLst>
          </p:cNvPr>
          <p:cNvSpPr>
            <a:spLocks noGrp="1" noChangeArrowheads="1"/>
          </p:cNvSpPr>
          <p:nvPr>
            <p:ph type="title"/>
          </p:nvPr>
        </p:nvSpPr>
        <p:spPr>
          <a:xfrm>
            <a:off x="913774" y="-295883"/>
            <a:ext cx="10364451" cy="1596177"/>
          </a:xfrm>
        </p:spPr>
        <p:txBody>
          <a:bodyPr/>
          <a:lstStyle/>
          <a:p>
            <a:pPr>
              <a:defRPr/>
            </a:pPr>
            <a:r>
              <a:rPr lang="en-US" altLang="en-US" dirty="0"/>
              <a:t>Quantifying Neutral Environment Effects</a:t>
            </a:r>
          </a:p>
        </p:txBody>
      </p:sp>
      <p:sp>
        <p:nvSpPr>
          <p:cNvPr id="71685" name="Rectangle 5">
            <a:extLst>
              <a:ext uri="{FF2B5EF4-FFF2-40B4-BE49-F238E27FC236}">
                <a16:creationId xmlns:a16="http://schemas.microsoft.com/office/drawing/2014/main" id="{00DF8BE1-A00D-4987-8ABC-1DCD3A8D2024}"/>
              </a:ext>
            </a:extLst>
          </p:cNvPr>
          <p:cNvSpPr>
            <a:spLocks noGrp="1" noChangeArrowheads="1"/>
          </p:cNvSpPr>
          <p:nvPr>
            <p:ph sz="quarter" idx="13"/>
          </p:nvPr>
        </p:nvSpPr>
        <p:spPr>
          <a:xfrm>
            <a:off x="1746250" y="828675"/>
            <a:ext cx="8445500" cy="6029325"/>
          </a:xfrm>
        </p:spPr>
        <p:txBody>
          <a:bodyPr>
            <a:normAutofit/>
          </a:bodyPr>
          <a:lstStyle/>
          <a:p>
            <a:pPr>
              <a:spcBef>
                <a:spcPct val="50000"/>
              </a:spcBef>
              <a:defRPr/>
            </a:pPr>
            <a:r>
              <a:rPr lang="en-US" altLang="en-US" sz="2000" dirty="0"/>
              <a:t>Sputtering</a:t>
            </a:r>
            <a:r>
              <a:rPr lang="en-US" altLang="en-US" dirty="0"/>
              <a:t>	</a:t>
            </a:r>
          </a:p>
          <a:p>
            <a:pPr lvl="1">
              <a:spcBef>
                <a:spcPct val="10000"/>
              </a:spcBef>
              <a:defRPr/>
            </a:pPr>
            <a:r>
              <a:rPr lang="en-US" altLang="en-US" sz="1800" dirty="0"/>
              <a:t>Verify that materials used are not susceptible to sputtering at impact energies seen on orbit.</a:t>
            </a:r>
            <a:r>
              <a:rPr lang="en-US" altLang="en-US" dirty="0"/>
              <a:t>	</a:t>
            </a:r>
          </a:p>
          <a:p>
            <a:pPr>
              <a:spcBef>
                <a:spcPct val="15000"/>
              </a:spcBef>
              <a:defRPr/>
            </a:pPr>
            <a:r>
              <a:rPr lang="en-US" altLang="en-US" sz="2000" dirty="0"/>
              <a:t>Atomic Oxygen Erosion	</a:t>
            </a:r>
            <a:endParaRPr lang="en-US" altLang="en-US" dirty="0"/>
          </a:p>
          <a:p>
            <a:pPr lvl="1">
              <a:spcBef>
                <a:spcPct val="10000"/>
              </a:spcBef>
              <a:defRPr/>
            </a:pPr>
            <a:r>
              <a:rPr lang="en-US" altLang="en-US" sz="1800" dirty="0"/>
              <a:t>Determine cumulative atomic oxygen flux to surfaces.</a:t>
            </a:r>
          </a:p>
          <a:p>
            <a:pPr lvl="1">
              <a:spcBef>
                <a:spcPct val="10000"/>
              </a:spcBef>
              <a:defRPr/>
            </a:pPr>
            <a:r>
              <a:rPr lang="en-US" altLang="en-US" sz="1800" dirty="0"/>
              <a:t>Relate atomic oxygen flux to material erosion based on reaction efficiency values.</a:t>
            </a:r>
            <a:r>
              <a:rPr lang="en-US" altLang="en-US" dirty="0"/>
              <a:t>	</a:t>
            </a:r>
          </a:p>
          <a:p>
            <a:pPr>
              <a:spcBef>
                <a:spcPct val="15000"/>
              </a:spcBef>
              <a:defRPr/>
            </a:pPr>
            <a:r>
              <a:rPr lang="en-US" altLang="en-US" sz="2000" dirty="0"/>
              <a:t>Spacecraft Glow</a:t>
            </a:r>
            <a:r>
              <a:rPr lang="en-US" altLang="en-US" dirty="0"/>
              <a:t>	</a:t>
            </a:r>
          </a:p>
          <a:p>
            <a:pPr lvl="1">
              <a:spcBef>
                <a:spcPct val="10000"/>
              </a:spcBef>
              <a:defRPr/>
            </a:pPr>
            <a:r>
              <a:rPr lang="en-US" altLang="en-US" sz="1800" dirty="0"/>
              <a:t>Estimate glow intensity based on orbit altitude.</a:t>
            </a:r>
          </a:p>
          <a:p>
            <a:pPr lvl="1">
              <a:spcBef>
                <a:spcPct val="10000"/>
              </a:spcBef>
              <a:defRPr/>
            </a:pPr>
            <a:r>
              <a:rPr lang="en-US" altLang="en-US" sz="1800" dirty="0"/>
              <a:t>Add to noise terms and determine effect, if any, on sensors.</a:t>
            </a:r>
          </a:p>
          <a:p>
            <a:pPr>
              <a:spcBef>
                <a:spcPct val="15000"/>
              </a:spcBef>
              <a:defRPr/>
            </a:pPr>
            <a:r>
              <a:rPr lang="en-US" altLang="en-US" sz="2000" dirty="0"/>
              <a:t>Aerodynamic Drag:</a:t>
            </a:r>
            <a:r>
              <a:rPr lang="en-US" altLang="en-US" dirty="0"/>
              <a:t>	</a:t>
            </a:r>
          </a:p>
          <a:p>
            <a:pPr lvl="1">
              <a:spcBef>
                <a:spcPct val="10000"/>
              </a:spcBef>
              <a:defRPr/>
            </a:pPr>
            <a:r>
              <a:rPr lang="en-US" altLang="en-US" sz="1800" dirty="0"/>
              <a:t>Identify acceleration due to drag from atmospheric density, orbit velocity, and vehicle configuration</a:t>
            </a:r>
          </a:p>
          <a:p>
            <a:pPr lvl="2">
              <a:spcBef>
                <a:spcPct val="10000"/>
              </a:spcBef>
              <a:defRPr/>
            </a:pPr>
            <a:r>
              <a:rPr lang="en-US" altLang="en-US" sz="1600" dirty="0"/>
              <a:t>Drag coefficients typically range </a:t>
            </a:r>
            <a:r>
              <a:rPr lang="en-US" altLang="en-US" sz="1600" dirty="0">
                <a:solidFill>
                  <a:srgbClr val="FF0000"/>
                </a:solidFill>
              </a:rPr>
              <a:t>between 2 and 4 (average is 3.1); </a:t>
            </a:r>
            <a:r>
              <a:rPr lang="en-US" altLang="en-US" sz="1600" dirty="0"/>
              <a:t>ballistic coefficients typically range </a:t>
            </a:r>
            <a:r>
              <a:rPr lang="en-US" altLang="en-US" sz="1600" dirty="0">
                <a:solidFill>
                  <a:srgbClr val="FF0000"/>
                </a:solidFill>
              </a:rPr>
              <a:t>between 25 and 200 kg/m</a:t>
            </a:r>
            <a:r>
              <a:rPr lang="en-US" altLang="en-US" sz="1600" baseline="30000" dirty="0">
                <a:solidFill>
                  <a:srgbClr val="FF0000"/>
                </a:solidFill>
              </a:rPr>
              <a:t>2</a:t>
            </a:r>
            <a:r>
              <a:rPr lang="en-US" altLang="en-US" sz="1600" dirty="0">
                <a:solidFill>
                  <a:srgbClr val="FF0000"/>
                </a:solidFill>
              </a:rPr>
              <a:t> (average is 109)</a:t>
            </a:r>
          </a:p>
          <a:p>
            <a:pPr lvl="1">
              <a:spcBef>
                <a:spcPct val="10000"/>
              </a:spcBef>
              <a:defRPr/>
            </a:pPr>
            <a:r>
              <a:rPr lang="en-US" altLang="en-US" sz="1800" dirty="0"/>
              <a:t>Use results to estimate the mass of fuel required to counter drag (will be a function of the propulsion system </a:t>
            </a:r>
            <a:r>
              <a:rPr lang="en-US" altLang="en-US" sz="1800" dirty="0" err="1"/>
              <a:t>I</a:t>
            </a:r>
            <a:r>
              <a:rPr lang="en-US" altLang="en-US" sz="1800" baseline="-25000" dirty="0" err="1"/>
              <a:t>sp</a:t>
            </a:r>
            <a:r>
              <a:rPr lang="en-US" altLang="en-US" sz="1800" dirty="0"/>
              <a:t>)</a:t>
            </a:r>
            <a:r>
              <a:rPr lang="en-US" altLang="en-US" sz="1600" dirty="0"/>
              <a:t>	</a:t>
            </a:r>
          </a:p>
        </p:txBody>
      </p:sp>
      <p:sp>
        <p:nvSpPr>
          <p:cNvPr id="2" name="Slide Number Placeholder 1">
            <a:extLst>
              <a:ext uri="{FF2B5EF4-FFF2-40B4-BE49-F238E27FC236}">
                <a16:creationId xmlns:a16="http://schemas.microsoft.com/office/drawing/2014/main" id="{82C59E2D-6A85-4DFC-B012-39FF6161B6C5}"/>
              </a:ext>
            </a:extLst>
          </p:cNvPr>
          <p:cNvSpPr>
            <a:spLocks noGrp="1"/>
          </p:cNvSpPr>
          <p:nvPr>
            <p:ph type="sldNum" sz="quarter" idx="12"/>
          </p:nvPr>
        </p:nvSpPr>
        <p:spPr/>
        <p:txBody>
          <a:bodyPr/>
          <a:lstStyle/>
          <a:p>
            <a:fld id="{C83C362F-97FB-4C1E-B0F0-C3069DD0CDD1}" type="slidenum">
              <a:rPr lang="en-US" smtClean="0"/>
              <a:t>47</a:t>
            </a:fld>
            <a:endParaRPr lang="en-US"/>
          </a:p>
        </p:txBody>
      </p:sp>
    </p:spTree>
    <p:extLst>
      <p:ext uri="{BB962C8B-B14F-4D97-AF65-F5344CB8AC3E}">
        <p14:creationId xmlns:p14="http://schemas.microsoft.com/office/powerpoint/2010/main" val="2474921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17CCC-8640-A5DE-7EF2-D85EF24D3D45}"/>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F73E2B81-D0C5-28E5-9F10-AD1C69C095FD}"/>
              </a:ext>
            </a:extLst>
          </p:cNvPr>
          <p:cNvSpPr>
            <a:spLocks noGrp="1"/>
          </p:cNvSpPr>
          <p:nvPr>
            <p:ph sz="quarter" idx="13"/>
          </p:nvPr>
        </p:nvSpPr>
        <p:spPr/>
        <p:txBody>
          <a:bodyPr>
            <a:normAutofit fontScale="62500" lnSpcReduction="20000"/>
          </a:bodyPr>
          <a:lstStyle/>
          <a:p>
            <a:r>
              <a:rPr lang="en-US" i="1" dirty="0">
                <a:effectLst/>
              </a:rPr>
              <a:t>A new timeline of Earth's cataclysmic past</a:t>
            </a:r>
            <a:r>
              <a:rPr lang="en-US" dirty="0">
                <a:effectLst/>
              </a:rPr>
              <a:t>. CU Boulder Today. (2019, August 12). Retrieved June 29, 2022, from </a:t>
            </a:r>
            <a:r>
              <a:rPr lang="en-US" dirty="0">
                <a:effectLst/>
                <a:hlinkClick r:id="rId2"/>
              </a:rPr>
              <a:t>https://www.colorado.edu/today/2019/08/12/new-timeline-earths-cataclysmic-past</a:t>
            </a:r>
            <a:endParaRPr lang="en-US" dirty="0">
              <a:effectLst/>
            </a:endParaRPr>
          </a:p>
          <a:p>
            <a:r>
              <a:rPr lang="en-US" dirty="0">
                <a:effectLst/>
              </a:rPr>
              <a:t> </a:t>
            </a:r>
            <a:r>
              <a:rPr lang="en-US" i="1" dirty="0">
                <a:effectLst/>
              </a:rPr>
              <a:t>Astronomers once thought Pluto's atmosphere would condense down to th</a:t>
            </a:r>
            <a:r>
              <a:rPr lang="en-US" i="1" dirty="0"/>
              <a:t>e Surface.  (201</a:t>
            </a:r>
            <a:r>
              <a:rPr lang="en-US" dirty="0">
                <a:effectLst/>
              </a:rPr>
              <a:t>6, March 28). Astronomy.com. Retrieved June 29, 2022, from </a:t>
            </a:r>
            <a:r>
              <a:rPr lang="en-US" dirty="0">
                <a:effectLst/>
                <a:hlinkClick r:id="rId3"/>
              </a:rPr>
              <a:t>https://astronomy.com/magazine/ask-astro/2016/03/plutos-falling-sky</a:t>
            </a:r>
            <a:endParaRPr lang="en-US" dirty="0">
              <a:effectLst/>
            </a:endParaRPr>
          </a:p>
          <a:p>
            <a:r>
              <a:rPr lang="en-US" dirty="0"/>
              <a:t>Atmospheric Chemistry.  </a:t>
            </a:r>
            <a:r>
              <a:rPr lang="en-US" dirty="0">
                <a:effectLst/>
              </a:rPr>
              <a:t>(2018, October 24). </a:t>
            </a:r>
            <a:r>
              <a:rPr lang="en-US" i="1" dirty="0">
                <a:effectLst/>
              </a:rPr>
              <a:t>The atmospheres of the solar system</a:t>
            </a:r>
            <a:r>
              <a:rPr lang="en-US" dirty="0">
                <a:effectLst/>
              </a:rPr>
              <a:t>. Retrieved June 29, 2022, from http://www.compoundchem.com/2014/07/25/planetatmospheres/ </a:t>
            </a:r>
          </a:p>
          <a:p>
            <a:r>
              <a:rPr lang="en-US" dirty="0">
                <a:effectLst/>
              </a:rPr>
              <a:t> NASA. (2016, September 29). </a:t>
            </a:r>
            <a:r>
              <a:rPr lang="en-US" i="1" dirty="0">
                <a:effectLst/>
              </a:rPr>
              <a:t>Isotopic clues to Mars' crust-atmosphere interactions – NASA mars exploration</a:t>
            </a:r>
            <a:r>
              <a:rPr lang="en-US" dirty="0">
                <a:effectLst/>
              </a:rPr>
              <a:t>. NASA. Retrieved June 29, 2022, from </a:t>
            </a:r>
            <a:r>
              <a:rPr lang="en-US" dirty="0">
                <a:effectLst/>
                <a:hlinkClick r:id="rId4"/>
              </a:rPr>
              <a:t>https://mars.nasa.gov/resources/8055/isotopic-clues-to-mars-crust-atmosphere-interactions/</a:t>
            </a:r>
            <a:endParaRPr lang="en-US" dirty="0">
              <a:effectLst/>
            </a:endParaRPr>
          </a:p>
          <a:p>
            <a:r>
              <a:rPr lang="en-US" dirty="0" err="1">
                <a:effectLst/>
              </a:rPr>
              <a:t>Pisacane</a:t>
            </a:r>
            <a:r>
              <a:rPr lang="en-US" dirty="0">
                <a:effectLst/>
              </a:rPr>
              <a:t>, V. L. (2016). </a:t>
            </a:r>
            <a:r>
              <a:rPr lang="en-US" i="1" dirty="0">
                <a:effectLst/>
              </a:rPr>
              <a:t>The space environment and its effects on Space Systems</a:t>
            </a:r>
            <a:r>
              <a:rPr lang="en-US" dirty="0">
                <a:effectLst/>
              </a:rPr>
              <a:t>. Amazon. Retrieved June 29, 2022, from https://www.amazon.com/Space-Environment-Effects-Systems-Education/dp/1563479265 </a:t>
            </a:r>
          </a:p>
          <a:p>
            <a:pPr marL="0" indent="0">
              <a:buNone/>
            </a:pPr>
            <a:endParaRPr lang="en-US" dirty="0">
              <a:effectLst/>
            </a:endParaRPr>
          </a:p>
          <a:p>
            <a:endParaRPr lang="en-US" dirty="0">
              <a:effectLst/>
            </a:endParaRPr>
          </a:p>
          <a:p>
            <a:endParaRPr lang="en-US" dirty="0">
              <a:effectLst/>
            </a:endParaRPr>
          </a:p>
          <a:p>
            <a:endParaRPr lang="en-US" dirty="0">
              <a:effectLst/>
            </a:endParaRPr>
          </a:p>
          <a:p>
            <a:endParaRPr lang="en-US" dirty="0"/>
          </a:p>
        </p:txBody>
      </p:sp>
    </p:spTree>
    <p:extLst>
      <p:ext uri="{BB962C8B-B14F-4D97-AF65-F5344CB8AC3E}">
        <p14:creationId xmlns:p14="http://schemas.microsoft.com/office/powerpoint/2010/main" val="1211658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977</TotalTime>
  <Words>1834</Words>
  <Application>Microsoft Office PowerPoint</Application>
  <PresentationFormat>Widescreen</PresentationFormat>
  <Paragraphs>255</Paragraphs>
  <Slides>48</Slides>
  <Notes>8</Notes>
  <HiddenSlides>0</HiddenSlides>
  <MMClips>1</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48</vt:i4>
      </vt:variant>
    </vt:vector>
  </HeadingPairs>
  <TitlesOfParts>
    <vt:vector size="57" baseType="lpstr">
      <vt:lpstr>Arial</vt:lpstr>
      <vt:lpstr>Calibri</vt:lpstr>
      <vt:lpstr>Calibri Light</vt:lpstr>
      <vt:lpstr>Cambria Math</vt:lpstr>
      <vt:lpstr>Times New Roman</vt:lpstr>
      <vt:lpstr>Wingdings 3</vt:lpstr>
      <vt:lpstr>Office Theme</vt:lpstr>
      <vt:lpstr>Bitmap Image</vt:lpstr>
      <vt:lpstr>Equation</vt:lpstr>
      <vt:lpstr>PowerPoint Presentation</vt:lpstr>
      <vt:lpstr>EXAMPLE</vt:lpstr>
      <vt:lpstr>QUIZ #1</vt:lpstr>
      <vt:lpstr> QUIZ #2</vt:lpstr>
      <vt:lpstr> QUIZ #3</vt:lpstr>
      <vt:lpstr>QUIZ #4</vt:lpstr>
      <vt:lpstr>QUIZ #5</vt:lpstr>
      <vt:lpstr> quiz #6</vt:lpstr>
      <vt:lpstr> quiz #7</vt:lpstr>
      <vt:lpstr> quiz #8</vt:lpstr>
      <vt:lpstr> quiz #9</vt:lpstr>
      <vt:lpstr> quiz #10</vt:lpstr>
      <vt:lpstr>PowerPoint Presentation</vt:lpstr>
      <vt:lpstr>DALTON’S LAW OF PARTIAL PRESSURES</vt:lpstr>
      <vt:lpstr>AVOGADRO’S LAW</vt:lpstr>
      <vt:lpstr>EXAMPLE 1 </vt:lpstr>
      <vt:lpstr>EXAMPLE 2</vt:lpstr>
      <vt:lpstr>HOMEWORK 3 PROBLEM 5</vt:lpstr>
      <vt:lpstr>EARTH’S ATMOSPHERE</vt:lpstr>
      <vt:lpstr>EARTH’S ATMOSPHERE</vt:lpstr>
      <vt:lpstr>EARTH’S ATMOSPHERE</vt:lpstr>
      <vt:lpstr>CONSITUENTS OF HETEROSPHERE</vt:lpstr>
      <vt:lpstr>Planets</vt:lpstr>
      <vt:lpstr>5 MAIN MEANS OF LOSS OF PLANETARY ATMOSPHERE</vt:lpstr>
      <vt:lpstr>PLANETARY ATMOSPHERIC LOSS</vt:lpstr>
      <vt:lpstr>PLANETARY ATMOSPHERIC LOSS</vt:lpstr>
      <vt:lpstr>PLANETARY ATMOSPHERIC LOSS</vt:lpstr>
      <vt:lpstr>PLANETARY ATMOSPHERIC LOSS</vt:lpstr>
      <vt:lpstr>PLANETARY ATMOSPHERIC LOSS</vt:lpstr>
      <vt:lpstr>ESCAPE VELOCITIES FOR CONSISTUENTS</vt:lpstr>
      <vt:lpstr>HOW PLANETS GAIN ATMOSPHERIC GASES</vt:lpstr>
      <vt:lpstr>OUTGASSING</vt:lpstr>
      <vt:lpstr>EVAPORATION AND SUBLIMINATION</vt:lpstr>
      <vt:lpstr>BOMBARDMENT</vt:lpstr>
      <vt:lpstr>PowerPoint Presentation</vt:lpstr>
      <vt:lpstr>PLANETARY ATMSOPHERIC PARAMETERS</vt:lpstr>
      <vt:lpstr>ATOMIC OXYGEN</vt:lpstr>
      <vt:lpstr>Atmospheric Neutral Environment</vt:lpstr>
      <vt:lpstr>Rate of change of thickness of material</vt:lpstr>
      <vt:lpstr>EXAMPLE</vt:lpstr>
      <vt:lpstr>HOMEWORK 3 PROBLEM 4</vt:lpstr>
      <vt:lpstr>QUANTIFYING THE EFFECTS</vt:lpstr>
      <vt:lpstr>Atmospheric Neutral Environment</vt:lpstr>
      <vt:lpstr>SPUTTERING YIELDS AT 100 EV IMPACT ENERGY</vt:lpstr>
      <vt:lpstr>Atmospheric Neutral Environment – Spacecraft Glow</vt:lpstr>
      <vt:lpstr>SPACECRAFT GLOW</vt:lpstr>
      <vt:lpstr>Quantifying Neutral Environment Effects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Lynnane George</dc:creator>
  <cp:lastModifiedBy>Lynnane George</cp:lastModifiedBy>
  <cp:revision>22</cp:revision>
  <dcterms:created xsi:type="dcterms:W3CDTF">2021-06-30T23:25:22Z</dcterms:created>
  <dcterms:modified xsi:type="dcterms:W3CDTF">2025-06-19T19:33:20Z</dcterms:modified>
</cp:coreProperties>
</file>