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7" r:id="rId2"/>
    <p:sldId id="483" r:id="rId3"/>
    <p:sldId id="487" r:id="rId4"/>
    <p:sldId id="310" r:id="rId5"/>
    <p:sldId id="311" r:id="rId6"/>
    <p:sldId id="320" r:id="rId7"/>
    <p:sldId id="271" r:id="rId8"/>
    <p:sldId id="507" r:id="rId9"/>
    <p:sldId id="273" r:id="rId10"/>
    <p:sldId id="275" r:id="rId11"/>
    <p:sldId id="501" r:id="rId12"/>
    <p:sldId id="322" r:id="rId13"/>
    <p:sldId id="281" r:id="rId14"/>
    <p:sldId id="502" r:id="rId15"/>
    <p:sldId id="323" r:id="rId16"/>
    <p:sldId id="297" r:id="rId17"/>
    <p:sldId id="299" r:id="rId18"/>
    <p:sldId id="284" r:id="rId19"/>
    <p:sldId id="285" r:id="rId20"/>
    <p:sldId id="488" r:id="rId21"/>
    <p:sldId id="260" r:id="rId22"/>
    <p:sldId id="261" r:id="rId23"/>
    <p:sldId id="280" r:id="rId24"/>
    <p:sldId id="485" r:id="rId25"/>
    <p:sldId id="503" r:id="rId26"/>
    <p:sldId id="491" r:id="rId27"/>
    <p:sldId id="489" r:id="rId28"/>
    <p:sldId id="506" r:id="rId29"/>
    <p:sldId id="492" r:id="rId30"/>
    <p:sldId id="494" r:id="rId31"/>
    <p:sldId id="500" r:id="rId32"/>
    <p:sldId id="495" r:id="rId33"/>
    <p:sldId id="493" r:id="rId34"/>
    <p:sldId id="497" r:id="rId35"/>
    <p:sldId id="498" r:id="rId36"/>
    <p:sldId id="504" r:id="rId37"/>
    <p:sldId id="505" r:id="rId38"/>
    <p:sldId id="490"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52"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custSel modSld">
      <pc:chgData name="Lynnane George" userId="065056628ae16e64" providerId="LiveId" clId="{1E9AE552-6B83-46CE-A2DC-1FB506DB1638}" dt="2026-06-13T16:43:59.515" v="1" actId="478"/>
      <pc:docMkLst>
        <pc:docMk/>
      </pc:docMkLst>
      <pc:sldChg chg="delSp mod">
        <pc:chgData name="Lynnane George" userId="065056628ae16e64" providerId="LiveId" clId="{1E9AE552-6B83-46CE-A2DC-1FB506DB1638}" dt="2026-06-13T16:43:59.515" v="1" actId="478"/>
        <pc:sldMkLst>
          <pc:docMk/>
          <pc:sldMk cId="3981895687" sldId="505"/>
        </pc:sldMkLst>
        <pc:picChg chg="del">
          <ac:chgData name="Lynnane George" userId="065056628ae16e64" providerId="LiveId" clId="{1E9AE552-6B83-46CE-A2DC-1FB506DB1638}" dt="2026-06-13T16:43:55.333" v="0" actId="478"/>
          <ac:picMkLst>
            <pc:docMk/>
            <pc:sldMk cId="3981895687" sldId="505"/>
            <ac:picMk id="9" creationId="{F62AE65C-4B2F-4C7A-C27A-D26D7D7D7CE3}"/>
          </ac:picMkLst>
        </pc:picChg>
        <pc:picChg chg="del">
          <ac:chgData name="Lynnane George" userId="065056628ae16e64" providerId="LiveId" clId="{1E9AE552-6B83-46CE-A2DC-1FB506DB1638}" dt="2026-06-13T16:43:59.515" v="1" actId="478"/>
          <ac:picMkLst>
            <pc:docMk/>
            <pc:sldMk cId="3981895687" sldId="505"/>
            <ac:picMk id="11" creationId="{17507494-48A5-9297-F512-3B3DB821A2A0}"/>
          </ac:picMkLst>
        </pc:picChg>
      </pc:sldChg>
    </pc:docChg>
  </pc:docChgLst>
</pc:chgInfo>
</file>

<file path=ppt/ink/ink1.xml><?xml version="1.0" encoding="utf-8"?>
<inkml:ink xmlns:inkml="http://www.w3.org/2003/InkML">
  <inkml:definitions>
    <inkml:context xml:id="ctx0">
      <inkml:inkSource xml:id="inkSrc0">
        <inkml:traceFormat>
          <inkml:channel name="X" type="integer" max="30347" units="cm"/>
          <inkml:channel name="Y" type="integer" max="20231" units="cm"/>
          <inkml:channel name="F" type="integer" max="65535" units="dev"/>
          <inkml:channel name="T" type="integer" max="2.14748E9" units="dev"/>
        </inkml:traceFormat>
        <inkml:channelProperties>
          <inkml:channelProperty channel="X" name="resolution" value="1000.23071" units="1/cm"/>
          <inkml:channelProperty channel="Y" name="resolution" value="1000.04944" units="1/cm"/>
          <inkml:channelProperty channel="F" name="resolution" value="0" units="1/dev"/>
          <inkml:channelProperty channel="T" name="resolution" value="1" units="1/dev"/>
        </inkml:channelProperties>
      </inkml:inkSource>
      <inkml:timestamp xml:id="ts0" timeString="2023-06-13T02:29:43.732"/>
    </inkml:context>
    <inkml:brush xml:id="br0">
      <inkml:brushProperty name="width" value="0.05292" units="cm"/>
      <inkml:brushProperty name="height" value="0.05292" units="cm"/>
      <inkml:brushProperty name="color" value="#FF0000"/>
    </inkml:brush>
  </inkml:definitions>
  <inkml:trace contextRef="#ctx0" brushRef="#br0">23234 12977 20271 0,'-16'11'1792'15,"8"-7"-1424"-15,-1-2-368 0</inkml:trace>
</inkml:ink>
</file>

<file path=ppt/ink/ink2.xml><?xml version="1.0" encoding="utf-8"?>
<inkml:ink xmlns:inkml="http://www.w3.org/2003/InkML">
  <inkml:definitions>
    <inkml:context xml:id="ctx0">
      <inkml:inkSource xml:id="inkSrc0">
        <inkml:traceFormat>
          <inkml:channel name="X" type="integer" max="30347" units="cm"/>
          <inkml:channel name="Y" type="integer" max="20231" units="cm"/>
          <inkml:channel name="F" type="integer" max="65535" units="dev"/>
          <inkml:channel name="T" type="integer" max="2.14748E9" units="dev"/>
        </inkml:traceFormat>
        <inkml:channelProperties>
          <inkml:channelProperty channel="X" name="resolution" value="1000.23071" units="1/cm"/>
          <inkml:channelProperty channel="Y" name="resolution" value="1000.04944" units="1/cm"/>
          <inkml:channelProperty channel="F" name="resolution" value="0" units="1/dev"/>
          <inkml:channelProperty channel="T" name="resolution" value="1" units="1/dev"/>
        </inkml:channelProperties>
      </inkml:inkSource>
      <inkml:timestamp xml:id="ts0" timeString="2023-06-13T02:27:25.984"/>
    </inkml:context>
    <inkml:brush xml:id="br0">
      <inkml:brushProperty name="width" value="0.05292" units="cm"/>
      <inkml:brushProperty name="height" value="0.05292" units="cm"/>
    </inkml:brush>
  </inkml:definitions>
  <inkml:trace contextRef="#ctx0" brushRef="#br0">31213 10994 14735 0,'-5'-1'1312'0,"1"-1"-1056"16,1-2-256-16,0 2 0 0,3 2 832 0,-2 0 128 0,2 0 0 0,-3-3 16 16,-1 1 96-16,-1-2 16 0,-1 2 0 0,1-1 0 15,-1-3-896-15,1 3-192 0,0-2 0 0,1 0 0 32,-1-2-1152-32,1-1-192 0,0 0-48 0,1 2-7024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B42C7-AE87-4A32-8D39-87C34AA68341}" type="datetimeFigureOut">
              <a:rPr lang="en-US" smtClean="0"/>
              <a:t>6/13/2026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94444-D30F-4ED2-9B96-1402B186A2FB}" type="slidenum">
              <a:rPr lang="en-US" smtClean="0"/>
              <a:t>‹#›</a:t>
            </a:fld>
            <a:endParaRPr lang="en-US"/>
          </a:p>
        </p:txBody>
      </p:sp>
    </p:spTree>
    <p:extLst>
      <p:ext uri="{BB962C8B-B14F-4D97-AF65-F5344CB8AC3E}">
        <p14:creationId xmlns:p14="http://schemas.microsoft.com/office/powerpoint/2010/main" val="2035547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inkling.com/read/cei-publications-larson-nasa-tech/chapter-18/figure-18-1"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inkling.com/read/cei-publications-larson-nasa-tech/chapter-18/figure-18-2"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inkling.com/read/cei-publications-larson-nasa-tech/chapter-18/figure-18-2"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15EC17E-69DD-4F06-A663-ECBF72CB8524}" type="slidenum">
              <a:rPr lang="en-US" smtClean="0"/>
              <a:t>11</a:t>
            </a:fld>
            <a:endParaRPr lang="en-US"/>
          </a:p>
        </p:txBody>
      </p:sp>
    </p:spTree>
    <p:extLst>
      <p:ext uri="{BB962C8B-B14F-4D97-AF65-F5344CB8AC3E}">
        <p14:creationId xmlns:p14="http://schemas.microsoft.com/office/powerpoint/2010/main" val="2212030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15EC17E-69DD-4F06-A663-ECBF72CB8524}" type="slidenum">
              <a:rPr lang="en-US" smtClean="0"/>
              <a:t>12</a:t>
            </a:fld>
            <a:endParaRPr lang="en-US"/>
          </a:p>
        </p:txBody>
      </p:sp>
    </p:spTree>
    <p:extLst>
      <p:ext uri="{BB962C8B-B14F-4D97-AF65-F5344CB8AC3E}">
        <p14:creationId xmlns:p14="http://schemas.microsoft.com/office/powerpoint/2010/main" val="2013985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15EC17E-69DD-4F06-A663-ECBF72CB8524}" type="slidenum">
              <a:rPr lang="en-US" smtClean="0"/>
              <a:t>13</a:t>
            </a:fld>
            <a:endParaRPr lang="en-US"/>
          </a:p>
        </p:txBody>
      </p:sp>
    </p:spTree>
    <p:extLst>
      <p:ext uri="{BB962C8B-B14F-4D97-AF65-F5344CB8AC3E}">
        <p14:creationId xmlns:p14="http://schemas.microsoft.com/office/powerpoint/2010/main" val="1219786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15EC17E-69DD-4F06-A663-ECBF72CB8524}" type="slidenum">
              <a:rPr lang="en-US" smtClean="0"/>
              <a:t>14</a:t>
            </a:fld>
            <a:endParaRPr lang="en-US"/>
          </a:p>
        </p:txBody>
      </p:sp>
    </p:spTree>
    <p:extLst>
      <p:ext uri="{BB962C8B-B14F-4D97-AF65-F5344CB8AC3E}">
        <p14:creationId xmlns:p14="http://schemas.microsoft.com/office/powerpoint/2010/main" val="1687202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15EC17E-69DD-4F06-A663-ECBF72CB8524}" type="slidenum">
              <a:rPr lang="en-US" smtClean="0"/>
              <a:t>16</a:t>
            </a:fld>
            <a:endParaRPr lang="en-US"/>
          </a:p>
        </p:txBody>
      </p:sp>
    </p:spTree>
    <p:extLst>
      <p:ext uri="{BB962C8B-B14F-4D97-AF65-F5344CB8AC3E}">
        <p14:creationId xmlns:p14="http://schemas.microsoft.com/office/powerpoint/2010/main" val="15255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5EC17E-69DD-4F06-A663-ECBF72CB8524}" type="slidenum">
              <a:rPr lang="en-US" smtClean="0"/>
              <a:t>17</a:t>
            </a:fld>
            <a:endParaRPr lang="en-US"/>
          </a:p>
        </p:txBody>
      </p:sp>
    </p:spTree>
    <p:extLst>
      <p:ext uri="{BB962C8B-B14F-4D97-AF65-F5344CB8AC3E}">
        <p14:creationId xmlns:p14="http://schemas.microsoft.com/office/powerpoint/2010/main" val="3122239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15EC17E-69DD-4F06-A663-ECBF72CB8524}" type="slidenum">
              <a:rPr lang="en-US" smtClean="0"/>
              <a:t>18</a:t>
            </a:fld>
            <a:endParaRPr lang="en-US"/>
          </a:p>
        </p:txBody>
      </p:sp>
    </p:spTree>
    <p:extLst>
      <p:ext uri="{BB962C8B-B14F-4D97-AF65-F5344CB8AC3E}">
        <p14:creationId xmlns:p14="http://schemas.microsoft.com/office/powerpoint/2010/main" val="3822343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15EC17E-69DD-4F06-A663-ECBF72CB8524}" type="slidenum">
              <a:rPr lang="en-US" smtClean="0"/>
              <a:t>19</a:t>
            </a:fld>
            <a:endParaRPr lang="en-US"/>
          </a:p>
        </p:txBody>
      </p:sp>
    </p:spTree>
    <p:extLst>
      <p:ext uri="{BB962C8B-B14F-4D97-AF65-F5344CB8AC3E}">
        <p14:creationId xmlns:p14="http://schemas.microsoft.com/office/powerpoint/2010/main" val="1171567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EC972FF5-FBCB-4951-A211-FDBF350487A8}"/>
              </a:ext>
            </a:extLst>
          </p:cNvPr>
          <p:cNvSpPr>
            <a:spLocks noGrp="1" noRot="1" noChangeAspect="1" noChangeArrowheads="1" noTextEdit="1"/>
          </p:cNvSpPr>
          <p:nvPr>
            <p:ph type="sldImg"/>
          </p:nvPr>
        </p:nvSpPr>
        <p:spPr>
          <a:ln/>
        </p:spPr>
      </p:sp>
      <p:sp>
        <p:nvSpPr>
          <p:cNvPr id="184324" name="Text Box 4">
            <a:extLst>
              <a:ext uri="{FF2B5EF4-FFF2-40B4-BE49-F238E27FC236}">
                <a16:creationId xmlns:a16="http://schemas.microsoft.com/office/drawing/2014/main" id="{A6AB120A-F9B0-4DC4-BB3D-7E5D538F49A0}"/>
              </a:ext>
            </a:extLst>
          </p:cNvPr>
          <p:cNvSpPr txBox="1">
            <a:spLocks noChangeArrowheads="1"/>
          </p:cNvSpPr>
          <p:nvPr/>
        </p:nvSpPr>
        <p:spPr bwMode="auto">
          <a:xfrm>
            <a:off x="2552700" y="2224088"/>
            <a:ext cx="1998663" cy="22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1733" tIns="35866" rIns="71733" bIns="35866">
            <a:spAutoFit/>
          </a:bodyPr>
          <a:lstStyle>
            <a:lvl1pPr defTabSz="717550">
              <a:defRPr sz="2400">
                <a:solidFill>
                  <a:schemeClr val="tx1"/>
                </a:solidFill>
                <a:latin typeface="Times New Roman" panose="02020603050405020304" pitchFamily="18" charset="0"/>
              </a:defRPr>
            </a:lvl1pPr>
            <a:lvl2pPr marL="358775" defTabSz="717550">
              <a:defRPr sz="2400">
                <a:solidFill>
                  <a:schemeClr val="tx1"/>
                </a:solidFill>
                <a:latin typeface="Times New Roman" panose="02020603050405020304" pitchFamily="18" charset="0"/>
              </a:defRPr>
            </a:lvl2pPr>
            <a:lvl3pPr marL="717550" defTabSz="717550">
              <a:defRPr sz="2400">
                <a:solidFill>
                  <a:schemeClr val="tx1"/>
                </a:solidFill>
                <a:latin typeface="Times New Roman" panose="02020603050405020304" pitchFamily="18" charset="0"/>
              </a:defRPr>
            </a:lvl3pPr>
            <a:lvl4pPr marL="1076325" defTabSz="717550">
              <a:defRPr sz="2400">
                <a:solidFill>
                  <a:schemeClr val="tx1"/>
                </a:solidFill>
                <a:latin typeface="Times New Roman" panose="02020603050405020304" pitchFamily="18" charset="0"/>
              </a:defRPr>
            </a:lvl4pPr>
            <a:lvl5pPr marL="1433513" defTabSz="717550">
              <a:defRPr sz="2400">
                <a:solidFill>
                  <a:schemeClr val="tx1"/>
                </a:solidFill>
                <a:latin typeface="Times New Roman" panose="02020603050405020304" pitchFamily="18" charset="0"/>
              </a:defRPr>
            </a:lvl5pPr>
            <a:lvl6pPr marL="1890713" defTabSz="717550" eaLnBrk="0" fontAlgn="base" hangingPunct="0">
              <a:spcBef>
                <a:spcPct val="0"/>
              </a:spcBef>
              <a:spcAft>
                <a:spcPct val="0"/>
              </a:spcAft>
              <a:defRPr sz="2400">
                <a:solidFill>
                  <a:schemeClr val="tx1"/>
                </a:solidFill>
                <a:latin typeface="Times New Roman" panose="02020603050405020304" pitchFamily="18" charset="0"/>
              </a:defRPr>
            </a:lvl6pPr>
            <a:lvl7pPr marL="2347913" defTabSz="717550" eaLnBrk="0" fontAlgn="base" hangingPunct="0">
              <a:spcBef>
                <a:spcPct val="0"/>
              </a:spcBef>
              <a:spcAft>
                <a:spcPct val="0"/>
              </a:spcAft>
              <a:defRPr sz="2400">
                <a:solidFill>
                  <a:schemeClr val="tx1"/>
                </a:solidFill>
                <a:latin typeface="Times New Roman" panose="02020603050405020304" pitchFamily="18" charset="0"/>
              </a:defRPr>
            </a:lvl7pPr>
            <a:lvl8pPr marL="2805113" defTabSz="717550" eaLnBrk="0" fontAlgn="base" hangingPunct="0">
              <a:spcBef>
                <a:spcPct val="0"/>
              </a:spcBef>
              <a:spcAft>
                <a:spcPct val="0"/>
              </a:spcAft>
              <a:defRPr sz="2400">
                <a:solidFill>
                  <a:schemeClr val="tx1"/>
                </a:solidFill>
                <a:latin typeface="Times New Roman" panose="02020603050405020304" pitchFamily="18" charset="0"/>
              </a:defRPr>
            </a:lvl8pPr>
            <a:lvl9pPr marL="3262313" defTabSz="7175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000" i="1">
                <a:sym typeface="Symbol" panose="05050102010706020507" pitchFamily="18" charset="2"/>
              </a:rPr>
              <a:t>v</a:t>
            </a:r>
            <a:r>
              <a:rPr lang="en-US" altLang="en-US" sz="1000" i="1" baseline="-25000">
                <a:sym typeface="Symbol" panose="05050102010706020507" pitchFamily="18" charset="2"/>
              </a:rPr>
              <a:t>EARTH</a:t>
            </a:r>
            <a:r>
              <a:rPr lang="en-US" altLang="en-US" sz="1000" i="1">
                <a:sym typeface="Symbol" panose="05050102010706020507" pitchFamily="18" charset="2"/>
              </a:rPr>
              <a:t>  =  464.5 cos(Lat)  m/s</a:t>
            </a:r>
            <a:endParaRPr lang="en-US" altLang="en-US" sz="1000" i="1"/>
          </a:p>
        </p:txBody>
      </p:sp>
      <p:sp>
        <p:nvSpPr>
          <p:cNvPr id="2" name="Notes Placeholder 1">
            <a:extLst>
              <a:ext uri="{FF2B5EF4-FFF2-40B4-BE49-F238E27FC236}">
                <a16:creationId xmlns:a16="http://schemas.microsoft.com/office/drawing/2014/main" id="{C515D31F-6B00-4872-ABFB-670CEF17569F}"/>
              </a:ext>
            </a:extLst>
          </p:cNvPr>
          <p:cNvSpPr>
            <a:spLocks noGrp="1"/>
          </p:cNvSpPr>
          <p:nvPr>
            <p:ph type="body" idx="1"/>
          </p:nvPr>
        </p:nvSpPr>
        <p:spPr/>
        <p:txBody>
          <a:bodyPr/>
          <a:lstStyle/>
          <a:p>
            <a:r>
              <a:rPr lang="en-US" dirty="0"/>
              <a:t>These 17 or so sights have some or can do orbital launches.   The location of the launch site and range safety considerations determine the acceptable launch azimuths.</a:t>
            </a:r>
          </a:p>
          <a:p>
            <a:endParaRPr lang="en-US" dirty="0"/>
          </a:p>
          <a:p>
            <a:r>
              <a:rPr lang="en-US" sz="1200" b="0" i="0" kern="1200" dirty="0">
                <a:solidFill>
                  <a:schemeClr val="tx1"/>
                </a:solidFill>
                <a:effectLst/>
                <a:latin typeface="+mn-lt"/>
                <a:ea typeface="+mn-ea"/>
                <a:cs typeface="+mn-cs"/>
              </a:rPr>
              <a:t>Launch campaign logistics is also important. Some launch sites are remote and lack support infrastructure. World launch sites are shown in </a:t>
            </a:r>
            <a:r>
              <a:rPr lang="en-US" sz="1200" b="0" i="0" u="none" strike="noStrike" kern="1200" dirty="0">
                <a:solidFill>
                  <a:schemeClr val="tx1"/>
                </a:solidFill>
                <a:effectLst/>
                <a:latin typeface="+mn-lt"/>
                <a:ea typeface="+mn-ea"/>
                <a:cs typeface="+mn-cs"/>
                <a:hlinkClick r:id="rId3"/>
              </a:rPr>
              <a:t>Figure 18.1</a:t>
            </a:r>
            <a:r>
              <a:rPr lang="en-US" sz="1200" b="0" i="0" kern="1200" dirty="0">
                <a:solidFill>
                  <a:schemeClr val="tx1"/>
                </a:solidFill>
                <a:effectLst/>
                <a:latin typeface="+mn-lt"/>
                <a:ea typeface="+mn-ea"/>
                <a:cs typeface="+mn-cs"/>
              </a:rPr>
              <a:t>. At such launch sites, a roll of duct tape can cost thousands of dollars, when we factor in the acquisition difficulty. Finally, the availability of downrange tracking assets is a factor in selecting a launch system. If the mission requires monitoring or commanding during the early phases of deployment, then the relative position of the launch site, the insertion point, and the downrange tracking asset are critical.</a:t>
            </a:r>
            <a:endParaRPr lang="en-US" dirty="0"/>
          </a:p>
        </p:txBody>
      </p:sp>
    </p:spTree>
    <p:extLst>
      <p:ext uri="{BB962C8B-B14F-4D97-AF65-F5344CB8AC3E}">
        <p14:creationId xmlns:p14="http://schemas.microsoft.com/office/powerpoint/2010/main" val="3457405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9A9D7B23-C445-475F-BC98-F45948FBBF89}"/>
              </a:ext>
            </a:extLst>
          </p:cNvPr>
          <p:cNvSpPr>
            <a:spLocks noGrp="1" noRot="1" noChangeAspect="1" noChangeArrowheads="1" noTextEdit="1"/>
          </p:cNvSpPr>
          <p:nvPr>
            <p:ph type="sldImg"/>
          </p:nvPr>
        </p:nvSpPr>
        <p:spPr>
          <a:ln/>
        </p:spPr>
      </p:sp>
      <p:sp>
        <p:nvSpPr>
          <p:cNvPr id="2" name="Notes Placeholder 1">
            <a:extLst>
              <a:ext uri="{FF2B5EF4-FFF2-40B4-BE49-F238E27FC236}">
                <a16:creationId xmlns:a16="http://schemas.microsoft.com/office/drawing/2014/main" id="{2A760740-0FFC-45B1-B877-F45F6987907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Each launch site has a characteristic range of inclinations that it can support. For example, launches from Vandenberg can insert to inclinations ranging from the high 50s to slightly less than 110 degrees. The Vandenberg, Kennedy, and Wallops launch sites are shown in </a:t>
            </a:r>
            <a:r>
              <a:rPr lang="en-US" sz="1200" b="0" i="0" u="none" strike="noStrike" kern="1200" dirty="0">
                <a:solidFill>
                  <a:schemeClr val="tx1"/>
                </a:solidFill>
                <a:effectLst/>
                <a:latin typeface="+mn-lt"/>
                <a:ea typeface="+mn-ea"/>
                <a:cs typeface="+mn-cs"/>
                <a:hlinkClick r:id="rId3"/>
              </a:rPr>
              <a:t>Figure 18.2</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Missions near the limits of these launch fans shown in </a:t>
            </a:r>
            <a:r>
              <a:rPr lang="en-US" sz="1200" b="0" i="0" u="none" strike="noStrike" kern="1200" dirty="0">
                <a:solidFill>
                  <a:schemeClr val="tx1"/>
                </a:solidFill>
                <a:effectLst/>
                <a:latin typeface="+mn-lt"/>
                <a:ea typeface="+mn-ea"/>
                <a:cs typeface="+mn-cs"/>
                <a:hlinkClick r:id="rId3"/>
              </a:rPr>
              <a:t>Figure 18.2</a:t>
            </a:r>
            <a:r>
              <a:rPr lang="en-US" sz="1200" b="0" i="0" kern="1200" dirty="0">
                <a:solidFill>
                  <a:schemeClr val="tx1"/>
                </a:solidFill>
                <a:effectLst/>
                <a:latin typeface="+mn-lt"/>
                <a:ea typeface="+mn-ea"/>
                <a:cs typeface="+mn-cs"/>
              </a:rPr>
              <a:t>introduce additional constraints. For example, Vandenberg can launch to 56°, but doing so requires expensive evacuations. Wallops Island can achieve Sun synchronous orbits by overflying Cuba and the Isthmus of Panama, but for political reasons has never done so. The lesson here is to investigate all </a:t>
            </a:r>
            <a:r>
              <a:rPr lang="en-US" sz="1200" b="1" i="1" kern="1200" dirty="0">
                <a:solidFill>
                  <a:schemeClr val="tx1"/>
                </a:solidFill>
                <a:effectLst/>
                <a:latin typeface="+mn-lt"/>
                <a:ea typeface="+mn-ea"/>
                <a:cs typeface="+mn-cs"/>
              </a:rPr>
              <a:t>launch azimuth fans</a:t>
            </a:r>
            <a:r>
              <a:rPr lang="en-US" sz="1200" b="0" i="0" kern="1200" dirty="0">
                <a:solidFill>
                  <a:schemeClr val="tx1"/>
                </a:solidFill>
                <a:effectLst/>
                <a:latin typeface="+mn-lt"/>
                <a:ea typeface="+mn-ea"/>
                <a:cs typeface="+mn-cs"/>
              </a:rPr>
              <a:t>.</a:t>
            </a:r>
            <a:endParaRPr lang="en-US" dirty="0"/>
          </a:p>
        </p:txBody>
      </p:sp>
    </p:spTree>
    <p:extLst>
      <p:ext uri="{BB962C8B-B14F-4D97-AF65-F5344CB8AC3E}">
        <p14:creationId xmlns:p14="http://schemas.microsoft.com/office/powerpoint/2010/main" val="1066955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9A9D7B23-C445-475F-BC98-F45948FBBF89}"/>
              </a:ext>
            </a:extLst>
          </p:cNvPr>
          <p:cNvSpPr>
            <a:spLocks noGrp="1" noRot="1" noChangeAspect="1" noChangeArrowheads="1" noTextEdit="1"/>
          </p:cNvSpPr>
          <p:nvPr>
            <p:ph type="sldImg"/>
          </p:nvPr>
        </p:nvSpPr>
        <p:spPr>
          <a:ln/>
        </p:spPr>
      </p:sp>
      <p:sp>
        <p:nvSpPr>
          <p:cNvPr id="2" name="Notes Placeholder 1">
            <a:extLst>
              <a:ext uri="{FF2B5EF4-FFF2-40B4-BE49-F238E27FC236}">
                <a16:creationId xmlns:a16="http://schemas.microsoft.com/office/drawing/2014/main" id="{2A760740-0FFC-45B1-B877-F45F6987907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Each launch site has a characteristic range of inclinations that it can support. For example, launches from Vandenberg can insert to inclinations ranging from the high 50s to slightly less than 110 degrees. The Vandenberg, Kennedy, and Wallops launch sites are shown in </a:t>
            </a:r>
            <a:r>
              <a:rPr lang="en-US" sz="1200" b="0" i="0" u="none" strike="noStrike" kern="1200" dirty="0">
                <a:solidFill>
                  <a:schemeClr val="tx1"/>
                </a:solidFill>
                <a:effectLst/>
                <a:latin typeface="+mn-lt"/>
                <a:ea typeface="+mn-ea"/>
                <a:cs typeface="+mn-cs"/>
                <a:hlinkClick r:id="rId3"/>
              </a:rPr>
              <a:t>Figure 18.2</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Missions near the limits of these launch fans shown in </a:t>
            </a:r>
            <a:r>
              <a:rPr lang="en-US" sz="1200" b="0" i="0" u="none" strike="noStrike" kern="1200" dirty="0">
                <a:solidFill>
                  <a:schemeClr val="tx1"/>
                </a:solidFill>
                <a:effectLst/>
                <a:latin typeface="+mn-lt"/>
                <a:ea typeface="+mn-ea"/>
                <a:cs typeface="+mn-cs"/>
                <a:hlinkClick r:id="rId3"/>
              </a:rPr>
              <a:t>Figure 18.2</a:t>
            </a:r>
            <a:r>
              <a:rPr lang="en-US" sz="1200" b="0" i="0" kern="1200" dirty="0">
                <a:solidFill>
                  <a:schemeClr val="tx1"/>
                </a:solidFill>
                <a:effectLst/>
                <a:latin typeface="+mn-lt"/>
                <a:ea typeface="+mn-ea"/>
                <a:cs typeface="+mn-cs"/>
              </a:rPr>
              <a:t>introduce additional constraints. For example, Vandenberg can launch to 56°, but doing so requires expensive evacuations. Wallops Island can achieve Sun synchronous orbits by overflying Cuba and the Isthmus of Panama, but for political reasons has never done so. The lesson here is to investigate all </a:t>
            </a:r>
            <a:r>
              <a:rPr lang="en-US" sz="1200" b="1" i="1" kern="1200" dirty="0">
                <a:solidFill>
                  <a:schemeClr val="tx1"/>
                </a:solidFill>
                <a:effectLst/>
                <a:latin typeface="+mn-lt"/>
                <a:ea typeface="+mn-ea"/>
                <a:cs typeface="+mn-cs"/>
              </a:rPr>
              <a:t>launch azimuth fans</a:t>
            </a:r>
            <a:r>
              <a:rPr lang="en-US" sz="1200" b="0" i="0" kern="1200" dirty="0">
                <a:solidFill>
                  <a:schemeClr val="tx1"/>
                </a:solidFill>
                <a:effectLst/>
                <a:latin typeface="+mn-lt"/>
                <a:ea typeface="+mn-ea"/>
                <a:cs typeface="+mn-cs"/>
              </a:rPr>
              <a:t>.</a:t>
            </a:r>
            <a:endParaRPr lang="en-US" dirty="0"/>
          </a:p>
        </p:txBody>
      </p:sp>
    </p:spTree>
    <p:extLst>
      <p:ext uri="{BB962C8B-B14F-4D97-AF65-F5344CB8AC3E}">
        <p14:creationId xmlns:p14="http://schemas.microsoft.com/office/powerpoint/2010/main" val="4222937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D9FD845-B93F-4BF0-9506-1220566B5A6C}" type="datetime1">
              <a:rPr lang="en-US" smtClean="0"/>
              <a:t>6/13/2026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54701E7F-7746-4C27-B2FB-416942EB66E3}"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4757269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706A80-B61C-4588-AFA8-8A136F3EADF9}" type="datetime1">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1172387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5B252C-1FC3-4CAB-9F8B-952B1B0CDDE5}" type="datetime1">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49190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54EB0B-E95F-4DCD-A09D-AFC24650A974}" type="datetime1">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827938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D32515-DCF6-49AD-AC4A-BED62B50F1FF}" type="datetime1">
              <a:rPr lang="en-US" smtClean="0"/>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1863501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DD0C60-C4D1-41E4-953B-0B98640C0493}" type="datetime1">
              <a:rPr lang="en-US" smtClean="0"/>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64100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C745C4-6A72-4E1E-8CE9-B63E1AB68476}" type="datetime1">
              <a:rPr lang="en-US" smtClean="0"/>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4229056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A70D3D-3452-4969-B51B-7B46D476A1D3}" type="datetime1">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4152324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FCCADE-4E2D-4F7C-A4A7-7E2774DCEE01}" type="datetime1">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385910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26AB2-1135-4A76-9A99-D8C48DB79A60}" type="datetime1">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1926779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F26F8-73DC-4473-90A3-FAFE7A06977F}" type="datetime1">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701E7F-7746-4C27-B2FB-416942EB66E3}" type="slidenum">
              <a:rPr lang="en-US" smtClean="0"/>
              <a:t>‹#›</a:t>
            </a:fld>
            <a:endParaRPr lang="en-US"/>
          </a:p>
        </p:txBody>
      </p:sp>
    </p:spTree>
    <p:extLst>
      <p:ext uri="{BB962C8B-B14F-4D97-AF65-F5344CB8AC3E}">
        <p14:creationId xmlns:p14="http://schemas.microsoft.com/office/powerpoint/2010/main" val="1119412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E69AB12B-310C-4CDF-8D9D-2A462EC3412E}" type="datetime1">
              <a:rPr lang="en-US" smtClean="0"/>
              <a:t>6/13/2026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54701E7F-7746-4C27-B2FB-416942EB66E3}" type="slidenum">
              <a:rPr lang="en-US" smtClean="0"/>
              <a:t>‹#›</a:t>
            </a:fld>
            <a:endParaRPr lang="en-US"/>
          </a:p>
        </p:txBody>
      </p:sp>
    </p:spTree>
    <p:extLst>
      <p:ext uri="{BB962C8B-B14F-4D97-AF65-F5344CB8AC3E}">
        <p14:creationId xmlns:p14="http://schemas.microsoft.com/office/powerpoint/2010/main" val="3922326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0.png"/><Relationship Id="rId1" Type="http://schemas.openxmlformats.org/officeDocument/2006/relationships/slideLayout" Target="../slideLayouts/slideLayout1.xml"/><Relationship Id="rId4" Type="http://schemas.openxmlformats.org/officeDocument/2006/relationships/image" Target="../media/image15.gif"/></Relationships>
</file>

<file path=ppt/slides/_rels/slide8.xml.rels><?xml version="1.0" encoding="UTF-8" standalone="yes"?>
<Relationships xmlns="http://schemas.openxmlformats.org/package/2006/relationships"><Relationship Id="rId3" Type="http://schemas.openxmlformats.org/officeDocument/2006/relationships/hyperlink" Target="https://physics.weber.edu/schroeder/software/NewtonsCannon.html" TargetMode="External"/><Relationship Id="rId2" Type="http://schemas.openxmlformats.org/officeDocument/2006/relationships/image" Target="../media/image16.gif"/><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0.png"/><Relationship Id="rId4" Type="http://schemas.openxmlformats.org/officeDocument/2006/relationships/image" Target="../media/image20.gif"/></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51.png"/><Relationship Id="rId3" Type="http://schemas.openxmlformats.org/officeDocument/2006/relationships/image" Target="../media/image22.jpeg"/><Relationship Id="rId7" Type="http://schemas.openxmlformats.org/officeDocument/2006/relationships/image" Target="../media/image250.png"/><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176.png"/><Relationship Id="rId5" Type="http://schemas.openxmlformats.org/officeDocument/2006/relationships/image" Target="../media/image260.png"/><Relationship Id="rId4" Type="http://schemas.openxmlformats.org/officeDocument/2006/relationships/image" Target="../media/image510.png"/></Relationships>
</file>

<file path=ppt/slides/_rels/slide16.xml.rels><?xml version="1.0" encoding="UTF-8" standalone="yes"?>
<Relationships xmlns="http://schemas.openxmlformats.org/package/2006/relationships"><Relationship Id="rId8" Type="http://schemas.openxmlformats.org/officeDocument/2006/relationships/image" Target="../media/image4710.png"/><Relationship Id="rId3" Type="http://schemas.openxmlformats.org/officeDocument/2006/relationships/image" Target="../media/image150.png"/><Relationship Id="rId7" Type="http://schemas.openxmlformats.org/officeDocument/2006/relationships/image" Target="../media/image46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510.png"/><Relationship Id="rId5" Type="http://schemas.openxmlformats.org/officeDocument/2006/relationships/image" Target="../media/image22.jpeg"/><Relationship Id="rId4" Type="http://schemas.openxmlformats.org/officeDocument/2006/relationships/image" Target="../media/image21.jpeg"/><Relationship Id="rId9" Type="http://schemas.openxmlformats.org/officeDocument/2006/relationships/image" Target="../media/image4810.png"/></Relationships>
</file>

<file path=ppt/slides/_rels/slide17.xml.rels><?xml version="1.0" encoding="UTF-8" standalone="yes"?>
<Relationships xmlns="http://schemas.openxmlformats.org/package/2006/relationships"><Relationship Id="rId8" Type="http://schemas.openxmlformats.org/officeDocument/2006/relationships/image" Target="../media/image4910.png"/><Relationship Id="rId3" Type="http://schemas.openxmlformats.org/officeDocument/2006/relationships/image" Target="../media/image21.jpeg"/><Relationship Id="rId7" Type="http://schemas.openxmlformats.org/officeDocument/2006/relationships/image" Target="../media/image4710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6100.png"/><Relationship Id="rId11" Type="http://schemas.openxmlformats.org/officeDocument/2006/relationships/image" Target="../media/image27.png"/><Relationship Id="rId5" Type="http://schemas.openxmlformats.org/officeDocument/2006/relationships/image" Target="../media/image45100.png"/><Relationship Id="rId10" Type="http://schemas.openxmlformats.org/officeDocument/2006/relationships/image" Target="../media/image511.png"/><Relationship Id="rId4" Type="http://schemas.openxmlformats.org/officeDocument/2006/relationships/image" Target="../media/image22.jpeg"/><Relationship Id="rId9" Type="http://schemas.openxmlformats.org/officeDocument/2006/relationships/image" Target="../media/image501.png"/></Relationships>
</file>

<file path=ppt/slides/_rels/slide1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40.png"/></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40.jpe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customXml" Target="../ink/ink1.xml"/><Relationship Id="rId4" Type="http://schemas.openxmlformats.org/officeDocument/2006/relationships/image" Target="../media/image310.png"/></Relationships>
</file>

<file path=ppt/slides/_rels/slide3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2.xml"/><Relationship Id="rId1" Type="http://schemas.openxmlformats.org/officeDocument/2006/relationships/video" Target="https://www.youtube.com/embed/M85W_POXqWs?feature=oembed"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slideLayout" Target="../slideLayouts/slideLayout2.xml"/><Relationship Id="rId1" Type="http://schemas.openxmlformats.org/officeDocument/2006/relationships/video" Target="https://www.youtube.com/embed/TWjtYSRlOUI?feature=oembed"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gif"/><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hyperlink" Target="https://www.swpc.noaa.gov/phenomena/geomagnetic-storms#:~:text=A%20geomagnetic%20storm%20is%20a%20major%20disturbance%20of,the%20currents%2C%20plasmas%2C%20and%20fields%20in%20Earth%E2%80%99s%20magnetosphere" TargetMode="External"/><Relationship Id="rId3" Type="http://schemas.openxmlformats.org/officeDocument/2006/relationships/hyperlink" Target="https://greensarawak.com/things-to-know-before-going-solar/going-solar-chapter-2-know-your-earth/" TargetMode="External"/><Relationship Id="rId7" Type="http://schemas.openxmlformats.org/officeDocument/2006/relationships/hyperlink" Target="https://spaceplace.nasa.gov/solar-cycles/en/" TargetMode="External"/><Relationship Id="rId12" Type="http://schemas.openxmlformats.org/officeDocument/2006/relationships/hyperlink" Target="https://www.youtube.com/watch?v=TWjtYSRlOUI" TargetMode="External"/><Relationship Id="rId2" Type="http://schemas.openxmlformats.org/officeDocument/2006/relationships/hyperlink" Target="https://www.nasa.gov/vision/earth/lookingatearth/29dec_magneticfield.html" TargetMode="External"/><Relationship Id="rId1" Type="http://schemas.openxmlformats.org/officeDocument/2006/relationships/slideLayout" Target="../slideLayouts/slideLayout2.xml"/><Relationship Id="rId6" Type="http://schemas.openxmlformats.org/officeDocument/2006/relationships/hyperlink" Target="https://apod.nasa.gov/apod/ap020818.html" TargetMode="External"/><Relationship Id="rId11" Type="http://schemas.openxmlformats.org/officeDocument/2006/relationships/hyperlink" Target="https://www.mapmania.org/map/105279/shift_of_the_north_magnetic_pole" TargetMode="External"/><Relationship Id="rId5" Type="http://schemas.openxmlformats.org/officeDocument/2006/relationships/hyperlink" Target="https://www.forbes.com/sites/trevornace/2019/12/17/earths-magnetic-north-pole-has-officially-moved-toward-russia/?sh=52473186201f" TargetMode="External"/><Relationship Id="rId10" Type="http://schemas.openxmlformats.org/officeDocument/2006/relationships/hyperlink" Target="https://www.goes.noaa.gov/" TargetMode="External"/><Relationship Id="rId4" Type="http://schemas.openxmlformats.org/officeDocument/2006/relationships/hyperlink" Target="https://fatinsl.info/" TargetMode="External"/><Relationship Id="rId9" Type="http://schemas.openxmlformats.org/officeDocument/2006/relationships/hyperlink" Target="https://quillandpad.com/2016/03/01/the-how-what-when-where-and-why-of-seeing-the-aurora-borealis-aka-northern-ligh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icture containing outdoor, sky, scene&#10;&#10;Description generated with very high confidence">
            <a:extLst>
              <a:ext uri="{FF2B5EF4-FFF2-40B4-BE49-F238E27FC236}">
                <a16:creationId xmlns:a16="http://schemas.microsoft.com/office/drawing/2014/main" id="{CAFA76F0-0ACF-4BE3-87C2-2FD37AFF65CF}"/>
              </a:ext>
            </a:extLst>
          </p:cNvPr>
          <p:cNvPicPr>
            <a:picLocks noChangeAspect="1"/>
          </p:cNvPicPr>
          <p:nvPr/>
        </p:nvPicPr>
        <p:blipFill rotWithShape="1">
          <a:blip r:embed="rId2">
            <a:alphaModFix amt="35000"/>
            <a:extLst>
              <a:ext uri="{28A0092B-C50C-407E-A947-70E740481C1C}">
                <a14:useLocalDpi xmlns:a14="http://schemas.microsoft.com/office/drawing/2010/main" val="0"/>
              </a:ext>
            </a:extLst>
          </a:blip>
          <a:srcRect t="27184"/>
          <a:stretch/>
        </p:blipFill>
        <p:spPr>
          <a:xfrm>
            <a:off x="1169894" y="58367"/>
            <a:ext cx="12191980" cy="6857999"/>
          </a:xfrm>
          <a:prstGeom prst="rect">
            <a:avLst/>
          </a:prstGeom>
        </p:spPr>
      </p:pic>
      <p:sp>
        <p:nvSpPr>
          <p:cNvPr id="3" name="Content Placeholder 2"/>
          <p:cNvSpPr>
            <a:spLocks noGrp="1"/>
          </p:cNvSpPr>
          <p:nvPr>
            <p:ph idx="1"/>
          </p:nvPr>
        </p:nvSpPr>
        <p:spPr>
          <a:xfrm>
            <a:off x="1684940" y="-77138"/>
            <a:ext cx="7990748" cy="4726276"/>
          </a:xfrm>
        </p:spPr>
        <p:txBody>
          <a:bodyPr anchor="ctr">
            <a:normAutofit/>
          </a:bodyPr>
          <a:lstStyle/>
          <a:p>
            <a:pPr marL="0" indent="0">
              <a:buNone/>
            </a:pPr>
            <a:r>
              <a:rPr lang="en-US" sz="3200" b="1" dirty="0">
                <a:solidFill>
                  <a:srgbClr val="FFFFFF"/>
                </a:solidFill>
              </a:rPr>
              <a:t>Lesson 2 Part 2</a:t>
            </a:r>
            <a:endParaRPr lang="en-US" sz="3200" dirty="0">
              <a:solidFill>
                <a:srgbClr val="FFFFFF"/>
              </a:solidFill>
            </a:endParaRPr>
          </a:p>
          <a:p>
            <a:pPr marL="0" indent="0">
              <a:buNone/>
            </a:pPr>
            <a:endParaRPr lang="en-US" sz="2000" dirty="0">
              <a:solidFill>
                <a:srgbClr val="FFFFFF"/>
              </a:solidFill>
            </a:endParaRPr>
          </a:p>
          <a:p>
            <a:endParaRPr lang="en-US" sz="2000" dirty="0">
              <a:solidFill>
                <a:srgbClr val="FFFFFF"/>
              </a:solidFill>
            </a:endParaRPr>
          </a:p>
        </p:txBody>
      </p:sp>
      <p:sp>
        <p:nvSpPr>
          <p:cNvPr id="4" name="Slide Number Placeholder 3"/>
          <p:cNvSpPr>
            <a:spLocks noGrp="1"/>
          </p:cNvSpPr>
          <p:nvPr>
            <p:ph type="sldNum" sz="quarter" idx="12"/>
          </p:nvPr>
        </p:nvSpPr>
        <p:spPr>
          <a:xfrm>
            <a:off x="10453254" y="6356350"/>
            <a:ext cx="900545" cy="365125"/>
          </a:xfrm>
        </p:spPr>
        <p:txBody>
          <a:bodyPr>
            <a:normAutofit fontScale="55000" lnSpcReduction="20000"/>
          </a:bodyPr>
          <a:lstStyle/>
          <a:p>
            <a:pPr>
              <a:spcAft>
                <a:spcPts val="600"/>
              </a:spcAft>
            </a:pPr>
            <a:fld id="{24520853-C384-4919-8F9A-9CB57A0B2B64}" type="slidenum">
              <a:rPr lang="en-US">
                <a:solidFill>
                  <a:srgbClr val="FFFFFF"/>
                </a:solidFill>
              </a:rPr>
              <a:pPr>
                <a:spcAft>
                  <a:spcPts val="600"/>
                </a:spcAft>
              </a:pPr>
              <a:t>1</a:t>
            </a:fld>
            <a:endParaRPr lang="en-US">
              <a:solidFill>
                <a:srgbClr val="FFFFFF"/>
              </a:solidFill>
            </a:endParaRPr>
          </a:p>
        </p:txBody>
      </p:sp>
      <p:sp>
        <p:nvSpPr>
          <p:cNvPr id="2" name="TextBox 1"/>
          <p:cNvSpPr txBox="1"/>
          <p:nvPr/>
        </p:nvSpPr>
        <p:spPr>
          <a:xfrm>
            <a:off x="362857" y="6473371"/>
            <a:ext cx="3715657" cy="384629"/>
          </a:xfrm>
          <a:prstGeom prst="rect">
            <a:avLst/>
          </a:prstGeom>
          <a:solidFill>
            <a:schemeClr val="tx1"/>
          </a:solidFill>
        </p:spPr>
        <p:txBody>
          <a:bodyPr wrap="square" rtlCol="0">
            <a:spAutoFit/>
          </a:bodyPr>
          <a:lstStyle/>
          <a:p>
            <a:endParaRPr lang="en-US" dirty="0"/>
          </a:p>
        </p:txBody>
      </p:sp>
      <p:sp>
        <p:nvSpPr>
          <p:cNvPr id="8" name="Content Placeholder 2">
            <a:extLst>
              <a:ext uri="{FF2B5EF4-FFF2-40B4-BE49-F238E27FC236}">
                <a16:creationId xmlns:a16="http://schemas.microsoft.com/office/drawing/2014/main" id="{EAD0ED8F-2A94-4FF9-EFD5-864AD5A63ADD}"/>
              </a:ext>
            </a:extLst>
          </p:cNvPr>
          <p:cNvSpPr txBox="1">
            <a:spLocks/>
          </p:cNvSpPr>
          <p:nvPr/>
        </p:nvSpPr>
        <p:spPr>
          <a:xfrm>
            <a:off x="1874721" y="1204029"/>
            <a:ext cx="7990748" cy="472627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200" b="1" dirty="0">
              <a:solidFill>
                <a:srgbClr val="FFFFFF"/>
              </a:solidFill>
            </a:endParaRPr>
          </a:p>
          <a:p>
            <a:pPr>
              <a:buFont typeface="Wingdings" panose="05000000000000000000" pitchFamily="2" charset="2"/>
              <a:buChar char="ü"/>
            </a:pPr>
            <a:r>
              <a:rPr lang="en-US" sz="3200" dirty="0">
                <a:solidFill>
                  <a:srgbClr val="FFFFFF"/>
                </a:solidFill>
              </a:rPr>
              <a:t> Introduction to the Space Environment</a:t>
            </a:r>
          </a:p>
          <a:p>
            <a:pPr>
              <a:buFont typeface="Wingdings" panose="05000000000000000000" pitchFamily="2" charset="2"/>
              <a:buChar char="q"/>
            </a:pPr>
            <a:r>
              <a:rPr lang="en-US" sz="3200" dirty="0">
                <a:solidFill>
                  <a:srgbClr val="FFFFFF"/>
                </a:solidFill>
              </a:rPr>
              <a:t>Earth-Sun Relationship</a:t>
            </a:r>
          </a:p>
          <a:p>
            <a:pPr marL="0" indent="0">
              <a:buFont typeface="Arial" panose="020B0604020202020204" pitchFamily="34" charset="0"/>
              <a:buNone/>
            </a:pPr>
            <a:endParaRPr lang="en-US" sz="2000" dirty="0">
              <a:solidFill>
                <a:srgbClr val="FFFFFF"/>
              </a:solidFill>
            </a:endParaRPr>
          </a:p>
          <a:p>
            <a:endParaRPr lang="en-US" sz="2000" dirty="0">
              <a:solidFill>
                <a:srgbClr val="FFFFFF"/>
              </a:solidFill>
            </a:endParaRPr>
          </a:p>
        </p:txBody>
      </p:sp>
    </p:spTree>
    <p:extLst>
      <p:ext uri="{BB962C8B-B14F-4D97-AF65-F5344CB8AC3E}">
        <p14:creationId xmlns:p14="http://schemas.microsoft.com/office/powerpoint/2010/main" val="146945434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23724611-BAAC-4048-B58D-6AF9FF1351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832" b="14169"/>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488AAA7-F3DE-486E-8615-1231ADD1F61E}"/>
              </a:ext>
            </a:extLst>
          </p:cNvPr>
          <p:cNvSpPr>
            <a:spLocks noGrp="1"/>
          </p:cNvSpPr>
          <p:nvPr>
            <p:ph type="title"/>
          </p:nvPr>
        </p:nvSpPr>
        <p:spPr>
          <a:xfrm>
            <a:off x="1468265" y="1641611"/>
            <a:ext cx="804672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dirty="0">
                <a:solidFill>
                  <a:srgbClr val="00B0F0"/>
                </a:solidFill>
              </a:rPr>
              <a:t>20 – 25% of all spacecraft failures are related to interactions with the space environment</a:t>
            </a:r>
          </a:p>
        </p:txBody>
      </p:sp>
      <p:sp>
        <p:nvSpPr>
          <p:cNvPr id="3" name="Slide Number Placeholder 2">
            <a:extLst>
              <a:ext uri="{FF2B5EF4-FFF2-40B4-BE49-F238E27FC236}">
                <a16:creationId xmlns:a16="http://schemas.microsoft.com/office/drawing/2014/main" id="{49B944C6-501F-A1BC-1C32-6EEFED65BB09}"/>
              </a:ext>
            </a:extLst>
          </p:cNvPr>
          <p:cNvSpPr>
            <a:spLocks noGrp="1"/>
          </p:cNvSpPr>
          <p:nvPr>
            <p:ph type="sldNum" sz="quarter" idx="12"/>
          </p:nvPr>
        </p:nvSpPr>
        <p:spPr/>
        <p:txBody>
          <a:bodyPr>
            <a:normAutofit lnSpcReduction="10000"/>
          </a:bodyPr>
          <a:lstStyle/>
          <a:p>
            <a:fld id="{54701E7F-7746-4C27-B2FB-416942EB66E3}" type="slidenum">
              <a:rPr lang="en-US" smtClean="0"/>
              <a:t>2</a:t>
            </a:fld>
            <a:endParaRPr lang="en-US"/>
          </a:p>
        </p:txBody>
      </p:sp>
    </p:spTree>
    <p:extLst>
      <p:ext uri="{BB962C8B-B14F-4D97-AF65-F5344CB8AC3E}">
        <p14:creationId xmlns:p14="http://schemas.microsoft.com/office/powerpoint/2010/main" val="307597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0"/>
                                  </p:stCondLst>
                                  <p:iterate>
                                    <p:tmPct val="10000"/>
                                  </p:iterate>
                                  <p:childTnLst>
                                    <p:set>
                                      <p:cBhvr>
                                        <p:cTn id="9" dur="1" fill="hold">
                                          <p:stCondLst>
                                            <p:cond delay="0"/>
                                          </p:stCondLst>
                                        </p:cTn>
                                        <p:tgtEl>
                                          <p:spTgt spid="1026"/>
                                        </p:tgtEl>
                                        <p:attrNameLst>
                                          <p:attrName>style.visibility</p:attrName>
                                        </p:attrNameLst>
                                      </p:cBhvr>
                                      <p:to>
                                        <p:strVal val="visible"/>
                                      </p:to>
                                    </p:set>
                                    <p:animEffect transition="in" filter="fade">
                                      <p:cBhvr>
                                        <p:cTn id="10" dur="7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ee the source image">
            <a:extLst>
              <a:ext uri="{FF2B5EF4-FFF2-40B4-BE49-F238E27FC236}">
                <a16:creationId xmlns:a16="http://schemas.microsoft.com/office/drawing/2014/main" id="{CD3B214A-83D0-43BD-953C-F16956F54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917" y="0"/>
            <a:ext cx="10972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0A94EC2-F4A3-4B5D-A8C8-8BDCB099777A}"/>
              </a:ext>
            </a:extLst>
          </p:cNvPr>
          <p:cNvSpPr txBox="1"/>
          <p:nvPr/>
        </p:nvSpPr>
        <p:spPr>
          <a:xfrm>
            <a:off x="5643154" y="114953"/>
            <a:ext cx="4028585" cy="707886"/>
          </a:xfrm>
          <a:prstGeom prst="rect">
            <a:avLst/>
          </a:prstGeom>
          <a:noFill/>
        </p:spPr>
        <p:txBody>
          <a:bodyPr wrap="square" rtlCol="0">
            <a:spAutoFit/>
          </a:bodyPr>
          <a:lstStyle/>
          <a:p>
            <a:pPr algn="ctr"/>
            <a:r>
              <a:rPr lang="en-US" sz="4000" dirty="0"/>
              <a:t>ALTITUDE</a:t>
            </a:r>
          </a:p>
        </p:txBody>
      </p:sp>
      <p:sp>
        <p:nvSpPr>
          <p:cNvPr id="2" name="Slide Number Placeholder 1">
            <a:extLst>
              <a:ext uri="{FF2B5EF4-FFF2-40B4-BE49-F238E27FC236}">
                <a16:creationId xmlns:a16="http://schemas.microsoft.com/office/drawing/2014/main" id="{AB806CB0-69E2-046D-E9AC-5E44E55E55AA}"/>
              </a:ext>
            </a:extLst>
          </p:cNvPr>
          <p:cNvSpPr>
            <a:spLocks noGrp="1"/>
          </p:cNvSpPr>
          <p:nvPr>
            <p:ph type="sldNum" sz="quarter" idx="12"/>
          </p:nvPr>
        </p:nvSpPr>
        <p:spPr/>
        <p:txBody>
          <a:bodyPr>
            <a:normAutofit lnSpcReduction="10000"/>
          </a:bodyPr>
          <a:lstStyle/>
          <a:p>
            <a:fld id="{54701E7F-7746-4C27-B2FB-416942EB66E3}" type="slidenum">
              <a:rPr lang="en-US" smtClean="0"/>
              <a:t>3</a:t>
            </a:fld>
            <a:endParaRPr lang="en-US"/>
          </a:p>
        </p:txBody>
      </p:sp>
    </p:spTree>
    <p:extLst>
      <p:ext uri="{BB962C8B-B14F-4D97-AF65-F5344CB8AC3E}">
        <p14:creationId xmlns:p14="http://schemas.microsoft.com/office/powerpoint/2010/main" val="1239631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936" y="728485"/>
            <a:ext cx="7584501" cy="1582536"/>
          </a:xfrm>
        </p:spPr>
        <p:txBody>
          <a:bodyPr anchor="ctr">
            <a:normAutofit/>
          </a:bodyPr>
          <a:lstStyle/>
          <a:p>
            <a:pPr algn="l"/>
            <a:r>
              <a:rPr lang="en-US" sz="4800">
                <a:solidFill>
                  <a:srgbClr val="FFFFFF"/>
                </a:solidFill>
              </a:rPr>
              <a:t>	</a:t>
            </a:r>
          </a:p>
        </p:txBody>
      </p:sp>
      <p:sp>
        <p:nvSpPr>
          <p:cNvPr id="3" name="Subtitle 2"/>
          <p:cNvSpPr>
            <a:spLocks noGrp="1"/>
          </p:cNvSpPr>
          <p:nvPr>
            <p:ph type="subTitle" idx="1"/>
          </p:nvPr>
        </p:nvSpPr>
        <p:spPr>
          <a:xfrm>
            <a:off x="9701287" y="1887271"/>
            <a:ext cx="2038557" cy="3083458"/>
          </a:xfrm>
        </p:spPr>
        <p:txBody>
          <a:bodyPr anchor="ctr">
            <a:normAutofit/>
          </a:bodyPr>
          <a:lstStyle/>
          <a:p>
            <a:r>
              <a:rPr lang="en-US" sz="3200" b="1" dirty="0">
                <a:solidFill>
                  <a:schemeClr val="tx1">
                    <a:lumMod val="85000"/>
                  </a:schemeClr>
                </a:solidFill>
              </a:rPr>
              <a:t>Orbital Motion Laws</a:t>
            </a:r>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19724" r="29472" b="-2"/>
          <a:stretch/>
        </p:blipFill>
        <p:spPr>
          <a:xfrm>
            <a:off x="327543" y="1714029"/>
            <a:ext cx="2761488" cy="3655524"/>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3967" r="15668" b="-1"/>
          <a:stretch/>
        </p:blipFill>
        <p:spPr>
          <a:xfrm>
            <a:off x="3416442" y="1714029"/>
            <a:ext cx="2761488" cy="3655524"/>
          </a:xfrm>
          <a:prstGeom prst="rect">
            <a:avLst/>
          </a:prstGeom>
        </p:spPr>
      </p:pic>
      <p:graphicFrame>
        <p:nvGraphicFramePr>
          <p:cNvPr id="4" name="Object 3">
            <a:extLst>
              <a:ext uri="{FF2B5EF4-FFF2-40B4-BE49-F238E27FC236}">
                <a16:creationId xmlns:a16="http://schemas.microsoft.com/office/drawing/2014/main" id="{58A2ACB5-4DE8-B61A-F875-16D127F9E041}"/>
              </a:ext>
            </a:extLst>
          </p:cNvPr>
          <p:cNvGraphicFramePr>
            <a:graphicFrameLocks noChangeAspect="1"/>
          </p:cNvGraphicFramePr>
          <p:nvPr>
            <p:extLst>
              <p:ext uri="{D42A27DB-BD31-4B8C-83A1-F6EECF244321}">
                <p14:modId xmlns:p14="http://schemas.microsoft.com/office/powerpoint/2010/main" val="1014474202"/>
              </p:ext>
            </p:extLst>
          </p:nvPr>
        </p:nvGraphicFramePr>
        <p:xfrm>
          <a:off x="6486057" y="1717282"/>
          <a:ext cx="2529356" cy="3621578"/>
        </p:xfrm>
        <a:graphic>
          <a:graphicData uri="http://schemas.openxmlformats.org/presentationml/2006/ole">
            <mc:AlternateContent xmlns:mc="http://schemas.openxmlformats.org/markup-compatibility/2006">
              <mc:Choice xmlns:v="urn:schemas-microsoft-com:vml" Requires="v">
                <p:oleObj name="Bitmap Image" r:id="rId4" imgW="1257480" imgH="1800360" progId="Paint.Picture">
                  <p:embed/>
                </p:oleObj>
              </mc:Choice>
              <mc:Fallback>
                <p:oleObj name="Bitmap Image" r:id="rId4" imgW="1257480" imgH="1800360" progId="Paint.Picture">
                  <p:embed/>
                  <p:pic>
                    <p:nvPicPr>
                      <p:cNvPr id="4" name="Object 3">
                        <a:extLst>
                          <a:ext uri="{FF2B5EF4-FFF2-40B4-BE49-F238E27FC236}">
                            <a16:creationId xmlns:a16="http://schemas.microsoft.com/office/drawing/2014/main" id="{58A2ACB5-4DE8-B61A-F875-16D127F9E041}"/>
                          </a:ext>
                        </a:extLst>
                      </p:cNvPr>
                      <p:cNvPicPr/>
                      <p:nvPr/>
                    </p:nvPicPr>
                    <p:blipFill>
                      <a:blip r:embed="rId5"/>
                      <a:stretch>
                        <a:fillRect/>
                      </a:stretch>
                    </p:blipFill>
                    <p:spPr>
                      <a:xfrm>
                        <a:off x="6486057" y="1717282"/>
                        <a:ext cx="2529356" cy="3621578"/>
                      </a:xfrm>
                      <a:prstGeom prst="rect">
                        <a:avLst/>
                      </a:prstGeom>
                    </p:spPr>
                  </p:pic>
                </p:oleObj>
              </mc:Fallback>
            </mc:AlternateContent>
          </a:graphicData>
        </a:graphic>
      </p:graphicFrame>
      <p:sp>
        <p:nvSpPr>
          <p:cNvPr id="5" name="Slide Number Placeholder 4">
            <a:extLst>
              <a:ext uri="{FF2B5EF4-FFF2-40B4-BE49-F238E27FC236}">
                <a16:creationId xmlns:a16="http://schemas.microsoft.com/office/drawing/2014/main" id="{0108067B-B091-2DC5-0F1B-BD8ED0837A1E}"/>
              </a:ext>
            </a:extLst>
          </p:cNvPr>
          <p:cNvSpPr>
            <a:spLocks noGrp="1"/>
          </p:cNvSpPr>
          <p:nvPr>
            <p:ph type="sldNum" sz="quarter" idx="12"/>
          </p:nvPr>
        </p:nvSpPr>
        <p:spPr/>
        <p:txBody>
          <a:bodyPr>
            <a:normAutofit lnSpcReduction="10000"/>
          </a:bodyPr>
          <a:lstStyle/>
          <a:p>
            <a:fld id="{54701E7F-7746-4C27-B2FB-416942EB66E3}" type="slidenum">
              <a:rPr lang="en-US" smtClean="0"/>
              <a:t>4</a:t>
            </a:fld>
            <a:endParaRPr lang="en-US"/>
          </a:p>
        </p:txBody>
      </p:sp>
    </p:spTree>
    <p:extLst>
      <p:ext uri="{BB962C8B-B14F-4D97-AF65-F5344CB8AC3E}">
        <p14:creationId xmlns:p14="http://schemas.microsoft.com/office/powerpoint/2010/main" val="1477237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a:xfrm>
            <a:off x="559845" y="1100047"/>
            <a:ext cx="3602212" cy="1222188"/>
          </a:xfrm>
        </p:spPr>
        <p:txBody>
          <a:bodyPr>
            <a:noAutofit/>
          </a:bodyPr>
          <a:lstStyle/>
          <a:p>
            <a:r>
              <a:rPr lang="en-US" sz="4000" b="1" dirty="0"/>
              <a:t>ARISTOTLE</a:t>
            </a:r>
          </a:p>
        </p:txBody>
      </p:sp>
      <p:sp>
        <p:nvSpPr>
          <p:cNvPr id="6" name="Slide Number Placeholder 5"/>
          <p:cNvSpPr>
            <a:spLocks noGrp="1"/>
          </p:cNvSpPr>
          <p:nvPr>
            <p:ph type="sldNum" sz="quarter" idx="12"/>
          </p:nvPr>
        </p:nvSpPr>
        <p:spPr/>
        <p:txBody>
          <a:bodyPr>
            <a:normAutofit lnSpcReduction="10000"/>
          </a:bodyPr>
          <a:lstStyle/>
          <a:p>
            <a:fld id="{24520853-C384-4919-8F9A-9CB57A0B2B64}" type="slidenum">
              <a:rPr lang="en-US" smtClean="0"/>
              <a:t>5</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244" y="2883422"/>
            <a:ext cx="3955677" cy="3832611"/>
          </a:xfrm>
          <a:prstGeom prst="rect">
            <a:avLst/>
          </a:prstGeom>
        </p:spPr>
      </p:pic>
      <p:pic>
        <p:nvPicPr>
          <p:cNvPr id="8" name="Picture 7" descr="A close up of a person&#10;&#10;Description automatically generated">
            <a:extLst>
              <a:ext uri="{FF2B5EF4-FFF2-40B4-BE49-F238E27FC236}">
                <a16:creationId xmlns:a16="http://schemas.microsoft.com/office/drawing/2014/main" id="{6D0DA066-F72E-4587-826B-2F7B812D88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5918" y="24796"/>
            <a:ext cx="1981200" cy="2667000"/>
          </a:xfrm>
          <a:prstGeom prst="rect">
            <a:avLst/>
          </a:prstGeom>
        </p:spPr>
      </p:pic>
      <p:pic>
        <p:nvPicPr>
          <p:cNvPr id="11" name="Picture 10" descr="A close up of a piece of paper&#10;&#10;Description automatically generated">
            <a:extLst>
              <a:ext uri="{FF2B5EF4-FFF2-40B4-BE49-F238E27FC236}">
                <a16:creationId xmlns:a16="http://schemas.microsoft.com/office/drawing/2014/main" id="{73BBD31B-9D5C-4CB7-A6A1-57280547E8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7181" y="2877646"/>
            <a:ext cx="3848260" cy="3822775"/>
          </a:xfrm>
          <a:prstGeom prst="rect">
            <a:avLst/>
          </a:prstGeom>
        </p:spPr>
      </p:pic>
      <p:pic>
        <p:nvPicPr>
          <p:cNvPr id="13" name="Picture 12" descr="A person wearing a red and black hair&#10;&#10;Description automatically generated">
            <a:extLst>
              <a:ext uri="{FF2B5EF4-FFF2-40B4-BE49-F238E27FC236}">
                <a16:creationId xmlns:a16="http://schemas.microsoft.com/office/drawing/2014/main" id="{97428B7E-01EF-4922-8020-8FA5FC0D81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8451" y="0"/>
            <a:ext cx="2647950" cy="2667000"/>
          </a:xfrm>
          <a:prstGeom prst="rect">
            <a:avLst/>
          </a:prstGeom>
        </p:spPr>
      </p:pic>
      <p:sp>
        <p:nvSpPr>
          <p:cNvPr id="15" name="Subtitle 2">
            <a:extLst>
              <a:ext uri="{FF2B5EF4-FFF2-40B4-BE49-F238E27FC236}">
                <a16:creationId xmlns:a16="http://schemas.microsoft.com/office/drawing/2014/main" id="{25290034-9D4A-449B-B528-30089F35AB15}"/>
              </a:ext>
            </a:extLst>
          </p:cNvPr>
          <p:cNvSpPr txBox="1">
            <a:spLocks/>
          </p:cNvSpPr>
          <p:nvPr/>
        </p:nvSpPr>
        <p:spPr>
          <a:xfrm>
            <a:off x="8600164" y="1655458"/>
            <a:ext cx="4053396" cy="122218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t>COPERNICUS</a:t>
            </a:r>
          </a:p>
        </p:txBody>
      </p:sp>
      <p:sp>
        <p:nvSpPr>
          <p:cNvPr id="16" name="Subtitle 2">
            <a:extLst>
              <a:ext uri="{FF2B5EF4-FFF2-40B4-BE49-F238E27FC236}">
                <a16:creationId xmlns:a16="http://schemas.microsoft.com/office/drawing/2014/main" id="{C643B137-EA6B-4BB2-8A41-26FE9F8C3467}"/>
              </a:ext>
            </a:extLst>
          </p:cNvPr>
          <p:cNvSpPr txBox="1">
            <a:spLocks/>
          </p:cNvSpPr>
          <p:nvPr/>
        </p:nvSpPr>
        <p:spPr>
          <a:xfrm>
            <a:off x="4009404" y="4061477"/>
            <a:ext cx="4181285" cy="122218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t>EARLY ASTRONOMERS</a:t>
            </a:r>
          </a:p>
        </p:txBody>
      </p:sp>
    </p:spTree>
    <p:extLst>
      <p:ext uri="{BB962C8B-B14F-4D97-AF65-F5344CB8AC3E}">
        <p14:creationId xmlns:p14="http://schemas.microsoft.com/office/powerpoint/2010/main" val="1436641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a:xfrm>
            <a:off x="526484" y="254079"/>
            <a:ext cx="11497235" cy="1722998"/>
          </a:xfrm>
        </p:spPr>
        <p:txBody>
          <a:bodyPr>
            <a:noAutofit/>
          </a:bodyPr>
          <a:lstStyle/>
          <a:p>
            <a:r>
              <a:rPr lang="en-US" sz="4000" b="1" dirty="0"/>
              <a:t>TYCHO BRAHE</a:t>
            </a:r>
          </a:p>
        </p:txBody>
      </p:sp>
      <p:sp>
        <p:nvSpPr>
          <p:cNvPr id="6" name="Slide Number Placeholder 5"/>
          <p:cNvSpPr>
            <a:spLocks noGrp="1"/>
          </p:cNvSpPr>
          <p:nvPr>
            <p:ph type="sldNum" sz="quarter" idx="12"/>
          </p:nvPr>
        </p:nvSpPr>
        <p:spPr/>
        <p:txBody>
          <a:bodyPr>
            <a:normAutofit lnSpcReduction="10000"/>
          </a:bodyPr>
          <a:lstStyle/>
          <a:p>
            <a:fld id="{24520853-C384-4919-8F9A-9CB57A0B2B64}" type="slidenum">
              <a:rPr lang="en-US" smtClean="0"/>
              <a:t>6</a:t>
            </a:fld>
            <a:endParaRPr lang="en-US" dirty="0"/>
          </a:p>
        </p:txBody>
      </p:sp>
      <p:sp>
        <p:nvSpPr>
          <p:cNvPr id="4" name="TextBox 3"/>
          <p:cNvSpPr txBox="1"/>
          <p:nvPr/>
        </p:nvSpPr>
        <p:spPr>
          <a:xfrm>
            <a:off x="1148974" y="1938655"/>
            <a:ext cx="4633472" cy="584775"/>
          </a:xfrm>
          <a:prstGeom prst="rect">
            <a:avLst/>
          </a:prstGeom>
          <a:noFill/>
        </p:spPr>
        <p:txBody>
          <a:bodyPr wrap="square" rtlCol="0">
            <a:spAutoFit/>
          </a:bodyPr>
          <a:lstStyle/>
          <a:p>
            <a:r>
              <a:rPr lang="en-US" sz="3200" dirty="0"/>
              <a:t>Observational astronomy</a:t>
            </a:r>
          </a:p>
        </p:txBody>
      </p:sp>
      <p:pic>
        <p:nvPicPr>
          <p:cNvPr id="3074" name="Picture 2" descr="http://www.tinhouse.com/blog/wp-content/uploads/2012/01/duel-300x16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7825" y="1303677"/>
            <a:ext cx="4885554" cy="265448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picture containing drawing&#10;&#10;Description automatically generated">
            <a:extLst>
              <a:ext uri="{FF2B5EF4-FFF2-40B4-BE49-F238E27FC236}">
                <a16:creationId xmlns:a16="http://schemas.microsoft.com/office/drawing/2014/main" id="{FB127A63-1108-4E7E-BA03-3ADF38705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649" y="3153721"/>
            <a:ext cx="6144122" cy="2983273"/>
          </a:xfrm>
          <a:prstGeom prst="rect">
            <a:avLst/>
          </a:prstGeom>
        </p:spPr>
      </p:pic>
      <p:pic>
        <p:nvPicPr>
          <p:cNvPr id="7" name="Picture 6">
            <a:extLst>
              <a:ext uri="{FF2B5EF4-FFF2-40B4-BE49-F238E27FC236}">
                <a16:creationId xmlns:a16="http://schemas.microsoft.com/office/drawing/2014/main" id="{F096C8E0-26E2-493C-996A-41B3A3D920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5800" y="3924300"/>
            <a:ext cx="1969770" cy="2933700"/>
          </a:xfrm>
          <a:prstGeom prst="rect">
            <a:avLst/>
          </a:prstGeom>
        </p:spPr>
      </p:pic>
    </p:spTree>
    <p:extLst>
      <p:ext uri="{BB962C8B-B14F-4D97-AF65-F5344CB8AC3E}">
        <p14:creationId xmlns:p14="http://schemas.microsoft.com/office/powerpoint/2010/main" val="2846416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a:xfrm>
            <a:off x="710005" y="222095"/>
            <a:ext cx="11497235" cy="1722998"/>
          </a:xfrm>
        </p:spPr>
        <p:txBody>
          <a:bodyPr>
            <a:noAutofit/>
          </a:bodyPr>
          <a:lstStyle/>
          <a:p>
            <a:r>
              <a:rPr lang="en-US" sz="4000" b="1" dirty="0"/>
              <a:t>JOHANNES KEPLER</a:t>
            </a:r>
          </a:p>
        </p:txBody>
      </p:sp>
      <p:sp>
        <p:nvSpPr>
          <p:cNvPr id="6" name="Slide Number Placeholder 5"/>
          <p:cNvSpPr>
            <a:spLocks noGrp="1"/>
          </p:cNvSpPr>
          <p:nvPr>
            <p:ph type="sldNum" sz="quarter" idx="12"/>
          </p:nvPr>
        </p:nvSpPr>
        <p:spPr/>
        <p:txBody>
          <a:bodyPr>
            <a:normAutofit lnSpcReduction="10000"/>
          </a:bodyPr>
          <a:lstStyle/>
          <a:p>
            <a:fld id="{24520853-C384-4919-8F9A-9CB57A0B2B64}" type="slidenum">
              <a:rPr lang="en-US" smtClean="0"/>
              <a:t>7</a:t>
            </a:fld>
            <a:endParaRPr lang="en-US" dirty="0"/>
          </a:p>
        </p:txBody>
      </p:sp>
      <mc:AlternateContent xmlns:mc="http://schemas.openxmlformats.org/markup-compatibility/2006" xmlns:a14="http://schemas.microsoft.com/office/drawing/2010/main">
        <mc:Choice Requires="a14">
          <p:sp>
            <p:nvSpPr>
              <p:cNvPr id="7" name="TextBox 6"/>
              <p:cNvSpPr txBox="1"/>
              <p:nvPr/>
            </p:nvSpPr>
            <p:spPr>
              <a:xfrm>
                <a:off x="591671" y="1083688"/>
                <a:ext cx="11255774" cy="5087996"/>
              </a:xfrm>
              <a:prstGeom prst="rect">
                <a:avLst/>
              </a:prstGeom>
              <a:noFill/>
            </p:spPr>
            <p:txBody>
              <a:bodyPr wrap="none" rtlCol="0">
                <a:spAutoFit/>
              </a:bodyPr>
              <a:lstStyle/>
              <a:p>
                <a:pPr marL="342900" indent="-342900">
                  <a:buAutoNum type="arabicPeriod"/>
                </a:pPr>
                <a:r>
                  <a:rPr lang="en-US" dirty="0"/>
                  <a:t>The orbits of planets are ellipses with the sun at one focus.</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endParaRPr lang="en-US" dirty="0"/>
              </a:p>
              <a:p>
                <a:endParaRPr lang="en-US" dirty="0"/>
              </a:p>
              <a:p>
                <a:endParaRPr lang="en-US" dirty="0"/>
              </a:p>
              <a:p>
                <a:endParaRPr lang="en-US" dirty="0"/>
              </a:p>
              <a:p>
                <a:endParaRPr lang="en-US" dirty="0"/>
              </a:p>
              <a:p>
                <a:r>
                  <a:rPr lang="en-US" dirty="0"/>
                  <a:t>2. The line joining a planet to the sun sweeps out equal areas in equal times.</a:t>
                </a:r>
              </a:p>
              <a:p>
                <a:pPr marL="342900" indent="-342900">
                  <a:buAutoNum type="arabicPeriod"/>
                </a:pPr>
                <a:endParaRPr lang="en-US" dirty="0"/>
              </a:p>
              <a:p>
                <a:pPr marL="342900" indent="-342900">
                  <a:buAutoNum type="arabicPeriod"/>
                </a:pPr>
                <a:endParaRPr lang="en-US" dirty="0"/>
              </a:p>
              <a:p>
                <a:endParaRPr lang="en-US" dirty="0"/>
              </a:p>
              <a:p>
                <a:endParaRPr lang="en-US" dirty="0"/>
              </a:p>
              <a:p>
                <a:r>
                  <a:rPr lang="en-US" dirty="0"/>
                  <a:t>3. The square of an orbit’s period is proportional to the cube of the average distance between the planet and the sun. </a:t>
                </a:r>
              </a:p>
              <a:p>
                <a:pPr marL="342900" indent="-342900">
                  <a:buAutoNum type="arabicPeriod"/>
                </a:pPr>
                <a:endParaRPr lang="en-US" dirty="0"/>
              </a:p>
              <a:p>
                <a:r>
                  <a:rPr lang="en-US" dirty="0"/>
                  <a:t>       </a:t>
                </a:r>
                <a14:m>
                  <m:oMath xmlns:m="http://schemas.openxmlformats.org/officeDocument/2006/math">
                    <m:r>
                      <m:rPr>
                        <m:sty m:val="p"/>
                      </m:rPr>
                      <a:rPr lang="en-US" b="0" i="0" smtClean="0">
                        <a:latin typeface="Cambria Math" panose="02040503050406030204" pitchFamily="18" charset="0"/>
                      </a:rPr>
                      <m:t>P</m:t>
                    </m:r>
                    <m:r>
                      <a:rPr lang="en-US" b="0" i="1" smtClean="0">
                        <a:latin typeface="Cambria Math" panose="02040503050406030204" pitchFamily="18" charset="0"/>
                      </a:rPr>
                      <m:t>=2</m:t>
                    </m:r>
                    <m:r>
                      <m:rPr>
                        <m:sty m:val="p"/>
                      </m:rPr>
                      <a:rPr lang="el-GR" b="0" i="1" smtClean="0">
                        <a:latin typeface="Cambria Math" panose="02040503050406030204" pitchFamily="18" charset="0"/>
                      </a:rPr>
                      <m:t>π</m:t>
                    </m:r>
                    <m:rad>
                      <m:radPr>
                        <m:degHide m:val="on"/>
                        <m:ctrlPr>
                          <a:rPr lang="el-GR" b="0" i="1" smtClean="0">
                            <a:latin typeface="Cambria Math" panose="02040503050406030204" pitchFamily="18" charset="0"/>
                          </a:rPr>
                        </m:ctrlPr>
                      </m:radPr>
                      <m:deg/>
                      <m:e>
                        <m:f>
                          <m:fPr>
                            <m:ctrlPr>
                              <a:rPr lang="el-GR" b="0" i="1" smtClean="0">
                                <a:latin typeface="Cambria Math" panose="02040503050406030204" pitchFamily="18" charset="0"/>
                              </a:rPr>
                            </m:ctrlPr>
                          </m:fPr>
                          <m:num>
                            <m:sSup>
                              <m:sSupPr>
                                <m:ctrlPr>
                                  <a:rPr lang="el-GR"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3</m:t>
                                </m:r>
                              </m:sup>
                            </m:sSup>
                          </m:num>
                          <m:den>
                            <m:r>
                              <m:rPr>
                                <m:sty m:val="p"/>
                              </m:rPr>
                              <a:rPr lang="el-GR" b="0" i="1" smtClean="0">
                                <a:latin typeface="Cambria Math" panose="02040503050406030204" pitchFamily="18" charset="0"/>
                              </a:rPr>
                              <m:t>μ</m:t>
                            </m:r>
                          </m:den>
                        </m:f>
                      </m:e>
                    </m:rad>
                  </m:oMath>
                </a14:m>
                <a:r>
                  <a:rPr lang="en-US"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591671" y="1083688"/>
                <a:ext cx="11255774" cy="5087996"/>
              </a:xfrm>
              <a:prstGeom prst="rect">
                <a:avLst/>
              </a:prstGeom>
              <a:blipFill rotWithShape="0">
                <a:blip r:embed="rId2"/>
                <a:stretch>
                  <a:fillRect l="-433" t="-719"/>
                </a:stretch>
              </a:blipFill>
            </p:spPr>
            <p:txBody>
              <a:bodyPr/>
              <a:lstStyle/>
              <a:p>
                <a:r>
                  <a:rPr lang="en-US">
                    <a:noFill/>
                  </a:rPr>
                  <a:t> </a:t>
                </a:r>
              </a:p>
            </p:txBody>
          </p:sp>
        </mc:Fallback>
      </mc:AlternateContent>
      <p:sp>
        <p:nvSpPr>
          <p:cNvPr id="8" name="TextBox 7"/>
          <p:cNvSpPr txBox="1"/>
          <p:nvPr/>
        </p:nvSpPr>
        <p:spPr>
          <a:xfrm>
            <a:off x="2574916" y="5433020"/>
            <a:ext cx="4585447" cy="923330"/>
          </a:xfrm>
          <a:prstGeom prst="rect">
            <a:avLst/>
          </a:prstGeom>
          <a:noFill/>
        </p:spPr>
        <p:txBody>
          <a:bodyPr wrap="square" rtlCol="0">
            <a:spAutoFit/>
          </a:bodyPr>
          <a:lstStyle/>
          <a:p>
            <a:r>
              <a:rPr lang="en-US" dirty="0"/>
              <a:t>P = period</a:t>
            </a:r>
          </a:p>
          <a:p>
            <a:r>
              <a:rPr lang="en-US" dirty="0"/>
              <a:t>a = semi-major axis</a:t>
            </a:r>
          </a:p>
          <a:p>
            <a:r>
              <a:rPr lang="el-GR" dirty="0"/>
              <a:t>μ</a:t>
            </a:r>
            <a:r>
              <a:rPr lang="en-US" dirty="0"/>
              <a:t> = gravitational constant</a:t>
            </a:r>
          </a:p>
        </p:txBody>
      </p:sp>
      <p:pic>
        <p:nvPicPr>
          <p:cNvPr id="9" name="Picture 8"/>
          <p:cNvPicPr>
            <a:picLocks noChangeAspect="1"/>
          </p:cNvPicPr>
          <p:nvPr/>
        </p:nvPicPr>
        <p:blipFill>
          <a:blip r:embed="rId3"/>
          <a:stretch>
            <a:fillRect/>
          </a:stretch>
        </p:blipFill>
        <p:spPr>
          <a:xfrm>
            <a:off x="1389540" y="1439740"/>
            <a:ext cx="4029637" cy="1752845"/>
          </a:xfrm>
          <a:prstGeom prst="rect">
            <a:avLst/>
          </a:prstGeom>
        </p:spPr>
      </p:pic>
      <p:cxnSp>
        <p:nvCxnSpPr>
          <p:cNvPr id="13" name="Straight Connector 12"/>
          <p:cNvCxnSpPr/>
          <p:nvPr/>
        </p:nvCxnSpPr>
        <p:spPr>
          <a:xfrm flipH="1">
            <a:off x="1801906" y="3192585"/>
            <a:ext cx="13447" cy="317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4705357" y="3179354"/>
            <a:ext cx="13447" cy="317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966742" y="3166608"/>
            <a:ext cx="838200" cy="369332"/>
          </a:xfrm>
          <a:prstGeom prst="rect">
            <a:avLst/>
          </a:prstGeom>
          <a:noFill/>
        </p:spPr>
        <p:txBody>
          <a:bodyPr wrap="square" rtlCol="0">
            <a:spAutoFit/>
          </a:bodyPr>
          <a:lstStyle/>
          <a:p>
            <a:r>
              <a:rPr lang="en-US" dirty="0"/>
              <a:t>2a</a:t>
            </a:r>
          </a:p>
        </p:txBody>
      </p:sp>
      <p:cxnSp>
        <p:nvCxnSpPr>
          <p:cNvPr id="19" name="Straight Arrow Connector 18"/>
          <p:cNvCxnSpPr/>
          <p:nvPr/>
        </p:nvCxnSpPr>
        <p:spPr>
          <a:xfrm flipH="1">
            <a:off x="1815353" y="3351274"/>
            <a:ext cx="11715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385842" y="3351274"/>
            <a:ext cx="131951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903661" y="2079003"/>
            <a:ext cx="2100072" cy="369332"/>
          </a:xfrm>
          <a:prstGeom prst="rect">
            <a:avLst/>
          </a:prstGeom>
          <a:noFill/>
        </p:spPr>
        <p:txBody>
          <a:bodyPr wrap="square" rtlCol="0">
            <a:spAutoFit/>
          </a:bodyPr>
          <a:lstStyle/>
          <a:p>
            <a:r>
              <a:rPr lang="en-US" dirty="0" err="1">
                <a:solidFill>
                  <a:srgbClr val="00B0F0"/>
                </a:solidFill>
              </a:rPr>
              <a:t>apoapsis</a:t>
            </a:r>
            <a:endParaRPr lang="en-US" dirty="0">
              <a:solidFill>
                <a:srgbClr val="00B0F0"/>
              </a:solidFill>
            </a:endParaRPr>
          </a:p>
        </p:txBody>
      </p:sp>
      <p:sp>
        <p:nvSpPr>
          <p:cNvPr id="23" name="TextBox 22"/>
          <p:cNvSpPr txBox="1"/>
          <p:nvPr/>
        </p:nvSpPr>
        <p:spPr>
          <a:xfrm>
            <a:off x="707224" y="2106739"/>
            <a:ext cx="2067244" cy="369332"/>
          </a:xfrm>
          <a:prstGeom prst="rect">
            <a:avLst/>
          </a:prstGeom>
          <a:noFill/>
        </p:spPr>
        <p:txBody>
          <a:bodyPr wrap="square" rtlCol="0">
            <a:spAutoFit/>
          </a:bodyPr>
          <a:lstStyle/>
          <a:p>
            <a:r>
              <a:rPr lang="en-US" dirty="0" err="1">
                <a:solidFill>
                  <a:srgbClr val="00B0F0"/>
                </a:solidFill>
              </a:rPr>
              <a:t>periapsis</a:t>
            </a:r>
            <a:endParaRPr lang="en-US" dirty="0">
              <a:solidFill>
                <a:srgbClr val="00B0F0"/>
              </a:solidFill>
            </a:endParaRPr>
          </a:p>
        </p:txBody>
      </p:sp>
      <p:pic>
        <p:nvPicPr>
          <p:cNvPr id="5" name="Picture 4" descr="A spaceship in outer space&#10;&#10;Description automatically generated with low confidence">
            <a:extLst>
              <a:ext uri="{FF2B5EF4-FFF2-40B4-BE49-F238E27FC236}">
                <a16:creationId xmlns:a16="http://schemas.microsoft.com/office/drawing/2014/main" id="{4215CB3B-33BB-4EFA-A39C-221DB2A33F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30960" y="2226434"/>
            <a:ext cx="3379048" cy="2535792"/>
          </a:xfrm>
          <a:prstGeom prst="rect">
            <a:avLst/>
          </a:prstGeom>
        </p:spPr>
      </p:pic>
    </p:spTree>
    <p:extLst>
      <p:ext uri="{BB962C8B-B14F-4D97-AF65-F5344CB8AC3E}">
        <p14:creationId xmlns:p14="http://schemas.microsoft.com/office/powerpoint/2010/main" val="1858119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137" y="-243953"/>
            <a:ext cx="9692640" cy="1325562"/>
          </a:xfrm>
        </p:spPr>
        <p:txBody>
          <a:bodyPr/>
          <a:lstStyle/>
          <a:p>
            <a:pPr algn="ctr"/>
            <a:r>
              <a:rPr lang="en-US" dirty="0"/>
              <a:t>	ISAAC NEWTON</a:t>
            </a:r>
          </a:p>
        </p:txBody>
      </p:sp>
      <p:sp>
        <p:nvSpPr>
          <p:cNvPr id="3" name="Content Placeholder 2"/>
          <p:cNvSpPr>
            <a:spLocks noGrp="1"/>
          </p:cNvSpPr>
          <p:nvPr>
            <p:ph idx="1"/>
          </p:nvPr>
        </p:nvSpPr>
        <p:spPr>
          <a:xfrm>
            <a:off x="242888" y="1173188"/>
            <a:ext cx="10515600" cy="969937"/>
          </a:xfrm>
        </p:spPr>
        <p:txBody>
          <a:bodyPr>
            <a:normAutofit/>
          </a:bodyPr>
          <a:lstStyle/>
          <a:p>
            <a:pPr marL="0" indent="0">
              <a:buNone/>
            </a:pPr>
            <a:r>
              <a:rPr lang="en-US" dirty="0"/>
              <a:t>1</a:t>
            </a:r>
            <a:r>
              <a:rPr lang="en-US" baseline="30000" dirty="0"/>
              <a:t>st </a:t>
            </a:r>
            <a:r>
              <a:rPr lang="en-US" dirty="0"/>
              <a:t>Law: A body continues in its state of rest, or uniform motion, unless compelled to change that state by force impressed upon it.</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8</a:t>
            </a:fld>
            <a:endParaRPr lang="en-US"/>
          </a:p>
        </p:txBody>
      </p:sp>
      <p:sp>
        <p:nvSpPr>
          <p:cNvPr id="6" name="Content Placeholder 2">
            <a:extLst>
              <a:ext uri="{FF2B5EF4-FFF2-40B4-BE49-F238E27FC236}">
                <a16:creationId xmlns:a16="http://schemas.microsoft.com/office/drawing/2014/main" id="{B4749610-24AD-1EB8-0AA1-6785C41725F3}"/>
              </a:ext>
            </a:extLst>
          </p:cNvPr>
          <p:cNvSpPr txBox="1">
            <a:spLocks/>
          </p:cNvSpPr>
          <p:nvPr/>
        </p:nvSpPr>
        <p:spPr>
          <a:xfrm>
            <a:off x="242888" y="5134769"/>
            <a:ext cx="10515600" cy="1631156"/>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dirty="0"/>
              <a:t>Relevance:</a:t>
            </a:r>
          </a:p>
          <a:p>
            <a:pPr marL="0" indent="0">
              <a:buFont typeface="Arial" pitchFamily="34" charset="0"/>
              <a:buNone/>
            </a:pPr>
            <a:r>
              <a:rPr lang="en-US" dirty="0"/>
              <a:t>1) There must be a force on satellites – gravity</a:t>
            </a:r>
          </a:p>
          <a:p>
            <a:pPr marL="0" indent="0">
              <a:buFont typeface="Arial" pitchFamily="34" charset="0"/>
              <a:buNone/>
            </a:pPr>
            <a:r>
              <a:rPr lang="en-US" dirty="0"/>
              <a:t>2) Momentum is conserved – orbits are constant (orientation and size)</a:t>
            </a:r>
          </a:p>
        </p:txBody>
      </p:sp>
      <p:pic>
        <p:nvPicPr>
          <p:cNvPr id="8" name="Picture 7" descr="A picture containing text, transport, handcart&#10;&#10;Description automatically generated">
            <a:extLst>
              <a:ext uri="{FF2B5EF4-FFF2-40B4-BE49-F238E27FC236}">
                <a16:creationId xmlns:a16="http://schemas.microsoft.com/office/drawing/2014/main" id="{9DD1CA35-6000-D8FF-7255-5133D21B4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774" y="2059412"/>
            <a:ext cx="4685151" cy="2837799"/>
          </a:xfrm>
          <a:prstGeom prst="rect">
            <a:avLst/>
          </a:prstGeom>
        </p:spPr>
      </p:pic>
      <p:pic>
        <p:nvPicPr>
          <p:cNvPr id="7" name="Picture 6">
            <a:hlinkClick r:id="rId3"/>
            <a:extLst>
              <a:ext uri="{FF2B5EF4-FFF2-40B4-BE49-F238E27FC236}">
                <a16:creationId xmlns:a16="http://schemas.microsoft.com/office/drawing/2014/main" id="{1FC80508-8349-9756-119B-564AA453A983}"/>
              </a:ext>
            </a:extLst>
          </p:cNvPr>
          <p:cNvPicPr>
            <a:picLocks noChangeAspect="1"/>
          </p:cNvPicPr>
          <p:nvPr/>
        </p:nvPicPr>
        <p:blipFill>
          <a:blip r:embed="rId4"/>
          <a:stretch>
            <a:fillRect/>
          </a:stretch>
        </p:blipFill>
        <p:spPr>
          <a:xfrm>
            <a:off x="7034242" y="1914650"/>
            <a:ext cx="3318298" cy="3773995"/>
          </a:xfrm>
          <a:prstGeom prst="rect">
            <a:avLst/>
          </a:prstGeom>
        </p:spPr>
      </p:pic>
    </p:spTree>
    <p:extLst>
      <p:ext uri="{BB962C8B-B14F-4D97-AF65-F5344CB8AC3E}">
        <p14:creationId xmlns:p14="http://schemas.microsoft.com/office/powerpoint/2010/main" val="420162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7369"/>
          </a:xfrm>
        </p:spPr>
        <p:txBody>
          <a:bodyPr/>
          <a:lstStyle/>
          <a:p>
            <a:pPr algn="ctr"/>
            <a:r>
              <a:rPr lang="en-US" dirty="0"/>
              <a:t>Isaac Newton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152144"/>
                <a:ext cx="10515600" cy="5204524"/>
              </a:xfrm>
            </p:spPr>
            <p:txBody>
              <a:bodyPr>
                <a:normAutofit/>
              </a:bodyPr>
              <a:lstStyle/>
              <a:p>
                <a:pPr marL="0" indent="0">
                  <a:buNone/>
                </a:pPr>
                <a:r>
                  <a:rPr lang="en-US" dirty="0"/>
                  <a:t>2</a:t>
                </a:r>
                <a:r>
                  <a:rPr lang="en-US" baseline="30000" dirty="0"/>
                  <a:t>nd</a:t>
                </a:r>
                <a:r>
                  <a:rPr lang="en-US" dirty="0"/>
                  <a:t> Law:  The time rate of change of an object’s momentum is equal to the applied force.</a:t>
                </a:r>
              </a:p>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𝐹</m:t>
                              </m:r>
                              <m:r>
                                <a:rPr lang="en-US" b="0" i="1" smtClean="0">
                                  <a:latin typeface="Cambria Math" panose="02040503050406030204" pitchFamily="18" charset="0"/>
                                </a:rPr>
                                <m:t> </m:t>
                              </m:r>
                            </m:e>
                          </m:acc>
                          <m:r>
                            <a:rPr lang="en-US" b="0" i="1" smtClean="0">
                              <a:latin typeface="Cambria Math" panose="02040503050406030204" pitchFamily="18" charset="0"/>
                            </a:rPr>
                            <m:t>= </m:t>
                          </m:r>
                          <m:f>
                            <m:fPr>
                              <m:ctrlPr>
                                <a:rPr lang="en-US" b="0" i="1" smtClean="0">
                                  <a:latin typeface="Cambria Math" panose="02040503050406030204" pitchFamily="18" charset="0"/>
                                </a:rPr>
                              </m:ctrlPr>
                            </m:fPr>
                            <m:num>
                              <m:r>
                                <m:rPr>
                                  <m:sty m:val="p"/>
                                </m:rPr>
                                <a:rPr lang="el-GR" b="0" i="1" smtClean="0">
                                  <a:latin typeface="Cambria Math" panose="02040503050406030204" pitchFamily="18" charset="0"/>
                                </a:rPr>
                                <m:t>Δ</m:t>
                              </m:r>
                              <m:acc>
                                <m:accPr>
                                  <m:chr m:val="⃑"/>
                                  <m:ctrlPr>
                                    <a:rPr lang="el-GR" b="0" i="1" smtClean="0">
                                      <a:latin typeface="Cambria Math" panose="02040503050406030204" pitchFamily="18" charset="0"/>
                                    </a:rPr>
                                  </m:ctrlPr>
                                </m:accPr>
                                <m:e>
                                  <m:r>
                                    <a:rPr lang="en-US" b="0" i="1" smtClean="0">
                                      <a:latin typeface="Cambria Math" panose="02040503050406030204" pitchFamily="18" charset="0"/>
                                    </a:rPr>
                                    <m:t>𝑝</m:t>
                                  </m:r>
                                </m:e>
                              </m:acc>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den>
                          </m:f>
                          <m:r>
                            <a:rPr lang="en-US" b="0" i="1" smtClean="0">
                              <a:latin typeface="Cambria Math" panose="02040503050406030204" pitchFamily="18" charset="0"/>
                            </a:rPr>
                            <m:t> </m:t>
                          </m:r>
                        </m:e>
                      </m:nary>
                    </m:oMath>
                  </m:oMathPara>
                </a14:m>
                <a:endParaRPr lang="en-US" dirty="0"/>
              </a:p>
              <a:p>
                <a:pPr marL="0" indent="0">
                  <a:buNone/>
                </a:pPr>
                <a:endParaRPr lang="en-US" b="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152144"/>
                <a:ext cx="10515600" cy="5204524"/>
              </a:xfrm>
              <a:blipFill>
                <a:blip r:embed="rId2"/>
                <a:stretch>
                  <a:fillRect l="-522" t="-82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9</a:t>
            </a:fld>
            <a:endParaRPr lang="en-US" dirty="0"/>
          </a:p>
        </p:txBody>
      </p:sp>
      <p:sp>
        <p:nvSpPr>
          <p:cNvPr id="6" name="TextBox 5"/>
          <p:cNvSpPr txBox="1"/>
          <p:nvPr/>
        </p:nvSpPr>
        <p:spPr>
          <a:xfrm>
            <a:off x="973249" y="2940148"/>
            <a:ext cx="2692791" cy="341632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US" sz="2400" b="1" dirty="0"/>
              <a:t>But wait!   Isn’t this law just F=ma?</a:t>
            </a:r>
          </a:p>
          <a:p>
            <a:endParaRPr lang="en-US" sz="2400" b="1" dirty="0"/>
          </a:p>
          <a:p>
            <a:r>
              <a:rPr lang="en-US" sz="2400" b="1" dirty="0"/>
              <a:t>NO!  </a:t>
            </a:r>
          </a:p>
          <a:p>
            <a:endParaRPr lang="en-US" sz="2400" b="1" dirty="0"/>
          </a:p>
          <a:p>
            <a:r>
              <a:rPr lang="en-US" sz="2400" b="1" dirty="0"/>
              <a:t>Only under</a:t>
            </a:r>
          </a:p>
          <a:p>
            <a:r>
              <a:rPr lang="en-US" sz="2400" b="1" dirty="0"/>
              <a:t> certain conditions.</a:t>
            </a:r>
          </a:p>
        </p:txBody>
      </p:sp>
    </p:spTree>
    <p:extLst>
      <p:ext uri="{BB962C8B-B14F-4D97-AF65-F5344CB8AC3E}">
        <p14:creationId xmlns:p14="http://schemas.microsoft.com/office/powerpoint/2010/main" val="402090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Newton’s 2</a:t>
            </a:r>
            <a:r>
              <a:rPr lang="en-US" baseline="30000" dirty="0"/>
              <a:t>nd</a:t>
            </a:r>
            <a:r>
              <a:rPr lang="en-US" dirty="0"/>
              <a:t> Law (</a:t>
            </a:r>
            <a:r>
              <a:rPr lang="en-US" dirty="0" err="1"/>
              <a:t>cont</a:t>
            </a:r>
            <a:r>
              <a:rPr lang="en-US" dirty="0"/>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lgn="ctr">
                  <a:buNone/>
                </a:pPr>
                <a:r>
                  <a:rPr lang="en-US" i="1" dirty="0">
                    <a:latin typeface="Cambria Math" panose="02040503050406030204" pitchFamily="18" charset="0"/>
                  </a:rPr>
                  <a:t>So:</a:t>
                </a:r>
              </a:p>
              <a:p>
                <a:pPr marL="0" indent="0">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𝐹</m:t>
                          </m:r>
                        </m:e>
                      </m:acc>
                      <m:r>
                        <a:rPr lang="en-US" b="0" i="1" smtClean="0">
                          <a:latin typeface="Cambria Math" panose="02040503050406030204" pitchFamily="18" charset="0"/>
                        </a:rPr>
                        <m:t>=</m:t>
                      </m:r>
                      <m:r>
                        <a:rPr lang="en-US" b="0" i="1" smtClean="0">
                          <a:latin typeface="Cambria Math" panose="02040503050406030204" pitchFamily="18" charset="0"/>
                        </a:rPr>
                        <m:t>𝑚</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oMath>
                  </m:oMathPara>
                </a14:m>
                <a:endParaRPr lang="en-US" dirty="0"/>
              </a:p>
              <a:p>
                <a:pPr marL="0" indent="0" algn="ctr">
                  <a:buNone/>
                </a:pPr>
                <a:r>
                  <a:rPr lang="en-US" dirty="0"/>
                  <a:t>Only if mass doesn’t change!</a:t>
                </a:r>
              </a:p>
              <a:p>
                <a:pPr marL="0" indent="0">
                  <a:buNone/>
                </a:pPr>
                <a:r>
                  <a:rPr lang="en-US" dirty="0"/>
                  <a:t>Relevance:</a:t>
                </a:r>
              </a:p>
              <a:p>
                <a:pPr marL="514350" indent="-514350">
                  <a:buAutoNum type="arabicParenR"/>
                </a:pPr>
                <a:r>
                  <a:rPr lang="en-US" dirty="0"/>
                  <a:t>We will use this law to derive the two-body equation of motion that describes orbital motion</a:t>
                </a:r>
              </a:p>
              <a:p>
                <a:pPr marL="514350" indent="-514350">
                  <a:buAutoNum type="arabicParenR"/>
                </a:pPr>
                <a:r>
                  <a:rPr lang="en-US" dirty="0"/>
                  <a:t>In  rockets,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den>
                    </m:f>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𝑉</m:t>
                        </m:r>
                      </m:e>
                    </m:acc>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US" dirty="0"/>
                  <a:t> → this is the thrust term!</a:t>
                </a:r>
              </a:p>
              <a:p>
                <a:pPr marL="0" indent="0" algn="ctr">
                  <a:buNone/>
                </a:pPr>
                <a:endParaRPr lang="en-US" dirty="0"/>
              </a:p>
              <a:p>
                <a:pPr marL="0" indent="0" algn="ctr">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67" t="-112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10</a:t>
            </a:fld>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600" y="4381555"/>
            <a:ext cx="2339920" cy="2339920"/>
          </a:xfrm>
          <a:prstGeom prst="rect">
            <a:avLst/>
          </a:prstGeom>
        </p:spPr>
      </p:pic>
    </p:spTree>
    <p:extLst>
      <p:ext uri="{BB962C8B-B14F-4D97-AF65-F5344CB8AC3E}">
        <p14:creationId xmlns:p14="http://schemas.microsoft.com/office/powerpoint/2010/main" val="2765682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Newton’s 3rd Law </a:t>
            </a:r>
          </a:p>
        </p:txBody>
      </p:sp>
      <p:sp>
        <p:nvSpPr>
          <p:cNvPr id="3" name="Content Placeholder 2"/>
          <p:cNvSpPr>
            <a:spLocks noGrp="1"/>
          </p:cNvSpPr>
          <p:nvPr>
            <p:ph idx="1"/>
          </p:nvPr>
        </p:nvSpPr>
        <p:spPr>
          <a:xfrm>
            <a:off x="2020229" y="1664088"/>
            <a:ext cx="10515600" cy="4351338"/>
          </a:xfrm>
        </p:spPr>
        <p:txBody>
          <a:bodyPr/>
          <a:lstStyle/>
          <a:p>
            <a:pPr marL="0" indent="0">
              <a:buNone/>
            </a:pPr>
            <a:r>
              <a:rPr lang="en-US" dirty="0"/>
              <a:t>For every action there is an equal and opposite reaction.</a:t>
            </a:r>
          </a:p>
          <a:p>
            <a:pPr marL="0" indent="0">
              <a:buNone/>
            </a:pPr>
            <a:endParaRPr lang="en-US" dirty="0"/>
          </a:p>
        </p:txBody>
      </p:sp>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11</a:t>
            </a:fld>
            <a:endParaRPr lang="en-US" dirty="0"/>
          </a:p>
        </p:txBody>
      </p:sp>
      <p:sp>
        <p:nvSpPr>
          <p:cNvPr id="7" name="TextBox 6"/>
          <p:cNvSpPr txBox="1"/>
          <p:nvPr/>
        </p:nvSpPr>
        <p:spPr>
          <a:xfrm>
            <a:off x="4689992" y="2404876"/>
            <a:ext cx="3784210" cy="584775"/>
          </a:xfrm>
          <a:prstGeom prst="rect">
            <a:avLst/>
          </a:prstGeom>
          <a:noFill/>
        </p:spPr>
        <p:txBody>
          <a:bodyPr wrap="square" rtlCol="0">
            <a:spAutoFit/>
          </a:bodyPr>
          <a:lstStyle/>
          <a:p>
            <a:r>
              <a:rPr lang="en-US" sz="3200" dirty="0"/>
              <a:t>Relevance:   Rockets!</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5450" y="3479824"/>
            <a:ext cx="4057005" cy="2706064"/>
          </a:xfrm>
          <a:prstGeom prst="rect">
            <a:avLst/>
          </a:prstGeom>
        </p:spPr>
      </p:pic>
    </p:spTree>
    <p:extLst>
      <p:ext uri="{BB962C8B-B14F-4D97-AF65-F5344CB8AC3E}">
        <p14:creationId xmlns:p14="http://schemas.microsoft.com/office/powerpoint/2010/main" val="2203867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764" y="13199"/>
            <a:ext cx="10515600" cy="1325563"/>
          </a:xfrm>
        </p:spPr>
        <p:txBody>
          <a:bodyPr/>
          <a:lstStyle/>
          <a:p>
            <a:pPr algn="ctr"/>
            <a:r>
              <a:rPr lang="en-US" dirty="0"/>
              <a:t>Newton’s Universal Law of Gravitation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57573" y="3144982"/>
                <a:ext cx="9560172" cy="3282341"/>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𝐺</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den>
                      </m:f>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𝑊h𝑒𝑟𝑒</m:t>
                      </m:r>
                      <m:r>
                        <a:rPr lang="en-US" i="1" dirty="0" smtClean="0">
                          <a:latin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b="0" i="1" smtClean="0">
                          <a:latin typeface="Cambria Math" panose="02040503050406030204" pitchFamily="18" charset="0"/>
                        </a:rPr>
                        <m:t>𝑓𝑜𝑟𝑐𝑒</m:t>
                      </m:r>
                      <m:r>
                        <a:rPr lang="en-US" b="0" i="1" smtClean="0">
                          <a:latin typeface="Cambria Math" panose="02040503050406030204" pitchFamily="18" charset="0"/>
                        </a:rPr>
                        <m:t> </m:t>
                      </m:r>
                      <m:r>
                        <a:rPr lang="en-US" b="0" i="1" smtClean="0">
                          <a:latin typeface="Cambria Math" panose="02040503050406030204" pitchFamily="18" charset="0"/>
                        </a:rPr>
                        <m:t>𝑑𝑢𝑒</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𝑔𝑟𝑎𝑣𝑖𝑡𝑦</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𝑢𝑛𝑖𝑣𝑒𝑟𝑠𝑎𝑙</m:t>
                      </m:r>
                      <m:r>
                        <a:rPr lang="en-US" b="0" i="1" smtClean="0">
                          <a:latin typeface="Cambria Math" panose="02040503050406030204" pitchFamily="18" charset="0"/>
                        </a:rPr>
                        <m:t> </m:t>
                      </m:r>
                      <m:r>
                        <a:rPr lang="en-US" b="0" i="1" smtClean="0">
                          <a:latin typeface="Cambria Math" panose="02040503050406030204" pitchFamily="18" charset="0"/>
                        </a:rPr>
                        <m:t>𝑔𝑟𝑎𝑣𝑖𝑡𝑎𝑡𝑖𝑜𝑛𝑎𝑙</m:t>
                      </m:r>
                      <m:r>
                        <a:rPr lang="en-US" b="0" i="1" smtClean="0">
                          <a:latin typeface="Cambria Math" panose="02040503050406030204" pitchFamily="18" charset="0"/>
                        </a:rPr>
                        <m:t> </m:t>
                      </m:r>
                      <m:r>
                        <a:rPr lang="en-US" b="0" i="1" smtClean="0">
                          <a:latin typeface="Cambria Math" panose="02040503050406030204" pitchFamily="18" charset="0"/>
                        </a:rPr>
                        <m:t>𝑐𝑜𝑛𝑠𝑡𝑎𝑛𝑡</m:t>
                      </m:r>
                      <m:r>
                        <a:rPr lang="en-US" b="0" i="1" smtClean="0">
                          <a:latin typeface="Cambria Math" panose="02040503050406030204" pitchFamily="18" charset="0"/>
                        </a:rPr>
                        <m:t>=6.67</m:t>
                      </m:r>
                      <m:r>
                        <a:rPr lang="en-US" b="0" i="1" smtClean="0">
                          <a:latin typeface="Cambria Math" panose="02040503050406030204" pitchFamily="18" charset="0"/>
                        </a:rPr>
                        <m:t>𝑥</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−11</m:t>
                          </m:r>
                        </m:sup>
                      </m:sSup>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𝑘𝑔</m:t>
                              </m:r>
                            </m:e>
                            <m:sup>
                              <m:r>
                                <a:rPr lang="en-US" b="0" i="1" smtClean="0">
                                  <a:latin typeface="Cambria Math" panose="02040503050406030204" pitchFamily="18" charset="0"/>
                                </a:rPr>
                                <m:t>2</m:t>
                              </m:r>
                            </m:sup>
                          </m:sSup>
                        </m:den>
                      </m:f>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 &amp;</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𝑚</m:t>
                          </m:r>
                        </m:e>
                        <m:sub>
                          <m:r>
                            <a:rPr lang="en-US" b="0" i="1" smtClean="0">
                              <a:latin typeface="Cambria Math" panose="02040503050406030204" pitchFamily="18" charset="0"/>
                            </a:rPr>
                            <m:t>2</m:t>
                          </m:r>
                        </m:sub>
                      </m:sSub>
                      <m:r>
                        <a:rPr lang="en-US" b="0" i="1" smtClean="0">
                          <a:latin typeface="Cambria Math" panose="02040503050406030204" pitchFamily="18" charset="0"/>
                        </a:rPr>
                        <m:t> =</m:t>
                      </m:r>
                      <m:r>
                        <a:rPr lang="en-US" b="0" i="1" smtClean="0">
                          <a:latin typeface="Cambria Math" panose="02040503050406030204" pitchFamily="18" charset="0"/>
                        </a:rPr>
                        <m:t>𝑚𝑎𝑠𝑠𝑒𝑠</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𝑑𝑖𝑠𝑡𝑎𝑛𝑐𝑒</m:t>
                      </m:r>
                      <m:r>
                        <a:rPr lang="en-US" b="0" i="1" smtClean="0">
                          <a:latin typeface="Cambria Math" panose="02040503050406030204" pitchFamily="18" charset="0"/>
                        </a:rPr>
                        <m:t> </m:t>
                      </m:r>
                      <m:r>
                        <a:rPr lang="en-US" b="0" i="1" smtClean="0">
                          <a:latin typeface="Cambria Math" panose="02040503050406030204" pitchFamily="18" charset="0"/>
                        </a:rPr>
                        <m:t>𝑏𝑒𝑡𝑤𝑒𝑒𝑛</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𝑡𝑤𝑜</m:t>
                      </m:r>
                      <m:r>
                        <a:rPr lang="en-US" b="0" i="1" smtClean="0">
                          <a:latin typeface="Cambria Math" panose="02040503050406030204" pitchFamily="18" charset="0"/>
                        </a:rPr>
                        <m:t> </m:t>
                      </m:r>
                      <m:r>
                        <a:rPr lang="en-US" b="0" i="1" smtClean="0">
                          <a:latin typeface="Cambria Math" panose="02040503050406030204" pitchFamily="18" charset="0"/>
                        </a:rPr>
                        <m:t>𝑜𝑏𝑗𝑒𝑐𝑡𝑠</m:t>
                      </m:r>
                    </m:oMath>
                  </m:oMathPara>
                </a14:m>
                <a:endParaRPr lang="en-US" b="0" dirty="0"/>
              </a:p>
              <a:p>
                <a:pPr marL="0" indent="0">
                  <a:buNone/>
                </a:pPr>
                <a:endParaRPr lang="en-US" b="0" dirty="0"/>
              </a:p>
              <a:p>
                <a:pPr marL="0" indent="0">
                  <a:buNone/>
                </a:pPr>
                <a:endParaRPr lang="en-US" b="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57573" y="3144982"/>
                <a:ext cx="9560172" cy="3282341"/>
              </a:xfrm>
              <a:blipFill>
                <a:blip r:embed="rId3"/>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12</a:t>
            </a:fld>
            <a:endParaRPr lang="en-US" dirty="0"/>
          </a:p>
        </p:txBody>
      </p:sp>
      <p:pic>
        <p:nvPicPr>
          <p:cNvPr id="5" name="Picture 4">
            <a:extLst>
              <a:ext uri="{FF2B5EF4-FFF2-40B4-BE49-F238E27FC236}">
                <a16:creationId xmlns:a16="http://schemas.microsoft.com/office/drawing/2014/main" id="{CD7652BC-69C3-4687-90C0-35C693C5C46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43685" y="1338762"/>
            <a:ext cx="4132327" cy="2551227"/>
          </a:xfrm>
          <a:prstGeom prst="rect">
            <a:avLst/>
          </a:prstGeom>
          <a:noFill/>
          <a:ln>
            <a:no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FA94747-59C1-4894-BC71-9935C8BFEF56}"/>
                  </a:ext>
                </a:extLst>
              </p:cNvPr>
              <p:cNvSpPr txBox="1"/>
              <p:nvPr/>
            </p:nvSpPr>
            <p:spPr>
              <a:xfrm>
                <a:off x="5050418" y="1338762"/>
                <a:ext cx="3277035" cy="9581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𝑚𝑜𝑜𝑛</m:t>
                              </m:r>
                            </m:sub>
                          </m:sSub>
                        </m:num>
                        <m:den>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𝑎𝑝𝑝𝑙𝑒</m:t>
                              </m:r>
                            </m:sub>
                          </m:sSub>
                        </m:den>
                      </m:f>
                      <m:r>
                        <a:rPr lang="en-US" i="0">
                          <a:latin typeface="Cambria Math" panose="02040503050406030204" pitchFamily="18" charset="0"/>
                        </a:rPr>
                        <m:t> = </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0.00272 </m:t>
                          </m:r>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𝑚</m:t>
                              </m:r>
                            </m:num>
                            <m:den>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𝑠</m:t>
                                  </m:r>
                                </m:e>
                                <m:sup>
                                  <m:r>
                                    <a:rPr lang="en-US" i="0">
                                      <a:latin typeface="Cambria Math" panose="02040503050406030204" pitchFamily="18" charset="0"/>
                                    </a:rPr>
                                    <m:t>2</m:t>
                                  </m:r>
                                </m:sup>
                              </m:sSup>
                            </m:den>
                          </m:f>
                        </m:num>
                        <m:den>
                          <m:r>
                            <a:rPr lang="en-US" i="0">
                              <a:latin typeface="Cambria Math" panose="02040503050406030204" pitchFamily="18" charset="0"/>
                            </a:rPr>
                            <m:t>9.8</m:t>
                          </m:r>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𝑚</m:t>
                              </m:r>
                            </m:num>
                            <m:den>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𝑠</m:t>
                                  </m:r>
                                </m:e>
                                <m:sup>
                                  <m:r>
                                    <a:rPr lang="en-US" i="0">
                                      <a:latin typeface="Cambria Math" panose="02040503050406030204" pitchFamily="18" charset="0"/>
                                    </a:rPr>
                                    <m:t>2</m:t>
                                  </m:r>
                                </m:sup>
                              </m:sSup>
                            </m:den>
                          </m:f>
                        </m:den>
                      </m:f>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3600</m:t>
                          </m:r>
                        </m:den>
                      </m:f>
                    </m:oMath>
                  </m:oMathPara>
                </a14:m>
                <a:endParaRPr lang="en-US" dirty="0"/>
              </a:p>
            </p:txBody>
          </p:sp>
        </mc:Choice>
        <mc:Fallback xmlns="">
          <p:sp>
            <p:nvSpPr>
              <p:cNvPr id="6" name="TextBox 5">
                <a:extLst>
                  <a:ext uri="{FF2B5EF4-FFF2-40B4-BE49-F238E27FC236}">
                    <a16:creationId xmlns:a16="http://schemas.microsoft.com/office/drawing/2014/main" id="{3FA94747-59C1-4894-BC71-9935C8BFEF56}"/>
                  </a:ext>
                </a:extLst>
              </p:cNvPr>
              <p:cNvSpPr txBox="1">
                <a:spLocks noRot="1" noChangeAspect="1" noMove="1" noResize="1" noEditPoints="1" noAdjustHandles="1" noChangeArrowheads="1" noChangeShapeType="1" noTextEdit="1"/>
              </p:cNvSpPr>
              <p:nvPr/>
            </p:nvSpPr>
            <p:spPr>
              <a:xfrm>
                <a:off x="5050418" y="1338762"/>
                <a:ext cx="3277035" cy="95814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71303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Newton’s Universal Law of Gravitation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𝐺</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den>
                      </m:f>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𝑊h𝑒𝑟𝑒</m:t>
                      </m:r>
                      <m:r>
                        <a:rPr lang="en-US" i="1" dirty="0" smtClean="0">
                          <a:latin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b="0" i="1" smtClean="0">
                          <a:latin typeface="Cambria Math" panose="02040503050406030204" pitchFamily="18" charset="0"/>
                        </a:rPr>
                        <m:t>𝑓𝑜𝑟𝑐𝑒</m:t>
                      </m:r>
                      <m:r>
                        <a:rPr lang="en-US" b="0" i="1" smtClean="0">
                          <a:latin typeface="Cambria Math" panose="02040503050406030204" pitchFamily="18" charset="0"/>
                        </a:rPr>
                        <m:t> </m:t>
                      </m:r>
                      <m:r>
                        <a:rPr lang="en-US" b="0" i="1" smtClean="0">
                          <a:latin typeface="Cambria Math" panose="02040503050406030204" pitchFamily="18" charset="0"/>
                        </a:rPr>
                        <m:t>𝑑𝑢𝑒</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𝑔𝑟𝑎𝑣𝑖𝑡𝑦</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𝑢𝑛𝑖𝑣𝑒𝑟𝑠𝑎𝑙</m:t>
                      </m:r>
                      <m:r>
                        <a:rPr lang="en-US" b="0" i="1" smtClean="0">
                          <a:latin typeface="Cambria Math" panose="02040503050406030204" pitchFamily="18" charset="0"/>
                        </a:rPr>
                        <m:t> </m:t>
                      </m:r>
                      <m:r>
                        <a:rPr lang="en-US" b="0" i="1" smtClean="0">
                          <a:latin typeface="Cambria Math" panose="02040503050406030204" pitchFamily="18" charset="0"/>
                        </a:rPr>
                        <m:t>𝑔𝑟𝑎𝑣𝑖𝑡𝑎𝑡𝑖𝑜𝑛𝑎𝑙</m:t>
                      </m:r>
                      <m:r>
                        <a:rPr lang="en-US" b="0" i="1" smtClean="0">
                          <a:latin typeface="Cambria Math" panose="02040503050406030204" pitchFamily="18" charset="0"/>
                        </a:rPr>
                        <m:t> </m:t>
                      </m:r>
                      <m:r>
                        <a:rPr lang="en-US" b="0" i="1" smtClean="0">
                          <a:latin typeface="Cambria Math" panose="02040503050406030204" pitchFamily="18" charset="0"/>
                        </a:rPr>
                        <m:t>𝑐𝑜𝑛𝑠𝑡𝑎𝑛𝑡</m:t>
                      </m:r>
                      <m:r>
                        <a:rPr lang="en-US" b="0" i="1" smtClean="0">
                          <a:latin typeface="Cambria Math" panose="02040503050406030204" pitchFamily="18" charset="0"/>
                        </a:rPr>
                        <m:t>=6.67</m:t>
                      </m:r>
                      <m:r>
                        <a:rPr lang="en-US" b="0" i="1" smtClean="0">
                          <a:latin typeface="Cambria Math" panose="02040503050406030204" pitchFamily="18" charset="0"/>
                        </a:rPr>
                        <m:t>𝑥</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−11</m:t>
                          </m:r>
                        </m:sup>
                      </m:sSup>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𝑘𝑔</m:t>
                              </m:r>
                            </m:e>
                            <m:sup>
                              <m:r>
                                <a:rPr lang="en-US" b="0" i="1" smtClean="0">
                                  <a:latin typeface="Cambria Math" panose="02040503050406030204" pitchFamily="18" charset="0"/>
                                </a:rPr>
                                <m:t>2</m:t>
                              </m:r>
                            </m:sup>
                          </m:sSup>
                        </m:den>
                      </m:f>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 &amp;</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𝑚</m:t>
                          </m:r>
                        </m:e>
                        <m:sub>
                          <m:r>
                            <a:rPr lang="en-US" b="0" i="1" smtClean="0">
                              <a:latin typeface="Cambria Math" panose="02040503050406030204" pitchFamily="18" charset="0"/>
                            </a:rPr>
                            <m:t>2</m:t>
                          </m:r>
                        </m:sub>
                      </m:sSub>
                      <m:r>
                        <a:rPr lang="en-US" b="0" i="1" smtClean="0">
                          <a:latin typeface="Cambria Math" panose="02040503050406030204" pitchFamily="18" charset="0"/>
                        </a:rPr>
                        <m:t> =</m:t>
                      </m:r>
                      <m:r>
                        <a:rPr lang="en-US" b="0" i="1" smtClean="0">
                          <a:latin typeface="Cambria Math" panose="02040503050406030204" pitchFamily="18" charset="0"/>
                        </a:rPr>
                        <m:t>𝑚𝑎𝑠𝑠𝑒𝑠</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𝑑𝑖𝑠𝑡𝑎𝑛𝑐𝑒</m:t>
                      </m:r>
                      <m:r>
                        <a:rPr lang="en-US" b="0" i="1" smtClean="0">
                          <a:latin typeface="Cambria Math" panose="02040503050406030204" pitchFamily="18" charset="0"/>
                        </a:rPr>
                        <m:t> </m:t>
                      </m:r>
                      <m:r>
                        <a:rPr lang="en-US" b="0" i="1" smtClean="0">
                          <a:latin typeface="Cambria Math" panose="02040503050406030204" pitchFamily="18" charset="0"/>
                        </a:rPr>
                        <m:t>𝑏𝑒𝑡𝑤𝑒𝑒𝑛</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𝑡𝑤𝑜</m:t>
                      </m:r>
                      <m:r>
                        <a:rPr lang="en-US" b="0" i="1" smtClean="0">
                          <a:latin typeface="Cambria Math" panose="02040503050406030204" pitchFamily="18" charset="0"/>
                        </a:rPr>
                        <m:t> </m:t>
                      </m:r>
                      <m:r>
                        <a:rPr lang="en-US" b="0" i="1" smtClean="0">
                          <a:latin typeface="Cambria Math" panose="02040503050406030204" pitchFamily="18" charset="0"/>
                        </a:rPr>
                        <m:t>𝑜𝑏𝑗𝑒𝑐𝑡𝑠</m:t>
                      </m:r>
                    </m:oMath>
                  </m:oMathPara>
                </a14:m>
                <a:endParaRPr lang="en-US" b="0" dirty="0"/>
              </a:p>
              <a:p>
                <a:pPr marL="0" indent="0">
                  <a:buNone/>
                </a:pPr>
                <a:endParaRPr lang="en-US" b="0" dirty="0"/>
              </a:p>
              <a:p>
                <a:pPr marL="0" indent="0">
                  <a:buNone/>
                </a:pPr>
                <a:endParaRPr lang="en-US" b="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13</a:t>
            </a:fld>
            <a:endParaRPr lang="en-US" dirty="0"/>
          </a:p>
        </p:txBody>
      </p:sp>
    </p:spTree>
    <p:extLst>
      <p:ext uri="{BB962C8B-B14F-4D97-AF65-F5344CB8AC3E}">
        <p14:creationId xmlns:p14="http://schemas.microsoft.com/office/powerpoint/2010/main" val="2517837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Newton’s Universal Law of Gravitation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dirty="0"/>
                  <a:t>But we are going to define a new constant: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𝑒</m:t>
                          </m:r>
                          <m:r>
                            <a:rPr lang="en-US" b="0" i="1" smtClean="0">
                              <a:latin typeface="Cambria Math" panose="02040503050406030204" pitchFamily="18" charset="0"/>
                              <a:ea typeface="Cambria Math" panose="02040503050406030204" pitchFamily="18" charset="0"/>
                            </a:rPr>
                            <m:t> </m:t>
                          </m:r>
                        </m:sub>
                      </m:sSub>
                      <m:r>
                        <a:rPr lang="en-US" b="0" i="1" smtClean="0">
                          <a:latin typeface="Cambria Math" panose="02040503050406030204" pitchFamily="18" charset="0"/>
                          <a:ea typeface="Cambria Math" panose="02040503050406030204" pitchFamily="18" charset="0"/>
                        </a:rPr>
                        <m:t>=398600.5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𝑘𝑚</m:t>
                              </m:r>
                            </m:e>
                            <m:sup>
                              <m:r>
                                <a:rPr lang="en-US" b="0" i="1" smtClean="0">
                                  <a:latin typeface="Cambria Math" panose="02040503050406030204" pitchFamily="18" charset="0"/>
                                  <a:ea typeface="Cambria Math" panose="02040503050406030204" pitchFamily="18" charset="0"/>
                                </a:rPr>
                                <m:t>3</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 </m:t>
                      </m:r>
                    </m:oMath>
                  </m:oMathPara>
                </a14:m>
                <a:endParaRPr lang="en-US" b="0" dirty="0">
                  <a:ea typeface="Cambria Math" panose="02040503050406030204" pitchFamily="18" charset="0"/>
                </a:endParaRPr>
              </a:p>
              <a:p>
                <a:pPr marL="0" indent="0">
                  <a:buNone/>
                </a:pPr>
                <a:r>
                  <a:rPr lang="en-US" dirty="0">
                    <a:ea typeface="Cambria Math" panose="02040503050406030204" pitchFamily="18" charset="0"/>
                  </a:rPr>
                  <a:t>Where: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𝑒</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𝑚𝑎𝑠𝑠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𝑡h𝑒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𝑒𝑎𝑟𝑡h</m:t>
                      </m:r>
                      <m:r>
                        <a:rPr lang="en-US" b="0" i="1" smtClean="0">
                          <a:latin typeface="Cambria Math" panose="02040503050406030204" pitchFamily="18" charset="0"/>
                          <a:ea typeface="Cambria Math" panose="02040503050406030204" pitchFamily="18" charset="0"/>
                        </a:rPr>
                        <m:t> </m:t>
                      </m:r>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𝑠</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𝑚𝑎𝑠𝑠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𝑡h𝑒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𝑠𝑎𝑡𝑒𝑙𝑙𝑖𝑡𝑒</m:t>
                      </m:r>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𝐸𝑎𝑟𝑡</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h</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𝑔𝑟𝑎𝑣𝑖𝑡𝑎𝑡𝑖𝑜𝑛𝑎𝑙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𝑐𝑜𝑛𝑠𝑡𝑎𝑛𝑡</m:t>
                      </m:r>
                    </m:oMath>
                  </m:oMathPara>
                </a14:m>
                <a:endParaRPr lang="en-US" b="0" dirty="0">
                  <a:ea typeface="Cambria Math" panose="02040503050406030204" pitchFamily="18" charset="0"/>
                </a:endParaRPr>
              </a:p>
              <a:p>
                <a:pPr marL="0" indent="0" algn="ctr">
                  <a:buNone/>
                </a:pPr>
                <a:r>
                  <a:rPr lang="en-US">
                    <a:ea typeface="Cambria Math" panose="02040503050406030204" pitchFamily="18" charset="0"/>
                  </a:rPr>
                  <a:t>So</a:t>
                </a:r>
                <a:endParaRPr lang="en-US" dirty="0">
                  <a:ea typeface="Cambria Math" panose="02040503050406030204" pitchFamily="18" charset="0"/>
                </a:endParaRPr>
              </a:p>
              <a:p>
                <a:pPr marL="0" indent="0" algn="ctr">
                  <a:buNone/>
                </a:pPr>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𝐹</m:t>
                          </m:r>
                        </m:e>
                        <m:sub>
                          <m:r>
                            <a:rPr lang="en-US" b="0" i="1" smtClean="0">
                              <a:latin typeface="Cambria Math" panose="02040503050406030204" pitchFamily="18" charset="0"/>
                              <a:ea typeface="Cambria Math" panose="02040503050406030204" pitchFamily="18" charset="0"/>
                            </a:rPr>
                            <m:t>𝑔</m:t>
                          </m:r>
                        </m:sub>
                      </m:sSub>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𝜇</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m:t>
                              </m:r>
                            </m:e>
                            <m:sub>
                              <m:r>
                                <a:rPr lang="en-US" b="0" i="1" smtClean="0">
                                  <a:latin typeface="Cambria Math" panose="02040503050406030204" pitchFamily="18" charset="0"/>
                                  <a:ea typeface="Cambria Math" panose="02040503050406030204" pitchFamily="18" charset="0"/>
                                </a:rPr>
                                <m:t>𝑠</m:t>
                              </m:r>
                            </m:sub>
                          </m:sSub>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2</m:t>
                              </m:r>
                            </m:sup>
                          </m:sSup>
                        </m:den>
                      </m:f>
                    </m:oMath>
                  </m:oMathPara>
                </a14:m>
                <a:endParaRPr lang="en-US" b="0" dirty="0">
                  <a:ea typeface="Cambria Math" panose="02040503050406030204" pitchFamily="18" charset="0"/>
                </a:endParaRPr>
              </a:p>
              <a:p>
                <a:pPr marL="0" indent="0">
                  <a:buNone/>
                </a:pPr>
                <a:endParaRPr lang="en-US" b="0" dirty="0">
                  <a:ea typeface="Cambria Math" panose="02040503050406030204" pitchFamily="18" charset="0"/>
                </a:endParaRPr>
              </a:p>
              <a:p>
                <a:pPr marL="0" indent="0">
                  <a:buNone/>
                </a:pPr>
                <a:endParaRPr lang="en-US" b="0" dirty="0"/>
              </a:p>
              <a:p>
                <a:pPr marL="0" indent="0">
                  <a:buNone/>
                </a:pPr>
                <a:endParaRPr lang="en-US" b="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567" t="-98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14</a:t>
            </a:fld>
            <a:endParaRPr lang="en-US" dirty="0"/>
          </a:p>
        </p:txBody>
      </p:sp>
    </p:spTree>
    <p:extLst>
      <p:ext uri="{BB962C8B-B14F-4D97-AF65-F5344CB8AC3E}">
        <p14:creationId xmlns:p14="http://schemas.microsoft.com/office/powerpoint/2010/main" val="3314729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2 BODY 	EQUATION OF MOTION (EOM)</a:t>
            </a:r>
          </a:p>
        </p:txBody>
      </p:sp>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15</a:t>
            </a:fld>
            <a:endParaRPr lang="en-US"/>
          </a:p>
        </p:txBody>
      </p:sp>
      <p:pic>
        <p:nvPicPr>
          <p:cNvPr id="6" name="Picture 8" descr="http://t0.gstatic.com/images?q=tbn:ANd9GcQpdHsY1Kj4wJTYtvLc1wzBmzX3ybeW82_ZXOekWYhd2rmMw21lm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8144" y="3750484"/>
            <a:ext cx="1653776" cy="164642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Satellite clip ar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2275841"/>
            <a:ext cx="707136" cy="66294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p:cNvCxnSpPr/>
          <p:nvPr/>
        </p:nvCxnSpPr>
        <p:spPr>
          <a:xfrm flipH="1">
            <a:off x="4608576" y="2779776"/>
            <a:ext cx="1487424" cy="970708"/>
          </a:xfrm>
          <a:prstGeom prst="straightConnector1">
            <a:avLst/>
          </a:prstGeom>
          <a:ln w="3492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4608576" y="3709398"/>
                <a:ext cx="533608" cy="5450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𝐹</m:t>
                              </m:r>
                            </m:e>
                          </m:acc>
                        </m:e>
                        <m:sub>
                          <m:r>
                            <a:rPr lang="en-US" sz="2400" b="0" i="1" smtClean="0">
                              <a:latin typeface="Cambria Math" panose="02040503050406030204" pitchFamily="18" charset="0"/>
                            </a:rPr>
                            <m:t>𝑔</m:t>
                          </m:r>
                        </m:sub>
                      </m:sSub>
                    </m:oMath>
                  </m:oMathPara>
                </a14:m>
                <a:endParaRPr lang="en-US" sz="2400" dirty="0"/>
              </a:p>
            </p:txBody>
          </p:sp>
        </mc:Choice>
        <mc:Fallback xmlns="">
          <p:sp>
            <p:nvSpPr>
              <p:cNvPr id="10" name="TextBox 9"/>
              <p:cNvSpPr txBox="1">
                <a:spLocks noRot="1" noChangeAspect="1" noMove="1" noResize="1" noEditPoints="1" noAdjustHandles="1" noChangeArrowheads="1" noChangeShapeType="1" noTextEdit="1"/>
              </p:cNvSpPr>
              <p:nvPr/>
            </p:nvSpPr>
            <p:spPr>
              <a:xfrm>
                <a:off x="4608576" y="3709398"/>
                <a:ext cx="533608" cy="545021"/>
              </a:xfrm>
              <a:prstGeom prst="rect">
                <a:avLst/>
              </a:prstGeom>
              <a:blipFill>
                <a:blip r:embed="rId4"/>
                <a:stretch>
                  <a:fillRect/>
                </a:stretch>
              </a:blipFill>
            </p:spPr>
            <p:txBody>
              <a:bodyPr/>
              <a:lstStyle/>
              <a:p>
                <a:r>
                  <a:rPr lang="en-US">
                    <a:noFill/>
                  </a:rPr>
                  <a:t> </a:t>
                </a:r>
              </a:p>
            </p:txBody>
          </p:sp>
        </mc:Fallback>
      </mc:AlternateContent>
      <p:sp>
        <p:nvSpPr>
          <p:cNvPr id="13" name="TextBox 12"/>
          <p:cNvSpPr txBox="1"/>
          <p:nvPr/>
        </p:nvSpPr>
        <p:spPr>
          <a:xfrm>
            <a:off x="9006429" y="1649249"/>
            <a:ext cx="1778646" cy="646331"/>
          </a:xfrm>
          <a:prstGeom prst="rect">
            <a:avLst/>
          </a:prstGeom>
          <a:noFill/>
        </p:spPr>
        <p:txBody>
          <a:bodyPr wrap="square" rtlCol="0">
            <a:spAutoFit/>
          </a:bodyPr>
          <a:lstStyle/>
          <a:p>
            <a:r>
              <a:rPr lang="en-US" dirty="0"/>
              <a:t>Derivation not shown here</a:t>
            </a:r>
          </a:p>
        </p:txBody>
      </p:sp>
      <mc:AlternateContent xmlns:mc="http://schemas.openxmlformats.org/markup-compatibility/2006" xmlns:a14="http://schemas.microsoft.com/office/drawing/2010/main">
        <mc:Choice Requires="a14">
          <p:sp>
            <p:nvSpPr>
              <p:cNvPr id="14" name="TextBox 13"/>
              <p:cNvSpPr txBox="1"/>
              <p:nvPr/>
            </p:nvSpPr>
            <p:spPr>
              <a:xfrm>
                <a:off x="7287208" y="3206284"/>
                <a:ext cx="2046922" cy="742383"/>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𝑅</m:t>
                              </m:r>
                            </m:e>
                          </m:acc>
                        </m:e>
                      </m:acc>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𝜇</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𝑅</m:t>
                              </m:r>
                            </m:e>
                            <m:sup>
                              <m:r>
                                <a:rPr lang="en-US" sz="2400" b="0" i="1" smtClean="0">
                                  <a:latin typeface="Cambria Math" panose="02040503050406030204" pitchFamily="18" charset="0"/>
                                </a:rPr>
                                <m:t>2</m:t>
                              </m:r>
                            </m:sup>
                          </m:sSup>
                        </m:den>
                      </m:f>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𝑅</m:t>
                          </m:r>
                        </m:e>
                      </m:acc>
                      <m:r>
                        <a:rPr lang="en-US" sz="2400" b="0" i="1" smtClean="0">
                          <a:latin typeface="Cambria Math" panose="02040503050406030204" pitchFamily="18" charset="0"/>
                        </a:rPr>
                        <m:t>=0</m:t>
                      </m:r>
                    </m:oMath>
                  </m:oMathPara>
                </a14:m>
                <a:endParaRPr lang="en-US" sz="2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7287208" y="3206284"/>
                <a:ext cx="2046922" cy="742383"/>
              </a:xfrm>
              <a:prstGeom prst="rect">
                <a:avLst/>
              </a:prstGeom>
              <a:blipFill>
                <a:blip r:embed="rId5"/>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7127475" y="4377166"/>
                <a:ext cx="3657600" cy="2161746"/>
              </a:xfrm>
              <a:prstGeom prst="rect">
                <a:avLst/>
              </a:prstGeom>
              <a:noFill/>
            </p:spPr>
            <p:txBody>
              <a:bodyPr wrap="square" rtlCol="0">
                <a:spAutoFit/>
              </a:bodyPr>
              <a:lstStyle/>
              <a:p>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𝑅</m:t>
                        </m:r>
                      </m:e>
                    </m:acc>
                  </m:oMath>
                </a14:m>
                <a:r>
                  <a:rPr lang="en-US" sz="2000" dirty="0"/>
                  <a:t> = position vector</a:t>
                </a:r>
              </a:p>
              <a:p>
                <a14:m>
                  <m:oMath xmlns:m="http://schemas.openxmlformats.org/officeDocument/2006/math">
                    <m:acc>
                      <m:accPr>
                        <m:chr m:val="̇"/>
                        <m:ctrlPr>
                          <a:rPr lang="en-US" sz="2000" i="1" smtClean="0">
                            <a:latin typeface="Cambria Math" panose="02040503050406030204" pitchFamily="18" charset="0"/>
                          </a:rPr>
                        </m:ctrlPr>
                      </m:acc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𝑅</m:t>
                            </m:r>
                          </m:e>
                        </m:acc>
                      </m:e>
                    </m:acc>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𝑉</m:t>
                        </m:r>
                      </m:e>
                    </m:acc>
                  </m:oMath>
                </a14:m>
                <a:r>
                  <a:rPr lang="en-US" sz="2000" dirty="0"/>
                  <a:t> = velocity vector</a:t>
                </a:r>
              </a:p>
              <a:p>
                <a14:m>
                  <m:oMath xmlns:m="http://schemas.openxmlformats.org/officeDocument/2006/math">
                    <m:acc>
                      <m:accPr>
                        <m:chr m:val="̈"/>
                        <m:ctrlPr>
                          <a:rPr lang="en-US" sz="2000" i="1" smtClean="0">
                            <a:latin typeface="Cambria Math" panose="02040503050406030204" pitchFamily="18" charset="0"/>
                          </a:rPr>
                        </m:ctrlPr>
                      </m:accPr>
                      <m:e>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𝑅</m:t>
                            </m:r>
                          </m:e>
                        </m:acc>
                      </m:e>
                    </m:acc>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𝑎</m:t>
                        </m:r>
                      </m:e>
                    </m:acc>
                  </m:oMath>
                </a14:m>
                <a:r>
                  <a:rPr lang="en-US" sz="2000" dirty="0"/>
                  <a:t> = acceleration vector</a:t>
                </a:r>
              </a:p>
              <a:p>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𝑅</m:t>
                        </m:r>
                      </m:e>
                    </m:acc>
                    <m:r>
                      <a:rPr lang="en-US" sz="2000" b="0" i="1" smtClean="0">
                        <a:latin typeface="Cambria Math" panose="02040503050406030204" pitchFamily="18" charset="0"/>
                      </a:rPr>
                      <m:t>=</m:t>
                    </m:r>
                  </m:oMath>
                </a14:m>
                <a:r>
                  <a:rPr lang="en-US" sz="2000" dirty="0"/>
                  <a:t> unit vector in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𝑅</m:t>
                        </m:r>
                      </m:e>
                    </m:acc>
                  </m:oMath>
                </a14:m>
                <a:r>
                  <a:rPr lang="en-US" sz="2000" dirty="0"/>
                  <a:t> direction</a:t>
                </a:r>
              </a:p>
              <a:p>
                <a:r>
                  <a:rPr lang="el-GR" sz="2000" dirty="0"/>
                  <a:t>μ</a:t>
                </a:r>
                <a:r>
                  <a:rPr lang="en-US" sz="2000" dirty="0"/>
                  <a:t> = G</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m:t>
                        </m:r>
                      </m:e>
                      <m:sub>
                        <m:r>
                          <a:rPr lang="en-US" sz="2000" b="0" i="1" smtClean="0">
                            <a:latin typeface="Cambria Math" panose="02040503050406030204" pitchFamily="18" charset="0"/>
                          </a:rPr>
                          <m:t>𝑒</m:t>
                        </m:r>
                      </m:sub>
                    </m:sSub>
                  </m:oMath>
                </a14:m>
                <a:endParaRPr lang="en-US" sz="2000" dirty="0"/>
              </a:p>
              <a:p>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7127475" y="4377166"/>
                <a:ext cx="3657600" cy="2161746"/>
              </a:xfrm>
              <a:prstGeom prst="rect">
                <a:avLst/>
              </a:prstGeom>
              <a:blipFill>
                <a:blip r:embed="rId6"/>
                <a:stretch>
                  <a:fillRect l="-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49344" y="5796529"/>
                <a:ext cx="2260519" cy="742383"/>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𝑅</m:t>
                              </m:r>
                            </m:e>
                          </m:acc>
                        </m:e>
                      </m:acc>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𝜇</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𝑅</m:t>
                              </m:r>
                            </m:e>
                            <m:sup>
                              <m:r>
                                <a:rPr lang="en-US" sz="2400" b="0" i="1" smtClean="0">
                                  <a:latin typeface="Cambria Math" panose="02040503050406030204" pitchFamily="18" charset="0"/>
                                </a:rPr>
                                <m:t>3</m:t>
                              </m:r>
                            </m:sup>
                          </m:sSup>
                        </m:den>
                      </m:f>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𝑅</m:t>
                          </m:r>
                        </m:e>
                      </m:acc>
                      <m:r>
                        <a:rPr lang="en-US" sz="2400" b="0" i="1" smtClean="0">
                          <a:latin typeface="Cambria Math" panose="02040503050406030204" pitchFamily="18" charset="0"/>
                        </a:rPr>
                        <m:t>=0</m:t>
                      </m:r>
                    </m:oMath>
                  </m:oMathPara>
                </a14:m>
                <a:endParaRPr lang="en-US" sz="2400" dirty="0"/>
              </a:p>
            </p:txBody>
          </p:sp>
        </mc:Choice>
        <mc:Fallback xmlns="">
          <p:sp>
            <p:nvSpPr>
              <p:cNvPr id="15" name="TextBox 14"/>
              <p:cNvSpPr txBox="1">
                <a:spLocks noRot="1" noChangeAspect="1" noMove="1" noResize="1" noEditPoints="1" noAdjustHandles="1" noChangeArrowheads="1" noChangeShapeType="1" noTextEdit="1"/>
              </p:cNvSpPr>
              <p:nvPr/>
            </p:nvSpPr>
            <p:spPr>
              <a:xfrm>
                <a:off x="449344" y="5796529"/>
                <a:ext cx="2260519" cy="742383"/>
              </a:xfrm>
              <a:prstGeom prst="rect">
                <a:avLst/>
              </a:prstGeom>
              <a:blipFill>
                <a:blip r:embed="rId7"/>
                <a:stretch>
                  <a:fillRect/>
                </a:stretch>
              </a:blipFill>
              <a:ln>
                <a:solidFill>
                  <a:schemeClr val="accent1"/>
                </a:solidFill>
              </a:ln>
            </p:spPr>
            <p:txBody>
              <a:bodyPr/>
              <a:lstStyle/>
              <a:p>
                <a:r>
                  <a:rPr lang="en-US">
                    <a:noFill/>
                  </a:rPr>
                  <a:t> </a:t>
                </a:r>
              </a:p>
            </p:txBody>
          </p:sp>
        </mc:Fallback>
      </mc:AlternateContent>
      <p:sp>
        <p:nvSpPr>
          <p:cNvPr id="5" name="TextBox 4"/>
          <p:cNvSpPr txBox="1"/>
          <p:nvPr/>
        </p:nvSpPr>
        <p:spPr>
          <a:xfrm>
            <a:off x="838200" y="5396910"/>
            <a:ext cx="3093720" cy="369332"/>
          </a:xfrm>
          <a:prstGeom prst="rect">
            <a:avLst/>
          </a:prstGeom>
          <a:noFill/>
        </p:spPr>
        <p:txBody>
          <a:bodyPr wrap="square" rtlCol="0">
            <a:spAutoFit/>
          </a:bodyPr>
          <a:lstStyle/>
          <a:p>
            <a:r>
              <a:rPr lang="en-US" dirty="0"/>
              <a:t>Alternate form:</a:t>
            </a:r>
          </a:p>
        </p:txBody>
      </p:sp>
      <p:cxnSp>
        <p:nvCxnSpPr>
          <p:cNvPr id="9" name="Straight Arrow Connector 8">
            <a:extLst>
              <a:ext uri="{FF2B5EF4-FFF2-40B4-BE49-F238E27FC236}">
                <a16:creationId xmlns:a16="http://schemas.microsoft.com/office/drawing/2014/main" id="{DFE5B7B3-FFDB-40FE-A911-395272B8CCDD}"/>
              </a:ext>
            </a:extLst>
          </p:cNvPr>
          <p:cNvCxnSpPr/>
          <p:nvPr/>
        </p:nvCxnSpPr>
        <p:spPr>
          <a:xfrm flipV="1">
            <a:off x="6732037" y="1690688"/>
            <a:ext cx="1110343" cy="7352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4569FB-DF1B-43CB-847B-1AAF5A965469}"/>
                  </a:ext>
                </a:extLst>
              </p:cNvPr>
              <p:cNvSpPr txBox="1"/>
              <p:nvPr/>
            </p:nvSpPr>
            <p:spPr>
              <a:xfrm>
                <a:off x="7287208" y="1381944"/>
                <a:ext cx="537707" cy="3767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𝑅</m:t>
                          </m:r>
                        </m:e>
                      </m:acc>
                    </m:oMath>
                  </m:oMathPara>
                </a14:m>
                <a:endParaRPr lang="en-US" dirty="0"/>
              </a:p>
            </p:txBody>
          </p:sp>
        </mc:Choice>
        <mc:Fallback xmlns="">
          <p:sp>
            <p:nvSpPr>
              <p:cNvPr id="17" name="TextBox 16">
                <a:extLst>
                  <a:ext uri="{FF2B5EF4-FFF2-40B4-BE49-F238E27FC236}">
                    <a16:creationId xmlns:a16="http://schemas.microsoft.com/office/drawing/2014/main" id="{544569FB-DF1B-43CB-847B-1AAF5A965469}"/>
                  </a:ext>
                </a:extLst>
              </p:cNvPr>
              <p:cNvSpPr txBox="1">
                <a:spLocks noRot="1" noChangeAspect="1" noMove="1" noResize="1" noEditPoints="1" noAdjustHandles="1" noChangeArrowheads="1" noChangeShapeType="1" noTextEdit="1"/>
              </p:cNvSpPr>
              <p:nvPr/>
            </p:nvSpPr>
            <p:spPr>
              <a:xfrm>
                <a:off x="7287208" y="1381944"/>
                <a:ext cx="537707" cy="376770"/>
              </a:xfrm>
              <a:prstGeom prst="rect">
                <a:avLst/>
              </a:prstGeom>
              <a:blipFill>
                <a:blip r:embed="rId8"/>
                <a:stretch>
                  <a:fillRect t="-1613" r="-22472"/>
                </a:stretch>
              </a:blipFill>
            </p:spPr>
            <p:txBody>
              <a:bodyPr/>
              <a:lstStyle/>
              <a:p>
                <a:r>
                  <a:rPr lang="en-US">
                    <a:noFill/>
                  </a:rPr>
                  <a:t> </a:t>
                </a:r>
              </a:p>
            </p:txBody>
          </p:sp>
        </mc:Fallback>
      </mc:AlternateContent>
    </p:spTree>
    <p:extLst>
      <p:ext uri="{BB962C8B-B14F-4D97-AF65-F5344CB8AC3E}">
        <p14:creationId xmlns:p14="http://schemas.microsoft.com/office/powerpoint/2010/main" val="1596356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	SOLUTION TO 2 BODY EOM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400300" y="1665946"/>
                <a:ext cx="10515600" cy="4351338"/>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r>
                            <a:rPr lang="en-US" b="0" i="1" smtClean="0">
                              <a:latin typeface="Cambria Math" panose="02040503050406030204" pitchFamily="18" charset="0"/>
                            </a:rPr>
                            <m:t>)</m:t>
                          </m:r>
                        </m:num>
                        <m:den>
                          <m:r>
                            <a:rPr lang="en-US" b="0" i="1" smtClean="0">
                              <a:latin typeface="Cambria Math" panose="02040503050406030204" pitchFamily="18" charset="0"/>
                            </a:rPr>
                            <m:t>1+</m:t>
                          </m:r>
                          <m:r>
                            <a:rPr lang="en-US" b="0" i="1" smtClean="0">
                              <a:latin typeface="Cambria Math" panose="02040503050406030204" pitchFamily="18" charset="0"/>
                            </a:rPr>
                            <m:t>𝑒𝑐𝑜𝑠</m:t>
                          </m:r>
                          <m:r>
                            <a:rPr lang="en-US" i="1">
                              <a:latin typeface="Cambria Math" panose="02040503050406030204" pitchFamily="18" charset="0"/>
                            </a:rPr>
                            <m:t>𝜈</m:t>
                          </m:r>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400300" y="1665946"/>
                <a:ext cx="10515600" cy="4351338"/>
              </a:xfrm>
              <a:blipFill>
                <a:blip r:embed="rId3"/>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16</a:t>
            </a:fld>
            <a:endParaRPr lang="en-US" dirty="0"/>
          </a:p>
        </p:txBody>
      </p:sp>
      <p:pic>
        <p:nvPicPr>
          <p:cNvPr id="5" name="Picture 8" descr="http://t0.gstatic.com/images?q=tbn:ANd9GcQpdHsY1Kj4wJTYtvLc1wzBmzX3ybeW82_ZXOekWYhd2rmMw21lm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3377" y="4392368"/>
            <a:ext cx="665245" cy="66228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Satellite clip ar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00144" y="2759203"/>
            <a:ext cx="707136" cy="662940"/>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p:cNvSpPr/>
          <p:nvPr/>
        </p:nvSpPr>
        <p:spPr>
          <a:xfrm>
            <a:off x="1095756" y="3090673"/>
            <a:ext cx="6915912" cy="32656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flipV="1">
            <a:off x="4553712" y="3090673"/>
            <a:ext cx="1542288" cy="1632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4682490" y="3658293"/>
                <a:ext cx="1671066" cy="4029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𝑅</m:t>
                          </m:r>
                        </m:e>
                      </m:acc>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4682490" y="3658293"/>
                <a:ext cx="1671066" cy="402931"/>
              </a:xfrm>
              <a:prstGeom prst="rect">
                <a:avLst/>
              </a:prstGeom>
              <a:blipFill rotWithShape="0">
                <a:blip r:embed="rId6"/>
                <a:stretch>
                  <a:fillRect/>
                </a:stretch>
              </a:blipFill>
            </p:spPr>
            <p:txBody>
              <a:bodyPr/>
              <a:lstStyle/>
              <a:p>
                <a:r>
                  <a:rPr lang="en-US">
                    <a:noFill/>
                  </a:rPr>
                  <a:t> </a:t>
                </a:r>
              </a:p>
            </p:txBody>
          </p:sp>
        </mc:Fallback>
      </mc:AlternateContent>
      <p:cxnSp>
        <p:nvCxnSpPr>
          <p:cNvPr id="13" name="Straight Arrow Connector 12"/>
          <p:cNvCxnSpPr>
            <a:stCxn id="8" idx="0"/>
          </p:cNvCxnSpPr>
          <p:nvPr/>
        </p:nvCxnSpPr>
        <p:spPr>
          <a:xfrm flipH="1">
            <a:off x="3011424" y="3090673"/>
            <a:ext cx="15422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2641473" y="2723473"/>
                <a:ext cx="1671066" cy="4029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𝑉</m:t>
                          </m:r>
                        </m:e>
                      </m:acc>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2641473" y="2723473"/>
                <a:ext cx="1671066" cy="402931"/>
              </a:xfrm>
              <a:prstGeom prst="rect">
                <a:avLst/>
              </a:prstGeom>
              <a:blipFill rotWithShape="0">
                <a:blip r:embed="rId7"/>
                <a:stretch>
                  <a:fillRect/>
                </a:stretch>
              </a:blipFill>
            </p:spPr>
            <p:txBody>
              <a:bodyPr/>
              <a:lstStyle/>
              <a:p>
                <a:r>
                  <a:rPr lang="en-US">
                    <a:noFill/>
                  </a:rPr>
                  <a:t> </a:t>
                </a:r>
              </a:p>
            </p:txBody>
          </p:sp>
        </mc:Fallback>
      </mc:AlternateContent>
      <p:sp>
        <p:nvSpPr>
          <p:cNvPr id="17" name="TextBox 16"/>
          <p:cNvSpPr txBox="1"/>
          <p:nvPr/>
        </p:nvSpPr>
        <p:spPr>
          <a:xfrm>
            <a:off x="5873055" y="5106466"/>
            <a:ext cx="1111135" cy="369332"/>
          </a:xfrm>
          <a:prstGeom prst="rect">
            <a:avLst/>
          </a:prstGeom>
          <a:noFill/>
        </p:spPr>
        <p:txBody>
          <a:bodyPr wrap="square" rtlCol="0">
            <a:spAutoFit/>
          </a:bodyPr>
          <a:lstStyle/>
          <a:p>
            <a:r>
              <a:rPr lang="en-US" dirty="0"/>
              <a:t>F</a:t>
            </a:r>
          </a:p>
        </p:txBody>
      </p:sp>
      <p:sp>
        <p:nvSpPr>
          <p:cNvPr id="18" name="TextBox 17"/>
          <p:cNvSpPr txBox="1"/>
          <p:nvPr/>
        </p:nvSpPr>
        <p:spPr>
          <a:xfrm>
            <a:off x="2959608" y="5054656"/>
            <a:ext cx="1645920" cy="369332"/>
          </a:xfrm>
          <a:prstGeom prst="rect">
            <a:avLst/>
          </a:prstGeom>
          <a:noFill/>
        </p:spPr>
        <p:txBody>
          <a:bodyPr wrap="square" rtlCol="0">
            <a:spAutoFit/>
          </a:bodyPr>
          <a:lstStyle/>
          <a:p>
            <a:r>
              <a:rPr lang="en-US" dirty="0"/>
              <a:t>F’</a:t>
            </a:r>
          </a:p>
        </p:txBody>
      </p:sp>
      <mc:AlternateContent xmlns:mc="http://schemas.openxmlformats.org/markup-compatibility/2006" xmlns:a14="http://schemas.microsoft.com/office/drawing/2010/main">
        <mc:Choice Requires="a14">
          <p:sp>
            <p:nvSpPr>
              <p:cNvPr id="19" name="TextBox 18"/>
              <p:cNvSpPr txBox="1"/>
              <p:nvPr/>
            </p:nvSpPr>
            <p:spPr>
              <a:xfrm>
                <a:off x="2216092" y="4649594"/>
                <a:ext cx="17586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2216092" y="4649594"/>
                <a:ext cx="1758696" cy="369332"/>
              </a:xfrm>
              <a:prstGeom prst="rect">
                <a:avLst/>
              </a:prstGeom>
              <a:blipFill rotWithShape="0">
                <a:blip r:embed="rId8"/>
                <a:stretch>
                  <a:fillRect/>
                </a:stretch>
              </a:blipFill>
            </p:spPr>
            <p:txBody>
              <a:bodyPr/>
              <a:lstStyle/>
              <a:p>
                <a:r>
                  <a:rPr lang="en-US">
                    <a:noFill/>
                  </a:rPr>
                  <a:t> </a:t>
                </a:r>
              </a:p>
            </p:txBody>
          </p:sp>
        </mc:Fallback>
      </mc:AlternateContent>
      <p:cxnSp>
        <p:nvCxnSpPr>
          <p:cNvPr id="21" name="Straight Arrow Connector 20"/>
          <p:cNvCxnSpPr>
            <a:stCxn id="8" idx="0"/>
          </p:cNvCxnSpPr>
          <p:nvPr/>
        </p:nvCxnSpPr>
        <p:spPr>
          <a:xfrm flipH="1">
            <a:off x="3477006" y="3090673"/>
            <a:ext cx="1076706" cy="567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375279" y="3142505"/>
            <a:ext cx="1280160" cy="369332"/>
          </a:xfrm>
          <a:prstGeom prst="rect">
            <a:avLst/>
          </a:prstGeom>
          <a:noFill/>
        </p:spPr>
        <p:txBody>
          <a:bodyPr wrap="square" rtlCol="0">
            <a:spAutoFit/>
          </a:bodyPr>
          <a:lstStyle/>
          <a:p>
            <a:r>
              <a:rPr lang="el-GR" dirty="0"/>
              <a:t>φ</a:t>
            </a:r>
            <a:endParaRPr lang="en-US" dirty="0"/>
          </a:p>
        </p:txBody>
      </p:sp>
      <p:cxnSp>
        <p:nvCxnSpPr>
          <p:cNvPr id="24" name="Straight Arrow Connector 23"/>
          <p:cNvCxnSpPr/>
          <p:nvPr/>
        </p:nvCxnSpPr>
        <p:spPr>
          <a:xfrm>
            <a:off x="6095999" y="4723512"/>
            <a:ext cx="3886201" cy="35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8936355" y="4330075"/>
                <a:ext cx="15598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𝑒</m:t>
                          </m:r>
                        </m:e>
                      </m:acc>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8936355" y="4330075"/>
                <a:ext cx="1559814" cy="369332"/>
              </a:xfrm>
              <a:prstGeom prst="rect">
                <a:avLst/>
              </a:prstGeom>
              <a:blipFill rotWithShape="0">
                <a:blip r:embed="rId9"/>
                <a:stretch>
                  <a:fillRect t="-6557"/>
                </a:stretch>
              </a:blipFill>
            </p:spPr>
            <p:txBody>
              <a:bodyPr/>
              <a:lstStyle/>
              <a:p>
                <a:r>
                  <a:rPr lang="en-US">
                    <a:noFill/>
                  </a:rPr>
                  <a:t> </a:t>
                </a:r>
              </a:p>
            </p:txBody>
          </p:sp>
        </mc:Fallback>
      </mc:AlternateContent>
      <p:sp>
        <p:nvSpPr>
          <p:cNvPr id="26" name="TextBox 25"/>
          <p:cNvSpPr txBox="1"/>
          <p:nvPr/>
        </p:nvSpPr>
        <p:spPr>
          <a:xfrm>
            <a:off x="8065770" y="4649617"/>
            <a:ext cx="1298448" cy="369332"/>
          </a:xfrm>
          <a:prstGeom prst="rect">
            <a:avLst/>
          </a:prstGeom>
          <a:noFill/>
        </p:spPr>
        <p:txBody>
          <a:bodyPr wrap="square" rtlCol="0">
            <a:spAutoFit/>
          </a:bodyPr>
          <a:lstStyle/>
          <a:p>
            <a:r>
              <a:rPr lang="en-US" dirty="0"/>
              <a:t>perigee</a:t>
            </a:r>
          </a:p>
        </p:txBody>
      </p:sp>
      <p:sp>
        <p:nvSpPr>
          <p:cNvPr id="27" name="TextBox 26"/>
          <p:cNvSpPr txBox="1"/>
          <p:nvPr/>
        </p:nvSpPr>
        <p:spPr>
          <a:xfrm>
            <a:off x="105646" y="4374308"/>
            <a:ext cx="2432304" cy="369332"/>
          </a:xfrm>
          <a:prstGeom prst="rect">
            <a:avLst/>
          </a:prstGeom>
          <a:noFill/>
        </p:spPr>
        <p:txBody>
          <a:bodyPr wrap="square" rtlCol="0">
            <a:spAutoFit/>
          </a:bodyPr>
          <a:lstStyle/>
          <a:p>
            <a:r>
              <a:rPr lang="en-US" dirty="0"/>
              <a:t>apogee</a:t>
            </a:r>
          </a:p>
        </p:txBody>
      </p:sp>
      <p:sp>
        <p:nvSpPr>
          <p:cNvPr id="28" name="Arc 27"/>
          <p:cNvSpPr/>
          <p:nvPr/>
        </p:nvSpPr>
        <p:spPr>
          <a:xfrm>
            <a:off x="4283397" y="4077941"/>
            <a:ext cx="2924741" cy="1397857"/>
          </a:xfrm>
          <a:prstGeom prst="arc">
            <a:avLst>
              <a:gd name="adj1" fmla="val 16200000"/>
              <a:gd name="adj2" fmla="val 21300024"/>
            </a:avLst>
          </a:prstGeom>
          <a:ln>
            <a:headEnd type="stealth" w="lg" len="lg"/>
            <a:tailEnd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p:cNvSpPr txBox="1"/>
          <p:nvPr/>
        </p:nvSpPr>
        <p:spPr>
          <a:xfrm>
            <a:off x="6478524" y="3841615"/>
            <a:ext cx="1408176" cy="369332"/>
          </a:xfrm>
          <a:prstGeom prst="rect">
            <a:avLst/>
          </a:prstGeom>
          <a:noFill/>
        </p:spPr>
        <p:txBody>
          <a:bodyPr wrap="square" rtlCol="0">
            <a:spAutoFit/>
          </a:bodyPr>
          <a:lstStyle/>
          <a:p>
            <a:r>
              <a:rPr lang="el-GR" i="1" dirty="0"/>
              <a:t>ν</a:t>
            </a:r>
            <a:endParaRPr lang="en-US" i="1" dirty="0"/>
          </a:p>
        </p:txBody>
      </p:sp>
      <p:cxnSp>
        <p:nvCxnSpPr>
          <p:cNvPr id="31" name="Straight Connector 30"/>
          <p:cNvCxnSpPr/>
          <p:nvPr/>
        </p:nvCxnSpPr>
        <p:spPr>
          <a:xfrm>
            <a:off x="1095756" y="6356350"/>
            <a:ext cx="0" cy="501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7886700" y="6356350"/>
            <a:ext cx="0" cy="501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1095756" y="6538912"/>
            <a:ext cx="6790944" cy="6826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362831" y="6536809"/>
            <a:ext cx="1155192" cy="369332"/>
          </a:xfrm>
          <a:prstGeom prst="rect">
            <a:avLst/>
          </a:prstGeom>
          <a:noFill/>
        </p:spPr>
        <p:txBody>
          <a:bodyPr wrap="square" rtlCol="0">
            <a:spAutoFit/>
          </a:bodyPr>
          <a:lstStyle/>
          <a:p>
            <a:r>
              <a:rPr lang="en-US" dirty="0"/>
              <a:t>2a</a:t>
            </a:r>
          </a:p>
        </p:txBody>
      </p:sp>
    </p:spTree>
    <p:extLst>
      <p:ext uri="{BB962C8B-B14F-4D97-AF65-F5344CB8AC3E}">
        <p14:creationId xmlns:p14="http://schemas.microsoft.com/office/powerpoint/2010/main" val="4126122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32823" y="-256453"/>
            <a:ext cx="9692640" cy="1325562"/>
          </a:xfrm>
        </p:spPr>
        <p:txBody>
          <a:bodyPr/>
          <a:lstStyle/>
          <a:p>
            <a:pPr algn="ctr"/>
            <a:r>
              <a:rPr lang="en-US" dirty="0"/>
              <a:t>	SOLUTION TO 2 BODY EOM</a:t>
            </a:r>
          </a:p>
        </p:txBody>
      </p:sp>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17</a:t>
            </a:fld>
            <a:endParaRPr lang="en-US" dirty="0"/>
          </a:p>
        </p:txBody>
      </p:sp>
      <p:pic>
        <p:nvPicPr>
          <p:cNvPr id="5" name="Picture 8" descr="http://t0.gstatic.com/images?q=tbn:ANd9GcQpdHsY1Kj4wJTYtvLc1wzBmzX3ybeW82_ZXOekWYhd2rmMw21lm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63377" y="2929328"/>
            <a:ext cx="665245" cy="66228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Satellite clip ar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00144" y="1296163"/>
            <a:ext cx="707136" cy="662940"/>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p:cNvSpPr/>
          <p:nvPr/>
        </p:nvSpPr>
        <p:spPr>
          <a:xfrm>
            <a:off x="1095756" y="1627633"/>
            <a:ext cx="6915912" cy="32656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flipV="1">
            <a:off x="4553712" y="1627633"/>
            <a:ext cx="1542288" cy="1632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4682490" y="2195253"/>
                <a:ext cx="1671066" cy="4029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𝑅</m:t>
                          </m:r>
                        </m:e>
                      </m:acc>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4682490" y="2195253"/>
                <a:ext cx="1671066" cy="402931"/>
              </a:xfrm>
              <a:prstGeom prst="rect">
                <a:avLst/>
              </a:prstGeom>
              <a:blipFill rotWithShape="0">
                <a:blip r:embed="rId5"/>
                <a:stretch>
                  <a:fillRect/>
                </a:stretch>
              </a:blipFill>
            </p:spPr>
            <p:txBody>
              <a:bodyPr/>
              <a:lstStyle/>
              <a:p>
                <a:r>
                  <a:rPr lang="en-US">
                    <a:noFill/>
                  </a:rPr>
                  <a:t> </a:t>
                </a:r>
              </a:p>
            </p:txBody>
          </p:sp>
        </mc:Fallback>
      </mc:AlternateContent>
      <p:cxnSp>
        <p:nvCxnSpPr>
          <p:cNvPr id="13" name="Straight Arrow Connector 12"/>
          <p:cNvCxnSpPr>
            <a:stCxn id="8" idx="0"/>
          </p:cNvCxnSpPr>
          <p:nvPr/>
        </p:nvCxnSpPr>
        <p:spPr>
          <a:xfrm flipH="1">
            <a:off x="3011424" y="1627633"/>
            <a:ext cx="15422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2641473" y="1260433"/>
                <a:ext cx="1671066" cy="4029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𝑉</m:t>
                          </m:r>
                        </m:e>
                      </m:acc>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2641473" y="1260433"/>
                <a:ext cx="1671066" cy="402931"/>
              </a:xfrm>
              <a:prstGeom prst="rect">
                <a:avLst/>
              </a:prstGeom>
              <a:blipFill rotWithShape="0">
                <a:blip r:embed="rId6"/>
                <a:stretch>
                  <a:fillRect/>
                </a:stretch>
              </a:blipFill>
            </p:spPr>
            <p:txBody>
              <a:bodyPr/>
              <a:lstStyle/>
              <a:p>
                <a:r>
                  <a:rPr lang="en-US">
                    <a:noFill/>
                  </a:rPr>
                  <a:t> </a:t>
                </a:r>
              </a:p>
            </p:txBody>
          </p:sp>
        </mc:Fallback>
      </mc:AlternateContent>
      <p:sp>
        <p:nvSpPr>
          <p:cNvPr id="17" name="TextBox 16"/>
          <p:cNvSpPr txBox="1"/>
          <p:nvPr/>
        </p:nvSpPr>
        <p:spPr>
          <a:xfrm>
            <a:off x="5873055" y="3643426"/>
            <a:ext cx="1111135" cy="369332"/>
          </a:xfrm>
          <a:prstGeom prst="rect">
            <a:avLst/>
          </a:prstGeom>
          <a:noFill/>
        </p:spPr>
        <p:txBody>
          <a:bodyPr wrap="square" rtlCol="0">
            <a:spAutoFit/>
          </a:bodyPr>
          <a:lstStyle/>
          <a:p>
            <a:r>
              <a:rPr lang="en-US" dirty="0"/>
              <a:t>F</a:t>
            </a:r>
          </a:p>
        </p:txBody>
      </p:sp>
      <p:sp>
        <p:nvSpPr>
          <p:cNvPr id="18" name="TextBox 17"/>
          <p:cNvSpPr txBox="1"/>
          <p:nvPr/>
        </p:nvSpPr>
        <p:spPr>
          <a:xfrm>
            <a:off x="2959608" y="3591616"/>
            <a:ext cx="1645920" cy="369332"/>
          </a:xfrm>
          <a:prstGeom prst="rect">
            <a:avLst/>
          </a:prstGeom>
          <a:noFill/>
        </p:spPr>
        <p:txBody>
          <a:bodyPr wrap="square" rtlCol="0">
            <a:spAutoFit/>
          </a:bodyPr>
          <a:lstStyle/>
          <a:p>
            <a:r>
              <a:rPr lang="en-US" dirty="0"/>
              <a:t>F’</a:t>
            </a:r>
          </a:p>
        </p:txBody>
      </p:sp>
      <mc:AlternateContent xmlns:mc="http://schemas.openxmlformats.org/markup-compatibility/2006" xmlns:a14="http://schemas.microsoft.com/office/drawing/2010/main">
        <mc:Choice Requires="a14">
          <p:sp>
            <p:nvSpPr>
              <p:cNvPr id="19" name="TextBox 18"/>
              <p:cNvSpPr txBox="1"/>
              <p:nvPr/>
            </p:nvSpPr>
            <p:spPr>
              <a:xfrm>
                <a:off x="2216092" y="3186554"/>
                <a:ext cx="17586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2216092" y="3186554"/>
                <a:ext cx="1758696" cy="369332"/>
              </a:xfrm>
              <a:prstGeom prst="rect">
                <a:avLst/>
              </a:prstGeom>
              <a:blipFill rotWithShape="0">
                <a:blip r:embed="rId7"/>
                <a:stretch>
                  <a:fillRect/>
                </a:stretch>
              </a:blipFill>
            </p:spPr>
            <p:txBody>
              <a:bodyPr/>
              <a:lstStyle/>
              <a:p>
                <a:r>
                  <a:rPr lang="en-US">
                    <a:noFill/>
                  </a:rPr>
                  <a:t> </a:t>
                </a:r>
              </a:p>
            </p:txBody>
          </p:sp>
        </mc:Fallback>
      </mc:AlternateContent>
      <p:cxnSp>
        <p:nvCxnSpPr>
          <p:cNvPr id="21" name="Straight Arrow Connector 20"/>
          <p:cNvCxnSpPr>
            <a:stCxn id="8" idx="0"/>
          </p:cNvCxnSpPr>
          <p:nvPr/>
        </p:nvCxnSpPr>
        <p:spPr>
          <a:xfrm flipH="1">
            <a:off x="3477006" y="1627633"/>
            <a:ext cx="1076706" cy="567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375279" y="1679465"/>
            <a:ext cx="1280160" cy="369332"/>
          </a:xfrm>
          <a:prstGeom prst="rect">
            <a:avLst/>
          </a:prstGeom>
          <a:noFill/>
        </p:spPr>
        <p:txBody>
          <a:bodyPr wrap="square" rtlCol="0">
            <a:spAutoFit/>
          </a:bodyPr>
          <a:lstStyle/>
          <a:p>
            <a:r>
              <a:rPr lang="el-GR" dirty="0"/>
              <a:t>φ</a:t>
            </a:r>
            <a:endParaRPr lang="en-US" dirty="0"/>
          </a:p>
        </p:txBody>
      </p:sp>
      <p:cxnSp>
        <p:nvCxnSpPr>
          <p:cNvPr id="24" name="Straight Arrow Connector 23"/>
          <p:cNvCxnSpPr/>
          <p:nvPr/>
        </p:nvCxnSpPr>
        <p:spPr>
          <a:xfrm>
            <a:off x="6095999" y="3260472"/>
            <a:ext cx="2840356" cy="20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p:cNvSpPr txBox="1"/>
              <p:nvPr/>
            </p:nvSpPr>
            <p:spPr>
              <a:xfrm>
                <a:off x="7609703" y="2864257"/>
                <a:ext cx="15598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𝑒</m:t>
                          </m:r>
                        </m:e>
                      </m:acc>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7609703" y="2864257"/>
                <a:ext cx="1559814" cy="369332"/>
              </a:xfrm>
              <a:prstGeom prst="rect">
                <a:avLst/>
              </a:prstGeom>
              <a:blipFill rotWithShape="0">
                <a:blip r:embed="rId8"/>
                <a:stretch>
                  <a:fillRect t="-6667"/>
                </a:stretch>
              </a:blipFill>
            </p:spPr>
            <p:txBody>
              <a:bodyPr/>
              <a:lstStyle/>
              <a:p>
                <a:r>
                  <a:rPr lang="en-US">
                    <a:noFill/>
                  </a:rPr>
                  <a:t> </a:t>
                </a:r>
              </a:p>
            </p:txBody>
          </p:sp>
        </mc:Fallback>
      </mc:AlternateContent>
      <p:sp>
        <p:nvSpPr>
          <p:cNvPr id="26" name="TextBox 25"/>
          <p:cNvSpPr txBox="1"/>
          <p:nvPr/>
        </p:nvSpPr>
        <p:spPr>
          <a:xfrm>
            <a:off x="8065770" y="3186577"/>
            <a:ext cx="1298448" cy="369332"/>
          </a:xfrm>
          <a:prstGeom prst="rect">
            <a:avLst/>
          </a:prstGeom>
          <a:noFill/>
        </p:spPr>
        <p:txBody>
          <a:bodyPr wrap="square" rtlCol="0">
            <a:spAutoFit/>
          </a:bodyPr>
          <a:lstStyle/>
          <a:p>
            <a:r>
              <a:rPr lang="en-US" dirty="0"/>
              <a:t>perigee</a:t>
            </a:r>
          </a:p>
        </p:txBody>
      </p:sp>
      <p:sp>
        <p:nvSpPr>
          <p:cNvPr id="27" name="TextBox 26"/>
          <p:cNvSpPr txBox="1"/>
          <p:nvPr/>
        </p:nvSpPr>
        <p:spPr>
          <a:xfrm>
            <a:off x="105646" y="2911268"/>
            <a:ext cx="2432304" cy="369332"/>
          </a:xfrm>
          <a:prstGeom prst="rect">
            <a:avLst/>
          </a:prstGeom>
          <a:noFill/>
        </p:spPr>
        <p:txBody>
          <a:bodyPr wrap="square" rtlCol="0">
            <a:spAutoFit/>
          </a:bodyPr>
          <a:lstStyle/>
          <a:p>
            <a:r>
              <a:rPr lang="en-US" dirty="0"/>
              <a:t>apogee</a:t>
            </a:r>
          </a:p>
        </p:txBody>
      </p:sp>
      <p:sp>
        <p:nvSpPr>
          <p:cNvPr id="28" name="Arc 27"/>
          <p:cNvSpPr/>
          <p:nvPr/>
        </p:nvSpPr>
        <p:spPr>
          <a:xfrm>
            <a:off x="4283397" y="2614901"/>
            <a:ext cx="2924741" cy="1397857"/>
          </a:xfrm>
          <a:prstGeom prst="arc">
            <a:avLst>
              <a:gd name="adj1" fmla="val 16200000"/>
              <a:gd name="adj2" fmla="val 21300024"/>
            </a:avLst>
          </a:prstGeom>
          <a:ln>
            <a:headEnd type="stealth" w="lg" len="lg"/>
            <a:tailEnd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p:cNvSpPr txBox="1"/>
          <p:nvPr/>
        </p:nvSpPr>
        <p:spPr>
          <a:xfrm>
            <a:off x="6478524" y="2378575"/>
            <a:ext cx="1408176" cy="369332"/>
          </a:xfrm>
          <a:prstGeom prst="rect">
            <a:avLst/>
          </a:prstGeom>
          <a:noFill/>
        </p:spPr>
        <p:txBody>
          <a:bodyPr wrap="square" rtlCol="0">
            <a:spAutoFit/>
          </a:bodyPr>
          <a:lstStyle/>
          <a:p>
            <a:r>
              <a:rPr lang="en-US" dirty="0"/>
              <a:t>ƴ</a:t>
            </a:r>
          </a:p>
        </p:txBody>
      </p:sp>
      <p:cxnSp>
        <p:nvCxnSpPr>
          <p:cNvPr id="31" name="Straight Connector 30"/>
          <p:cNvCxnSpPr/>
          <p:nvPr/>
        </p:nvCxnSpPr>
        <p:spPr>
          <a:xfrm>
            <a:off x="1095756" y="4893310"/>
            <a:ext cx="0" cy="501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7886700" y="4893310"/>
            <a:ext cx="0" cy="501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1095756" y="5075872"/>
            <a:ext cx="6790944" cy="6826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362831" y="5073769"/>
            <a:ext cx="1155192" cy="369332"/>
          </a:xfrm>
          <a:prstGeom prst="rect">
            <a:avLst/>
          </a:prstGeom>
          <a:noFill/>
        </p:spPr>
        <p:txBody>
          <a:bodyPr wrap="square" rtlCol="0">
            <a:spAutoFit/>
          </a:bodyPr>
          <a:lstStyle/>
          <a:p>
            <a:r>
              <a:rPr lang="en-US" dirty="0"/>
              <a:t>2a</a:t>
            </a:r>
          </a:p>
        </p:txBody>
      </p:sp>
      <p:cxnSp>
        <p:nvCxnSpPr>
          <p:cNvPr id="12" name="Straight Connector 11"/>
          <p:cNvCxnSpPr/>
          <p:nvPr/>
        </p:nvCxnSpPr>
        <p:spPr>
          <a:xfrm>
            <a:off x="1095755" y="5548348"/>
            <a:ext cx="0" cy="5326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1095755" y="5814694"/>
            <a:ext cx="50002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886700" y="5535299"/>
            <a:ext cx="0" cy="4827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6095999" y="5548348"/>
            <a:ext cx="0" cy="46969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095999" y="5814694"/>
            <a:ext cx="17907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p:cNvSpPr txBox="1"/>
              <p:nvPr/>
            </p:nvSpPr>
            <p:spPr>
              <a:xfrm>
                <a:off x="2883408" y="5757570"/>
                <a:ext cx="8991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𝑎</m:t>
                          </m:r>
                        </m:sub>
                      </m:sSub>
                    </m:oMath>
                  </m:oMathPara>
                </a14:m>
                <a:endParaRPr lang="en-US" dirty="0"/>
              </a:p>
            </p:txBody>
          </p:sp>
        </mc:Choice>
        <mc:Fallback xmlns="">
          <p:sp>
            <p:nvSpPr>
              <p:cNvPr id="42" name="TextBox 41"/>
              <p:cNvSpPr txBox="1">
                <a:spLocks noRot="1" noChangeAspect="1" noMove="1" noResize="1" noEditPoints="1" noAdjustHandles="1" noChangeArrowheads="1" noChangeShapeType="1" noTextEdit="1"/>
              </p:cNvSpPr>
              <p:nvPr/>
            </p:nvSpPr>
            <p:spPr>
              <a:xfrm>
                <a:off x="2883408" y="5757570"/>
                <a:ext cx="899160" cy="369332"/>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6516322" y="5736154"/>
                <a:ext cx="899160"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𝑝</m:t>
                          </m:r>
                        </m:sub>
                      </m:sSub>
                    </m:oMath>
                  </m:oMathPara>
                </a14:m>
                <a:endParaRPr lang="en-US" dirty="0"/>
              </a:p>
            </p:txBody>
          </p:sp>
        </mc:Choice>
        <mc:Fallback xmlns="">
          <p:sp>
            <p:nvSpPr>
              <p:cNvPr id="43" name="TextBox 42"/>
              <p:cNvSpPr txBox="1">
                <a:spLocks noRot="1" noChangeAspect="1" noMove="1" noResize="1" noEditPoints="1" noAdjustHandles="1" noChangeArrowheads="1" noChangeShapeType="1" noTextEdit="1"/>
              </p:cNvSpPr>
              <p:nvPr/>
            </p:nvSpPr>
            <p:spPr>
              <a:xfrm>
                <a:off x="6516322" y="5736154"/>
                <a:ext cx="899160" cy="390748"/>
              </a:xfrm>
              <a:prstGeom prst="rect">
                <a:avLst/>
              </a:prstGeom>
              <a:blipFill rotWithShape="0">
                <a:blip r:embed="rId10"/>
                <a:stretch>
                  <a:fillRect b="-3125"/>
                </a:stretch>
              </a:blipFill>
            </p:spPr>
            <p:txBody>
              <a:bodyPr/>
              <a:lstStyle/>
              <a:p>
                <a:r>
                  <a:rPr lang="en-US">
                    <a:noFill/>
                  </a:rPr>
                  <a:t> </a:t>
                </a:r>
              </a:p>
            </p:txBody>
          </p:sp>
        </mc:Fallback>
      </mc:AlternateContent>
      <p:cxnSp>
        <p:nvCxnSpPr>
          <p:cNvPr id="45" name="Straight Connector 44"/>
          <p:cNvCxnSpPr/>
          <p:nvPr/>
        </p:nvCxnSpPr>
        <p:spPr>
          <a:xfrm>
            <a:off x="4491228" y="6126902"/>
            <a:ext cx="0" cy="41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095999" y="6126902"/>
            <a:ext cx="0" cy="41201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4491228" y="6332907"/>
            <a:ext cx="16047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184840" y="6278441"/>
            <a:ext cx="1021080" cy="369332"/>
          </a:xfrm>
          <a:prstGeom prst="rect">
            <a:avLst/>
          </a:prstGeom>
          <a:noFill/>
        </p:spPr>
        <p:txBody>
          <a:bodyPr wrap="square" rtlCol="0">
            <a:spAutoFit/>
          </a:bodyPr>
          <a:lstStyle/>
          <a:p>
            <a:r>
              <a:rPr lang="en-US" dirty="0"/>
              <a:t>c</a:t>
            </a:r>
          </a:p>
        </p:txBody>
      </p:sp>
      <mc:AlternateContent xmlns:mc="http://schemas.openxmlformats.org/markup-compatibility/2006" xmlns:a14="http://schemas.microsoft.com/office/drawing/2010/main">
        <mc:Choice Requires="a14">
          <p:sp>
            <p:nvSpPr>
              <p:cNvPr id="6" name="TextBox 5"/>
              <p:cNvSpPr txBox="1"/>
              <p:nvPr/>
            </p:nvSpPr>
            <p:spPr>
              <a:xfrm>
                <a:off x="8609838" y="1964546"/>
                <a:ext cx="2649865" cy="4850174"/>
              </a:xfrm>
              <a:prstGeom prst="rect">
                <a:avLst/>
              </a:prstGeom>
              <a:noFill/>
            </p:spPr>
            <p:txBody>
              <a:bodyPr wrap="square" rtlCol="0">
                <a:spAutoFit/>
              </a:bodyPr>
              <a:lstStyle/>
              <a:p>
                <a:r>
                  <a:rPr lang="el-GR" dirty="0"/>
                  <a:t>ф</a:t>
                </a:r>
                <a:r>
                  <a:rPr lang="en-US" dirty="0"/>
                  <a:t> = flight path angle</a:t>
                </a:r>
              </a:p>
              <a:p>
                <a:r>
                  <a:rPr lang="en-US" dirty="0"/>
                  <a:t>    + outward bound  </a:t>
                </a:r>
              </a:p>
              <a:p>
                <a:r>
                  <a:rPr lang="en-US" dirty="0"/>
                  <a:t>       (perigee to apogee)</a:t>
                </a:r>
              </a:p>
              <a:p>
                <a:r>
                  <a:rPr lang="en-US" dirty="0"/>
                  <a:t>    - Inbound (apogee to</a:t>
                </a:r>
              </a:p>
              <a:p>
                <a:r>
                  <a:rPr lang="en-US" dirty="0"/>
                  <a:t>       perigee)</a:t>
                </a:r>
              </a:p>
              <a:p>
                <a:endParaRPr lang="en-US" dirty="0"/>
              </a:p>
              <a:p>
                <a:r>
                  <a:rPr lang="en-US" dirty="0"/>
                  <a:t>e = eccentricity </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𝑝</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𝑝</m:t>
                              </m:r>
                            </m:sub>
                          </m:sSub>
                        </m:den>
                      </m:f>
                    </m:oMath>
                  </m:oMathPara>
                </a14:m>
                <a:endParaRPr lang="en-US" dirty="0"/>
              </a:p>
              <a:p>
                <a:endParaRPr lang="en-US" dirty="0"/>
              </a:p>
              <a:p>
                <a:r>
                  <a:rPr lang="en-US" dirty="0"/>
                  <a:t>   circle: e = 0</a:t>
                </a:r>
              </a:p>
              <a:p>
                <a:r>
                  <a:rPr lang="en-US" dirty="0"/>
                  <a:t>   ellipse 0 &lt; e &lt; 1</a:t>
                </a:r>
              </a:p>
              <a:p>
                <a:r>
                  <a:rPr lang="en-US" dirty="0"/>
                  <a:t>   parabola e = 1</a:t>
                </a:r>
              </a:p>
              <a:p>
                <a:r>
                  <a:rPr lang="en-US" dirty="0"/>
                  <a:t>   hyperbola e &gt; 1</a:t>
                </a:r>
              </a:p>
              <a:p>
                <a:endParaRPr lang="en-US" dirty="0"/>
              </a:p>
              <a:p>
                <a:endParaRPr lang="en-US" dirty="0"/>
              </a:p>
              <a:p>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8609838" y="1964546"/>
                <a:ext cx="2649865" cy="4850174"/>
              </a:xfrm>
              <a:prstGeom prst="rect">
                <a:avLst/>
              </a:prstGeom>
              <a:blipFill>
                <a:blip r:embed="rId11"/>
                <a:stretch>
                  <a:fillRect l="-1839" t="-628" r="-690"/>
                </a:stretch>
              </a:blipFill>
            </p:spPr>
            <p:txBody>
              <a:bodyPr/>
              <a:lstStyle/>
              <a:p>
                <a:r>
                  <a:rPr lang="en-US">
                    <a:noFill/>
                  </a:rPr>
                  <a:t> </a:t>
                </a:r>
              </a:p>
            </p:txBody>
          </p:sp>
        </mc:Fallback>
      </mc:AlternateContent>
    </p:spTree>
    <p:extLst>
      <p:ext uri="{BB962C8B-B14F-4D97-AF65-F5344CB8AC3E}">
        <p14:creationId xmlns:p14="http://schemas.microsoft.com/office/powerpoint/2010/main" val="2514431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680" y="-17656"/>
            <a:ext cx="9692640" cy="1325562"/>
          </a:xfrm>
        </p:spPr>
        <p:txBody>
          <a:bodyPr/>
          <a:lstStyle/>
          <a:p>
            <a:pPr algn="ctr"/>
            <a:r>
              <a:rPr lang="en-US" dirty="0"/>
              <a:t>Energy Considerations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424647"/>
                <a:ext cx="10515600" cy="3319881"/>
              </a:xfrm>
            </p:spPr>
            <p:txBody>
              <a:bodyPr>
                <a:normAutofit/>
              </a:bodyPr>
              <a:lstStyle/>
              <a:p>
                <a:pPr marL="0" indent="0">
                  <a:buNone/>
                </a:pPr>
                <a:r>
                  <a:rPr lang="en-US" b="0" dirty="0">
                    <a:ea typeface="Cambria Math" panose="02040503050406030204" pitchFamily="18" charset="0"/>
                  </a:rPr>
                  <a:t>Conservation of Mechanical Energy</a:t>
                </a:r>
              </a:p>
              <a:p>
                <a:pPr marL="0" indent="0">
                  <a:buNone/>
                </a:pPr>
                <a:r>
                  <a:rPr lang="en-US" dirty="0">
                    <a:ea typeface="Cambria Math" panose="02040503050406030204" pitchFamily="18" charset="0"/>
                  </a:rPr>
                  <a:t>E = KE + PE</a:t>
                </a:r>
              </a:p>
              <a:p>
                <a:pPr marL="0" indent="0">
                  <a:buNone/>
                </a:pPr>
                <a:r>
                  <a:rPr lang="en-US" b="0" dirty="0">
                    <a:ea typeface="Cambria Math" panose="02040503050406030204" pitchFamily="18" charset="0"/>
                  </a:rPr>
                  <a:t>E = energy</a:t>
                </a:r>
              </a:p>
              <a:p>
                <a:pPr marL="0" indent="0">
                  <a:buNone/>
                </a:pPr>
                <a:r>
                  <a:rPr lang="en-US" dirty="0">
                    <a:ea typeface="Cambria Math" panose="02040503050406030204" pitchFamily="18" charset="0"/>
                  </a:rPr>
                  <a:t>KE = kinetic energy</a:t>
                </a:r>
              </a:p>
              <a:p>
                <a:pPr marL="0" indent="0">
                  <a:buNone/>
                </a:pPr>
                <a:r>
                  <a:rPr lang="en-US" b="0" dirty="0">
                    <a:ea typeface="Cambria Math" panose="02040503050406030204" pitchFamily="18" charset="0"/>
                  </a:rPr>
                  <a:t>PE = potential energy</a:t>
                </a:r>
              </a:p>
              <a:p>
                <a:pPr marL="0" indent="0">
                  <a:buNone/>
                </a:pPr>
                <a:r>
                  <a:rPr lang="en-US" dirty="0">
                    <a:ea typeface="Cambria Math" panose="02040503050406030204" pitchFamily="18" charset="0"/>
                  </a:rPr>
                  <a:t>Define </a:t>
                </a:r>
                <a14:m>
                  <m:oMath xmlns:m="http://schemas.openxmlformats.org/officeDocument/2006/math">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𝐸</m:t>
                        </m:r>
                      </m:num>
                      <m:den>
                        <m:r>
                          <a:rPr lang="en-US" b="0" i="1" smtClean="0">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𝑅</m:t>
                        </m:r>
                      </m:den>
                    </m:f>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𝑎</m:t>
                        </m:r>
                      </m:den>
                    </m:f>
                  </m:oMath>
                </a14:m>
                <a:r>
                  <a:rPr lang="en-US" b="0" dirty="0">
                    <a:ea typeface="Cambria Math" panose="02040503050406030204" pitchFamily="18" charset="0"/>
                  </a:rPr>
                  <a:t> </a:t>
                </a:r>
              </a:p>
              <a:p>
                <a:pPr marL="0" indent="0">
                  <a:buNone/>
                </a:pPr>
                <a:endParaRPr lang="en-US" dirty="0">
                  <a:ea typeface="Cambria Math" panose="02040503050406030204" pitchFamily="18" charset="0"/>
                </a:endParaRPr>
              </a:p>
              <a:p>
                <a:pPr marL="0" indent="0">
                  <a:buNone/>
                </a:pPr>
                <a:endParaRPr lang="en-US" b="0" dirty="0"/>
              </a:p>
              <a:p>
                <a:pPr marL="0" indent="0">
                  <a:buNone/>
                </a:pPr>
                <a:endParaRPr lang="en-US" b="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424647"/>
                <a:ext cx="10515600" cy="3319881"/>
              </a:xfrm>
              <a:blipFill rotWithShape="0">
                <a:blip r:embed="rId3"/>
                <a:stretch>
                  <a:fillRect l="-1217" t="-3125" b="-91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18</a:t>
            </a:fld>
            <a:endParaRPr lang="en-US" dirty="0"/>
          </a:p>
        </p:txBody>
      </p:sp>
      <p:sp>
        <p:nvSpPr>
          <p:cNvPr id="7" name="TextBox 6"/>
          <p:cNvSpPr txBox="1"/>
          <p:nvPr/>
        </p:nvSpPr>
        <p:spPr>
          <a:xfrm>
            <a:off x="2521323" y="4375196"/>
            <a:ext cx="3341594" cy="369332"/>
          </a:xfrm>
          <a:prstGeom prst="rect">
            <a:avLst/>
          </a:prstGeom>
          <a:noFill/>
        </p:spPr>
        <p:txBody>
          <a:bodyPr wrap="square" rtlCol="0">
            <a:spAutoFit/>
          </a:bodyPr>
          <a:lstStyle/>
          <a:p>
            <a:r>
              <a:rPr lang="en-US" dirty="0"/>
              <a:t>KE   PE    constant!</a:t>
            </a:r>
          </a:p>
        </p:txBody>
      </p:sp>
      <mc:AlternateContent xmlns:mc="http://schemas.openxmlformats.org/markup-compatibility/2006" xmlns:a14="http://schemas.microsoft.com/office/drawing/2010/main">
        <mc:Choice Requires="a14">
          <p:sp>
            <p:nvSpPr>
              <p:cNvPr id="8" name="TextBox 7"/>
              <p:cNvSpPr txBox="1"/>
              <p:nvPr/>
            </p:nvSpPr>
            <p:spPr>
              <a:xfrm>
                <a:off x="838200" y="5258768"/>
                <a:ext cx="6280029" cy="954107"/>
              </a:xfrm>
              <a:prstGeom prst="rect">
                <a:avLst/>
              </a:prstGeom>
              <a:noFill/>
            </p:spPr>
            <p:txBody>
              <a:bodyPr wrap="square" rtlCol="0">
                <a:spAutoFit/>
              </a:bodyPr>
              <a:lstStyle/>
              <a:p>
                <a14:m>
                  <m:oMath xmlns:m="http://schemas.openxmlformats.org/officeDocument/2006/math">
                    <m:r>
                      <a:rPr lang="en-US" sz="2800" i="1" smtClean="0">
                        <a:latin typeface="Cambria Math" panose="02040503050406030204" pitchFamily="18" charset="0"/>
                        <a:ea typeface="Cambria Math" panose="02040503050406030204" pitchFamily="18" charset="0"/>
                      </a:rPr>
                      <m:t>𝜀</m:t>
                    </m:r>
                    <m:r>
                      <a:rPr lang="en-US" sz="2800" b="0" i="1" smtClean="0">
                        <a:latin typeface="Cambria Math" panose="02040503050406030204" pitchFamily="18" charset="0"/>
                        <a:ea typeface="Cambria Math" panose="02040503050406030204" pitchFamily="18" charset="0"/>
                      </a:rPr>
                      <m:t> =</m:t>
                    </m:r>
                  </m:oMath>
                </a14:m>
                <a:r>
                  <a:rPr lang="en-US" sz="2800" dirty="0"/>
                  <a:t> specific mechanical energy</a:t>
                </a:r>
              </a:p>
              <a:p>
                <a:r>
                  <a:rPr lang="en-US" sz="2800" dirty="0"/>
                  <a:t>Relevance:  orbit size is fixed!</a:t>
                </a:r>
              </a:p>
            </p:txBody>
          </p:sp>
        </mc:Choice>
        <mc:Fallback xmlns="">
          <p:sp>
            <p:nvSpPr>
              <p:cNvPr id="8" name="TextBox 7"/>
              <p:cNvSpPr txBox="1">
                <a:spLocks noRot="1" noChangeAspect="1" noMove="1" noResize="1" noEditPoints="1" noAdjustHandles="1" noChangeArrowheads="1" noChangeShapeType="1" noTextEdit="1"/>
              </p:cNvSpPr>
              <p:nvPr/>
            </p:nvSpPr>
            <p:spPr>
              <a:xfrm>
                <a:off x="838200" y="5258768"/>
                <a:ext cx="6280029" cy="954107"/>
              </a:xfrm>
              <a:prstGeom prst="rect">
                <a:avLst/>
              </a:prstGeom>
              <a:blipFill rotWithShape="0">
                <a:blip r:embed="rId4"/>
                <a:stretch>
                  <a:fillRect l="-2039" t="-6410" b="-17949"/>
                </a:stretch>
              </a:blipFill>
            </p:spPr>
            <p:txBody>
              <a:bodyPr/>
              <a:lstStyle/>
              <a:p>
                <a:r>
                  <a:rPr lang="en-US">
                    <a:noFill/>
                  </a:rPr>
                  <a:t> </a:t>
                </a:r>
              </a:p>
            </p:txBody>
          </p:sp>
        </mc:Fallback>
      </mc:AlternateContent>
      <p:pic>
        <p:nvPicPr>
          <p:cNvPr id="14" name="Picture 13"/>
          <p:cNvPicPr>
            <a:picLocks noChangeAspect="1"/>
          </p:cNvPicPr>
          <p:nvPr/>
        </p:nvPicPr>
        <p:blipFill>
          <a:blip r:embed="rId5"/>
          <a:stretch>
            <a:fillRect/>
          </a:stretch>
        </p:blipFill>
        <p:spPr>
          <a:xfrm>
            <a:off x="6579197" y="1982903"/>
            <a:ext cx="5095385" cy="4135385"/>
          </a:xfrm>
          <a:prstGeom prst="rect">
            <a:avLst/>
          </a:prstGeom>
        </p:spPr>
      </p:pic>
      <p:sp>
        <p:nvSpPr>
          <p:cNvPr id="10" name="TextBox 9"/>
          <p:cNvSpPr txBox="1"/>
          <p:nvPr/>
        </p:nvSpPr>
        <p:spPr>
          <a:xfrm>
            <a:off x="6536061" y="3727429"/>
            <a:ext cx="1164336" cy="646331"/>
          </a:xfrm>
          <a:prstGeom prst="rect">
            <a:avLst/>
          </a:prstGeom>
          <a:noFill/>
        </p:spPr>
        <p:txBody>
          <a:bodyPr wrap="square" rtlCol="0">
            <a:spAutoFit/>
          </a:bodyPr>
          <a:lstStyle/>
          <a:p>
            <a:r>
              <a:rPr lang="en-US" dirty="0">
                <a:solidFill>
                  <a:schemeClr val="bg1"/>
                </a:solidFill>
              </a:rPr>
              <a:t>KE highest</a:t>
            </a:r>
          </a:p>
          <a:p>
            <a:r>
              <a:rPr lang="en-US" dirty="0">
                <a:solidFill>
                  <a:schemeClr val="bg1"/>
                </a:solidFill>
              </a:rPr>
              <a:t>PE lowest</a:t>
            </a:r>
          </a:p>
        </p:txBody>
      </p:sp>
      <p:sp>
        <p:nvSpPr>
          <p:cNvPr id="16" name="TextBox 15"/>
          <p:cNvSpPr txBox="1"/>
          <p:nvPr/>
        </p:nvSpPr>
        <p:spPr>
          <a:xfrm>
            <a:off x="10203733" y="3727429"/>
            <a:ext cx="1164336" cy="646331"/>
          </a:xfrm>
          <a:prstGeom prst="rect">
            <a:avLst/>
          </a:prstGeom>
          <a:noFill/>
        </p:spPr>
        <p:txBody>
          <a:bodyPr wrap="square" rtlCol="0">
            <a:spAutoFit/>
          </a:bodyPr>
          <a:lstStyle/>
          <a:p>
            <a:r>
              <a:rPr lang="en-US" dirty="0">
                <a:solidFill>
                  <a:schemeClr val="bg1"/>
                </a:solidFill>
              </a:rPr>
              <a:t>KE lowest</a:t>
            </a:r>
          </a:p>
          <a:p>
            <a:r>
              <a:rPr lang="en-US" dirty="0">
                <a:solidFill>
                  <a:schemeClr val="bg1"/>
                </a:solidFill>
              </a:rPr>
              <a:t>PE highest</a:t>
            </a:r>
          </a:p>
        </p:txBody>
      </p:sp>
    </p:spTree>
    <p:extLst>
      <p:ext uri="{BB962C8B-B14F-4D97-AF65-F5344CB8AC3E}">
        <p14:creationId xmlns:p14="http://schemas.microsoft.com/office/powerpoint/2010/main" val="1251642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Energy Considerations</a:t>
            </a:r>
          </a:p>
        </p:txBody>
      </p:sp>
      <p:sp>
        <p:nvSpPr>
          <p:cNvPr id="3" name="Content Placeholder 2"/>
          <p:cNvSpPr>
            <a:spLocks noGrp="1"/>
          </p:cNvSpPr>
          <p:nvPr>
            <p:ph idx="1"/>
          </p:nvPr>
        </p:nvSpPr>
        <p:spPr>
          <a:xfrm>
            <a:off x="838200" y="1424647"/>
            <a:ext cx="10515600" cy="3319881"/>
          </a:xfrm>
        </p:spPr>
        <p:txBody>
          <a:bodyPr>
            <a:normAutofit/>
          </a:bodyPr>
          <a:lstStyle/>
          <a:p>
            <a:pPr marL="0" indent="0">
              <a:buNone/>
            </a:pPr>
            <a:endParaRPr lang="en-US" b="0" dirty="0"/>
          </a:p>
          <a:p>
            <a:pPr marL="0" indent="0">
              <a:buNone/>
            </a:pPr>
            <a:endParaRPr lang="en-US" dirty="0"/>
          </a:p>
        </p:txBody>
      </p:sp>
      <p:sp>
        <p:nvSpPr>
          <p:cNvPr id="4" name="Slide Number Placeholder 3"/>
          <p:cNvSpPr>
            <a:spLocks noGrp="1"/>
          </p:cNvSpPr>
          <p:nvPr>
            <p:ph type="sldNum" sz="quarter" idx="12"/>
          </p:nvPr>
        </p:nvSpPr>
        <p:spPr/>
        <p:txBody>
          <a:bodyPr>
            <a:normAutofit lnSpcReduction="10000"/>
          </a:bodyPr>
          <a:lstStyle/>
          <a:p>
            <a:fld id="{24520853-C384-4919-8F9A-9CB57A0B2B64}" type="slidenum">
              <a:rPr lang="en-US" smtClean="0"/>
              <a:t>19</a:t>
            </a:fld>
            <a:endParaRPr lang="en-US" dirty="0"/>
          </a:p>
        </p:txBody>
      </p:sp>
      <p:sp>
        <p:nvSpPr>
          <p:cNvPr id="9" name="Oval 8"/>
          <p:cNvSpPr/>
          <p:nvPr/>
        </p:nvSpPr>
        <p:spPr>
          <a:xfrm>
            <a:off x="5064877" y="1645608"/>
            <a:ext cx="4687019" cy="447579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http://t0.gstatic.com/images?q=tbn:ANd9GcQpdHsY1Kj4wJTYtvLc1wzBmzX3ybeW82_ZXOekWYhd2rmMw21lm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9328" y="3585892"/>
            <a:ext cx="514592" cy="5123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82191" y="1723128"/>
            <a:ext cx="4012938" cy="3539430"/>
          </a:xfrm>
          <a:prstGeom prst="rect">
            <a:avLst/>
          </a:prstGeom>
          <a:noFill/>
        </p:spPr>
        <p:txBody>
          <a:bodyPr wrap="square" rtlCol="0">
            <a:spAutoFit/>
          </a:bodyPr>
          <a:lstStyle/>
          <a:p>
            <a:r>
              <a:rPr lang="en-US" sz="2800" dirty="0"/>
              <a:t>PE is defined differently than we’re used to seeing</a:t>
            </a:r>
          </a:p>
          <a:p>
            <a:endParaRPr lang="en-US" sz="2800" dirty="0"/>
          </a:p>
          <a:p>
            <a:r>
              <a:rPr lang="en-US" sz="2800" dirty="0"/>
              <a:t>It is defined negative inside the Earth’s sphere of influence (SOI) and equal to zero at the very edge of the SOI</a:t>
            </a:r>
          </a:p>
        </p:txBody>
      </p:sp>
      <p:sp>
        <p:nvSpPr>
          <p:cNvPr id="6" name="TextBox 5"/>
          <p:cNvSpPr txBox="1"/>
          <p:nvPr/>
        </p:nvSpPr>
        <p:spPr>
          <a:xfrm>
            <a:off x="2868822" y="6021637"/>
            <a:ext cx="3628439" cy="646331"/>
          </a:xfrm>
          <a:prstGeom prst="rect">
            <a:avLst/>
          </a:prstGeom>
          <a:noFill/>
        </p:spPr>
        <p:txBody>
          <a:bodyPr wrap="square" rtlCol="0">
            <a:spAutoFit/>
          </a:bodyPr>
          <a:lstStyle/>
          <a:p>
            <a:r>
              <a:rPr lang="en-US" dirty="0"/>
              <a:t>Earth’s SOI ~ 1,000,000 km</a:t>
            </a:r>
          </a:p>
          <a:p>
            <a:r>
              <a:rPr lang="en-US" dirty="0"/>
              <a:t>(not to scale)</a:t>
            </a:r>
          </a:p>
        </p:txBody>
      </p:sp>
      <p:sp>
        <p:nvSpPr>
          <p:cNvPr id="10" name="TextBox 9"/>
          <p:cNvSpPr txBox="1"/>
          <p:nvPr/>
        </p:nvSpPr>
        <p:spPr>
          <a:xfrm>
            <a:off x="7436624" y="4304792"/>
            <a:ext cx="872541" cy="646331"/>
          </a:xfrm>
          <a:prstGeom prst="rect">
            <a:avLst/>
          </a:prstGeom>
          <a:noFill/>
        </p:spPr>
        <p:txBody>
          <a:bodyPr wrap="square" rtlCol="0">
            <a:spAutoFit/>
          </a:bodyPr>
          <a:lstStyle/>
          <a:p>
            <a:r>
              <a:rPr lang="el-GR" dirty="0"/>
              <a:t>ε</a:t>
            </a:r>
            <a:r>
              <a:rPr lang="en-US" dirty="0"/>
              <a:t> &lt; 0</a:t>
            </a:r>
          </a:p>
          <a:p>
            <a:r>
              <a:rPr lang="en-US" dirty="0"/>
              <a:t>PE &lt; 0</a:t>
            </a:r>
          </a:p>
        </p:txBody>
      </p:sp>
      <p:sp>
        <p:nvSpPr>
          <p:cNvPr id="12" name="TextBox 11"/>
          <p:cNvSpPr txBox="1"/>
          <p:nvPr/>
        </p:nvSpPr>
        <p:spPr>
          <a:xfrm>
            <a:off x="8879355" y="2315118"/>
            <a:ext cx="872541" cy="646331"/>
          </a:xfrm>
          <a:prstGeom prst="rect">
            <a:avLst/>
          </a:prstGeom>
          <a:noFill/>
        </p:spPr>
        <p:txBody>
          <a:bodyPr wrap="square" rtlCol="0">
            <a:spAutoFit/>
          </a:bodyPr>
          <a:lstStyle/>
          <a:p>
            <a:r>
              <a:rPr lang="el-GR" dirty="0"/>
              <a:t>ε</a:t>
            </a:r>
            <a:r>
              <a:rPr lang="en-US" dirty="0"/>
              <a:t> = 0</a:t>
            </a:r>
          </a:p>
          <a:p>
            <a:r>
              <a:rPr lang="en-US" dirty="0"/>
              <a:t>PE = 0</a:t>
            </a:r>
          </a:p>
        </p:txBody>
      </p:sp>
      <p:cxnSp>
        <p:nvCxnSpPr>
          <p:cNvPr id="13" name="Straight Arrow Connector 12"/>
          <p:cNvCxnSpPr/>
          <p:nvPr/>
        </p:nvCxnSpPr>
        <p:spPr>
          <a:xfrm flipV="1">
            <a:off x="5486400" y="5804050"/>
            <a:ext cx="438912" cy="3497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0684225" y="4136458"/>
            <a:ext cx="872541" cy="646331"/>
          </a:xfrm>
          <a:prstGeom prst="rect">
            <a:avLst/>
          </a:prstGeom>
          <a:noFill/>
        </p:spPr>
        <p:txBody>
          <a:bodyPr wrap="square" rtlCol="0">
            <a:spAutoFit/>
          </a:bodyPr>
          <a:lstStyle/>
          <a:p>
            <a:r>
              <a:rPr lang="el-GR" dirty="0"/>
              <a:t>ε</a:t>
            </a:r>
            <a:r>
              <a:rPr lang="en-US" dirty="0"/>
              <a:t> &gt; 0</a:t>
            </a:r>
          </a:p>
          <a:p>
            <a:r>
              <a:rPr lang="en-US" dirty="0"/>
              <a:t>PE = 0</a:t>
            </a:r>
          </a:p>
        </p:txBody>
      </p:sp>
    </p:spTree>
    <p:extLst>
      <p:ext uri="{BB962C8B-B14F-4D97-AF65-F5344CB8AC3E}">
        <p14:creationId xmlns:p14="http://schemas.microsoft.com/office/powerpoint/2010/main" val="1329325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52977F-01AC-4B3F-8B99-1427DDE760CE}"/>
              </a:ext>
            </a:extLst>
          </p:cNvPr>
          <p:cNvPicPr>
            <a:picLocks noChangeAspect="1"/>
          </p:cNvPicPr>
          <p:nvPr/>
        </p:nvPicPr>
        <p:blipFill>
          <a:blip r:embed="rId2"/>
          <a:stretch>
            <a:fillRect/>
          </a:stretch>
        </p:blipFill>
        <p:spPr>
          <a:xfrm>
            <a:off x="1655575" y="-59635"/>
            <a:ext cx="8009319" cy="6917635"/>
          </a:xfrm>
          <a:prstGeom prst="rect">
            <a:avLst/>
          </a:prstGeom>
        </p:spPr>
      </p:pic>
      <p:sp>
        <p:nvSpPr>
          <p:cNvPr id="2" name="Slide Number Placeholder 1">
            <a:extLst>
              <a:ext uri="{FF2B5EF4-FFF2-40B4-BE49-F238E27FC236}">
                <a16:creationId xmlns:a16="http://schemas.microsoft.com/office/drawing/2014/main" id="{1E6B1717-2FE5-4B29-8DDE-00E3FEC7D632}"/>
              </a:ext>
            </a:extLst>
          </p:cNvPr>
          <p:cNvSpPr>
            <a:spLocks noGrp="1"/>
          </p:cNvSpPr>
          <p:nvPr>
            <p:ph type="sldNum" sz="quarter" idx="12"/>
          </p:nvPr>
        </p:nvSpPr>
        <p:spPr/>
        <p:txBody>
          <a:bodyPr>
            <a:normAutofit lnSpcReduction="10000"/>
          </a:bodyPr>
          <a:lstStyle/>
          <a:p>
            <a:fld id="{54701E7F-7746-4C27-B2FB-416942EB66E3}" type="slidenum">
              <a:rPr lang="en-US" smtClean="0"/>
              <a:t>20</a:t>
            </a:fld>
            <a:endParaRPr lang="en-US"/>
          </a:p>
        </p:txBody>
      </p:sp>
    </p:spTree>
    <p:extLst>
      <p:ext uri="{BB962C8B-B14F-4D97-AF65-F5344CB8AC3E}">
        <p14:creationId xmlns:p14="http://schemas.microsoft.com/office/powerpoint/2010/main" val="744461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4C9E537-FC24-4482-B44A-8D026770D319}"/>
              </a:ext>
            </a:extLst>
          </p:cNvPr>
          <p:cNvSpPr>
            <a:spLocks noGrp="1" noChangeArrowheads="1"/>
          </p:cNvSpPr>
          <p:nvPr>
            <p:ph type="title"/>
          </p:nvPr>
        </p:nvSpPr>
        <p:spPr>
          <a:xfrm>
            <a:off x="2970481" y="200758"/>
            <a:ext cx="8911687" cy="688505"/>
          </a:xfrm>
          <a:noFill/>
          <a:ln/>
        </p:spPr>
        <p:txBody>
          <a:bodyPr>
            <a:normAutofit fontScale="90000"/>
          </a:bodyPr>
          <a:lstStyle/>
          <a:p>
            <a:r>
              <a:rPr lang="en-US" altLang="en-US" dirty="0"/>
              <a:t>Possible Launch Sites</a:t>
            </a:r>
          </a:p>
        </p:txBody>
      </p:sp>
      <p:sp>
        <p:nvSpPr>
          <p:cNvPr id="2" name="Slide Number Placeholder 1">
            <a:extLst>
              <a:ext uri="{FF2B5EF4-FFF2-40B4-BE49-F238E27FC236}">
                <a16:creationId xmlns:a16="http://schemas.microsoft.com/office/drawing/2014/main" id="{B7758B49-570D-4DFD-A17C-F6A7B05E69CA}"/>
              </a:ext>
            </a:extLst>
          </p:cNvPr>
          <p:cNvSpPr>
            <a:spLocks noGrp="1"/>
          </p:cNvSpPr>
          <p:nvPr>
            <p:ph type="sldNum" sz="quarter" idx="12"/>
          </p:nvPr>
        </p:nvSpPr>
        <p:spPr/>
        <p:txBody>
          <a:bodyPr>
            <a:normAutofit lnSpcReduction="10000"/>
          </a:bodyPr>
          <a:lstStyle/>
          <a:p>
            <a:fld id="{C2292171-89DE-4C35-9EAE-7994351D87C0}" type="slidenum">
              <a:rPr lang="en-US" smtClean="0"/>
              <a:t>21</a:t>
            </a:fld>
            <a:endParaRPr lang="en-US"/>
          </a:p>
        </p:txBody>
      </p:sp>
      <p:sp>
        <p:nvSpPr>
          <p:cNvPr id="38930" name="Rectangle 18">
            <a:extLst>
              <a:ext uri="{FF2B5EF4-FFF2-40B4-BE49-F238E27FC236}">
                <a16:creationId xmlns:a16="http://schemas.microsoft.com/office/drawing/2014/main" id="{CEE13D2C-4B89-4385-9438-B90F47E0CAC6}"/>
              </a:ext>
            </a:extLst>
          </p:cNvPr>
          <p:cNvSpPr>
            <a:spLocks noChangeArrowheads="1"/>
          </p:cNvSpPr>
          <p:nvPr/>
        </p:nvSpPr>
        <p:spPr bwMode="auto">
          <a:xfrm>
            <a:off x="2070101" y="5940426"/>
            <a:ext cx="752789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(Note:  Sea launch can be on the equator or near the pole as required for a minimum energy launch.)</a:t>
            </a:r>
          </a:p>
        </p:txBody>
      </p:sp>
      <p:sp>
        <p:nvSpPr>
          <p:cNvPr id="38931" name="Rectangle 19">
            <a:extLst>
              <a:ext uri="{FF2B5EF4-FFF2-40B4-BE49-F238E27FC236}">
                <a16:creationId xmlns:a16="http://schemas.microsoft.com/office/drawing/2014/main" id="{CB6EA663-CE33-4D64-B82E-B7BB0A35C0B0}"/>
              </a:ext>
            </a:extLst>
          </p:cNvPr>
          <p:cNvSpPr>
            <a:spLocks noChangeArrowheads="1"/>
          </p:cNvSpPr>
          <p:nvPr/>
        </p:nvSpPr>
        <p:spPr bwMode="auto">
          <a:xfrm>
            <a:off x="9337675" y="5680076"/>
            <a:ext cx="974626"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1000"/>
              <a:t>SMAD, Fig 18.6</a:t>
            </a:r>
          </a:p>
        </p:txBody>
      </p:sp>
      <p:pic>
        <p:nvPicPr>
          <p:cNvPr id="38932" name="Picture 20" descr="G:\launch1.PNG">
            <a:extLst>
              <a:ext uri="{FF2B5EF4-FFF2-40B4-BE49-F238E27FC236}">
                <a16:creationId xmlns:a16="http://schemas.microsoft.com/office/drawing/2014/main" id="{EFAC2E0D-CF5C-4A62-9022-744B3505B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225" y="1085850"/>
            <a:ext cx="8464550" cy="4559300"/>
          </a:xfrm>
          <a:prstGeom prst="rect">
            <a:avLst/>
          </a:prstGeom>
          <a:noFill/>
          <a:extLst>
            <a:ext uri="{909E8E84-426E-40DD-AFC4-6F175D3DCCD1}">
              <a14:hiddenFill xmlns:a14="http://schemas.microsoft.com/office/drawing/2010/main">
                <a:solidFill>
                  <a:srgbClr val="FFFFFF"/>
                </a:solidFill>
              </a14:hiddenFill>
            </a:ext>
          </a:extLst>
        </p:spPr>
      </p:pic>
      <p:sp>
        <p:nvSpPr>
          <p:cNvPr id="38933" name="Rectangle 21">
            <a:extLst>
              <a:ext uri="{FF2B5EF4-FFF2-40B4-BE49-F238E27FC236}">
                <a16:creationId xmlns:a16="http://schemas.microsoft.com/office/drawing/2014/main" id="{948A99B3-6D83-46CB-9F69-C4C99E97A9DB}"/>
              </a:ext>
            </a:extLst>
          </p:cNvPr>
          <p:cNvSpPr>
            <a:spLocks noChangeArrowheads="1"/>
          </p:cNvSpPr>
          <p:nvPr/>
        </p:nvSpPr>
        <p:spPr bwMode="auto">
          <a:xfrm>
            <a:off x="2717801" y="5597525"/>
            <a:ext cx="71421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971800" algn="l"/>
                <a:tab pos="5092700" algn="l"/>
              </a:tabLst>
              <a:defRPr sz="2400">
                <a:solidFill>
                  <a:schemeClr val="tx1"/>
                </a:solidFill>
                <a:latin typeface="Times New Roman" panose="02020603050405020304" pitchFamily="18" charset="0"/>
              </a:defRPr>
            </a:lvl1pPr>
            <a:lvl2pPr marL="1206500">
              <a:tabLst>
                <a:tab pos="2971800" algn="l"/>
                <a:tab pos="5092700" algn="l"/>
              </a:tabLst>
              <a:defRPr sz="2400">
                <a:solidFill>
                  <a:schemeClr val="tx1"/>
                </a:solidFill>
                <a:latin typeface="Times New Roman" panose="02020603050405020304" pitchFamily="18" charset="0"/>
              </a:defRPr>
            </a:lvl2pPr>
            <a:lvl3pPr marL="1371600">
              <a:tabLst>
                <a:tab pos="2971800" algn="l"/>
                <a:tab pos="5092700" algn="l"/>
              </a:tabLst>
              <a:defRPr sz="2400">
                <a:solidFill>
                  <a:schemeClr val="tx1"/>
                </a:solidFill>
                <a:latin typeface="Times New Roman" panose="02020603050405020304" pitchFamily="18" charset="0"/>
              </a:defRPr>
            </a:lvl3pPr>
            <a:lvl4pPr marL="1485900">
              <a:tabLst>
                <a:tab pos="2971800" algn="l"/>
                <a:tab pos="5092700" algn="l"/>
              </a:tabLst>
              <a:defRPr sz="2400">
                <a:solidFill>
                  <a:schemeClr val="tx1"/>
                </a:solidFill>
                <a:latin typeface="Times New Roman" panose="02020603050405020304" pitchFamily="18" charset="0"/>
              </a:defRPr>
            </a:lvl4pPr>
            <a:lvl5pPr>
              <a:tabLst>
                <a:tab pos="2971800" algn="l"/>
                <a:tab pos="50927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2971800" algn="l"/>
                <a:tab pos="50927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2971800" algn="l"/>
                <a:tab pos="50927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2971800" algn="l"/>
                <a:tab pos="50927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2971800" algn="l"/>
                <a:tab pos="5092700" algn="l"/>
              </a:tabLst>
              <a:defRPr sz="2400">
                <a:solidFill>
                  <a:schemeClr val="tx1"/>
                </a:solidFill>
                <a:latin typeface="Times New Roman" panose="02020603050405020304" pitchFamily="18" charset="0"/>
              </a:defRPr>
            </a:lvl9pPr>
          </a:lstStyle>
          <a:p>
            <a:pPr lvl="1"/>
            <a:r>
              <a:rPr lang="en-US" altLang="en-US" sz="1200">
                <a:latin typeface="Arial" panose="020B0604020202020204" pitchFamily="34" charset="0"/>
              </a:rPr>
              <a:t>East	</a:t>
            </a:r>
            <a:r>
              <a:rPr lang="en-US" altLang="en-US" sz="1200" b="1">
                <a:latin typeface="Arial" panose="020B0604020202020204" pitchFamily="34" charset="0"/>
              </a:rPr>
              <a:t>Longitude</a:t>
            </a:r>
            <a:r>
              <a:rPr lang="en-US" altLang="en-US" sz="1200">
                <a:latin typeface="Arial" panose="020B0604020202020204" pitchFamily="34" charset="0"/>
              </a:rPr>
              <a:t>	West</a:t>
            </a:r>
          </a:p>
        </p:txBody>
      </p:sp>
      <p:sp>
        <p:nvSpPr>
          <p:cNvPr id="38934" name="Rectangle 22">
            <a:extLst>
              <a:ext uri="{FF2B5EF4-FFF2-40B4-BE49-F238E27FC236}">
                <a16:creationId xmlns:a16="http://schemas.microsoft.com/office/drawing/2014/main" id="{F279D197-70B3-49B6-B26A-0E2F0D46F0E2}"/>
              </a:ext>
            </a:extLst>
          </p:cNvPr>
          <p:cNvSpPr>
            <a:spLocks noChangeArrowheads="1"/>
          </p:cNvSpPr>
          <p:nvPr/>
        </p:nvSpPr>
        <p:spPr bwMode="auto">
          <a:xfrm rot="16200000">
            <a:off x="-588962" y="3159125"/>
            <a:ext cx="462756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892300" algn="l"/>
                <a:tab pos="3200400" algn="l"/>
              </a:tabLst>
              <a:defRPr sz="2400">
                <a:solidFill>
                  <a:schemeClr val="tx1"/>
                </a:solidFill>
                <a:latin typeface="Times New Roman" panose="02020603050405020304" pitchFamily="18" charset="0"/>
              </a:defRPr>
            </a:lvl1pPr>
            <a:lvl2pPr marL="749300">
              <a:tabLst>
                <a:tab pos="1892300" algn="l"/>
                <a:tab pos="3200400" algn="l"/>
              </a:tabLst>
              <a:defRPr sz="2400">
                <a:solidFill>
                  <a:schemeClr val="tx1"/>
                </a:solidFill>
                <a:latin typeface="Times New Roman" panose="02020603050405020304" pitchFamily="18" charset="0"/>
              </a:defRPr>
            </a:lvl2pPr>
            <a:lvl3pPr marL="1943100">
              <a:tabLst>
                <a:tab pos="1892300" algn="l"/>
                <a:tab pos="3200400" algn="l"/>
              </a:tabLst>
              <a:defRPr sz="2400">
                <a:solidFill>
                  <a:schemeClr val="tx1"/>
                </a:solidFill>
                <a:latin typeface="Times New Roman" panose="02020603050405020304" pitchFamily="18" charset="0"/>
              </a:defRPr>
            </a:lvl3pPr>
            <a:lvl4pPr marL="2057400">
              <a:tabLst>
                <a:tab pos="1892300" algn="l"/>
                <a:tab pos="3200400" algn="l"/>
              </a:tabLst>
              <a:defRPr sz="2400">
                <a:solidFill>
                  <a:schemeClr val="tx1"/>
                </a:solidFill>
                <a:latin typeface="Times New Roman" panose="02020603050405020304" pitchFamily="18" charset="0"/>
              </a:defRPr>
            </a:lvl4pPr>
            <a:lvl5pPr marL="2171700">
              <a:tabLst>
                <a:tab pos="1892300" algn="l"/>
                <a:tab pos="3200400" algn="l"/>
              </a:tabLst>
              <a:defRPr sz="2400">
                <a:solidFill>
                  <a:schemeClr val="tx1"/>
                </a:solidFill>
                <a:latin typeface="Times New Roman" panose="02020603050405020304" pitchFamily="18" charset="0"/>
              </a:defRPr>
            </a:lvl5pPr>
            <a:lvl6pPr marL="2628900" eaLnBrk="0" fontAlgn="base" hangingPunct="0">
              <a:spcBef>
                <a:spcPct val="0"/>
              </a:spcBef>
              <a:spcAft>
                <a:spcPct val="0"/>
              </a:spcAft>
              <a:tabLst>
                <a:tab pos="1892300" algn="l"/>
                <a:tab pos="3200400" algn="l"/>
              </a:tabLst>
              <a:defRPr sz="2400">
                <a:solidFill>
                  <a:schemeClr val="tx1"/>
                </a:solidFill>
                <a:latin typeface="Times New Roman" panose="02020603050405020304" pitchFamily="18" charset="0"/>
              </a:defRPr>
            </a:lvl6pPr>
            <a:lvl7pPr marL="3086100" eaLnBrk="0" fontAlgn="base" hangingPunct="0">
              <a:spcBef>
                <a:spcPct val="0"/>
              </a:spcBef>
              <a:spcAft>
                <a:spcPct val="0"/>
              </a:spcAft>
              <a:tabLst>
                <a:tab pos="1892300" algn="l"/>
                <a:tab pos="3200400" algn="l"/>
              </a:tabLst>
              <a:defRPr sz="2400">
                <a:solidFill>
                  <a:schemeClr val="tx1"/>
                </a:solidFill>
                <a:latin typeface="Times New Roman" panose="02020603050405020304" pitchFamily="18" charset="0"/>
              </a:defRPr>
            </a:lvl7pPr>
            <a:lvl8pPr marL="3543300" eaLnBrk="0" fontAlgn="base" hangingPunct="0">
              <a:spcBef>
                <a:spcPct val="0"/>
              </a:spcBef>
              <a:spcAft>
                <a:spcPct val="0"/>
              </a:spcAft>
              <a:tabLst>
                <a:tab pos="1892300" algn="l"/>
                <a:tab pos="3200400" algn="l"/>
              </a:tabLst>
              <a:defRPr sz="2400">
                <a:solidFill>
                  <a:schemeClr val="tx1"/>
                </a:solidFill>
                <a:latin typeface="Times New Roman" panose="02020603050405020304" pitchFamily="18" charset="0"/>
              </a:defRPr>
            </a:lvl8pPr>
            <a:lvl9pPr marL="4000500" eaLnBrk="0" fontAlgn="base" hangingPunct="0">
              <a:spcBef>
                <a:spcPct val="0"/>
              </a:spcBef>
              <a:spcAft>
                <a:spcPct val="0"/>
              </a:spcAft>
              <a:tabLst>
                <a:tab pos="1892300" algn="l"/>
                <a:tab pos="3200400" algn="l"/>
              </a:tabLst>
              <a:defRPr sz="2400">
                <a:solidFill>
                  <a:schemeClr val="tx1"/>
                </a:solidFill>
                <a:latin typeface="Times New Roman" panose="02020603050405020304" pitchFamily="18" charset="0"/>
              </a:defRPr>
            </a:lvl9pPr>
          </a:lstStyle>
          <a:p>
            <a:pPr lvl="1"/>
            <a:r>
              <a:rPr lang="en-US" altLang="en-US" sz="1200">
                <a:latin typeface="Arial" panose="020B0604020202020204" pitchFamily="34" charset="0"/>
              </a:rPr>
              <a:t>South	</a:t>
            </a:r>
            <a:r>
              <a:rPr lang="en-US" altLang="en-US" sz="1200" b="1">
                <a:latin typeface="Arial" panose="020B0604020202020204" pitchFamily="34" charset="0"/>
              </a:rPr>
              <a:t>Latitude</a:t>
            </a:r>
            <a:r>
              <a:rPr lang="en-US" altLang="en-US" sz="1200">
                <a:latin typeface="Arial" panose="020B0604020202020204" pitchFamily="34" charset="0"/>
              </a:rPr>
              <a:t>	North</a:t>
            </a:r>
          </a:p>
        </p:txBody>
      </p:sp>
      <p:grpSp>
        <p:nvGrpSpPr>
          <p:cNvPr id="38935" name="Group 23">
            <a:extLst>
              <a:ext uri="{FF2B5EF4-FFF2-40B4-BE49-F238E27FC236}">
                <a16:creationId xmlns:a16="http://schemas.microsoft.com/office/drawing/2014/main" id="{4973AAA3-5C7F-4738-A1A9-74679F0EE267}"/>
              </a:ext>
            </a:extLst>
          </p:cNvPr>
          <p:cNvGrpSpPr>
            <a:grpSpLocks/>
          </p:cNvGrpSpPr>
          <p:nvPr/>
        </p:nvGrpSpPr>
        <p:grpSpPr bwMode="auto">
          <a:xfrm>
            <a:off x="6610350" y="3286126"/>
            <a:ext cx="88900" cy="93663"/>
            <a:chOff x="2259" y="1710"/>
            <a:chExt cx="56" cy="59"/>
          </a:xfrm>
        </p:grpSpPr>
        <p:sp>
          <p:nvSpPr>
            <p:cNvPr id="38936" name="Oval 24">
              <a:extLst>
                <a:ext uri="{FF2B5EF4-FFF2-40B4-BE49-F238E27FC236}">
                  <a16:creationId xmlns:a16="http://schemas.microsoft.com/office/drawing/2014/main" id="{8E908C3A-B7A4-42FC-9FC5-6E97217D5209}"/>
                </a:ext>
              </a:extLst>
            </p:cNvPr>
            <p:cNvSpPr>
              <a:spLocks noChangeArrowheads="1"/>
            </p:cNvSpPr>
            <p:nvPr/>
          </p:nvSpPr>
          <p:spPr bwMode="auto">
            <a:xfrm>
              <a:off x="2274" y="1726"/>
              <a:ext cx="27" cy="27"/>
            </a:xfrm>
            <a:prstGeom prst="ellipse">
              <a:avLst/>
            </a:prstGeom>
            <a:solidFill>
              <a:schemeClr val="tx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7" name="Oval 25">
              <a:extLst>
                <a:ext uri="{FF2B5EF4-FFF2-40B4-BE49-F238E27FC236}">
                  <a16:creationId xmlns:a16="http://schemas.microsoft.com/office/drawing/2014/main" id="{3CC1D960-690F-4DD6-85AD-289BCF0A4875}"/>
                </a:ext>
              </a:extLst>
            </p:cNvPr>
            <p:cNvSpPr>
              <a:spLocks noChangeArrowheads="1"/>
            </p:cNvSpPr>
            <p:nvPr/>
          </p:nvSpPr>
          <p:spPr bwMode="auto">
            <a:xfrm>
              <a:off x="2259" y="1710"/>
              <a:ext cx="56" cy="59"/>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8938" name="Text Box 26">
            <a:extLst>
              <a:ext uri="{FF2B5EF4-FFF2-40B4-BE49-F238E27FC236}">
                <a16:creationId xmlns:a16="http://schemas.microsoft.com/office/drawing/2014/main" id="{564B8353-D9C1-4008-8835-890B48A3BBD4}"/>
              </a:ext>
            </a:extLst>
          </p:cNvPr>
          <p:cNvSpPr txBox="1">
            <a:spLocks noChangeArrowheads="1"/>
          </p:cNvSpPr>
          <p:nvPr/>
        </p:nvSpPr>
        <p:spPr bwMode="auto">
          <a:xfrm>
            <a:off x="6613525" y="3309938"/>
            <a:ext cx="70884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a:t>Sea Launch</a:t>
            </a:r>
          </a:p>
        </p:txBody>
      </p:sp>
      <p:grpSp>
        <p:nvGrpSpPr>
          <p:cNvPr id="38939" name="Group 27">
            <a:extLst>
              <a:ext uri="{FF2B5EF4-FFF2-40B4-BE49-F238E27FC236}">
                <a16:creationId xmlns:a16="http://schemas.microsoft.com/office/drawing/2014/main" id="{3DD1305A-86FD-4F2B-949B-4C98DCEA0E2F}"/>
              </a:ext>
            </a:extLst>
          </p:cNvPr>
          <p:cNvGrpSpPr>
            <a:grpSpLocks/>
          </p:cNvGrpSpPr>
          <p:nvPr/>
        </p:nvGrpSpPr>
        <p:grpSpPr bwMode="auto">
          <a:xfrm>
            <a:off x="6648450" y="2016126"/>
            <a:ext cx="88900" cy="93663"/>
            <a:chOff x="2259" y="1710"/>
            <a:chExt cx="56" cy="59"/>
          </a:xfrm>
        </p:grpSpPr>
        <p:sp>
          <p:nvSpPr>
            <p:cNvPr id="38940" name="Oval 28">
              <a:extLst>
                <a:ext uri="{FF2B5EF4-FFF2-40B4-BE49-F238E27FC236}">
                  <a16:creationId xmlns:a16="http://schemas.microsoft.com/office/drawing/2014/main" id="{B88D4B27-AB63-476D-88B6-5CA6F81D29C8}"/>
                </a:ext>
              </a:extLst>
            </p:cNvPr>
            <p:cNvSpPr>
              <a:spLocks noChangeArrowheads="1"/>
            </p:cNvSpPr>
            <p:nvPr/>
          </p:nvSpPr>
          <p:spPr bwMode="auto">
            <a:xfrm>
              <a:off x="2274" y="1726"/>
              <a:ext cx="27" cy="27"/>
            </a:xfrm>
            <a:prstGeom prst="ellipse">
              <a:avLst/>
            </a:prstGeom>
            <a:solidFill>
              <a:schemeClr val="tx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1" name="Oval 29">
              <a:extLst>
                <a:ext uri="{FF2B5EF4-FFF2-40B4-BE49-F238E27FC236}">
                  <a16:creationId xmlns:a16="http://schemas.microsoft.com/office/drawing/2014/main" id="{F14144E1-5698-409D-88B8-43402673E648}"/>
                </a:ext>
              </a:extLst>
            </p:cNvPr>
            <p:cNvSpPr>
              <a:spLocks noChangeArrowheads="1"/>
            </p:cNvSpPr>
            <p:nvPr/>
          </p:nvSpPr>
          <p:spPr bwMode="auto">
            <a:xfrm>
              <a:off x="2259" y="1710"/>
              <a:ext cx="56" cy="59"/>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8942" name="Text Box 30">
            <a:extLst>
              <a:ext uri="{FF2B5EF4-FFF2-40B4-BE49-F238E27FC236}">
                <a16:creationId xmlns:a16="http://schemas.microsoft.com/office/drawing/2014/main" id="{4C45E5CD-EA67-4CDB-8956-883CC485403C}"/>
              </a:ext>
            </a:extLst>
          </p:cNvPr>
          <p:cNvSpPr txBox="1">
            <a:spLocks noChangeArrowheads="1"/>
          </p:cNvSpPr>
          <p:nvPr/>
        </p:nvSpPr>
        <p:spPr bwMode="auto">
          <a:xfrm>
            <a:off x="6397626" y="2090738"/>
            <a:ext cx="80342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a:t>Kodiak Island</a:t>
            </a:r>
          </a:p>
        </p:txBody>
      </p:sp>
      <p:sp>
        <p:nvSpPr>
          <p:cNvPr id="38943" name="Text Box 31">
            <a:extLst>
              <a:ext uri="{FF2B5EF4-FFF2-40B4-BE49-F238E27FC236}">
                <a16:creationId xmlns:a16="http://schemas.microsoft.com/office/drawing/2014/main" id="{9D6CFB81-A7B0-4C4A-BF45-21349C9AEC69}"/>
              </a:ext>
            </a:extLst>
          </p:cNvPr>
          <p:cNvSpPr txBox="1">
            <a:spLocks noChangeArrowheads="1"/>
          </p:cNvSpPr>
          <p:nvPr/>
        </p:nvSpPr>
        <p:spPr bwMode="auto">
          <a:xfrm>
            <a:off x="7426325" y="6281738"/>
            <a:ext cx="2946640"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a:t>Launch site coordinates are identified in SMAD, Table 18.6.</a:t>
            </a:r>
          </a:p>
        </p:txBody>
      </p:sp>
    </p:spTree>
    <p:extLst>
      <p:ext uri="{BB962C8B-B14F-4D97-AF65-F5344CB8AC3E}">
        <p14:creationId xmlns:p14="http://schemas.microsoft.com/office/powerpoint/2010/main" val="397690027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C15C545-EF4D-40C8-B59A-3CC3D267771B}"/>
              </a:ext>
            </a:extLst>
          </p:cNvPr>
          <p:cNvSpPr>
            <a:spLocks noGrp="1" noChangeArrowheads="1"/>
          </p:cNvSpPr>
          <p:nvPr>
            <p:ph type="title"/>
          </p:nvPr>
        </p:nvSpPr>
        <p:spPr>
          <a:xfrm>
            <a:off x="2197100" y="0"/>
            <a:ext cx="7962900" cy="762000"/>
          </a:xfrm>
          <a:noFill/>
          <a:ln/>
        </p:spPr>
        <p:txBody>
          <a:bodyPr>
            <a:normAutofit/>
          </a:bodyPr>
          <a:lstStyle/>
          <a:p>
            <a:r>
              <a:rPr lang="en-US" altLang="en-US" sz="2400"/>
              <a:t>Orbit Inclinations and Launch Azimuths </a:t>
            </a:r>
            <a:br>
              <a:rPr lang="en-US" altLang="en-US" sz="2400"/>
            </a:br>
            <a:r>
              <a:rPr lang="en-US" altLang="en-US" sz="2400"/>
              <a:t>Available from the Eastern and Western Ranges</a:t>
            </a:r>
          </a:p>
        </p:txBody>
      </p:sp>
      <p:sp>
        <p:nvSpPr>
          <p:cNvPr id="2" name="Slide Number Placeholder 1">
            <a:extLst>
              <a:ext uri="{FF2B5EF4-FFF2-40B4-BE49-F238E27FC236}">
                <a16:creationId xmlns:a16="http://schemas.microsoft.com/office/drawing/2014/main" id="{49CDAB0E-DD97-4EBA-82EA-EB2997AE836C}"/>
              </a:ext>
            </a:extLst>
          </p:cNvPr>
          <p:cNvSpPr>
            <a:spLocks noGrp="1"/>
          </p:cNvSpPr>
          <p:nvPr>
            <p:ph type="sldNum" sz="quarter" idx="12"/>
          </p:nvPr>
        </p:nvSpPr>
        <p:spPr/>
        <p:txBody>
          <a:bodyPr>
            <a:normAutofit lnSpcReduction="10000"/>
          </a:bodyPr>
          <a:lstStyle/>
          <a:p>
            <a:fld id="{C2292171-89DE-4C35-9EAE-7994351D87C0}" type="slidenum">
              <a:rPr lang="en-US" smtClean="0"/>
              <a:t>22</a:t>
            </a:fld>
            <a:endParaRPr lang="en-US"/>
          </a:p>
        </p:txBody>
      </p:sp>
      <p:sp>
        <p:nvSpPr>
          <p:cNvPr id="40963" name="Rectangle 3">
            <a:extLst>
              <a:ext uri="{FF2B5EF4-FFF2-40B4-BE49-F238E27FC236}">
                <a16:creationId xmlns:a16="http://schemas.microsoft.com/office/drawing/2014/main" id="{D9BECDB5-7ECE-4120-ADC8-D60842E087F5}"/>
              </a:ext>
            </a:extLst>
          </p:cNvPr>
          <p:cNvSpPr>
            <a:spLocks noChangeArrowheads="1"/>
          </p:cNvSpPr>
          <p:nvPr/>
        </p:nvSpPr>
        <p:spPr bwMode="auto">
          <a:xfrm>
            <a:off x="9561513" y="6251576"/>
            <a:ext cx="974626"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1000"/>
              <a:t>SMAD, Fig 18.7</a:t>
            </a:r>
          </a:p>
        </p:txBody>
      </p:sp>
      <p:grpSp>
        <p:nvGrpSpPr>
          <p:cNvPr id="41011" name="Group 51">
            <a:extLst>
              <a:ext uri="{FF2B5EF4-FFF2-40B4-BE49-F238E27FC236}">
                <a16:creationId xmlns:a16="http://schemas.microsoft.com/office/drawing/2014/main" id="{24575F8A-196F-4163-BBB5-8B213C87866D}"/>
              </a:ext>
            </a:extLst>
          </p:cNvPr>
          <p:cNvGrpSpPr>
            <a:grpSpLocks/>
          </p:cNvGrpSpPr>
          <p:nvPr/>
        </p:nvGrpSpPr>
        <p:grpSpPr bwMode="auto">
          <a:xfrm>
            <a:off x="1631951" y="1192214"/>
            <a:ext cx="4238626" cy="4781549"/>
            <a:chOff x="332" y="751"/>
            <a:chExt cx="2670" cy="3012"/>
          </a:xfrm>
        </p:grpSpPr>
        <p:pic>
          <p:nvPicPr>
            <p:cNvPr id="41010" name="Picture 50" descr="G:\launch2.PNG">
              <a:extLst>
                <a:ext uri="{FF2B5EF4-FFF2-40B4-BE49-F238E27FC236}">
                  <a16:creationId xmlns:a16="http://schemas.microsoft.com/office/drawing/2014/main" id="{221B7C68-C81D-44E4-8FCA-CE7181A19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 y="961"/>
              <a:ext cx="2207" cy="2413"/>
            </a:xfrm>
            <a:prstGeom prst="rect">
              <a:avLst/>
            </a:prstGeom>
            <a:noFill/>
            <a:extLst>
              <a:ext uri="{909E8E84-426E-40DD-AFC4-6F175D3DCCD1}">
                <a14:hiddenFill xmlns:a14="http://schemas.microsoft.com/office/drawing/2010/main">
                  <a:solidFill>
                    <a:srgbClr val="FFFFFF"/>
                  </a:solidFill>
                </a14:hiddenFill>
              </a:ext>
            </a:extLst>
          </p:spPr>
        </p:pic>
        <p:sp>
          <p:nvSpPr>
            <p:cNvPr id="40965" name="Text Box 5">
              <a:extLst>
                <a:ext uri="{FF2B5EF4-FFF2-40B4-BE49-F238E27FC236}">
                  <a16:creationId xmlns:a16="http://schemas.microsoft.com/office/drawing/2014/main" id="{7B9D3A54-D7F7-4CE4-8B43-5980575CB57F}"/>
                </a:ext>
              </a:extLst>
            </p:cNvPr>
            <p:cNvSpPr txBox="1">
              <a:spLocks noChangeArrowheads="1"/>
            </p:cNvSpPr>
            <p:nvPr/>
          </p:nvSpPr>
          <p:spPr bwMode="auto">
            <a:xfrm>
              <a:off x="806" y="751"/>
              <a:ext cx="1724"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Vandenberg Air Force Base</a:t>
              </a:r>
            </a:p>
          </p:txBody>
        </p:sp>
        <p:sp>
          <p:nvSpPr>
            <p:cNvPr id="40967" name="Text Box 7">
              <a:extLst>
                <a:ext uri="{FF2B5EF4-FFF2-40B4-BE49-F238E27FC236}">
                  <a16:creationId xmlns:a16="http://schemas.microsoft.com/office/drawing/2014/main" id="{624DE4F5-2CCA-4EAC-846A-348CA0DECCF1}"/>
                </a:ext>
              </a:extLst>
            </p:cNvPr>
            <p:cNvSpPr txBox="1">
              <a:spLocks noChangeArrowheads="1"/>
            </p:cNvSpPr>
            <p:nvPr/>
          </p:nvSpPr>
          <p:spPr bwMode="auto">
            <a:xfrm>
              <a:off x="1190" y="3550"/>
              <a:ext cx="1056" cy="2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Longitude, deg W</a:t>
              </a:r>
            </a:p>
          </p:txBody>
        </p:sp>
        <p:sp>
          <p:nvSpPr>
            <p:cNvPr id="40969" name="Text Box 9">
              <a:extLst>
                <a:ext uri="{FF2B5EF4-FFF2-40B4-BE49-F238E27FC236}">
                  <a16:creationId xmlns:a16="http://schemas.microsoft.com/office/drawing/2014/main" id="{2E20C39F-5ED9-4D65-9093-8F4BED487CB7}"/>
                </a:ext>
              </a:extLst>
            </p:cNvPr>
            <p:cNvSpPr txBox="1">
              <a:spLocks noChangeArrowheads="1"/>
            </p:cNvSpPr>
            <p:nvPr/>
          </p:nvSpPr>
          <p:spPr bwMode="auto">
            <a:xfrm rot="16200000">
              <a:off x="-26" y="2115"/>
              <a:ext cx="930" cy="2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Latitude, deg N</a:t>
              </a:r>
            </a:p>
          </p:txBody>
        </p:sp>
        <p:sp>
          <p:nvSpPr>
            <p:cNvPr id="40971" name="Text Box 11">
              <a:extLst>
                <a:ext uri="{FF2B5EF4-FFF2-40B4-BE49-F238E27FC236}">
                  <a16:creationId xmlns:a16="http://schemas.microsoft.com/office/drawing/2014/main" id="{F68267A7-A6C2-4AA0-ADF4-262B1E9E10EC}"/>
                </a:ext>
              </a:extLst>
            </p:cNvPr>
            <p:cNvSpPr txBox="1">
              <a:spLocks noChangeArrowheads="1"/>
            </p:cNvSpPr>
            <p:nvPr/>
          </p:nvSpPr>
          <p:spPr bwMode="auto">
            <a:xfrm>
              <a:off x="550" y="941"/>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38</a:t>
              </a:r>
            </a:p>
          </p:txBody>
        </p:sp>
        <p:sp>
          <p:nvSpPr>
            <p:cNvPr id="40972" name="Text Box 12">
              <a:extLst>
                <a:ext uri="{FF2B5EF4-FFF2-40B4-BE49-F238E27FC236}">
                  <a16:creationId xmlns:a16="http://schemas.microsoft.com/office/drawing/2014/main" id="{4499A10E-E21C-4943-8322-5463786E234D}"/>
                </a:ext>
              </a:extLst>
            </p:cNvPr>
            <p:cNvSpPr txBox="1">
              <a:spLocks noChangeArrowheads="1"/>
            </p:cNvSpPr>
            <p:nvPr/>
          </p:nvSpPr>
          <p:spPr bwMode="auto">
            <a:xfrm>
              <a:off x="550" y="1493"/>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36</a:t>
              </a:r>
            </a:p>
          </p:txBody>
        </p:sp>
        <p:sp>
          <p:nvSpPr>
            <p:cNvPr id="40973" name="Text Box 13">
              <a:extLst>
                <a:ext uri="{FF2B5EF4-FFF2-40B4-BE49-F238E27FC236}">
                  <a16:creationId xmlns:a16="http://schemas.microsoft.com/office/drawing/2014/main" id="{87205543-9F95-4E23-8768-B9AC0DE15BE2}"/>
                </a:ext>
              </a:extLst>
            </p:cNvPr>
            <p:cNvSpPr txBox="1">
              <a:spLocks noChangeArrowheads="1"/>
            </p:cNvSpPr>
            <p:nvPr/>
          </p:nvSpPr>
          <p:spPr bwMode="auto">
            <a:xfrm>
              <a:off x="550" y="2093"/>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34</a:t>
              </a:r>
            </a:p>
          </p:txBody>
        </p:sp>
        <p:sp>
          <p:nvSpPr>
            <p:cNvPr id="40974" name="Text Box 14">
              <a:extLst>
                <a:ext uri="{FF2B5EF4-FFF2-40B4-BE49-F238E27FC236}">
                  <a16:creationId xmlns:a16="http://schemas.microsoft.com/office/drawing/2014/main" id="{CF887783-BFB2-410D-811C-F8DC3EF25F78}"/>
                </a:ext>
              </a:extLst>
            </p:cNvPr>
            <p:cNvSpPr txBox="1">
              <a:spLocks noChangeArrowheads="1"/>
            </p:cNvSpPr>
            <p:nvPr/>
          </p:nvSpPr>
          <p:spPr bwMode="auto">
            <a:xfrm>
              <a:off x="550" y="2669"/>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32</a:t>
              </a:r>
            </a:p>
          </p:txBody>
        </p:sp>
        <p:sp>
          <p:nvSpPr>
            <p:cNvPr id="40975" name="Text Box 15">
              <a:extLst>
                <a:ext uri="{FF2B5EF4-FFF2-40B4-BE49-F238E27FC236}">
                  <a16:creationId xmlns:a16="http://schemas.microsoft.com/office/drawing/2014/main" id="{ED4EEC5D-6D92-4584-BB70-8AE33B291136}"/>
                </a:ext>
              </a:extLst>
            </p:cNvPr>
            <p:cNvSpPr txBox="1">
              <a:spLocks noChangeArrowheads="1"/>
            </p:cNvSpPr>
            <p:nvPr/>
          </p:nvSpPr>
          <p:spPr bwMode="auto">
            <a:xfrm>
              <a:off x="550" y="3269"/>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30</a:t>
              </a:r>
            </a:p>
          </p:txBody>
        </p:sp>
        <p:sp>
          <p:nvSpPr>
            <p:cNvPr id="40981" name="Text Box 21">
              <a:extLst>
                <a:ext uri="{FF2B5EF4-FFF2-40B4-BE49-F238E27FC236}">
                  <a16:creationId xmlns:a16="http://schemas.microsoft.com/office/drawing/2014/main" id="{0DB0094F-0262-47A2-B4FA-E67BB239354C}"/>
                </a:ext>
              </a:extLst>
            </p:cNvPr>
            <p:cNvSpPr txBox="1">
              <a:spLocks noChangeArrowheads="1"/>
            </p:cNvSpPr>
            <p:nvPr/>
          </p:nvSpPr>
          <p:spPr bwMode="auto">
            <a:xfrm>
              <a:off x="638" y="3405"/>
              <a:ext cx="244"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124</a:t>
              </a:r>
            </a:p>
          </p:txBody>
        </p:sp>
        <p:sp>
          <p:nvSpPr>
            <p:cNvPr id="40982" name="Text Box 22">
              <a:extLst>
                <a:ext uri="{FF2B5EF4-FFF2-40B4-BE49-F238E27FC236}">
                  <a16:creationId xmlns:a16="http://schemas.microsoft.com/office/drawing/2014/main" id="{00FB20C8-7718-43B6-8E6B-716F354EBEF0}"/>
                </a:ext>
              </a:extLst>
            </p:cNvPr>
            <p:cNvSpPr txBox="1">
              <a:spLocks noChangeArrowheads="1"/>
            </p:cNvSpPr>
            <p:nvPr/>
          </p:nvSpPr>
          <p:spPr bwMode="auto">
            <a:xfrm>
              <a:off x="1150" y="3405"/>
              <a:ext cx="244"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122</a:t>
              </a:r>
            </a:p>
          </p:txBody>
        </p:sp>
        <p:sp>
          <p:nvSpPr>
            <p:cNvPr id="40983" name="Text Box 23">
              <a:extLst>
                <a:ext uri="{FF2B5EF4-FFF2-40B4-BE49-F238E27FC236}">
                  <a16:creationId xmlns:a16="http://schemas.microsoft.com/office/drawing/2014/main" id="{E7661DB6-ADE5-4BB1-912C-3D38487B1332}"/>
                </a:ext>
              </a:extLst>
            </p:cNvPr>
            <p:cNvSpPr txBox="1">
              <a:spLocks noChangeArrowheads="1"/>
            </p:cNvSpPr>
            <p:nvPr/>
          </p:nvSpPr>
          <p:spPr bwMode="auto">
            <a:xfrm>
              <a:off x="1678" y="3405"/>
              <a:ext cx="244"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120</a:t>
              </a:r>
            </a:p>
          </p:txBody>
        </p:sp>
        <p:sp>
          <p:nvSpPr>
            <p:cNvPr id="40984" name="Text Box 24">
              <a:extLst>
                <a:ext uri="{FF2B5EF4-FFF2-40B4-BE49-F238E27FC236}">
                  <a16:creationId xmlns:a16="http://schemas.microsoft.com/office/drawing/2014/main" id="{02C05554-3DCB-41B2-9DA0-067AE8E2E9FC}"/>
                </a:ext>
              </a:extLst>
            </p:cNvPr>
            <p:cNvSpPr txBox="1">
              <a:spLocks noChangeArrowheads="1"/>
            </p:cNvSpPr>
            <p:nvPr/>
          </p:nvSpPr>
          <p:spPr bwMode="auto">
            <a:xfrm>
              <a:off x="2230" y="3405"/>
              <a:ext cx="244"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118</a:t>
              </a:r>
            </a:p>
          </p:txBody>
        </p:sp>
        <p:sp>
          <p:nvSpPr>
            <p:cNvPr id="40985" name="Text Box 25">
              <a:extLst>
                <a:ext uri="{FF2B5EF4-FFF2-40B4-BE49-F238E27FC236}">
                  <a16:creationId xmlns:a16="http://schemas.microsoft.com/office/drawing/2014/main" id="{4B6A463B-A069-4669-AD76-3A0BB8DA2226}"/>
                </a:ext>
              </a:extLst>
            </p:cNvPr>
            <p:cNvSpPr txBox="1">
              <a:spLocks noChangeArrowheads="1"/>
            </p:cNvSpPr>
            <p:nvPr/>
          </p:nvSpPr>
          <p:spPr bwMode="auto">
            <a:xfrm>
              <a:off x="2758" y="3405"/>
              <a:ext cx="244"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116</a:t>
              </a:r>
            </a:p>
          </p:txBody>
        </p:sp>
      </p:grpSp>
      <p:grpSp>
        <p:nvGrpSpPr>
          <p:cNvPr id="41013" name="Group 53">
            <a:extLst>
              <a:ext uri="{FF2B5EF4-FFF2-40B4-BE49-F238E27FC236}">
                <a16:creationId xmlns:a16="http://schemas.microsoft.com/office/drawing/2014/main" id="{781EBE1A-49AA-4935-8B71-E4D67A9D5ECB}"/>
              </a:ext>
            </a:extLst>
          </p:cNvPr>
          <p:cNvGrpSpPr>
            <a:grpSpLocks/>
          </p:cNvGrpSpPr>
          <p:nvPr/>
        </p:nvGrpSpPr>
        <p:grpSpPr bwMode="auto">
          <a:xfrm>
            <a:off x="6305549" y="1192214"/>
            <a:ext cx="4287836" cy="4756149"/>
            <a:chOff x="2868" y="767"/>
            <a:chExt cx="2701" cy="2996"/>
          </a:xfrm>
        </p:grpSpPr>
        <p:pic>
          <p:nvPicPr>
            <p:cNvPr id="41012" name="Picture 52" descr="G:\launch3.PNG">
              <a:extLst>
                <a:ext uri="{FF2B5EF4-FFF2-40B4-BE49-F238E27FC236}">
                  <a16:creationId xmlns:a16="http://schemas.microsoft.com/office/drawing/2014/main" id="{80ACFCAC-05F2-4862-AEA8-1C07E8C27B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1" y="966"/>
              <a:ext cx="2231" cy="2427"/>
            </a:xfrm>
            <a:prstGeom prst="rect">
              <a:avLst/>
            </a:prstGeom>
            <a:noFill/>
            <a:extLst>
              <a:ext uri="{909E8E84-426E-40DD-AFC4-6F175D3DCCD1}">
                <a14:hiddenFill xmlns:a14="http://schemas.microsoft.com/office/drawing/2010/main">
                  <a:solidFill>
                    <a:srgbClr val="FFFFFF"/>
                  </a:solidFill>
                </a14:hiddenFill>
              </a:ext>
            </a:extLst>
          </p:spPr>
        </p:pic>
        <p:sp>
          <p:nvSpPr>
            <p:cNvPr id="40966" name="Text Box 6">
              <a:extLst>
                <a:ext uri="{FF2B5EF4-FFF2-40B4-BE49-F238E27FC236}">
                  <a16:creationId xmlns:a16="http://schemas.microsoft.com/office/drawing/2014/main" id="{61AD5BA1-031C-4F32-813A-3BED4220E45A}"/>
                </a:ext>
              </a:extLst>
            </p:cNvPr>
            <p:cNvSpPr txBox="1">
              <a:spLocks noChangeArrowheads="1"/>
            </p:cNvSpPr>
            <p:nvPr/>
          </p:nvSpPr>
          <p:spPr bwMode="auto">
            <a:xfrm>
              <a:off x="3544" y="767"/>
              <a:ext cx="1458"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Kennedy Space Center</a:t>
              </a:r>
            </a:p>
          </p:txBody>
        </p:sp>
        <p:sp>
          <p:nvSpPr>
            <p:cNvPr id="40968" name="Text Box 8">
              <a:extLst>
                <a:ext uri="{FF2B5EF4-FFF2-40B4-BE49-F238E27FC236}">
                  <a16:creationId xmlns:a16="http://schemas.microsoft.com/office/drawing/2014/main" id="{C46812FB-EFDB-4236-A65C-FC125A16352D}"/>
                </a:ext>
              </a:extLst>
            </p:cNvPr>
            <p:cNvSpPr txBox="1">
              <a:spLocks noChangeArrowheads="1"/>
            </p:cNvSpPr>
            <p:nvPr/>
          </p:nvSpPr>
          <p:spPr bwMode="auto">
            <a:xfrm>
              <a:off x="3734" y="3550"/>
              <a:ext cx="1056" cy="2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Longitude, deg W</a:t>
              </a:r>
            </a:p>
          </p:txBody>
        </p:sp>
        <p:sp>
          <p:nvSpPr>
            <p:cNvPr id="40970" name="Text Box 10">
              <a:extLst>
                <a:ext uri="{FF2B5EF4-FFF2-40B4-BE49-F238E27FC236}">
                  <a16:creationId xmlns:a16="http://schemas.microsoft.com/office/drawing/2014/main" id="{5DC6F845-AD1A-4571-903A-40943A49E8CA}"/>
                </a:ext>
              </a:extLst>
            </p:cNvPr>
            <p:cNvSpPr txBox="1">
              <a:spLocks noChangeArrowheads="1"/>
            </p:cNvSpPr>
            <p:nvPr/>
          </p:nvSpPr>
          <p:spPr bwMode="auto">
            <a:xfrm rot="16200000">
              <a:off x="2510" y="2108"/>
              <a:ext cx="930" cy="21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t>Latitude, deg N</a:t>
              </a:r>
            </a:p>
          </p:txBody>
        </p:sp>
        <p:sp>
          <p:nvSpPr>
            <p:cNvPr id="40976" name="Text Box 16">
              <a:extLst>
                <a:ext uri="{FF2B5EF4-FFF2-40B4-BE49-F238E27FC236}">
                  <a16:creationId xmlns:a16="http://schemas.microsoft.com/office/drawing/2014/main" id="{2FCF6CBA-8981-40EF-88FD-B40D83A02F8F}"/>
                </a:ext>
              </a:extLst>
            </p:cNvPr>
            <p:cNvSpPr txBox="1">
              <a:spLocks noChangeArrowheads="1"/>
            </p:cNvSpPr>
            <p:nvPr/>
          </p:nvSpPr>
          <p:spPr bwMode="auto">
            <a:xfrm>
              <a:off x="3086" y="957"/>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30</a:t>
              </a:r>
            </a:p>
          </p:txBody>
        </p:sp>
        <p:sp>
          <p:nvSpPr>
            <p:cNvPr id="40977" name="Text Box 17">
              <a:extLst>
                <a:ext uri="{FF2B5EF4-FFF2-40B4-BE49-F238E27FC236}">
                  <a16:creationId xmlns:a16="http://schemas.microsoft.com/office/drawing/2014/main" id="{7F677746-E0E8-484F-99FF-4DCD341815CD}"/>
                </a:ext>
              </a:extLst>
            </p:cNvPr>
            <p:cNvSpPr txBox="1">
              <a:spLocks noChangeArrowheads="1"/>
            </p:cNvSpPr>
            <p:nvPr/>
          </p:nvSpPr>
          <p:spPr bwMode="auto">
            <a:xfrm>
              <a:off x="3086" y="1533"/>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29</a:t>
              </a:r>
            </a:p>
          </p:txBody>
        </p:sp>
        <p:sp>
          <p:nvSpPr>
            <p:cNvPr id="40978" name="Text Box 18">
              <a:extLst>
                <a:ext uri="{FF2B5EF4-FFF2-40B4-BE49-F238E27FC236}">
                  <a16:creationId xmlns:a16="http://schemas.microsoft.com/office/drawing/2014/main" id="{02DE78D3-69D1-4802-8770-8C3468D51E53}"/>
                </a:ext>
              </a:extLst>
            </p:cNvPr>
            <p:cNvSpPr txBox="1">
              <a:spLocks noChangeArrowheads="1"/>
            </p:cNvSpPr>
            <p:nvPr/>
          </p:nvSpPr>
          <p:spPr bwMode="auto">
            <a:xfrm>
              <a:off x="3086" y="2109"/>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28</a:t>
              </a:r>
            </a:p>
          </p:txBody>
        </p:sp>
        <p:sp>
          <p:nvSpPr>
            <p:cNvPr id="40979" name="Text Box 19">
              <a:extLst>
                <a:ext uri="{FF2B5EF4-FFF2-40B4-BE49-F238E27FC236}">
                  <a16:creationId xmlns:a16="http://schemas.microsoft.com/office/drawing/2014/main" id="{BF313406-DAFE-45BC-A9E1-7D0F499DD85D}"/>
                </a:ext>
              </a:extLst>
            </p:cNvPr>
            <p:cNvSpPr txBox="1">
              <a:spLocks noChangeArrowheads="1"/>
            </p:cNvSpPr>
            <p:nvPr/>
          </p:nvSpPr>
          <p:spPr bwMode="auto">
            <a:xfrm>
              <a:off x="3086" y="2685"/>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27</a:t>
              </a:r>
            </a:p>
          </p:txBody>
        </p:sp>
        <p:sp>
          <p:nvSpPr>
            <p:cNvPr id="40980" name="Text Box 20">
              <a:extLst>
                <a:ext uri="{FF2B5EF4-FFF2-40B4-BE49-F238E27FC236}">
                  <a16:creationId xmlns:a16="http://schemas.microsoft.com/office/drawing/2014/main" id="{1D5E458A-ED45-4B20-BDE9-CB4CA8107572}"/>
                </a:ext>
              </a:extLst>
            </p:cNvPr>
            <p:cNvSpPr txBox="1">
              <a:spLocks noChangeArrowheads="1"/>
            </p:cNvSpPr>
            <p:nvPr/>
          </p:nvSpPr>
          <p:spPr bwMode="auto">
            <a:xfrm>
              <a:off x="3094" y="3285"/>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26</a:t>
              </a:r>
            </a:p>
          </p:txBody>
        </p:sp>
        <p:sp>
          <p:nvSpPr>
            <p:cNvPr id="40986" name="Text Box 26">
              <a:extLst>
                <a:ext uri="{FF2B5EF4-FFF2-40B4-BE49-F238E27FC236}">
                  <a16:creationId xmlns:a16="http://schemas.microsoft.com/office/drawing/2014/main" id="{5065CC9D-4E9B-4806-8EA6-FDAA33441BC8}"/>
                </a:ext>
              </a:extLst>
            </p:cNvPr>
            <p:cNvSpPr txBox="1">
              <a:spLocks noChangeArrowheads="1"/>
            </p:cNvSpPr>
            <p:nvPr/>
          </p:nvSpPr>
          <p:spPr bwMode="auto">
            <a:xfrm>
              <a:off x="3254" y="3401"/>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84</a:t>
              </a:r>
            </a:p>
          </p:txBody>
        </p:sp>
        <p:sp>
          <p:nvSpPr>
            <p:cNvPr id="40987" name="Text Box 27">
              <a:extLst>
                <a:ext uri="{FF2B5EF4-FFF2-40B4-BE49-F238E27FC236}">
                  <a16:creationId xmlns:a16="http://schemas.microsoft.com/office/drawing/2014/main" id="{D03048CD-9F02-4EEF-9308-377CA836735F}"/>
                </a:ext>
              </a:extLst>
            </p:cNvPr>
            <p:cNvSpPr txBox="1">
              <a:spLocks noChangeArrowheads="1"/>
            </p:cNvSpPr>
            <p:nvPr/>
          </p:nvSpPr>
          <p:spPr bwMode="auto">
            <a:xfrm>
              <a:off x="3758" y="3401"/>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82</a:t>
              </a:r>
            </a:p>
          </p:txBody>
        </p:sp>
        <p:sp>
          <p:nvSpPr>
            <p:cNvPr id="40988" name="Text Box 28">
              <a:extLst>
                <a:ext uri="{FF2B5EF4-FFF2-40B4-BE49-F238E27FC236}">
                  <a16:creationId xmlns:a16="http://schemas.microsoft.com/office/drawing/2014/main" id="{2A115188-6128-4548-A408-6E09576E9AC0}"/>
                </a:ext>
              </a:extLst>
            </p:cNvPr>
            <p:cNvSpPr txBox="1">
              <a:spLocks noChangeArrowheads="1"/>
            </p:cNvSpPr>
            <p:nvPr/>
          </p:nvSpPr>
          <p:spPr bwMode="auto">
            <a:xfrm>
              <a:off x="4294" y="3401"/>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80</a:t>
              </a:r>
            </a:p>
          </p:txBody>
        </p:sp>
        <p:sp>
          <p:nvSpPr>
            <p:cNvPr id="40989" name="Text Box 29">
              <a:extLst>
                <a:ext uri="{FF2B5EF4-FFF2-40B4-BE49-F238E27FC236}">
                  <a16:creationId xmlns:a16="http://schemas.microsoft.com/office/drawing/2014/main" id="{E8668A7F-308F-4AF8-AB77-C6659A55AA68}"/>
                </a:ext>
              </a:extLst>
            </p:cNvPr>
            <p:cNvSpPr txBox="1">
              <a:spLocks noChangeArrowheads="1"/>
            </p:cNvSpPr>
            <p:nvPr/>
          </p:nvSpPr>
          <p:spPr bwMode="auto">
            <a:xfrm>
              <a:off x="4846" y="3401"/>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78</a:t>
              </a:r>
            </a:p>
          </p:txBody>
        </p:sp>
        <p:sp>
          <p:nvSpPr>
            <p:cNvPr id="40990" name="Text Box 30">
              <a:extLst>
                <a:ext uri="{FF2B5EF4-FFF2-40B4-BE49-F238E27FC236}">
                  <a16:creationId xmlns:a16="http://schemas.microsoft.com/office/drawing/2014/main" id="{86719483-4CE5-485A-997D-598BA73E4A82}"/>
                </a:ext>
              </a:extLst>
            </p:cNvPr>
            <p:cNvSpPr txBox="1">
              <a:spLocks noChangeArrowheads="1"/>
            </p:cNvSpPr>
            <p:nvPr/>
          </p:nvSpPr>
          <p:spPr bwMode="auto">
            <a:xfrm>
              <a:off x="5398" y="3401"/>
              <a:ext cx="171" cy="2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 rIns="18288">
              <a:spAutoFit/>
            </a:bodyPr>
            <a:lstStyle/>
            <a:p>
              <a:r>
                <a:rPr lang="en-US" altLang="en-US" b="1"/>
                <a:t>76</a:t>
              </a:r>
            </a:p>
          </p:txBody>
        </p:sp>
      </p:grpSp>
    </p:spTree>
    <p:extLst>
      <p:ext uri="{BB962C8B-B14F-4D97-AF65-F5344CB8AC3E}">
        <p14:creationId xmlns:p14="http://schemas.microsoft.com/office/powerpoint/2010/main" val="357252554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B9ABA2E-29F3-4231-A942-61FA77BFEC27}"/>
              </a:ext>
            </a:extLst>
          </p:cNvPr>
          <p:cNvPicPr>
            <a:picLocks noChangeAspect="1"/>
          </p:cNvPicPr>
          <p:nvPr/>
        </p:nvPicPr>
        <p:blipFill rotWithShape="1">
          <a:blip r:embed="rId3"/>
          <a:srcRect l="17807" r="12385" b="2"/>
          <a:stretch/>
        </p:blipFill>
        <p:spPr>
          <a:xfrm>
            <a:off x="958010" y="383515"/>
            <a:ext cx="4375837" cy="3854971"/>
          </a:xfrm>
          <a:prstGeom prst="rect">
            <a:avLst/>
          </a:prstGeom>
        </p:spPr>
      </p:pic>
      <p:pic>
        <p:nvPicPr>
          <p:cNvPr id="3" name="Picture 2">
            <a:extLst>
              <a:ext uri="{FF2B5EF4-FFF2-40B4-BE49-F238E27FC236}">
                <a16:creationId xmlns:a16="http://schemas.microsoft.com/office/drawing/2014/main" id="{A41FA2ED-2A43-4CF9-9E50-C438E78CC78A}"/>
              </a:ext>
            </a:extLst>
          </p:cNvPr>
          <p:cNvPicPr>
            <a:picLocks noChangeAspect="1"/>
          </p:cNvPicPr>
          <p:nvPr/>
        </p:nvPicPr>
        <p:blipFill rotWithShape="1">
          <a:blip r:embed="rId4"/>
          <a:srcRect r="12222" b="1"/>
          <a:stretch/>
        </p:blipFill>
        <p:spPr>
          <a:xfrm>
            <a:off x="6856571" y="383515"/>
            <a:ext cx="4375836" cy="3854971"/>
          </a:xfrm>
          <a:prstGeom prst="rect">
            <a:avLst/>
          </a:prstGeom>
        </p:spPr>
      </p:pic>
      <p:sp>
        <p:nvSpPr>
          <p:cNvPr id="40962" name="Rectangle 2">
            <a:extLst>
              <a:ext uri="{FF2B5EF4-FFF2-40B4-BE49-F238E27FC236}">
                <a16:creationId xmlns:a16="http://schemas.microsoft.com/office/drawing/2014/main" id="{2C15C545-EF4D-40C8-B59A-3CC3D267771B}"/>
              </a:ext>
            </a:extLst>
          </p:cNvPr>
          <p:cNvSpPr>
            <a:spLocks noGrp="1" noChangeArrowheads="1"/>
          </p:cNvSpPr>
          <p:nvPr>
            <p:ph type="title"/>
          </p:nvPr>
        </p:nvSpPr>
        <p:spPr>
          <a:xfrm>
            <a:off x="642259" y="5406637"/>
            <a:ext cx="11322262" cy="823448"/>
          </a:xfrm>
        </p:spPr>
        <p:txBody>
          <a:bodyPr vert="horz" lIns="91440" tIns="45720" rIns="91440" bIns="45720" rtlCol="0" anchor="b">
            <a:normAutofit/>
          </a:bodyPr>
          <a:lstStyle/>
          <a:p>
            <a:pPr algn="ctr">
              <a:lnSpc>
                <a:spcPct val="80000"/>
              </a:lnSpc>
            </a:pPr>
            <a:r>
              <a:rPr lang="en-US" altLang="en-US" sz="2800" dirty="0"/>
              <a:t>Orbit Inclinations and Launch Azimuths </a:t>
            </a:r>
            <a:br>
              <a:rPr lang="en-US" altLang="en-US" sz="2800" dirty="0"/>
            </a:br>
            <a:r>
              <a:rPr lang="en-US" altLang="en-US" sz="2800" dirty="0"/>
              <a:t>Available from Wallops</a:t>
            </a:r>
          </a:p>
        </p:txBody>
      </p:sp>
      <p:sp>
        <p:nvSpPr>
          <p:cNvPr id="2" name="Slide Number Placeholder 1">
            <a:extLst>
              <a:ext uri="{FF2B5EF4-FFF2-40B4-BE49-F238E27FC236}">
                <a16:creationId xmlns:a16="http://schemas.microsoft.com/office/drawing/2014/main" id="{F0197486-19A2-491C-A369-CD9EF743B222}"/>
              </a:ext>
            </a:extLst>
          </p:cNvPr>
          <p:cNvSpPr>
            <a:spLocks noGrp="1"/>
          </p:cNvSpPr>
          <p:nvPr>
            <p:ph type="sldNum" sz="quarter" idx="12"/>
          </p:nvPr>
        </p:nvSpPr>
        <p:spPr/>
        <p:txBody>
          <a:bodyPr>
            <a:normAutofit lnSpcReduction="10000"/>
          </a:bodyPr>
          <a:lstStyle/>
          <a:p>
            <a:fld id="{C2292171-89DE-4C35-9EAE-7994351D87C0}" type="slidenum">
              <a:rPr lang="en-US" smtClean="0"/>
              <a:t>23</a:t>
            </a:fld>
            <a:endParaRPr lang="en-US"/>
          </a:p>
        </p:txBody>
      </p:sp>
    </p:spTree>
    <p:extLst>
      <p:ext uri="{BB962C8B-B14F-4D97-AF65-F5344CB8AC3E}">
        <p14:creationId xmlns:p14="http://schemas.microsoft.com/office/powerpoint/2010/main" val="169324852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4" name="Picture 8" descr="See the source image">
            <a:extLst>
              <a:ext uri="{FF2B5EF4-FFF2-40B4-BE49-F238E27FC236}">
                <a16:creationId xmlns:a16="http://schemas.microsoft.com/office/drawing/2014/main" id="{6119805B-2197-4144-861F-953EA082B5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975" b="1"/>
          <a:stretch/>
        </p:blipFill>
        <p:spPr bwMode="auto">
          <a:xfrm>
            <a:off x="321733" y="321733"/>
            <a:ext cx="11548534" cy="621453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1385A883-01C6-564E-A284-9882B60ABCCC}"/>
              </a:ext>
            </a:extLst>
          </p:cNvPr>
          <p:cNvSpPr>
            <a:spLocks noGrp="1"/>
          </p:cNvSpPr>
          <p:nvPr>
            <p:ph type="sldNum" sz="quarter" idx="12"/>
          </p:nvPr>
        </p:nvSpPr>
        <p:spPr/>
        <p:txBody>
          <a:bodyPr>
            <a:normAutofit lnSpcReduction="10000"/>
          </a:bodyPr>
          <a:lstStyle/>
          <a:p>
            <a:fld id="{54701E7F-7746-4C27-B2FB-416942EB66E3}" type="slidenum">
              <a:rPr lang="en-US" smtClean="0"/>
              <a:t>24</a:t>
            </a:fld>
            <a:endParaRPr lang="en-US"/>
          </a:p>
        </p:txBody>
      </p:sp>
    </p:spTree>
    <p:extLst>
      <p:ext uri="{BB962C8B-B14F-4D97-AF65-F5344CB8AC3E}">
        <p14:creationId xmlns:p14="http://schemas.microsoft.com/office/powerpoint/2010/main" val="716641319"/>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71383-5E8E-B809-3A54-D5ECE581AE3B}"/>
              </a:ext>
            </a:extLst>
          </p:cNvPr>
          <p:cNvSpPr>
            <a:spLocks noGrp="1"/>
          </p:cNvSpPr>
          <p:nvPr>
            <p:ph type="title"/>
          </p:nvPr>
        </p:nvSpPr>
        <p:spPr/>
        <p:txBody>
          <a:bodyPr/>
          <a:lstStyle/>
          <a:p>
            <a:pPr algn="ctr"/>
            <a:r>
              <a:rPr lang="en-US" dirty="0"/>
              <a:t>EARTH’S MAGNETIC FIELD TERMINOLOGY</a:t>
            </a:r>
          </a:p>
        </p:txBody>
      </p:sp>
      <p:sp>
        <p:nvSpPr>
          <p:cNvPr id="4" name="Slide Number Placeholder 3">
            <a:extLst>
              <a:ext uri="{FF2B5EF4-FFF2-40B4-BE49-F238E27FC236}">
                <a16:creationId xmlns:a16="http://schemas.microsoft.com/office/drawing/2014/main" id="{A597E85B-97A1-67B9-C94F-C26D67518FA8}"/>
              </a:ext>
            </a:extLst>
          </p:cNvPr>
          <p:cNvSpPr>
            <a:spLocks noGrp="1"/>
          </p:cNvSpPr>
          <p:nvPr>
            <p:ph type="sldNum" sz="quarter" idx="12"/>
          </p:nvPr>
        </p:nvSpPr>
        <p:spPr/>
        <p:txBody>
          <a:bodyPr>
            <a:normAutofit lnSpcReduction="10000"/>
          </a:bodyPr>
          <a:lstStyle/>
          <a:p>
            <a:fld id="{54701E7F-7746-4C27-B2FB-416942EB66E3}" type="slidenum">
              <a:rPr lang="en-US" smtClean="0"/>
              <a:t>25</a:t>
            </a:fld>
            <a:endParaRPr lang="en-US"/>
          </a:p>
        </p:txBody>
      </p:sp>
    </p:spTree>
    <p:extLst>
      <p:ext uri="{BB962C8B-B14F-4D97-AF65-F5344CB8AC3E}">
        <p14:creationId xmlns:p14="http://schemas.microsoft.com/office/powerpoint/2010/main" val="2966313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06028-35FB-4ECB-8BB2-5B3903CF81EA}"/>
              </a:ext>
            </a:extLst>
          </p:cNvPr>
          <p:cNvSpPr>
            <a:spLocks noGrp="1"/>
          </p:cNvSpPr>
          <p:nvPr>
            <p:ph type="title"/>
          </p:nvPr>
        </p:nvSpPr>
        <p:spPr>
          <a:xfrm>
            <a:off x="711925" y="195943"/>
            <a:ext cx="10515600" cy="669173"/>
          </a:xfrm>
        </p:spPr>
        <p:txBody>
          <a:bodyPr>
            <a:normAutofit fontScale="90000"/>
          </a:bodyPr>
          <a:lstStyle/>
          <a:p>
            <a:pPr algn="ctr"/>
            <a:r>
              <a:rPr lang="en-US" dirty="0"/>
              <a:t>GEOMAGNETIC DYNAMO EFFECT</a:t>
            </a:r>
          </a:p>
        </p:txBody>
      </p:sp>
      <p:pic>
        <p:nvPicPr>
          <p:cNvPr id="2050" name="Picture 2">
            <a:extLst>
              <a:ext uri="{FF2B5EF4-FFF2-40B4-BE49-F238E27FC236}">
                <a16:creationId xmlns:a16="http://schemas.microsoft.com/office/drawing/2014/main" id="{1EBCB350-1212-47C2-B7ED-C5E616C46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88275"/>
            <a:ext cx="5969725" cy="59697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onvection currents in core">
            <a:extLst>
              <a:ext uri="{FF2B5EF4-FFF2-40B4-BE49-F238E27FC236}">
                <a16:creationId xmlns:a16="http://schemas.microsoft.com/office/drawing/2014/main" id="{C5E64DC0-53CA-4D8D-BAE5-AAC564EA9A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4168" y="1686824"/>
            <a:ext cx="6157832" cy="42515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ADCECEE-3620-4BB7-88AE-5FDD75333F0A}"/>
              </a:ext>
            </a:extLst>
          </p:cNvPr>
          <p:cNvSpPr txBox="1"/>
          <p:nvPr/>
        </p:nvSpPr>
        <p:spPr>
          <a:xfrm>
            <a:off x="1839250" y="967832"/>
            <a:ext cx="1954203" cy="369332"/>
          </a:xfrm>
          <a:prstGeom prst="rect">
            <a:avLst/>
          </a:prstGeom>
          <a:noFill/>
        </p:spPr>
        <p:txBody>
          <a:bodyPr wrap="square" rtlCol="0">
            <a:spAutoFit/>
          </a:bodyPr>
          <a:lstStyle/>
          <a:p>
            <a:r>
              <a:rPr lang="en-US" dirty="0">
                <a:solidFill>
                  <a:schemeClr val="bg1"/>
                </a:solidFill>
              </a:rPr>
              <a:t>M =  60 </a:t>
            </a:r>
            <a:r>
              <a:rPr lang="el-GR" dirty="0">
                <a:solidFill>
                  <a:schemeClr val="bg1"/>
                </a:solidFill>
              </a:rPr>
              <a:t>μ</a:t>
            </a:r>
            <a:r>
              <a:rPr lang="en-US" dirty="0" err="1">
                <a:solidFill>
                  <a:schemeClr val="bg1"/>
                </a:solidFill>
              </a:rPr>
              <a:t>Telsa</a:t>
            </a:r>
            <a:endParaRPr lang="en-US" dirty="0">
              <a:solidFill>
                <a:schemeClr val="bg1"/>
              </a:solidFill>
            </a:endParaRPr>
          </a:p>
        </p:txBody>
      </p:sp>
      <p:sp>
        <p:nvSpPr>
          <p:cNvPr id="6" name="TextBox 5">
            <a:extLst>
              <a:ext uri="{FF2B5EF4-FFF2-40B4-BE49-F238E27FC236}">
                <a16:creationId xmlns:a16="http://schemas.microsoft.com/office/drawing/2014/main" id="{B60BFA1B-6833-4FFF-A2E8-CBE24D259FA7}"/>
              </a:ext>
            </a:extLst>
          </p:cNvPr>
          <p:cNvSpPr txBox="1"/>
          <p:nvPr/>
        </p:nvSpPr>
        <p:spPr>
          <a:xfrm>
            <a:off x="4348189" y="4218742"/>
            <a:ext cx="1954203" cy="369332"/>
          </a:xfrm>
          <a:prstGeom prst="rect">
            <a:avLst/>
          </a:prstGeom>
          <a:noFill/>
        </p:spPr>
        <p:txBody>
          <a:bodyPr wrap="square" rtlCol="0">
            <a:spAutoFit/>
          </a:bodyPr>
          <a:lstStyle/>
          <a:p>
            <a:r>
              <a:rPr lang="en-US" dirty="0">
                <a:solidFill>
                  <a:schemeClr val="bg1"/>
                </a:solidFill>
              </a:rPr>
              <a:t>M =  30 </a:t>
            </a:r>
            <a:r>
              <a:rPr lang="el-GR" dirty="0">
                <a:solidFill>
                  <a:schemeClr val="bg1"/>
                </a:solidFill>
              </a:rPr>
              <a:t>μ</a:t>
            </a:r>
            <a:r>
              <a:rPr lang="en-US" dirty="0" err="1">
                <a:solidFill>
                  <a:schemeClr val="bg1"/>
                </a:solidFill>
              </a:rPr>
              <a:t>Telsa</a:t>
            </a:r>
            <a:endParaRPr lang="en-US" dirty="0">
              <a:solidFill>
                <a:schemeClr val="bg1"/>
              </a:solidFill>
            </a:endParaRPr>
          </a:p>
        </p:txBody>
      </p:sp>
      <p:sp>
        <p:nvSpPr>
          <p:cNvPr id="4" name="Slide Number Placeholder 3">
            <a:extLst>
              <a:ext uri="{FF2B5EF4-FFF2-40B4-BE49-F238E27FC236}">
                <a16:creationId xmlns:a16="http://schemas.microsoft.com/office/drawing/2014/main" id="{D22A64F4-BC44-197D-3E15-F15C5CC44472}"/>
              </a:ext>
            </a:extLst>
          </p:cNvPr>
          <p:cNvSpPr>
            <a:spLocks noGrp="1"/>
          </p:cNvSpPr>
          <p:nvPr>
            <p:ph type="sldNum" sz="quarter" idx="12"/>
          </p:nvPr>
        </p:nvSpPr>
        <p:spPr/>
        <p:txBody>
          <a:bodyPr>
            <a:normAutofit lnSpcReduction="10000"/>
          </a:bodyPr>
          <a:lstStyle/>
          <a:p>
            <a:fld id="{54701E7F-7746-4C27-B2FB-416942EB66E3}" type="slidenum">
              <a:rPr lang="en-US" smtClean="0"/>
              <a:t>26</a:t>
            </a:fld>
            <a:endParaRPr lang="en-US"/>
          </a:p>
        </p:txBody>
      </p:sp>
    </p:spTree>
    <p:extLst>
      <p:ext uri="{BB962C8B-B14F-4D97-AF65-F5344CB8AC3E}">
        <p14:creationId xmlns:p14="http://schemas.microsoft.com/office/powerpoint/2010/main" val="4131878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1640FBB5-92B4-4E12-9896-7B37C960F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 y="1601506"/>
            <a:ext cx="5256494" cy="5256494"/>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2852EE1-1007-40CA-A631-966916223B6F}"/>
              </a:ext>
            </a:extLst>
          </p:cNvPr>
          <p:cNvSpPr>
            <a:spLocks noGrp="1"/>
          </p:cNvSpPr>
          <p:nvPr>
            <p:ph type="title"/>
          </p:nvPr>
        </p:nvSpPr>
        <p:spPr>
          <a:xfrm>
            <a:off x="838200" y="184805"/>
            <a:ext cx="10515600" cy="1505883"/>
          </a:xfrm>
        </p:spPr>
        <p:txBody>
          <a:bodyPr vert="horz" lIns="91440" tIns="45720" rIns="91440" bIns="45720" rtlCol="0" anchor="ctr">
            <a:normAutofit fontScale="90000"/>
          </a:bodyPr>
          <a:lstStyle/>
          <a:p>
            <a:pPr algn="ctr"/>
            <a:r>
              <a:rPr lang="en-US" sz="5200" b="1" kern="1200" dirty="0">
                <a:solidFill>
                  <a:schemeClr val="tx1"/>
                </a:solidFill>
                <a:latin typeface="+mj-lt"/>
                <a:ea typeface="+mj-ea"/>
                <a:cs typeface="+mj-cs"/>
              </a:rPr>
              <a:t>EARTH’S MAGNETIC POLES SHIFT</a:t>
            </a:r>
          </a:p>
        </p:txBody>
      </p:sp>
      <p:pic>
        <p:nvPicPr>
          <p:cNvPr id="4" name="Picture 3" descr="Diagram&#10;&#10;Description automatically generated">
            <a:extLst>
              <a:ext uri="{FF2B5EF4-FFF2-40B4-BE49-F238E27FC236}">
                <a16:creationId xmlns:a16="http://schemas.microsoft.com/office/drawing/2014/main" id="{3967E6FF-7AAB-4D28-8DED-77E758688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1690" y="1690688"/>
            <a:ext cx="6305550" cy="5181600"/>
          </a:xfrm>
          <a:prstGeom prst="rect">
            <a:avLst/>
          </a:prstGeom>
        </p:spPr>
      </p:pic>
      <p:sp>
        <p:nvSpPr>
          <p:cNvPr id="3" name="Slide Number Placeholder 2">
            <a:extLst>
              <a:ext uri="{FF2B5EF4-FFF2-40B4-BE49-F238E27FC236}">
                <a16:creationId xmlns:a16="http://schemas.microsoft.com/office/drawing/2014/main" id="{468047E0-27BF-AF49-1949-F9CA87FE3405}"/>
              </a:ext>
            </a:extLst>
          </p:cNvPr>
          <p:cNvSpPr>
            <a:spLocks noGrp="1"/>
          </p:cNvSpPr>
          <p:nvPr>
            <p:ph type="sldNum" sz="quarter" idx="12"/>
          </p:nvPr>
        </p:nvSpPr>
        <p:spPr/>
        <p:txBody>
          <a:bodyPr>
            <a:normAutofit lnSpcReduction="10000"/>
          </a:bodyPr>
          <a:lstStyle/>
          <a:p>
            <a:fld id="{54701E7F-7746-4C27-B2FB-416942EB66E3}" type="slidenum">
              <a:rPr lang="en-US" smtClean="0"/>
              <a:t>27</a:t>
            </a:fld>
            <a:endParaRPr lang="en-US"/>
          </a:p>
        </p:txBody>
      </p:sp>
    </p:spTree>
    <p:extLst>
      <p:ext uri="{BB962C8B-B14F-4D97-AF65-F5344CB8AC3E}">
        <p14:creationId xmlns:p14="http://schemas.microsoft.com/office/powerpoint/2010/main" val="3934799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79AACA-4A2A-FF50-3CCB-7D2E989FBFDA}"/>
              </a:ext>
            </a:extLst>
          </p:cNvPr>
          <p:cNvSpPr>
            <a:spLocks noGrp="1"/>
          </p:cNvSpPr>
          <p:nvPr>
            <p:ph type="sldNum" sz="quarter" idx="12"/>
          </p:nvPr>
        </p:nvSpPr>
        <p:spPr/>
        <p:txBody>
          <a:bodyPr>
            <a:normAutofit lnSpcReduction="10000"/>
          </a:bodyPr>
          <a:lstStyle/>
          <a:p>
            <a:fld id="{54701E7F-7746-4C27-B2FB-416942EB66E3}" type="slidenum">
              <a:rPr lang="en-US" smtClean="0"/>
              <a:t>28</a:t>
            </a:fld>
            <a:endParaRPr lang="en-US"/>
          </a:p>
        </p:txBody>
      </p:sp>
      <p:pic>
        <p:nvPicPr>
          <p:cNvPr id="6" name="Picture 5" descr="A map of the world&#10;&#10;Description automatically generated with medium confidence">
            <a:extLst>
              <a:ext uri="{FF2B5EF4-FFF2-40B4-BE49-F238E27FC236}">
                <a16:creationId xmlns:a16="http://schemas.microsoft.com/office/drawing/2014/main" id="{4FCC52E3-B089-FFD5-0CB0-B0B0D76EA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069" y="0"/>
            <a:ext cx="10308475" cy="6872316"/>
          </a:xfrm>
          <a:prstGeom prst="rect">
            <a:avLst/>
          </a:prstGeom>
        </p:spPr>
      </p:pic>
    </p:spTree>
    <p:extLst>
      <p:ext uri="{BB962C8B-B14F-4D97-AF65-F5344CB8AC3E}">
        <p14:creationId xmlns:p14="http://schemas.microsoft.com/office/powerpoint/2010/main" val="276261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3115D6B-5BD8-4DC4-B496-C474D3802C68}"/>
              </a:ext>
            </a:extLst>
          </p:cNvPr>
          <p:cNvPicPr>
            <a:picLocks noChangeAspect="1"/>
          </p:cNvPicPr>
          <p:nvPr/>
        </p:nvPicPr>
        <p:blipFill rotWithShape="1">
          <a:blip r:embed="rId2"/>
          <a:srcRect l="4444" r="1"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F1BE48F3-B04E-425F-ADB9-84BE978365D6}"/>
              </a:ext>
            </a:extLst>
          </p:cNvPr>
          <p:cNvSpPr>
            <a:spLocks noGrp="1"/>
          </p:cNvSpPr>
          <p:nvPr>
            <p:ph type="title"/>
          </p:nvPr>
        </p:nvSpPr>
        <p:spPr>
          <a:xfrm>
            <a:off x="523875" y="425950"/>
            <a:ext cx="11210925" cy="744836"/>
          </a:xfrm>
        </p:spPr>
        <p:txBody>
          <a:bodyPr vert="horz" lIns="91440" tIns="45720" rIns="91440" bIns="45720" rtlCol="0" anchor="ctr">
            <a:normAutofit/>
          </a:bodyPr>
          <a:lstStyle/>
          <a:p>
            <a:pPr algn="ctr"/>
            <a:r>
              <a:rPr lang="en-US" sz="3600" dirty="0">
                <a:solidFill>
                  <a:schemeClr val="bg1"/>
                </a:solidFill>
              </a:rPr>
              <a:t>EARTH-SUN INTERACTIONS</a:t>
            </a:r>
          </a:p>
        </p:txBody>
      </p:sp>
      <p:sp>
        <p:nvSpPr>
          <p:cNvPr id="8" name="TextBox 7">
            <a:extLst>
              <a:ext uri="{FF2B5EF4-FFF2-40B4-BE49-F238E27FC236}">
                <a16:creationId xmlns:a16="http://schemas.microsoft.com/office/drawing/2014/main" id="{02876B01-9374-4100-8AE9-A763D521F4AD}"/>
              </a:ext>
            </a:extLst>
          </p:cNvPr>
          <p:cNvSpPr txBox="1"/>
          <p:nvPr/>
        </p:nvSpPr>
        <p:spPr>
          <a:xfrm>
            <a:off x="4979561" y="6244482"/>
            <a:ext cx="1358537" cy="369332"/>
          </a:xfrm>
          <a:prstGeom prst="rect">
            <a:avLst/>
          </a:prstGeom>
          <a:noFill/>
        </p:spPr>
        <p:txBody>
          <a:bodyPr wrap="square" rtlCol="0">
            <a:spAutoFit/>
          </a:bodyPr>
          <a:lstStyle/>
          <a:p>
            <a:r>
              <a:rPr lang="en-US" dirty="0">
                <a:solidFill>
                  <a:schemeClr val="bg1"/>
                </a:solidFill>
              </a:rPr>
              <a:t>Not to scale</a:t>
            </a:r>
          </a:p>
        </p:txBody>
      </p:sp>
      <p:sp>
        <p:nvSpPr>
          <p:cNvPr id="3" name="Slide Number Placeholder 2">
            <a:extLst>
              <a:ext uri="{FF2B5EF4-FFF2-40B4-BE49-F238E27FC236}">
                <a16:creationId xmlns:a16="http://schemas.microsoft.com/office/drawing/2014/main" id="{AD62400C-8BF9-CDAD-069E-BCB77CAA6397}"/>
              </a:ext>
            </a:extLst>
          </p:cNvPr>
          <p:cNvSpPr>
            <a:spLocks noGrp="1"/>
          </p:cNvSpPr>
          <p:nvPr>
            <p:ph type="sldNum" sz="quarter" idx="12"/>
          </p:nvPr>
        </p:nvSpPr>
        <p:spPr/>
        <p:txBody>
          <a:bodyPr>
            <a:normAutofit lnSpcReduction="10000"/>
          </a:bodyPr>
          <a:lstStyle/>
          <a:p>
            <a:fld id="{54701E7F-7746-4C27-B2FB-416942EB66E3}" type="slidenum">
              <a:rPr lang="en-US" smtClean="0"/>
              <a:t>29</a:t>
            </a:fld>
            <a:endParaRPr lang="en-US"/>
          </a:p>
        </p:txBody>
      </p:sp>
    </p:spTree>
    <p:extLst>
      <p:ext uri="{BB962C8B-B14F-4D97-AF65-F5344CB8AC3E}">
        <p14:creationId xmlns:p14="http://schemas.microsoft.com/office/powerpoint/2010/main" val="3866022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D9CA877-40BB-46E1-AF8F-60C2FB4AA7C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9396" y="643467"/>
            <a:ext cx="10413207" cy="557106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891E7927-0944-FC9B-C23D-2F1E258A4971}"/>
              </a:ext>
            </a:extLst>
          </p:cNvPr>
          <p:cNvSpPr>
            <a:spLocks noGrp="1"/>
          </p:cNvSpPr>
          <p:nvPr>
            <p:ph type="sldNum" sz="quarter" idx="12"/>
          </p:nvPr>
        </p:nvSpPr>
        <p:spPr/>
        <p:txBody>
          <a:bodyPr>
            <a:normAutofit lnSpcReduction="10000"/>
          </a:bodyPr>
          <a:lstStyle/>
          <a:p>
            <a:fld id="{54701E7F-7746-4C27-B2FB-416942EB66E3}" type="slidenum">
              <a:rPr lang="en-US" smtClean="0"/>
              <a:t>30</a:t>
            </a:fld>
            <a:endParaRPr lang="en-US"/>
          </a:p>
        </p:txBody>
      </p:sp>
    </p:spTree>
    <p:extLst>
      <p:ext uri="{BB962C8B-B14F-4D97-AF65-F5344CB8AC3E}">
        <p14:creationId xmlns:p14="http://schemas.microsoft.com/office/powerpoint/2010/main" val="2057892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86146F96-B44D-4E05-864C-58F01B773EEE}"/>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l="445"/>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0C5F1D1-53DF-4E0E-8A90-050F7ACB26F8}"/>
              </a:ext>
            </a:extLst>
          </p:cNvPr>
          <p:cNvSpPr>
            <a:spLocks noGrp="1"/>
          </p:cNvSpPr>
          <p:nvPr>
            <p:ph type="title"/>
          </p:nvPr>
        </p:nvSpPr>
        <p:spPr>
          <a:xfrm>
            <a:off x="428017" y="1065862"/>
            <a:ext cx="3723348" cy="4726276"/>
          </a:xfrm>
        </p:spPr>
        <p:txBody>
          <a:bodyPr vert="horz" lIns="91440" tIns="45720" rIns="91440" bIns="45720" rtlCol="0" anchor="ctr">
            <a:normAutofit/>
          </a:bodyPr>
          <a:lstStyle/>
          <a:p>
            <a:pPr algn="r"/>
            <a:r>
              <a:rPr lang="en-US" sz="4000" dirty="0">
                <a:solidFill>
                  <a:srgbClr val="FFFFFF"/>
                </a:solidFill>
              </a:rPr>
              <a:t>SOLAR ENERGY - IRRADIANCE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A373833-AD6E-4BC3-A2F0-469BD942F9EF}"/>
                  </a:ext>
                </a:extLst>
              </p:cNvPr>
              <p:cNvSpPr txBox="1"/>
              <p:nvPr/>
            </p:nvSpPr>
            <p:spPr>
              <a:xfrm>
                <a:off x="5155379" y="1065862"/>
                <a:ext cx="5744685" cy="472627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14:m>
                  <m:oMath xmlns:m="http://schemas.openxmlformats.org/officeDocument/2006/math">
                    <m:r>
                      <a:rPr lang="en-US" sz="2000" b="0" i="1" smtClean="0">
                        <a:solidFill>
                          <a:srgbClr val="FFFFFF"/>
                        </a:solidFill>
                        <a:latin typeface="Cambria Math" panose="02040503050406030204" pitchFamily="18" charset="0"/>
                      </a:rPr>
                      <m:t>𝑆</m:t>
                    </m:r>
                    <m:d>
                      <m:dPr>
                        <m:ctrlPr>
                          <a:rPr lang="en-US" sz="2000" b="0" i="1">
                            <a:solidFill>
                              <a:srgbClr val="FFFFFF"/>
                            </a:solidFill>
                            <a:latin typeface="Cambria Math" panose="02040503050406030204" pitchFamily="18" charset="0"/>
                          </a:rPr>
                        </m:ctrlPr>
                      </m:dPr>
                      <m:e>
                        <m:r>
                          <a:rPr lang="en-US" sz="2000" b="0" i="1" smtClean="0">
                            <a:solidFill>
                              <a:srgbClr val="FFFFFF"/>
                            </a:solidFill>
                            <a:latin typeface="Cambria Math" panose="02040503050406030204" pitchFamily="18" charset="0"/>
                          </a:rPr>
                          <m:t>𝑟</m:t>
                        </m:r>
                      </m:e>
                    </m:d>
                    <m:r>
                      <a:rPr lang="en-US" sz="2000" b="0" i="1">
                        <a:solidFill>
                          <a:srgbClr val="FFFFFF"/>
                        </a:solidFill>
                        <a:latin typeface="Cambria Math" panose="02040503050406030204" pitchFamily="18" charset="0"/>
                      </a:rPr>
                      <m:t>=</m:t>
                    </m:r>
                    <m:sSub>
                      <m:sSubPr>
                        <m:ctrlPr>
                          <a:rPr lang="en-US" sz="2000" b="0" i="1">
                            <a:solidFill>
                              <a:srgbClr val="FFFFFF"/>
                            </a:solidFill>
                            <a:latin typeface="Cambria Math" panose="02040503050406030204" pitchFamily="18" charset="0"/>
                          </a:rPr>
                        </m:ctrlPr>
                      </m:sSubPr>
                      <m:e>
                        <m:r>
                          <a:rPr lang="en-US" sz="2000" b="0" i="1">
                            <a:solidFill>
                              <a:srgbClr val="FFFFFF"/>
                            </a:solidFill>
                            <a:latin typeface="Cambria Math" panose="02040503050406030204" pitchFamily="18" charset="0"/>
                          </a:rPr>
                          <m:t>𝑆</m:t>
                        </m:r>
                      </m:e>
                      <m:sub>
                        <m:r>
                          <a:rPr lang="en-US" sz="2000" b="0" i="1">
                            <a:solidFill>
                              <a:srgbClr val="FFFFFF"/>
                            </a:solidFill>
                            <a:latin typeface="Cambria Math" panose="02040503050406030204" pitchFamily="18" charset="0"/>
                          </a:rPr>
                          <m:t>𝑒</m:t>
                        </m:r>
                      </m:sub>
                    </m:sSub>
                    <m:sSup>
                      <m:sSupPr>
                        <m:ctrlPr>
                          <a:rPr lang="en-US" sz="2000" b="0" i="1">
                            <a:solidFill>
                              <a:srgbClr val="FFFFFF"/>
                            </a:solidFill>
                            <a:latin typeface="Cambria Math" panose="02040503050406030204" pitchFamily="18" charset="0"/>
                          </a:rPr>
                        </m:ctrlPr>
                      </m:sSupPr>
                      <m:e>
                        <m:d>
                          <m:dPr>
                            <m:ctrlPr>
                              <a:rPr lang="en-US" sz="2000" i="1">
                                <a:solidFill>
                                  <a:srgbClr val="FFFFFF"/>
                                </a:solidFill>
                                <a:latin typeface="Cambria Math" panose="02040503050406030204" pitchFamily="18" charset="0"/>
                              </a:rPr>
                            </m:ctrlPr>
                          </m:dPr>
                          <m:e>
                            <m:f>
                              <m:fPr>
                                <m:ctrlPr>
                                  <a:rPr lang="en-US" sz="2000" i="1">
                                    <a:solidFill>
                                      <a:srgbClr val="FFFFFF"/>
                                    </a:solidFill>
                                    <a:latin typeface="Cambria Math" panose="02040503050406030204" pitchFamily="18" charset="0"/>
                                  </a:rPr>
                                </m:ctrlPr>
                              </m:fPr>
                              <m:num>
                                <m:r>
                                  <a:rPr lang="en-US" sz="2000" b="0" i="1">
                                    <a:solidFill>
                                      <a:srgbClr val="FFFFFF"/>
                                    </a:solidFill>
                                    <a:latin typeface="Cambria Math" panose="02040503050406030204" pitchFamily="18" charset="0"/>
                                  </a:rPr>
                                  <m:t>𝑎</m:t>
                                </m:r>
                                <m:r>
                                  <a:rPr lang="en-US" sz="2000" b="0" i="1" smtClean="0">
                                    <a:solidFill>
                                      <a:srgbClr val="FFFFFF"/>
                                    </a:solidFill>
                                    <a:latin typeface="Cambria Math" panose="02040503050406030204" pitchFamily="18" charset="0"/>
                                  </a:rPr>
                                  <m:t>𝑢</m:t>
                                </m:r>
                              </m:num>
                              <m:den>
                                <m:r>
                                  <a:rPr lang="en-US" sz="2000" b="0" i="1">
                                    <a:solidFill>
                                      <a:srgbClr val="FFFFFF"/>
                                    </a:solidFill>
                                    <a:latin typeface="Cambria Math" panose="02040503050406030204" pitchFamily="18" charset="0"/>
                                  </a:rPr>
                                  <m:t>𝑟</m:t>
                                </m:r>
                              </m:den>
                            </m:f>
                          </m:e>
                        </m:d>
                      </m:e>
                      <m:sup>
                        <m:r>
                          <a:rPr lang="en-US" sz="2000" b="0" i="1">
                            <a:solidFill>
                              <a:srgbClr val="FFFFFF"/>
                            </a:solidFill>
                            <a:latin typeface="Cambria Math" panose="02040503050406030204" pitchFamily="18" charset="0"/>
                          </a:rPr>
                          <m:t>2</m:t>
                        </m:r>
                      </m:sup>
                    </m:sSup>
                  </m:oMath>
                </a14:m>
                <a:endParaRPr lang="en-US" sz="2000" b="0" dirty="0">
                  <a:solidFill>
                    <a:srgbClr val="FFFFFF"/>
                  </a:solidFill>
                </a:endParaRPr>
              </a:p>
              <a:p>
                <a:pPr indent="-228600">
                  <a:lnSpc>
                    <a:spcPct val="90000"/>
                  </a:lnSpc>
                  <a:spcAft>
                    <a:spcPts val="600"/>
                  </a:spcAft>
                  <a:buFont typeface="Arial" panose="020B0604020202020204" pitchFamily="34" charset="0"/>
                  <a:buChar char="•"/>
                </a:pPr>
                <a:r>
                  <a:rPr lang="en-US" sz="2000" dirty="0">
                    <a:solidFill>
                      <a:srgbClr val="FFFFFF"/>
                    </a:solidFill>
                  </a:rPr>
                  <a:t>Where:</a:t>
                </a:r>
              </a:p>
              <a:p>
                <a:pPr indent="-228600">
                  <a:lnSpc>
                    <a:spcPct val="90000"/>
                  </a:lnSpc>
                  <a:spcAft>
                    <a:spcPts val="600"/>
                  </a:spcAft>
                  <a:buFont typeface="Arial" panose="020B0604020202020204" pitchFamily="34" charset="0"/>
                  <a:buChar char="•"/>
                </a:pPr>
                <a:r>
                  <a:rPr lang="en-US" sz="2000">
                    <a:solidFill>
                      <a:srgbClr val="FFFFFF"/>
                    </a:solidFill>
                  </a:rPr>
                  <a:t>au </a:t>
                </a:r>
                <a:r>
                  <a:rPr lang="en-US" sz="2000" dirty="0">
                    <a:solidFill>
                      <a:srgbClr val="FFFFFF"/>
                    </a:solidFill>
                  </a:rPr>
                  <a:t>= 1 AU =  149,597,871 km</a:t>
                </a:r>
              </a:p>
              <a:p>
                <a:pPr indent="-228600">
                  <a:lnSpc>
                    <a:spcPct val="90000"/>
                  </a:lnSpc>
                  <a:spcAft>
                    <a:spcPts val="600"/>
                  </a:spcAft>
                  <a:buFont typeface="Arial" panose="020B0604020202020204" pitchFamily="34" charset="0"/>
                  <a:buChar char="•"/>
                </a:pPr>
                <a:r>
                  <a:rPr lang="en-US" sz="2000" dirty="0">
                    <a:solidFill>
                      <a:srgbClr val="FFFFFF"/>
                    </a:solidFill>
                  </a:rPr>
                  <a:t>r = distance from sun (m)</a:t>
                </a:r>
              </a:p>
              <a:p>
                <a:pPr indent="-228600">
                  <a:lnSpc>
                    <a:spcPct val="90000"/>
                  </a:lnSpc>
                  <a:spcAft>
                    <a:spcPts val="600"/>
                  </a:spcAft>
                  <a:buFont typeface="Arial" panose="020B0604020202020204" pitchFamily="34" charset="0"/>
                  <a:buChar char="•"/>
                </a:pPr>
                <a:r>
                  <a:rPr lang="en-US" sz="2000" dirty="0">
                    <a:solidFill>
                      <a:srgbClr val="FFFFFF"/>
                    </a:solidFill>
                  </a:rPr>
                  <a:t>S = solar constant at distance r from sun </a:t>
                </a:r>
                <a14:m>
                  <m:oMath xmlns:m="http://schemas.openxmlformats.org/officeDocument/2006/math">
                    <m:d>
                      <m:dPr>
                        <m:ctrlPr>
                          <a:rPr lang="en-US" sz="2000" i="1">
                            <a:solidFill>
                              <a:srgbClr val="FFFFFF"/>
                            </a:solidFill>
                            <a:latin typeface="Cambria Math" panose="02040503050406030204" pitchFamily="18" charset="0"/>
                          </a:rPr>
                        </m:ctrlPr>
                      </m:dPr>
                      <m:e>
                        <m:f>
                          <m:fPr>
                            <m:ctrlPr>
                              <a:rPr lang="en-US" sz="2000" i="1">
                                <a:solidFill>
                                  <a:srgbClr val="FFFFFF"/>
                                </a:solidFill>
                                <a:latin typeface="Cambria Math" panose="02040503050406030204" pitchFamily="18" charset="0"/>
                              </a:rPr>
                            </m:ctrlPr>
                          </m:fPr>
                          <m:num>
                            <m:r>
                              <a:rPr lang="en-US" sz="2000" b="0" i="1">
                                <a:solidFill>
                                  <a:srgbClr val="FFFFFF"/>
                                </a:solidFill>
                                <a:latin typeface="Cambria Math" panose="02040503050406030204" pitchFamily="18" charset="0"/>
                              </a:rPr>
                              <m:t>𝑊</m:t>
                            </m:r>
                          </m:num>
                          <m:den>
                            <m:sSup>
                              <m:sSupPr>
                                <m:ctrlPr>
                                  <a:rPr lang="en-US" sz="2000" i="1">
                                    <a:solidFill>
                                      <a:srgbClr val="FFFFFF"/>
                                    </a:solidFill>
                                    <a:latin typeface="Cambria Math" panose="02040503050406030204" pitchFamily="18" charset="0"/>
                                  </a:rPr>
                                </m:ctrlPr>
                              </m:sSupPr>
                              <m:e>
                                <m:r>
                                  <a:rPr lang="en-US" sz="2000" b="0" i="1">
                                    <a:solidFill>
                                      <a:srgbClr val="FFFFFF"/>
                                    </a:solidFill>
                                    <a:latin typeface="Cambria Math" panose="02040503050406030204" pitchFamily="18" charset="0"/>
                                  </a:rPr>
                                  <m:t>𝑚</m:t>
                                </m:r>
                              </m:e>
                              <m:sup>
                                <m:r>
                                  <a:rPr lang="en-US" sz="2000" b="0" i="1">
                                    <a:solidFill>
                                      <a:srgbClr val="FFFFFF"/>
                                    </a:solidFill>
                                    <a:latin typeface="Cambria Math" panose="02040503050406030204" pitchFamily="18" charset="0"/>
                                  </a:rPr>
                                  <m:t>2</m:t>
                                </m:r>
                              </m:sup>
                            </m:sSup>
                          </m:den>
                        </m:f>
                      </m:e>
                    </m:d>
                  </m:oMath>
                </a14:m>
                <a:endParaRPr lang="en-US" sz="2000" dirty="0">
                  <a:solidFill>
                    <a:srgbClr val="FFFFFF"/>
                  </a:solidFill>
                </a:endParaRPr>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sz="2000" i="1">
                            <a:solidFill>
                              <a:srgbClr val="FFFFFF"/>
                            </a:solidFill>
                            <a:latin typeface="Cambria Math" panose="02040503050406030204" pitchFamily="18" charset="0"/>
                          </a:rPr>
                        </m:ctrlPr>
                      </m:sSubPr>
                      <m:e>
                        <m:r>
                          <a:rPr lang="en-US" sz="2000" b="0" i="1">
                            <a:solidFill>
                              <a:srgbClr val="FFFFFF"/>
                            </a:solidFill>
                            <a:latin typeface="Cambria Math" panose="02040503050406030204" pitchFamily="18" charset="0"/>
                          </a:rPr>
                          <m:t>𝑆</m:t>
                        </m:r>
                      </m:e>
                      <m:sub>
                        <m:r>
                          <a:rPr lang="en-US" sz="2000" b="0" i="1">
                            <a:solidFill>
                              <a:srgbClr val="FFFFFF"/>
                            </a:solidFill>
                            <a:latin typeface="Cambria Math" panose="02040503050406030204" pitchFamily="18" charset="0"/>
                          </a:rPr>
                          <m:t>𝐸</m:t>
                        </m:r>
                      </m:sub>
                    </m:sSub>
                  </m:oMath>
                </a14:m>
                <a:r>
                  <a:rPr lang="en-US" sz="2000" dirty="0">
                    <a:solidFill>
                      <a:srgbClr val="FFFFFF"/>
                    </a:solidFill>
                  </a:rPr>
                  <a:t> = solar constant at 1 AU from the sun </a:t>
                </a:r>
                <a14:m>
                  <m:oMath xmlns:m="http://schemas.openxmlformats.org/officeDocument/2006/math">
                    <m:d>
                      <m:dPr>
                        <m:ctrlPr>
                          <a:rPr lang="en-US" sz="2000" i="1">
                            <a:solidFill>
                              <a:srgbClr val="FFFFFF"/>
                            </a:solidFill>
                            <a:latin typeface="Cambria Math" panose="02040503050406030204" pitchFamily="18" charset="0"/>
                          </a:rPr>
                        </m:ctrlPr>
                      </m:dPr>
                      <m:e>
                        <m:f>
                          <m:fPr>
                            <m:ctrlPr>
                              <a:rPr lang="en-US" sz="2000" i="1">
                                <a:solidFill>
                                  <a:srgbClr val="FFFFFF"/>
                                </a:solidFill>
                                <a:latin typeface="Cambria Math" panose="02040503050406030204" pitchFamily="18" charset="0"/>
                              </a:rPr>
                            </m:ctrlPr>
                          </m:fPr>
                          <m:num>
                            <m:r>
                              <a:rPr lang="en-US" sz="2000" i="1">
                                <a:solidFill>
                                  <a:srgbClr val="FFFFFF"/>
                                </a:solidFill>
                                <a:latin typeface="Cambria Math" panose="02040503050406030204" pitchFamily="18" charset="0"/>
                              </a:rPr>
                              <m:t>𝑊</m:t>
                            </m:r>
                          </m:num>
                          <m:den>
                            <m:sSup>
                              <m:sSupPr>
                                <m:ctrlPr>
                                  <a:rPr lang="en-US" sz="2000" i="1">
                                    <a:solidFill>
                                      <a:srgbClr val="FFFFFF"/>
                                    </a:solidFill>
                                    <a:latin typeface="Cambria Math" panose="02040503050406030204" pitchFamily="18" charset="0"/>
                                  </a:rPr>
                                </m:ctrlPr>
                              </m:sSupPr>
                              <m:e>
                                <m:r>
                                  <a:rPr lang="en-US" sz="2000" i="1">
                                    <a:solidFill>
                                      <a:srgbClr val="FFFFFF"/>
                                    </a:solidFill>
                                    <a:latin typeface="Cambria Math" panose="02040503050406030204" pitchFamily="18" charset="0"/>
                                  </a:rPr>
                                  <m:t>𝑚</m:t>
                                </m:r>
                              </m:e>
                              <m:sup>
                                <m:r>
                                  <a:rPr lang="en-US" sz="2000" i="1">
                                    <a:solidFill>
                                      <a:srgbClr val="FFFFFF"/>
                                    </a:solidFill>
                                    <a:latin typeface="Cambria Math" panose="02040503050406030204" pitchFamily="18" charset="0"/>
                                  </a:rPr>
                                  <m:t>2</m:t>
                                </m:r>
                              </m:sup>
                            </m:sSup>
                          </m:den>
                        </m:f>
                      </m:e>
                    </m:d>
                  </m:oMath>
                </a14:m>
                <a:endParaRPr lang="en-US" sz="2000" dirty="0">
                  <a:solidFill>
                    <a:srgbClr val="FFFFFF"/>
                  </a:solidFill>
                </a:endParaRPr>
              </a:p>
              <a:p>
                <a:pPr indent="-228600">
                  <a:lnSpc>
                    <a:spcPct val="90000"/>
                  </a:lnSpc>
                  <a:spcAft>
                    <a:spcPts val="600"/>
                  </a:spcAft>
                  <a:buFont typeface="Arial" panose="020B0604020202020204" pitchFamily="34" charset="0"/>
                  <a:buChar char="•"/>
                </a:pPr>
                <a:endParaRPr lang="en-US" sz="2000" dirty="0">
                  <a:solidFill>
                    <a:srgbClr val="FFFFFF"/>
                  </a:solidFill>
                </a:endParaRPr>
              </a:p>
            </p:txBody>
          </p:sp>
        </mc:Choice>
        <mc:Fallback xmlns="">
          <p:sp>
            <p:nvSpPr>
              <p:cNvPr id="4" name="TextBox 3">
                <a:extLst>
                  <a:ext uri="{FF2B5EF4-FFF2-40B4-BE49-F238E27FC236}">
                    <a16:creationId xmlns:a16="http://schemas.microsoft.com/office/drawing/2014/main" id="{5A373833-AD6E-4BC3-A2F0-469BD942F9EF}"/>
                  </a:ext>
                </a:extLst>
              </p:cNvPr>
              <p:cNvSpPr txBox="1">
                <a:spLocks noRot="1" noChangeAspect="1" noMove="1" noResize="1" noEditPoints="1" noAdjustHandles="1" noChangeArrowheads="1" noChangeShapeType="1" noTextEdit="1"/>
              </p:cNvSpPr>
              <p:nvPr/>
            </p:nvSpPr>
            <p:spPr>
              <a:xfrm>
                <a:off x="5155379" y="1065862"/>
                <a:ext cx="5744685" cy="4726276"/>
              </a:xfrm>
              <a:prstGeom prst="rect">
                <a:avLst/>
              </a:prstGeom>
              <a:blipFill>
                <a:blip r:embed="rId3"/>
                <a:stretch>
                  <a:fillRect l="-9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2602F8-43D3-42F7-80F4-F45D2D06E11B}"/>
                  </a:ext>
                </a:extLst>
              </p:cNvPr>
              <p:cNvSpPr txBox="1"/>
              <p:nvPr/>
            </p:nvSpPr>
            <p:spPr>
              <a:xfrm>
                <a:off x="6096000" y="4833257"/>
                <a:ext cx="2656114" cy="860813"/>
              </a:xfrm>
              <a:prstGeom prst="rect">
                <a:avLst/>
              </a:prstGeom>
              <a:noFill/>
            </p:spPr>
            <p:txBody>
              <a:bodyPr wrap="square" rtlCol="0">
                <a:spAutoFit/>
              </a:bodyPr>
              <a:lstStyle/>
              <a:p>
                <a:pPr>
                  <a:spcAft>
                    <a:spcPts val="600"/>
                  </a:spcAft>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𝐸</m:t>
                        </m:r>
                      </m:sub>
                    </m:sSub>
                  </m:oMath>
                </a14:m>
                <a:r>
                  <a:rPr lang="en-US" dirty="0"/>
                  <a:t> = 1366.1 </a:t>
                </a:r>
                <a14:m>
                  <m:oMath xmlns:m="http://schemas.openxmlformats.org/officeDocument/2006/math">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𝑊</m:t>
                            </m:r>
                          </m:num>
                          <m:den>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den>
                        </m:f>
                      </m:e>
                    </m:d>
                  </m:oMath>
                </a14:m>
                <a:r>
                  <a:rPr lang="en-US" dirty="0"/>
                  <a:t> </a:t>
                </a:r>
              </a:p>
              <a:p>
                <a:pPr>
                  <a:spcAft>
                    <a:spcPts val="600"/>
                  </a:spcAft>
                </a:pPr>
                <a:r>
                  <a:rPr lang="en-US" dirty="0"/>
                  <a:t>(ASTM standard)</a:t>
                </a:r>
              </a:p>
            </p:txBody>
          </p:sp>
        </mc:Choice>
        <mc:Fallback xmlns="">
          <p:sp>
            <p:nvSpPr>
              <p:cNvPr id="5" name="TextBox 4">
                <a:extLst>
                  <a:ext uri="{FF2B5EF4-FFF2-40B4-BE49-F238E27FC236}">
                    <a16:creationId xmlns:a16="http://schemas.microsoft.com/office/drawing/2014/main" id="{C62602F8-43D3-42F7-80F4-F45D2D06E11B}"/>
                  </a:ext>
                </a:extLst>
              </p:cNvPr>
              <p:cNvSpPr txBox="1">
                <a:spLocks noRot="1" noChangeAspect="1" noMove="1" noResize="1" noEditPoints="1" noAdjustHandles="1" noChangeArrowheads="1" noChangeShapeType="1" noTextEdit="1"/>
              </p:cNvSpPr>
              <p:nvPr/>
            </p:nvSpPr>
            <p:spPr>
              <a:xfrm>
                <a:off x="6096000" y="4833257"/>
                <a:ext cx="2656114" cy="860813"/>
              </a:xfrm>
              <a:prstGeom prst="rect">
                <a:avLst/>
              </a:prstGeom>
              <a:blipFill>
                <a:blip r:embed="rId4"/>
                <a:stretch>
                  <a:fillRect l="-1835" b="-10638"/>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E21E3191-1AC2-4FF4-B03E-DEBD7CB3C673}"/>
              </a:ext>
            </a:extLst>
          </p:cNvPr>
          <p:cNvSpPr>
            <a:spLocks noGrp="1"/>
          </p:cNvSpPr>
          <p:nvPr>
            <p:ph type="sldNum" sz="quarter" idx="12"/>
          </p:nvPr>
        </p:nvSpPr>
        <p:spPr/>
        <p:txBody>
          <a:bodyPr>
            <a:normAutofit lnSpcReduction="10000"/>
          </a:bodyPr>
          <a:lstStyle/>
          <a:p>
            <a:fld id="{54701E7F-7746-4C27-B2FB-416942EB66E3}" type="slidenum">
              <a:rPr lang="en-US" smtClean="0"/>
              <a:t>31</a:t>
            </a:fld>
            <a:endParaRPr lang="en-US"/>
          </a:p>
        </p:txBody>
      </p:sp>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A674A212-4A25-C1E2-9DBC-2B006164171A}"/>
                  </a:ext>
                </a:extLst>
              </p14:cNvPr>
              <p14:cNvContentPartPr/>
              <p14:nvPr/>
            </p14:nvContentPartPr>
            <p14:xfrm>
              <a:off x="8352360" y="4671720"/>
              <a:ext cx="12240" cy="6480"/>
            </p14:xfrm>
          </p:contentPart>
        </mc:Choice>
        <mc:Fallback xmlns="">
          <p:pic>
            <p:nvPicPr>
              <p:cNvPr id="6" name="Ink 5">
                <a:extLst>
                  <a:ext uri="{FF2B5EF4-FFF2-40B4-BE49-F238E27FC236}">
                    <a16:creationId xmlns:a16="http://schemas.microsoft.com/office/drawing/2014/main" id="{A674A212-4A25-C1E2-9DBC-2B006164171A}"/>
                  </a:ext>
                </a:extLst>
              </p:cNvPr>
              <p:cNvPicPr/>
              <p:nvPr/>
            </p:nvPicPr>
            <p:blipFill>
              <a:blip r:embed="rId6"/>
              <a:stretch>
                <a:fillRect/>
              </a:stretch>
            </p:blipFill>
            <p:spPr>
              <a:xfrm>
                <a:off x="8343000" y="4662360"/>
                <a:ext cx="30960" cy="25200"/>
              </a:xfrm>
              <a:prstGeom prst="rect">
                <a:avLst/>
              </a:prstGeom>
            </p:spPr>
          </p:pic>
        </mc:Fallback>
      </mc:AlternateContent>
    </p:spTree>
    <p:extLst>
      <p:ext uri="{BB962C8B-B14F-4D97-AF65-F5344CB8AC3E}">
        <p14:creationId xmlns:p14="http://schemas.microsoft.com/office/powerpoint/2010/main" val="2714780187"/>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B6F568-10A5-4B1D-832A-615973A7CDC2}"/>
              </a:ext>
            </a:extLst>
          </p:cNvPr>
          <p:cNvSpPr txBox="1"/>
          <p:nvPr/>
        </p:nvSpPr>
        <p:spPr>
          <a:xfrm>
            <a:off x="3502152" y="170544"/>
            <a:ext cx="6095128" cy="646331"/>
          </a:xfrm>
          <a:prstGeom prst="rect">
            <a:avLst/>
          </a:prstGeom>
          <a:noFill/>
        </p:spPr>
        <p:txBody>
          <a:bodyPr wrap="square">
            <a:spAutoFit/>
          </a:bodyPr>
          <a:lstStyle/>
          <a:p>
            <a:r>
              <a:rPr lang="en-US" dirty="0">
                <a:effectLst/>
              </a:rPr>
              <a:t>Changing of the Sun’s Magnetic Field Over Four Years</a:t>
            </a:r>
          </a:p>
          <a:p>
            <a:endParaRPr lang="en-US" dirty="0">
              <a:effectLst/>
            </a:endParaRPr>
          </a:p>
        </p:txBody>
      </p:sp>
      <p:sp>
        <p:nvSpPr>
          <p:cNvPr id="2" name="Slide Number Placeholder 1">
            <a:extLst>
              <a:ext uri="{FF2B5EF4-FFF2-40B4-BE49-F238E27FC236}">
                <a16:creationId xmlns:a16="http://schemas.microsoft.com/office/drawing/2014/main" id="{2CFC19A8-33A6-B13D-9C2C-BEFFFC818569}"/>
              </a:ext>
            </a:extLst>
          </p:cNvPr>
          <p:cNvSpPr>
            <a:spLocks noGrp="1"/>
          </p:cNvSpPr>
          <p:nvPr>
            <p:ph type="sldNum" sz="quarter" idx="12"/>
          </p:nvPr>
        </p:nvSpPr>
        <p:spPr/>
        <p:txBody>
          <a:bodyPr>
            <a:normAutofit lnSpcReduction="10000"/>
          </a:bodyPr>
          <a:lstStyle/>
          <a:p>
            <a:fld id="{54701E7F-7746-4C27-B2FB-416942EB66E3}" type="slidenum">
              <a:rPr lang="en-US" smtClean="0"/>
              <a:t>32</a:t>
            </a:fld>
            <a:endParaRPr lang="en-US"/>
          </a:p>
        </p:txBody>
      </p:sp>
      <p:pic>
        <p:nvPicPr>
          <p:cNvPr id="3" name="Online Media 2" title="Sun’s magnetic field over the course of four years">
            <a:hlinkClick r:id="" action="ppaction://media"/>
            <a:extLst>
              <a:ext uri="{FF2B5EF4-FFF2-40B4-BE49-F238E27FC236}">
                <a16:creationId xmlns:a16="http://schemas.microsoft.com/office/drawing/2014/main" id="{572AF9ED-E0A4-914D-D908-530F6C4AE804}"/>
              </a:ext>
            </a:extLst>
          </p:cNvPr>
          <p:cNvPicPr>
            <a:picLocks noRot="1" noChangeAspect="1"/>
          </p:cNvPicPr>
          <p:nvPr>
            <a:videoFile r:link="rId1"/>
          </p:nvPr>
        </p:nvPicPr>
        <p:blipFill>
          <a:blip r:embed="rId3"/>
          <a:stretch>
            <a:fillRect/>
          </a:stretch>
        </p:blipFill>
        <p:spPr>
          <a:xfrm>
            <a:off x="1016000" y="558800"/>
            <a:ext cx="10160000" cy="5740400"/>
          </a:xfrm>
          <a:prstGeom prst="rect">
            <a:avLst/>
          </a:prstGeom>
        </p:spPr>
      </p:pic>
    </p:spTree>
    <p:extLst>
      <p:ext uri="{BB962C8B-B14F-4D97-AF65-F5344CB8AC3E}">
        <p14:creationId xmlns:p14="http://schemas.microsoft.com/office/powerpoint/2010/main" val="1410545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CD6C-FA41-4ABF-B0A9-C0DD32F1F627}"/>
              </a:ext>
            </a:extLst>
          </p:cNvPr>
          <p:cNvSpPr>
            <a:spLocks noGrp="1"/>
          </p:cNvSpPr>
          <p:nvPr>
            <p:ph type="title"/>
          </p:nvPr>
        </p:nvSpPr>
        <p:spPr>
          <a:xfrm>
            <a:off x="620993" y="168702"/>
            <a:ext cx="11210925" cy="744836"/>
          </a:xfrm>
        </p:spPr>
        <p:txBody>
          <a:bodyPr vert="horz" lIns="91440" tIns="45720" rIns="91440" bIns="45720" rtlCol="0" anchor="ctr">
            <a:normAutofit/>
          </a:bodyPr>
          <a:lstStyle/>
          <a:p>
            <a:pPr algn="ctr"/>
            <a:r>
              <a:rPr lang="en-US" sz="3600" dirty="0">
                <a:solidFill>
                  <a:schemeClr val="tx1">
                    <a:lumMod val="85000"/>
                    <a:lumOff val="15000"/>
                  </a:schemeClr>
                </a:solidFill>
              </a:rPr>
              <a:t>11 year solar cycle</a:t>
            </a:r>
          </a:p>
        </p:txBody>
      </p:sp>
      <p:sp>
        <p:nvSpPr>
          <p:cNvPr id="3" name="Slide Number Placeholder 2">
            <a:extLst>
              <a:ext uri="{FF2B5EF4-FFF2-40B4-BE49-F238E27FC236}">
                <a16:creationId xmlns:a16="http://schemas.microsoft.com/office/drawing/2014/main" id="{DB7C02EB-0E96-60A5-815D-14228E6B4EB8}"/>
              </a:ext>
            </a:extLst>
          </p:cNvPr>
          <p:cNvSpPr>
            <a:spLocks noGrp="1"/>
          </p:cNvSpPr>
          <p:nvPr>
            <p:ph type="sldNum" sz="quarter" idx="12"/>
          </p:nvPr>
        </p:nvSpPr>
        <p:spPr/>
        <p:txBody>
          <a:bodyPr>
            <a:normAutofit lnSpcReduction="10000"/>
          </a:bodyPr>
          <a:lstStyle/>
          <a:p>
            <a:fld id="{54701E7F-7746-4C27-B2FB-416942EB66E3}" type="slidenum">
              <a:rPr lang="en-US" smtClean="0"/>
              <a:t>33</a:t>
            </a:fld>
            <a:endParaRPr lang="en-US"/>
          </a:p>
        </p:txBody>
      </p:sp>
      <p:pic>
        <p:nvPicPr>
          <p:cNvPr id="1026" name="Picture 2" descr="Sunspot Number prediction">
            <a:extLst>
              <a:ext uri="{FF2B5EF4-FFF2-40B4-BE49-F238E27FC236}">
                <a16:creationId xmlns:a16="http://schemas.microsoft.com/office/drawing/2014/main" id="{674DC3E5-0919-8DAD-BCC0-B12DDFE30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993" y="1113905"/>
            <a:ext cx="10241277" cy="5760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83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Online Media 3" title="NASA | The Difference Between CMEs and Solar Flares">
            <a:hlinkClick r:id="" action="ppaction://media"/>
            <a:extLst>
              <a:ext uri="{FF2B5EF4-FFF2-40B4-BE49-F238E27FC236}">
                <a16:creationId xmlns:a16="http://schemas.microsoft.com/office/drawing/2014/main" id="{AF8D43C7-1D65-4685-A56E-2F1759E8B6E6}"/>
              </a:ext>
            </a:extLst>
          </p:cNvPr>
          <p:cNvPicPr>
            <a:picLocks noRot="1" noChangeAspect="1"/>
          </p:cNvPicPr>
          <p:nvPr>
            <a:videoFile r:link="rId1"/>
          </p:nvPr>
        </p:nvPicPr>
        <p:blipFill>
          <a:blip r:embed="rId3"/>
          <a:stretch>
            <a:fillRect/>
          </a:stretch>
        </p:blipFill>
        <p:spPr>
          <a:xfrm>
            <a:off x="3048" y="76100"/>
            <a:ext cx="12188952" cy="6886759"/>
          </a:xfrm>
          <a:prstGeom prst="rect">
            <a:avLst/>
          </a:prstGeom>
        </p:spPr>
      </p:pic>
      <p:sp>
        <p:nvSpPr>
          <p:cNvPr id="2" name="Title 1">
            <a:extLst>
              <a:ext uri="{FF2B5EF4-FFF2-40B4-BE49-F238E27FC236}">
                <a16:creationId xmlns:a16="http://schemas.microsoft.com/office/drawing/2014/main" id="{83A3DAD2-43C7-4876-84E0-1CB9ECCF242B}"/>
              </a:ext>
            </a:extLst>
          </p:cNvPr>
          <p:cNvSpPr>
            <a:spLocks noGrp="1"/>
          </p:cNvSpPr>
          <p:nvPr>
            <p:ph type="title"/>
          </p:nvPr>
        </p:nvSpPr>
        <p:spPr>
          <a:xfrm>
            <a:off x="209006" y="232013"/>
            <a:ext cx="12230753" cy="1621092"/>
          </a:xfrm>
          <a:noFill/>
        </p:spPr>
        <p:txBody>
          <a:bodyPr vert="horz" lIns="91440" tIns="45720" rIns="91440" bIns="45720" rtlCol="0" anchor="t">
            <a:normAutofit/>
          </a:bodyPr>
          <a:lstStyle/>
          <a:p>
            <a:r>
              <a:rPr lang="en-US" sz="4800" kern="1200" dirty="0">
                <a:solidFill>
                  <a:schemeClr val="bg1"/>
                </a:solidFill>
                <a:latin typeface="+mj-lt"/>
                <a:ea typeface="+mj-ea"/>
                <a:cs typeface="+mj-cs"/>
              </a:rPr>
              <a:t>SOLAR FLARES AND CORONAL MASS EJECTIONS</a:t>
            </a:r>
          </a:p>
        </p:txBody>
      </p:sp>
      <p:sp>
        <p:nvSpPr>
          <p:cNvPr id="3" name="Slide Number Placeholder 2">
            <a:extLst>
              <a:ext uri="{FF2B5EF4-FFF2-40B4-BE49-F238E27FC236}">
                <a16:creationId xmlns:a16="http://schemas.microsoft.com/office/drawing/2014/main" id="{B599904D-B0A1-DCD0-F22D-5E2BD1641BF6}"/>
              </a:ext>
            </a:extLst>
          </p:cNvPr>
          <p:cNvSpPr>
            <a:spLocks noGrp="1"/>
          </p:cNvSpPr>
          <p:nvPr>
            <p:ph type="sldNum" sz="quarter" idx="12"/>
          </p:nvPr>
        </p:nvSpPr>
        <p:spPr/>
        <p:txBody>
          <a:bodyPr>
            <a:normAutofit lnSpcReduction="10000"/>
          </a:bodyPr>
          <a:lstStyle/>
          <a:p>
            <a:fld id="{54701E7F-7746-4C27-B2FB-416942EB66E3}" type="slidenum">
              <a:rPr lang="en-US" smtClean="0"/>
              <a:t>34</a:t>
            </a:fld>
            <a:endParaRPr lang="en-US"/>
          </a:p>
        </p:txBody>
      </p:sp>
    </p:spTree>
    <p:extLst>
      <p:ext uri="{BB962C8B-B14F-4D97-AF65-F5344CB8AC3E}">
        <p14:creationId xmlns:p14="http://schemas.microsoft.com/office/powerpoint/2010/main" val="377663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83892-688A-4A92-9D21-DE2E3B3735F1}"/>
              </a:ext>
            </a:extLst>
          </p:cNvPr>
          <p:cNvSpPr>
            <a:spLocks noGrp="1"/>
          </p:cNvSpPr>
          <p:nvPr>
            <p:ph type="title"/>
          </p:nvPr>
        </p:nvSpPr>
        <p:spPr>
          <a:xfrm>
            <a:off x="655320" y="-306504"/>
            <a:ext cx="11335511" cy="1325563"/>
          </a:xfrm>
        </p:spPr>
        <p:txBody>
          <a:bodyPr>
            <a:normAutofit/>
          </a:bodyPr>
          <a:lstStyle/>
          <a:p>
            <a:r>
              <a:rPr lang="en-US" dirty="0"/>
              <a:t>SOLAR FLARES – SPEED OF LIGHT</a:t>
            </a:r>
          </a:p>
        </p:txBody>
      </p:sp>
      <p:pic>
        <p:nvPicPr>
          <p:cNvPr id="7" name="Picture 6" descr="A picture containing outdoor object, star, blurry&#10;&#10;Description automatically generated">
            <a:extLst>
              <a:ext uri="{FF2B5EF4-FFF2-40B4-BE49-F238E27FC236}">
                <a16:creationId xmlns:a16="http://schemas.microsoft.com/office/drawing/2014/main" id="{9D1C285C-CCA7-4851-8364-142D84C54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78595"/>
            <a:ext cx="8669017" cy="5128151"/>
          </a:xfrm>
          <a:prstGeom prst="rect">
            <a:avLst/>
          </a:prstGeom>
        </p:spPr>
      </p:pic>
      <p:pic>
        <p:nvPicPr>
          <p:cNvPr id="9" name="Picture 8">
            <a:extLst>
              <a:ext uri="{FF2B5EF4-FFF2-40B4-BE49-F238E27FC236}">
                <a16:creationId xmlns:a16="http://schemas.microsoft.com/office/drawing/2014/main" id="{53D67C9C-8F5B-4BDE-A511-83FEA7F59843}"/>
              </a:ext>
            </a:extLst>
          </p:cNvPr>
          <p:cNvPicPr>
            <a:picLocks noChangeAspect="1"/>
          </p:cNvPicPr>
          <p:nvPr/>
        </p:nvPicPr>
        <p:blipFill>
          <a:blip r:embed="rId3"/>
          <a:stretch>
            <a:fillRect/>
          </a:stretch>
        </p:blipFill>
        <p:spPr>
          <a:xfrm>
            <a:off x="7342240" y="1080701"/>
            <a:ext cx="4849760" cy="2661969"/>
          </a:xfrm>
          <a:prstGeom prst="rect">
            <a:avLst/>
          </a:prstGeom>
        </p:spPr>
      </p:pic>
      <p:pic>
        <p:nvPicPr>
          <p:cNvPr id="11" name="Picture 10">
            <a:extLst>
              <a:ext uri="{FF2B5EF4-FFF2-40B4-BE49-F238E27FC236}">
                <a16:creationId xmlns:a16="http://schemas.microsoft.com/office/drawing/2014/main" id="{14CFF02B-BBBB-4223-9047-933E8500E45A}"/>
              </a:ext>
            </a:extLst>
          </p:cNvPr>
          <p:cNvPicPr>
            <a:picLocks noChangeAspect="1"/>
          </p:cNvPicPr>
          <p:nvPr/>
        </p:nvPicPr>
        <p:blipFill>
          <a:blip r:embed="rId4"/>
          <a:stretch>
            <a:fillRect/>
          </a:stretch>
        </p:blipFill>
        <p:spPr>
          <a:xfrm>
            <a:off x="7342239" y="3742670"/>
            <a:ext cx="4849761" cy="1492719"/>
          </a:xfrm>
          <a:prstGeom prst="rect">
            <a:avLst/>
          </a:prstGeom>
        </p:spPr>
      </p:pic>
      <p:sp>
        <p:nvSpPr>
          <p:cNvPr id="3" name="Slide Number Placeholder 2">
            <a:extLst>
              <a:ext uri="{FF2B5EF4-FFF2-40B4-BE49-F238E27FC236}">
                <a16:creationId xmlns:a16="http://schemas.microsoft.com/office/drawing/2014/main" id="{2519CC40-0C5A-A4CC-12E4-BF0D714F9FC6}"/>
              </a:ext>
            </a:extLst>
          </p:cNvPr>
          <p:cNvSpPr>
            <a:spLocks noGrp="1"/>
          </p:cNvSpPr>
          <p:nvPr>
            <p:ph type="sldNum" sz="quarter" idx="12"/>
          </p:nvPr>
        </p:nvSpPr>
        <p:spPr/>
        <p:txBody>
          <a:bodyPr>
            <a:normAutofit lnSpcReduction="10000"/>
          </a:bodyPr>
          <a:lstStyle/>
          <a:p>
            <a:fld id="{54701E7F-7746-4C27-B2FB-416942EB66E3}" type="slidenum">
              <a:rPr lang="en-US" smtClean="0"/>
              <a:t>35</a:t>
            </a:fld>
            <a:endParaRPr lang="en-US"/>
          </a:p>
        </p:txBody>
      </p:sp>
    </p:spTree>
    <p:extLst>
      <p:ext uri="{BB962C8B-B14F-4D97-AF65-F5344CB8AC3E}">
        <p14:creationId xmlns:p14="http://schemas.microsoft.com/office/powerpoint/2010/main" val="4021116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7253-8D6E-4E3A-B208-7592D9A7AADD}"/>
              </a:ext>
            </a:extLst>
          </p:cNvPr>
          <p:cNvSpPr>
            <a:spLocks noGrp="1"/>
          </p:cNvSpPr>
          <p:nvPr>
            <p:ph type="title"/>
          </p:nvPr>
        </p:nvSpPr>
        <p:spPr>
          <a:xfrm>
            <a:off x="6420464" y="539087"/>
            <a:ext cx="4534047" cy="1584895"/>
          </a:xfrm>
        </p:spPr>
        <p:txBody>
          <a:bodyPr>
            <a:normAutofit/>
          </a:bodyPr>
          <a:lstStyle/>
          <a:p>
            <a:r>
              <a:rPr lang="en-US" dirty="0"/>
              <a:t>SUMMARY</a:t>
            </a:r>
            <a:endParaRPr lang="en-US"/>
          </a:p>
        </p:txBody>
      </p:sp>
      <p:pic>
        <p:nvPicPr>
          <p:cNvPr id="1026" name="Picture 2" descr="See the source image">
            <a:extLst>
              <a:ext uri="{FF2B5EF4-FFF2-40B4-BE49-F238E27FC236}">
                <a16:creationId xmlns:a16="http://schemas.microsoft.com/office/drawing/2014/main" id="{C21C9AF5-3093-8228-DB9B-81BD948753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099" r="31574"/>
          <a:stretch/>
        </p:blipFill>
        <p:spPr bwMode="auto">
          <a:xfrm>
            <a:off x="20" y="10"/>
            <a:ext cx="6094799"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763D869-609F-5613-A98B-7653D8EDD14C}"/>
              </a:ext>
            </a:extLst>
          </p:cNvPr>
          <p:cNvSpPr>
            <a:spLocks noGrp="1"/>
          </p:cNvSpPr>
          <p:nvPr>
            <p:ph idx="1"/>
          </p:nvPr>
        </p:nvSpPr>
        <p:spPr>
          <a:xfrm>
            <a:off x="6420463" y="2438399"/>
            <a:ext cx="4572002" cy="3880514"/>
          </a:xfrm>
        </p:spPr>
        <p:txBody>
          <a:bodyPr>
            <a:normAutofit/>
          </a:bodyPr>
          <a:lstStyle/>
          <a:p>
            <a:r>
              <a:rPr lang="en-US" dirty="0"/>
              <a:t>INTRODUCTION TO COURSE</a:t>
            </a:r>
          </a:p>
          <a:p>
            <a:r>
              <a:rPr lang="en-US" dirty="0"/>
              <a:t>SPACE ENVIRONMENT</a:t>
            </a:r>
          </a:p>
          <a:p>
            <a:r>
              <a:rPr lang="en-US" dirty="0"/>
              <a:t>EARTH-SUN INTERACTIONS</a:t>
            </a:r>
          </a:p>
          <a:p>
            <a:r>
              <a:rPr lang="en-US" dirty="0"/>
              <a:t>NEXT:  VACUUM ENVIRONMENT</a:t>
            </a:r>
          </a:p>
          <a:p>
            <a:r>
              <a:rPr lang="en-US" dirty="0"/>
              <a:t>HOMEWORK 1 DUE</a:t>
            </a:r>
          </a:p>
          <a:p>
            <a:r>
              <a:rPr lang="en-US"/>
              <a:t>INTROPROJECT &amp; MILESTONE </a:t>
            </a:r>
            <a:r>
              <a:rPr lang="en-US" dirty="0"/>
              <a:t>1</a:t>
            </a:r>
          </a:p>
        </p:txBody>
      </p:sp>
      <p:sp>
        <p:nvSpPr>
          <p:cNvPr id="4" name="Slide Number Placeholder 3">
            <a:extLst>
              <a:ext uri="{FF2B5EF4-FFF2-40B4-BE49-F238E27FC236}">
                <a16:creationId xmlns:a16="http://schemas.microsoft.com/office/drawing/2014/main" id="{9922906D-A09E-00F2-8F29-5952C9018255}"/>
              </a:ext>
            </a:extLst>
          </p:cNvPr>
          <p:cNvSpPr>
            <a:spLocks noGrp="1"/>
          </p:cNvSpPr>
          <p:nvPr>
            <p:ph type="sldNum" sz="quarter" idx="12"/>
          </p:nvPr>
        </p:nvSpPr>
        <p:spPr>
          <a:xfrm>
            <a:off x="11292840" y="6172200"/>
            <a:ext cx="914400" cy="593725"/>
          </a:xfrm>
        </p:spPr>
        <p:txBody>
          <a:bodyPr>
            <a:normAutofit/>
          </a:bodyPr>
          <a:lstStyle/>
          <a:p>
            <a:pPr>
              <a:lnSpc>
                <a:spcPct val="90000"/>
              </a:lnSpc>
              <a:spcAft>
                <a:spcPts val="600"/>
              </a:spcAft>
            </a:pPr>
            <a:fld id="{54701E7F-7746-4C27-B2FB-416942EB66E3}" type="slidenum">
              <a:rPr lang="en-US" smtClean="0"/>
              <a:pPr>
                <a:lnSpc>
                  <a:spcPct val="90000"/>
                </a:lnSpc>
                <a:spcAft>
                  <a:spcPts val="600"/>
                </a:spcAft>
              </a:pPr>
              <a:t>36</a:t>
            </a:fld>
            <a:endParaRPr lang="en-US"/>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70F270CC-7A5B-AAFE-DF14-B00BA823C672}"/>
                  </a:ext>
                </a:extLst>
              </p14:cNvPr>
              <p14:cNvContentPartPr/>
              <p14:nvPr/>
            </p14:nvContentPartPr>
            <p14:xfrm>
              <a:off x="11209320" y="3932280"/>
              <a:ext cx="27720" cy="25920"/>
            </p14:xfrm>
          </p:contentPart>
        </mc:Choice>
        <mc:Fallback xmlns="">
          <p:pic>
            <p:nvPicPr>
              <p:cNvPr id="5" name="Ink 4">
                <a:extLst>
                  <a:ext uri="{FF2B5EF4-FFF2-40B4-BE49-F238E27FC236}">
                    <a16:creationId xmlns:a16="http://schemas.microsoft.com/office/drawing/2014/main" id="{70F270CC-7A5B-AAFE-DF14-B00BA823C672}"/>
                  </a:ext>
                </a:extLst>
              </p:cNvPr>
              <p:cNvPicPr/>
              <p:nvPr/>
            </p:nvPicPr>
            <p:blipFill>
              <a:blip r:embed="rId4"/>
              <a:stretch>
                <a:fillRect/>
              </a:stretch>
            </p:blipFill>
            <p:spPr>
              <a:xfrm>
                <a:off x="11199960" y="3922920"/>
                <a:ext cx="46440" cy="44640"/>
              </a:xfrm>
              <a:prstGeom prst="rect">
                <a:avLst/>
              </a:prstGeom>
            </p:spPr>
          </p:pic>
        </mc:Fallback>
      </mc:AlternateContent>
    </p:spTree>
    <p:extLst>
      <p:ext uri="{BB962C8B-B14F-4D97-AF65-F5344CB8AC3E}">
        <p14:creationId xmlns:p14="http://schemas.microsoft.com/office/powerpoint/2010/main" val="3038748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5EE651-728C-B4A0-BDB8-16E912173C77}"/>
              </a:ext>
            </a:extLst>
          </p:cNvPr>
          <p:cNvSpPr>
            <a:spLocks noGrp="1"/>
          </p:cNvSpPr>
          <p:nvPr>
            <p:ph type="sldNum" sz="quarter" idx="12"/>
          </p:nvPr>
        </p:nvSpPr>
        <p:spPr/>
        <p:txBody>
          <a:bodyPr>
            <a:normAutofit lnSpcReduction="10000"/>
          </a:bodyPr>
          <a:lstStyle/>
          <a:p>
            <a:fld id="{54701E7F-7746-4C27-B2FB-416942EB66E3}" type="slidenum">
              <a:rPr lang="en-US" smtClean="0"/>
              <a:t>37</a:t>
            </a:fld>
            <a:endParaRPr lang="en-US"/>
          </a:p>
        </p:txBody>
      </p:sp>
    </p:spTree>
    <p:extLst>
      <p:ext uri="{BB962C8B-B14F-4D97-AF65-F5344CB8AC3E}">
        <p14:creationId xmlns:p14="http://schemas.microsoft.com/office/powerpoint/2010/main" val="39818956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5069-8773-4860-82AD-E16AAFA3D94D}"/>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5A178DFF-6556-43FB-B645-720F143A011B}"/>
              </a:ext>
            </a:extLst>
          </p:cNvPr>
          <p:cNvSpPr>
            <a:spLocks noGrp="1"/>
          </p:cNvSpPr>
          <p:nvPr>
            <p:ph idx="1"/>
          </p:nvPr>
        </p:nvSpPr>
        <p:spPr/>
        <p:txBody>
          <a:bodyPr>
            <a:normAutofit fontScale="40000" lnSpcReduction="20000"/>
          </a:bodyPr>
          <a:lstStyle/>
          <a:p>
            <a:r>
              <a:rPr lang="en-US" dirty="0">
                <a:effectLst/>
              </a:rPr>
              <a:t>Dunbar, B. (November 7, 2007). </a:t>
            </a:r>
            <a:r>
              <a:rPr lang="en-US" i="1" dirty="0">
                <a:effectLst/>
              </a:rPr>
              <a:t>Earth's Inconstant Magnetic Field</a:t>
            </a:r>
            <a:r>
              <a:rPr lang="en-US" dirty="0">
                <a:effectLst/>
              </a:rPr>
              <a:t>. NASA. </a:t>
            </a:r>
            <a:r>
              <a:rPr lang="en-US">
                <a:effectLst/>
                <a:hlinkClick r:id="rId2"/>
              </a:rPr>
              <a:t>https://www.nasa.gov/vision/earth/lookingatearth/29dec_magneticfield.html</a:t>
            </a:r>
            <a:r>
              <a:rPr lang="en-US">
                <a:effectLst/>
              </a:rPr>
              <a:t>.</a:t>
            </a:r>
          </a:p>
          <a:p>
            <a:r>
              <a:rPr lang="en-US">
                <a:effectLst/>
              </a:rPr>
              <a:t>Green </a:t>
            </a:r>
            <a:r>
              <a:rPr lang="en-US" dirty="0">
                <a:effectLst/>
              </a:rPr>
              <a:t>Sarawak. (2014). </a:t>
            </a:r>
            <a:r>
              <a:rPr lang="en-US" i="1" dirty="0">
                <a:effectLst/>
              </a:rPr>
              <a:t>Going Solar Chapter 2: Know your Earth</a:t>
            </a:r>
            <a:r>
              <a:rPr lang="en-US" dirty="0">
                <a:effectLst/>
              </a:rPr>
              <a:t>. Green Sarawak. </a:t>
            </a:r>
            <a:r>
              <a:rPr lang="en-US" dirty="0">
                <a:effectLst/>
                <a:hlinkClick r:id="rId3"/>
              </a:rPr>
              <a:t>https://greensarawak.com/things-to-know-before-going-solar/going-solar-chapter-2-know-your-earth/</a:t>
            </a:r>
            <a:r>
              <a:rPr lang="en-US" dirty="0">
                <a:effectLst/>
              </a:rPr>
              <a:t>. </a:t>
            </a:r>
          </a:p>
          <a:p>
            <a:r>
              <a:rPr lang="en-US" dirty="0">
                <a:effectLst/>
              </a:rPr>
              <a:t>Independent Scientist (July 24, 2020). </a:t>
            </a:r>
            <a:r>
              <a:rPr lang="en-US" i="1" dirty="0">
                <a:effectLst/>
              </a:rPr>
              <a:t>North and South Pole’s Definition. </a:t>
            </a:r>
            <a:r>
              <a:rPr lang="en-US" dirty="0">
                <a:effectLst/>
                <a:hlinkClick r:id="rId4"/>
              </a:rPr>
              <a:t>https://</a:t>
            </a:r>
            <a:r>
              <a:rPr lang="en-US" dirty="0">
                <a:hlinkClick r:id="rId4"/>
              </a:rPr>
              <a:t>fatinsl.info</a:t>
            </a:r>
            <a:endParaRPr lang="en-US" dirty="0"/>
          </a:p>
          <a:p>
            <a:r>
              <a:rPr lang="en-US" dirty="0" err="1">
                <a:effectLst/>
              </a:rPr>
              <a:t>Nace</a:t>
            </a:r>
            <a:r>
              <a:rPr lang="en-US" dirty="0">
                <a:effectLst/>
              </a:rPr>
              <a:t>, T. (2019, December 17). </a:t>
            </a:r>
            <a:r>
              <a:rPr lang="en-US" i="1" dirty="0">
                <a:effectLst/>
              </a:rPr>
              <a:t>Earth's Magnetic North Pole Has Officially Moved (Toward Russia)</a:t>
            </a:r>
            <a:r>
              <a:rPr lang="en-US" dirty="0">
                <a:effectLst/>
              </a:rPr>
              <a:t>. Forbes. </a:t>
            </a:r>
            <a:r>
              <a:rPr lang="en-US" dirty="0">
                <a:effectLst/>
                <a:hlinkClick r:id="rId5"/>
              </a:rPr>
              <a:t>https://www.forbes.com/sites/trevornace/2019/12/17/earths-magnetic-north-pole-has-officially-moved-toward-russia/?sh=52473186201f</a:t>
            </a:r>
            <a:r>
              <a:rPr lang="en-US" dirty="0">
                <a:effectLst/>
              </a:rPr>
              <a:t>. </a:t>
            </a:r>
          </a:p>
          <a:p>
            <a:r>
              <a:rPr lang="en-US" dirty="0">
                <a:effectLst/>
              </a:rPr>
              <a:t>NASA. (August 18, 2002)  </a:t>
            </a:r>
            <a:r>
              <a:rPr lang="en-US" i="1" dirty="0">
                <a:effectLst/>
              </a:rPr>
              <a:t>APOD: 2002 August 18 - Earth's North Magnetic Pole</a:t>
            </a:r>
            <a:r>
              <a:rPr lang="en-US" dirty="0">
                <a:effectLst/>
              </a:rPr>
              <a:t>. NASA. </a:t>
            </a:r>
            <a:r>
              <a:rPr lang="en-US" dirty="0">
                <a:effectLst/>
                <a:hlinkClick r:id="rId6"/>
              </a:rPr>
              <a:t>https://apod.nasa.gov/apod/ap020818.html</a:t>
            </a:r>
            <a:r>
              <a:rPr lang="en-US" dirty="0">
                <a:effectLst/>
              </a:rPr>
              <a:t>. </a:t>
            </a:r>
          </a:p>
          <a:p>
            <a:r>
              <a:rPr lang="en-US" dirty="0">
                <a:effectLst/>
              </a:rPr>
              <a:t>Nasa. (2017, July 31). </a:t>
            </a:r>
            <a:r>
              <a:rPr lang="en-US" i="1" dirty="0">
                <a:effectLst/>
              </a:rPr>
              <a:t>Solar Flare GIF - Nasa </a:t>
            </a:r>
            <a:r>
              <a:rPr lang="en-US" i="1" dirty="0" err="1">
                <a:effectLst/>
              </a:rPr>
              <a:t>SolarFlare</a:t>
            </a:r>
            <a:r>
              <a:rPr lang="en-US" i="1" dirty="0">
                <a:effectLst/>
              </a:rPr>
              <a:t> Sun - Discover &amp; Share GIFs</a:t>
            </a:r>
            <a:r>
              <a:rPr lang="en-US" dirty="0">
                <a:effectLst/>
              </a:rPr>
              <a:t>. Tenor. https://tenor.com/view/nasa-solar-flare-sun-flare-solar-gif-9361902. </a:t>
            </a:r>
          </a:p>
          <a:p>
            <a:r>
              <a:rPr lang="en-US" dirty="0">
                <a:effectLst/>
              </a:rPr>
              <a:t>NASA. (2020, September 10). </a:t>
            </a:r>
            <a:r>
              <a:rPr lang="en-US" i="1" dirty="0">
                <a:effectLst/>
              </a:rPr>
              <a:t>What Is the Solar Cycle?</a:t>
            </a:r>
            <a:r>
              <a:rPr lang="en-US" dirty="0">
                <a:effectLst/>
              </a:rPr>
              <a:t> NASA. </a:t>
            </a:r>
            <a:r>
              <a:rPr lang="en-US" dirty="0">
                <a:effectLst/>
                <a:hlinkClick r:id="rId7"/>
              </a:rPr>
              <a:t>https://spaceplace.nasa.gov/solar-cycles/en/</a:t>
            </a:r>
            <a:r>
              <a:rPr lang="en-US" dirty="0">
                <a:effectLst/>
              </a:rPr>
              <a:t>. </a:t>
            </a:r>
          </a:p>
          <a:p>
            <a:r>
              <a:rPr lang="en-US" dirty="0"/>
              <a:t>NOAA</a:t>
            </a:r>
            <a:r>
              <a:rPr lang="en-US" i="1" dirty="0"/>
              <a:t>.</a:t>
            </a:r>
            <a:r>
              <a:rPr lang="en-US" dirty="0"/>
              <a:t> (2021). </a:t>
            </a:r>
            <a:r>
              <a:rPr lang="en-US" i="1" dirty="0">
                <a:effectLst/>
              </a:rPr>
              <a:t>Geomagnetic Storms</a:t>
            </a:r>
            <a:r>
              <a:rPr lang="en-US" dirty="0">
                <a:effectLst/>
              </a:rPr>
              <a:t>. Geomagnetic Storms | NOAA / NWS Space Weather Prediction Center. </a:t>
            </a:r>
            <a:r>
              <a:rPr lang="en-US" dirty="0">
                <a:effectLst/>
                <a:hlinkClick r:id="rId8"/>
              </a:rPr>
              <a:t>https://www.swpc.noaa.gov/phenomena/geomagnetic-storms#:~:text=A%20geomagnetic%20storm%20is%20a%20major%20disturbance%20of,the%20currents%2C%20plasmas%2C%20and%20fields%20in%20Earth%E2%80%99s%20magnetosphere</a:t>
            </a:r>
            <a:r>
              <a:rPr lang="en-US" dirty="0">
                <a:effectLst/>
              </a:rPr>
              <a:t>.</a:t>
            </a:r>
          </a:p>
          <a:p>
            <a:r>
              <a:rPr lang="en-US" dirty="0">
                <a:effectLst/>
              </a:rPr>
              <a:t>NOAA</a:t>
            </a:r>
            <a:r>
              <a:rPr lang="en-US" i="1" dirty="0">
                <a:effectLst/>
              </a:rPr>
              <a:t> </a:t>
            </a:r>
            <a:r>
              <a:rPr lang="en-US" dirty="0">
                <a:effectLst/>
              </a:rPr>
              <a:t>(2021)</a:t>
            </a:r>
            <a:r>
              <a:rPr lang="en-US" i="1" dirty="0">
                <a:effectLst/>
              </a:rPr>
              <a:t>. Space Weather Scales</a:t>
            </a:r>
            <a:r>
              <a:rPr lang="en-US" dirty="0">
                <a:effectLst/>
              </a:rPr>
              <a:t>. NOAA Space Weather Scales | NOAA / NWS Space Weather Prediction Center. https://www.swpc.noaa.gov/noaa-scales-explanation. </a:t>
            </a:r>
          </a:p>
          <a:p>
            <a:r>
              <a:rPr lang="en-US" dirty="0">
                <a:effectLst/>
              </a:rPr>
              <a:t>Tyler, A., Tania, </a:t>
            </a:r>
            <a:r>
              <a:rPr lang="en-US" dirty="0" err="1">
                <a:effectLst/>
              </a:rPr>
              <a:t>Skellern</a:t>
            </a:r>
            <a:r>
              <a:rPr lang="en-US" dirty="0">
                <a:effectLst/>
              </a:rPr>
              <a:t>, I., &amp; Jessica. (n.d.). </a:t>
            </a:r>
            <a:r>
              <a:rPr lang="en-US" i="1" dirty="0">
                <a:effectLst/>
              </a:rPr>
              <a:t>Home</a:t>
            </a:r>
            <a:r>
              <a:rPr lang="en-US" dirty="0">
                <a:effectLst/>
              </a:rPr>
              <a:t>. Quill &amp; Pad. </a:t>
            </a:r>
            <a:r>
              <a:rPr lang="en-US" dirty="0">
                <a:effectLst/>
                <a:hlinkClick r:id="rId9"/>
              </a:rPr>
              <a:t>https://quillandpad.com/2016/03/01/the-how-what-when-where-and-why-of-seeing-the-aurora-borealis-aka-northern-lights/</a:t>
            </a:r>
            <a:r>
              <a:rPr lang="en-US" dirty="0">
                <a:effectLst/>
              </a:rPr>
              <a:t>.</a:t>
            </a:r>
          </a:p>
          <a:p>
            <a:r>
              <a:rPr lang="en-US" dirty="0">
                <a:effectLst/>
              </a:rPr>
              <a:t>US Department of Commerce, N. O. A. A. (2015, July 7). </a:t>
            </a:r>
            <a:r>
              <a:rPr lang="en-US" i="1" dirty="0">
                <a:effectLst/>
              </a:rPr>
              <a:t>Imagery at a Glance</a:t>
            </a:r>
            <a:r>
              <a:rPr lang="en-US" dirty="0">
                <a:effectLst/>
              </a:rPr>
              <a:t>. NOAA GOES Geostationary Satellite Server. </a:t>
            </a:r>
            <a:r>
              <a:rPr lang="en-US" dirty="0">
                <a:effectLst/>
                <a:hlinkClick r:id="rId10"/>
              </a:rPr>
              <a:t>https://www.goes.noaa.gov/</a:t>
            </a:r>
            <a:r>
              <a:rPr lang="en-US" dirty="0">
                <a:effectLst/>
              </a:rPr>
              <a:t>. </a:t>
            </a:r>
          </a:p>
          <a:p>
            <a:r>
              <a:rPr lang="en-US" dirty="0">
                <a:effectLst/>
              </a:rPr>
              <a:t>World Data Cente</a:t>
            </a:r>
            <a:r>
              <a:rPr lang="en-US" dirty="0"/>
              <a:t>r for Geomagnetism.  </a:t>
            </a:r>
            <a:r>
              <a:rPr lang="en-US" dirty="0">
                <a:effectLst/>
              </a:rPr>
              <a:t>Shift of the North Magnetic Pole. (n.d.). </a:t>
            </a:r>
            <a:r>
              <a:rPr lang="en-US" dirty="0">
                <a:effectLst/>
                <a:hlinkClick r:id="rId11"/>
              </a:rPr>
              <a:t>https://www.mapmania.org/map/105279/shift_of_the_north_magnetic_pole</a:t>
            </a:r>
            <a:r>
              <a:rPr lang="en-US" dirty="0">
                <a:effectLst/>
              </a:rPr>
              <a:t>. </a:t>
            </a:r>
          </a:p>
          <a:p>
            <a:r>
              <a:rPr lang="en-US" dirty="0">
                <a:effectLst/>
              </a:rPr>
              <a:t>YouTube. (2014). </a:t>
            </a:r>
            <a:r>
              <a:rPr lang="en-US" i="1" dirty="0">
                <a:effectLst/>
              </a:rPr>
              <a:t>Nasa | The Difference Between CMEs and Solar Flares</a:t>
            </a:r>
            <a:r>
              <a:rPr lang="en-US" dirty="0">
                <a:effectLst/>
              </a:rPr>
              <a:t>. </a:t>
            </a:r>
            <a:r>
              <a:rPr lang="en-US" i="1" dirty="0">
                <a:effectLst/>
              </a:rPr>
              <a:t>YouTube</a:t>
            </a:r>
            <a:r>
              <a:rPr lang="en-US" dirty="0">
                <a:effectLst/>
              </a:rPr>
              <a:t>. </a:t>
            </a:r>
            <a:r>
              <a:rPr lang="en-US" dirty="0">
                <a:effectLst/>
                <a:hlinkClick r:id="rId12"/>
              </a:rPr>
              <a:t>https://www.youtube.com/watch?v=TWjtYSRlOUI</a:t>
            </a:r>
            <a:r>
              <a:rPr lang="en-US" dirty="0">
                <a:effectLst/>
              </a:rPr>
              <a:t>. </a:t>
            </a:r>
          </a:p>
          <a:p>
            <a:pPr marL="0" indent="0">
              <a:buNone/>
            </a:pPr>
            <a:endParaRPr lang="en-US" dirty="0">
              <a:effectLst/>
            </a:endParaRPr>
          </a:p>
          <a:p>
            <a:endParaRPr lang="en-US" dirty="0">
              <a:effectLst/>
            </a:endParaRPr>
          </a:p>
          <a:p>
            <a:endParaRPr lang="en-US" dirty="0">
              <a:effectLst/>
            </a:endParaRPr>
          </a:p>
          <a:p>
            <a:endParaRPr lang="en-US" b="1" dirty="0"/>
          </a:p>
        </p:txBody>
      </p:sp>
      <p:sp>
        <p:nvSpPr>
          <p:cNvPr id="4" name="Slide Number Placeholder 3">
            <a:extLst>
              <a:ext uri="{FF2B5EF4-FFF2-40B4-BE49-F238E27FC236}">
                <a16:creationId xmlns:a16="http://schemas.microsoft.com/office/drawing/2014/main" id="{9DB792B1-DFD3-540A-95F8-A116F836D3DB}"/>
              </a:ext>
            </a:extLst>
          </p:cNvPr>
          <p:cNvSpPr>
            <a:spLocks noGrp="1"/>
          </p:cNvSpPr>
          <p:nvPr>
            <p:ph type="sldNum" sz="quarter" idx="12"/>
          </p:nvPr>
        </p:nvSpPr>
        <p:spPr/>
        <p:txBody>
          <a:bodyPr>
            <a:normAutofit lnSpcReduction="10000"/>
          </a:bodyPr>
          <a:lstStyle/>
          <a:p>
            <a:fld id="{54701E7F-7746-4C27-B2FB-416942EB66E3}" type="slidenum">
              <a:rPr lang="en-US" smtClean="0"/>
              <a:t>38</a:t>
            </a:fld>
            <a:endParaRPr lang="en-US"/>
          </a:p>
        </p:txBody>
      </p:sp>
    </p:spTree>
    <p:extLst>
      <p:ext uri="{BB962C8B-B14F-4D97-AF65-F5344CB8AC3E}">
        <p14:creationId xmlns:p14="http://schemas.microsoft.com/office/powerpoint/2010/main" val="130115289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753</TotalTime>
  <Words>1851</Words>
  <Application>Microsoft Office PowerPoint</Application>
  <PresentationFormat>Widescreen</PresentationFormat>
  <Paragraphs>314</Paragraphs>
  <Slides>38</Slides>
  <Notes>11</Notes>
  <HiddenSlides>1</HiddenSlides>
  <MMClips>2</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7" baseType="lpstr">
      <vt:lpstr>Arial</vt:lpstr>
      <vt:lpstr>Calibri</vt:lpstr>
      <vt:lpstr>Cambria Math</vt:lpstr>
      <vt:lpstr>Century Schoolbook</vt:lpstr>
      <vt:lpstr>Symbol</vt:lpstr>
      <vt:lpstr>Wingdings</vt:lpstr>
      <vt:lpstr>Wingdings 2</vt:lpstr>
      <vt:lpstr>View</vt:lpstr>
      <vt:lpstr>Bitmap Image</vt:lpstr>
      <vt:lpstr>PowerPoint Presentation</vt:lpstr>
      <vt:lpstr>20 – 25% of all spacecraft failures are related to interactions with the space environment</vt:lpstr>
      <vt:lpstr>PowerPoint Presentation</vt:lpstr>
      <vt:lpstr> </vt:lpstr>
      <vt:lpstr> </vt:lpstr>
      <vt:lpstr> </vt:lpstr>
      <vt:lpstr> </vt:lpstr>
      <vt:lpstr> ISAAC NEWTON</vt:lpstr>
      <vt:lpstr>Isaac Newton</vt:lpstr>
      <vt:lpstr>Newton’s 2nd Law (cont)</vt:lpstr>
      <vt:lpstr>Newton’s 3rd Law </vt:lpstr>
      <vt:lpstr>Newton’s Universal Law of Gravitation</vt:lpstr>
      <vt:lpstr>Newton’s Universal Law of Gravitation</vt:lpstr>
      <vt:lpstr>Newton’s Universal Law of Gravitation</vt:lpstr>
      <vt:lpstr>2 BODY  EQUATION OF MOTION (EOM)</vt:lpstr>
      <vt:lpstr> SOLUTION TO 2 BODY EOM</vt:lpstr>
      <vt:lpstr> SOLUTION TO 2 BODY EOM</vt:lpstr>
      <vt:lpstr>Energy Considerations</vt:lpstr>
      <vt:lpstr>Energy Considerations</vt:lpstr>
      <vt:lpstr>PowerPoint Presentation</vt:lpstr>
      <vt:lpstr>Possible Launch Sites</vt:lpstr>
      <vt:lpstr>Orbit Inclinations and Launch Azimuths  Available from the Eastern and Western Ranges</vt:lpstr>
      <vt:lpstr>Orbit Inclinations and Launch Azimuths  Available from Wallops</vt:lpstr>
      <vt:lpstr>PowerPoint Presentation</vt:lpstr>
      <vt:lpstr>EARTH’S MAGNETIC FIELD TERMINOLOGY</vt:lpstr>
      <vt:lpstr>GEOMAGNETIC DYNAMO EFFECT</vt:lpstr>
      <vt:lpstr>EARTH’S MAGNETIC POLES SHIFT</vt:lpstr>
      <vt:lpstr>PowerPoint Presentation</vt:lpstr>
      <vt:lpstr>EARTH-SUN INTERACTIONS</vt:lpstr>
      <vt:lpstr>PowerPoint Presentation</vt:lpstr>
      <vt:lpstr>SOLAR ENERGY - IRRADIANCE</vt:lpstr>
      <vt:lpstr>PowerPoint Presentation</vt:lpstr>
      <vt:lpstr>11 year solar cycle</vt:lpstr>
      <vt:lpstr>SOLAR FLARES AND CORONAL MASS EJECTIONS</vt:lpstr>
      <vt:lpstr>SOLAR FLARES – SPEED OF LIGHT</vt:lpstr>
      <vt:lpstr>SUMMARY</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Lynnane George</dc:creator>
  <cp:lastModifiedBy>Lynnane George</cp:lastModifiedBy>
  <cp:revision>8</cp:revision>
  <dcterms:created xsi:type="dcterms:W3CDTF">2021-05-20T00:27:44Z</dcterms:created>
  <dcterms:modified xsi:type="dcterms:W3CDTF">2026-06-13T16:44:07Z</dcterms:modified>
</cp:coreProperties>
</file>