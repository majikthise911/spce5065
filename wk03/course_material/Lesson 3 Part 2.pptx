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4"/>
  </p:notesMasterIdLst>
  <p:sldIdLst>
    <p:sldId id="256" r:id="rId2"/>
    <p:sldId id="280" r:id="rId3"/>
    <p:sldId id="257" r:id="rId4"/>
    <p:sldId id="291" r:id="rId5"/>
    <p:sldId id="260" r:id="rId6"/>
    <p:sldId id="261" r:id="rId7"/>
    <p:sldId id="274" r:id="rId8"/>
    <p:sldId id="275" r:id="rId9"/>
    <p:sldId id="276" r:id="rId10"/>
    <p:sldId id="292" r:id="rId11"/>
    <p:sldId id="277" r:id="rId12"/>
    <p:sldId id="264" r:id="rId13"/>
    <p:sldId id="281" r:id="rId14"/>
    <p:sldId id="267" r:id="rId15"/>
    <p:sldId id="293" r:id="rId16"/>
    <p:sldId id="282" r:id="rId17"/>
    <p:sldId id="268" r:id="rId18"/>
    <p:sldId id="284" r:id="rId19"/>
    <p:sldId id="287" r:id="rId20"/>
    <p:sldId id="294" r:id="rId21"/>
    <p:sldId id="295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0703D-5854-41F6-AC71-33FBBEFB49F4}" v="4" dt="2026-06-29T18:27:37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undo custSel addSld delSld modSld">
      <pc:chgData name="Lynnane George" userId="065056628ae16e64" providerId="LiveId" clId="{1E9AE552-6B83-46CE-A2DC-1FB506DB1638}" dt="2026-06-29T18:47:32.328" v="245" actId="122"/>
      <pc:docMkLst>
        <pc:docMk/>
      </pc:docMkLst>
      <pc:sldChg chg="addSp delSp modSp mod">
        <pc:chgData name="Lynnane George" userId="065056628ae16e64" providerId="LiveId" clId="{1E9AE552-6B83-46CE-A2DC-1FB506DB1638}" dt="2026-06-29T13:17:40.001" v="24" actId="207"/>
        <pc:sldMkLst>
          <pc:docMk/>
          <pc:sldMk cId="2055663101" sldId="257"/>
        </pc:sldMkLst>
        <pc:spChg chg="mod">
          <ac:chgData name="Lynnane George" userId="065056628ae16e64" providerId="LiveId" clId="{1E9AE552-6B83-46CE-A2DC-1FB506DB1638}" dt="2026-06-29T13:17:40.001" v="24" actId="207"/>
          <ac:spMkLst>
            <pc:docMk/>
            <pc:sldMk cId="2055663101" sldId="257"/>
            <ac:spMk id="7" creationId="{00000000-0000-0000-0000-000000000000}"/>
          </ac:spMkLst>
        </pc:spChg>
        <pc:picChg chg="add mod">
          <ac:chgData name="Lynnane George" userId="065056628ae16e64" providerId="LiveId" clId="{1E9AE552-6B83-46CE-A2DC-1FB506DB1638}" dt="2026-06-29T13:17:04.727" v="21" actId="14100"/>
          <ac:picMkLst>
            <pc:docMk/>
            <pc:sldMk cId="2055663101" sldId="257"/>
            <ac:picMk id="3" creationId="{07EDFE10-0A99-00DF-3605-19D33DE68F5B}"/>
          </ac:picMkLst>
        </pc:picChg>
        <pc:picChg chg="del">
          <ac:chgData name="Lynnane George" userId="065056628ae16e64" providerId="LiveId" clId="{1E9AE552-6B83-46CE-A2DC-1FB506DB1638}" dt="2026-06-29T13:16:49.333" v="16" actId="478"/>
          <ac:picMkLst>
            <pc:docMk/>
            <pc:sldMk cId="2055663101" sldId="257"/>
            <ac:picMk id="5" creationId="{00000000-0000-0000-0000-000000000000}"/>
          </ac:picMkLst>
        </pc:picChg>
        <pc:picChg chg="mod">
          <ac:chgData name="Lynnane George" userId="065056628ae16e64" providerId="LiveId" clId="{1E9AE552-6B83-46CE-A2DC-1FB506DB1638}" dt="2026-06-29T13:17:25.318" v="23" actId="1076"/>
          <ac:picMkLst>
            <pc:docMk/>
            <pc:sldMk cId="2055663101" sldId="257"/>
            <ac:picMk id="6" creationId="{00000000-0000-0000-0000-000000000000}"/>
          </ac:picMkLst>
        </pc:picChg>
      </pc:sldChg>
      <pc:sldChg chg="del">
        <pc:chgData name="Lynnane George" userId="065056628ae16e64" providerId="LiveId" clId="{1E9AE552-6B83-46CE-A2DC-1FB506DB1638}" dt="2026-06-29T17:36:56.336" v="82" actId="2696"/>
        <pc:sldMkLst>
          <pc:docMk/>
          <pc:sldMk cId="522405756" sldId="262"/>
        </pc:sldMkLst>
      </pc:sldChg>
      <pc:sldChg chg="add del">
        <pc:chgData name="Lynnane George" userId="065056628ae16e64" providerId="LiveId" clId="{1E9AE552-6B83-46CE-A2DC-1FB506DB1638}" dt="2026-06-29T17:47:13.557" v="86" actId="2696"/>
        <pc:sldMkLst>
          <pc:docMk/>
          <pc:sldMk cId="1432893399" sldId="267"/>
        </pc:sldMkLst>
      </pc:sldChg>
      <pc:sldChg chg="del">
        <pc:chgData name="Lynnane George" userId="065056628ae16e64" providerId="LiveId" clId="{1E9AE552-6B83-46CE-A2DC-1FB506DB1638}" dt="2026-06-29T17:47:19.426" v="87" actId="2696"/>
        <pc:sldMkLst>
          <pc:docMk/>
          <pc:sldMk cId="900759018" sldId="270"/>
        </pc:sldMkLst>
      </pc:sldChg>
      <pc:sldChg chg="del">
        <pc:chgData name="Lynnane George" userId="065056628ae16e64" providerId="LiveId" clId="{1E9AE552-6B83-46CE-A2DC-1FB506DB1638}" dt="2026-06-29T17:37:01.944" v="83" actId="2696"/>
        <pc:sldMkLst>
          <pc:docMk/>
          <pc:sldMk cId="3312166372" sldId="271"/>
        </pc:sldMkLst>
      </pc:sldChg>
      <pc:sldChg chg="del">
        <pc:chgData name="Lynnane George" userId="065056628ae16e64" providerId="LiveId" clId="{1E9AE552-6B83-46CE-A2DC-1FB506DB1638}" dt="2026-06-29T18:20:56.164" v="127" actId="2696"/>
        <pc:sldMkLst>
          <pc:docMk/>
          <pc:sldMk cId="1196127705" sldId="272"/>
        </pc:sldMkLst>
      </pc:sldChg>
      <pc:sldChg chg="del">
        <pc:chgData name="Lynnane George" userId="065056628ae16e64" providerId="LiveId" clId="{1E9AE552-6B83-46CE-A2DC-1FB506DB1638}" dt="2026-06-29T17:37:08.653" v="84" actId="2696"/>
        <pc:sldMkLst>
          <pc:docMk/>
          <pc:sldMk cId="2125336953" sldId="273"/>
        </pc:sldMkLst>
      </pc:sldChg>
      <pc:sldChg chg="add">
        <pc:chgData name="Lynnane George" userId="065056628ae16e64" providerId="LiveId" clId="{1E9AE552-6B83-46CE-A2DC-1FB506DB1638}" dt="2026-06-29T17:49:45.439" v="89"/>
        <pc:sldMkLst>
          <pc:docMk/>
          <pc:sldMk cId="451929748" sldId="281"/>
        </pc:sldMkLst>
      </pc:sldChg>
      <pc:sldChg chg="modSp del mod">
        <pc:chgData name="Lynnane George" userId="065056628ae16e64" providerId="LiveId" clId="{1E9AE552-6B83-46CE-A2DC-1FB506DB1638}" dt="2026-06-29T17:49:40.399" v="88" actId="2696"/>
        <pc:sldMkLst>
          <pc:docMk/>
          <pc:sldMk cId="1393965648" sldId="281"/>
        </pc:sldMkLst>
        <pc:spChg chg="mod">
          <ac:chgData name="Lynnane George" userId="065056628ae16e64" providerId="LiveId" clId="{1E9AE552-6B83-46CE-A2DC-1FB506DB1638}" dt="2026-06-28T05:00:12.418" v="15" actId="122"/>
          <ac:spMkLst>
            <pc:docMk/>
            <pc:sldMk cId="1393965648" sldId="281"/>
            <ac:spMk id="2" creationId="{00000000-0000-0000-0000-000000000000}"/>
          </ac:spMkLst>
        </pc:spChg>
      </pc:sldChg>
      <pc:sldChg chg="modSp add mod">
        <pc:chgData name="Lynnane George" userId="065056628ae16e64" providerId="LiveId" clId="{1E9AE552-6B83-46CE-A2DC-1FB506DB1638}" dt="2026-06-29T18:28:04.999" v="169" actId="122"/>
        <pc:sldMkLst>
          <pc:docMk/>
          <pc:sldMk cId="665156688" sldId="287"/>
        </pc:sldMkLst>
        <pc:spChg chg="mod">
          <ac:chgData name="Lynnane George" userId="065056628ae16e64" providerId="LiveId" clId="{1E9AE552-6B83-46CE-A2DC-1FB506DB1638}" dt="2026-06-29T18:28:04.999" v="169" actId="122"/>
          <ac:spMkLst>
            <pc:docMk/>
            <pc:sldMk cId="665156688" sldId="287"/>
            <ac:spMk id="2" creationId="{00000000-0000-0000-0000-000000000000}"/>
          </ac:spMkLst>
        </pc:spChg>
      </pc:sldChg>
      <pc:sldChg chg="del">
        <pc:chgData name="Lynnane George" userId="065056628ae16e64" providerId="LiveId" clId="{1E9AE552-6B83-46CE-A2DC-1FB506DB1638}" dt="2026-06-29T18:23:40.097" v="128" actId="2696"/>
        <pc:sldMkLst>
          <pc:docMk/>
          <pc:sldMk cId="1337284263" sldId="290"/>
        </pc:sldMkLst>
      </pc:sldChg>
      <pc:sldChg chg="addSp delSp modSp new mod setBg addAnim delAnim">
        <pc:chgData name="Lynnane George" userId="065056628ae16e64" providerId="LiveId" clId="{1E9AE552-6B83-46CE-A2DC-1FB506DB1638}" dt="2026-06-29T17:32:10.364" v="81" actId="1076"/>
        <pc:sldMkLst>
          <pc:docMk/>
          <pc:sldMk cId="3048846429" sldId="292"/>
        </pc:sldMkLst>
        <pc:spChg chg="mod ord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2" creationId="{291C1FD4-58DD-94B7-E6FF-7A99A09C051F}"/>
          </ac:spMkLst>
        </pc:spChg>
        <pc:spChg chg="del">
          <ac:chgData name="Lynnane George" userId="065056628ae16e64" providerId="LiveId" clId="{1E9AE552-6B83-46CE-A2DC-1FB506DB1638}" dt="2026-06-29T17:26:20.653" v="52" actId="478"/>
          <ac:spMkLst>
            <pc:docMk/>
            <pc:sldMk cId="3048846429" sldId="292"/>
            <ac:spMk id="3" creationId="{CA57A07B-DCE4-DC61-142F-73C5B1E37115}"/>
          </ac:spMkLst>
        </pc:spChg>
        <pc:spChg chg="mod ord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4" creationId="{200BC7CF-CD5C-9BCA-64E4-3058F90AB8CB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11" creationId="{1E5E4503-CC62-4DA9-9121-0A15719984CE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13" creationId="{D8D61A1B-3C4C-4F0E-965F-15837624CF5B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15" creationId="{00E56243-9701-44E8-8A92-319433305195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17" creationId="{5B1F1915-E076-48EB-BB4A-EE9808EB40CB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19" creationId="{3D2D677F-100E-4894-8088-FEF4C257633A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21" creationId="{00893BA2-BE7F-4E83-B8FC-9F91F2C7A0F5}"/>
          </ac:spMkLst>
        </pc:spChg>
        <pc:spChg chg="add del">
          <ac:chgData name="Lynnane George" userId="065056628ae16e64" providerId="LiveId" clId="{1E9AE552-6B83-46CE-A2DC-1FB506DB1638}" dt="2026-06-29T17:27:05.964" v="66" actId="26606"/>
          <ac:spMkLst>
            <pc:docMk/>
            <pc:sldMk cId="3048846429" sldId="292"/>
            <ac:spMk id="23" creationId="{8BBB5A80-F542-486D-B054-EFE4B916A88D}"/>
          </ac:spMkLst>
        </pc:spChg>
        <pc:picChg chg="add mod">
          <ac:chgData name="Lynnane George" userId="065056628ae16e64" providerId="LiveId" clId="{1E9AE552-6B83-46CE-A2DC-1FB506DB1638}" dt="2026-06-29T17:31:25.131" v="72" actId="14100"/>
          <ac:picMkLst>
            <pc:docMk/>
            <pc:sldMk cId="3048846429" sldId="292"/>
            <ac:picMk id="5" creationId="{1604D599-F270-D785-A7BA-74939780CD85}"/>
          </ac:picMkLst>
        </pc:picChg>
        <pc:picChg chg="add mod">
          <ac:chgData name="Lynnane George" userId="065056628ae16e64" providerId="LiveId" clId="{1E9AE552-6B83-46CE-A2DC-1FB506DB1638}" dt="2026-06-29T17:32:10.364" v="81" actId="1076"/>
          <ac:picMkLst>
            <pc:docMk/>
            <pc:sldMk cId="3048846429" sldId="292"/>
            <ac:picMk id="6" creationId="{1C662143-7E0E-69B1-6747-6D3B8186A472}"/>
          </ac:picMkLst>
        </pc:picChg>
        <pc:picChg chg="add mod">
          <ac:chgData name="Lynnane George" userId="065056628ae16e64" providerId="LiveId" clId="{1E9AE552-6B83-46CE-A2DC-1FB506DB1638}" dt="2026-06-29T17:32:04.590" v="80" actId="14100"/>
          <ac:picMkLst>
            <pc:docMk/>
            <pc:sldMk cId="3048846429" sldId="292"/>
            <ac:picMk id="7" creationId="{CDC403C3-D5C8-28D1-8821-4519967834B1}"/>
          </ac:picMkLst>
        </pc:picChg>
      </pc:sldChg>
      <pc:sldChg chg="delSp modSp new mod">
        <pc:chgData name="Lynnane George" userId="065056628ae16e64" providerId="LiveId" clId="{1E9AE552-6B83-46CE-A2DC-1FB506DB1638}" dt="2026-06-29T18:20:37.597" v="126" actId="478"/>
        <pc:sldMkLst>
          <pc:docMk/>
          <pc:sldMk cId="2173174914" sldId="293"/>
        </pc:sldMkLst>
        <pc:spChg chg="mod">
          <ac:chgData name="Lynnane George" userId="065056628ae16e64" providerId="LiveId" clId="{1E9AE552-6B83-46CE-A2DC-1FB506DB1638}" dt="2026-06-29T18:10:07.142" v="125" actId="122"/>
          <ac:spMkLst>
            <pc:docMk/>
            <pc:sldMk cId="2173174914" sldId="293"/>
            <ac:spMk id="2" creationId="{32C6CDA4-BC8A-B13C-F837-A8F9A48EC3F1}"/>
          </ac:spMkLst>
        </pc:spChg>
        <pc:spChg chg="del">
          <ac:chgData name="Lynnane George" userId="065056628ae16e64" providerId="LiveId" clId="{1E9AE552-6B83-46CE-A2DC-1FB506DB1638}" dt="2026-06-29T18:20:37.597" v="126" actId="478"/>
          <ac:spMkLst>
            <pc:docMk/>
            <pc:sldMk cId="2173174914" sldId="293"/>
            <ac:spMk id="3" creationId="{F27E0CD7-F975-B35F-5942-80628D366D87}"/>
          </ac:spMkLst>
        </pc:spChg>
      </pc:sldChg>
      <pc:sldChg chg="delSp modSp new mod">
        <pc:chgData name="Lynnane George" userId="065056628ae16e64" providerId="LiveId" clId="{1E9AE552-6B83-46CE-A2DC-1FB506DB1638}" dt="2026-06-29T18:28:55.690" v="236" actId="478"/>
        <pc:sldMkLst>
          <pc:docMk/>
          <pc:sldMk cId="3788536002" sldId="294"/>
        </pc:sldMkLst>
        <pc:spChg chg="mod">
          <ac:chgData name="Lynnane George" userId="065056628ae16e64" providerId="LiveId" clId="{1E9AE552-6B83-46CE-A2DC-1FB506DB1638}" dt="2026-06-29T18:28:53.134" v="235" actId="122"/>
          <ac:spMkLst>
            <pc:docMk/>
            <pc:sldMk cId="3788536002" sldId="294"/>
            <ac:spMk id="2" creationId="{F1573E15-3199-558B-F134-CE6919B073FA}"/>
          </ac:spMkLst>
        </pc:spChg>
        <pc:spChg chg="del">
          <ac:chgData name="Lynnane George" userId="065056628ae16e64" providerId="LiveId" clId="{1E9AE552-6B83-46CE-A2DC-1FB506DB1638}" dt="2026-06-29T18:28:55.690" v="236" actId="478"/>
          <ac:spMkLst>
            <pc:docMk/>
            <pc:sldMk cId="3788536002" sldId="294"/>
            <ac:spMk id="3" creationId="{4F82BE67-41A8-BC69-451E-F1E7C0F8B500}"/>
          </ac:spMkLst>
        </pc:spChg>
      </pc:sldChg>
      <pc:sldChg chg="modSp new mod">
        <pc:chgData name="Lynnane George" userId="065056628ae16e64" providerId="LiveId" clId="{1E9AE552-6B83-46CE-A2DC-1FB506DB1638}" dt="2026-06-29T18:47:32.328" v="245" actId="122"/>
        <pc:sldMkLst>
          <pc:docMk/>
          <pc:sldMk cId="1750100780" sldId="295"/>
        </pc:sldMkLst>
        <pc:spChg chg="mod">
          <ac:chgData name="Lynnane George" userId="065056628ae16e64" providerId="LiveId" clId="{1E9AE552-6B83-46CE-A2DC-1FB506DB1638}" dt="2026-06-29T18:47:32.328" v="245" actId="122"/>
          <ac:spMkLst>
            <pc:docMk/>
            <pc:sldMk cId="1750100780" sldId="295"/>
            <ac:spMk id="2" creationId="{A8660F4D-DDA6-606A-310B-B47BFC13E73E}"/>
          </ac:spMkLst>
        </pc:spChg>
      </pc:sldChg>
      <pc:sldChg chg="add del">
        <pc:chgData name="Lynnane George" userId="065056628ae16e64" providerId="LiveId" clId="{1E9AE552-6B83-46CE-A2DC-1FB506DB1638}" dt="2026-06-29T18:24:25.543" v="131"/>
        <pc:sldMkLst>
          <pc:docMk/>
          <pc:sldMk cId="1945611924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81E06-E4DF-46D3-A62C-20223F20E9D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421D-95C2-42BE-A8A2-E6FF1C1DD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7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421D-95C2-42BE-A8A2-E6FF1C1DDC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24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0421D-95C2-42BE-A8A2-E6FF1C1DDC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13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51909C-2C2C-42F0-B88A-E486DB3CD0CD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6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26BA-46E6-4351-9F4F-6A9A9DB88B2E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7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6BE8C6-92AC-4E0D-9723-7DA2DF1831B6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6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0DA81-05F1-46F8-804C-2601ADBB26E2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2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A6B-7554-4DE1-B46A-6C2457318F53}" type="datetime1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BDA5-DEDF-4936-9EFD-C7CA7250E267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0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CBCA-B2C8-4F0C-8755-6A327D366CCD}" type="datetime1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5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80DB64-2903-457C-B2E3-DDBCFBFCF1F6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6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05CCA-6794-47FA-89D1-A37D7DFD2C63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0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6759-D627-4F7C-AF1F-6261DF38872A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2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CB9B5B8-E27F-4C07-81A5-455389BBCBA2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1AF0711-E8D0-43DF-9A00-852F8B69E617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CBF4B52-850F-484A-86CE-F84B7201AE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2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BG5l0CcMZE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ereoso.com/book/the-last-man-on-the-moon-1122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k2EapxTqH0?feature=oembed" TargetMode="Externa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feature=player_detailpage&amp;v=s7e9rEjUeBE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hyperlink" Target="http://www.youtube.com/watch?feature=player_detailpage&amp;v=tM7fTLLmgbk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ec.tynt.com/b/rf?id=bBOTTqvd0r3Pooab7jrHcU&amp;u=DailyMail" TargetMode="External"/><Relationship Id="rId3" Type="http://schemas.openxmlformats.org/officeDocument/2006/relationships/hyperlink" Target="http://www.themarysue.com/astronauts-hair-cut-in-space/" TargetMode="External"/><Relationship Id="rId7" Type="http://schemas.openxmlformats.org/officeDocument/2006/relationships/hyperlink" Target="http://ec.tynt.com/b/rw?id=bBOTTqvd0r3Pooab7jrHcU&amp;u=MailOnline" TargetMode="External"/><Relationship Id="rId2" Type="http://schemas.openxmlformats.org/officeDocument/2006/relationships/hyperlink" Target="http://www.universetoday.com/104165/dont-panic-how-space-emergency-astronaut-training-work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ailymail.co.uk/sciencetech/article-2924110/Asteroid-set-pass-close-Monday-ll-able-binoculars-Earth-s-closest-call-2027-poses-no-threat-foreseeable-future.html#ixzz3Pnyxn6aw" TargetMode="External"/><Relationship Id="rId5" Type="http://schemas.openxmlformats.org/officeDocument/2006/relationships/hyperlink" Target="http://www.dailymail.co.uk/sciencetech/article-2924110/Asteroid-set-pass-close-Monday-ll-able-binoculars-Earth-s-closest-call-2027-poses-no-threat-foreseeable-future.html" TargetMode="External"/><Relationship Id="rId4" Type="http://schemas.openxmlformats.org/officeDocument/2006/relationships/hyperlink" Target="http://spaceflight.nasa.gov/station/reference/radio/" TargetMode="External"/><Relationship Id="rId9" Type="http://schemas.openxmlformats.org/officeDocument/2006/relationships/hyperlink" Target="http://scienceblogs.com/startswithabang/2010/10/02/could-you-really-hit-a-golf-b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2580" y="171451"/>
            <a:ext cx="9144000" cy="2387600"/>
          </a:xfrm>
        </p:spPr>
        <p:txBody>
          <a:bodyPr/>
          <a:lstStyle/>
          <a:p>
            <a:r>
              <a:rPr lang="en-US" dirty="0"/>
              <a:t>The psychological aspect</a:t>
            </a:r>
            <a:br>
              <a:rPr lang="en-US" dirty="0"/>
            </a:br>
            <a:r>
              <a:rPr lang="en-US" dirty="0"/>
              <a:t>Group Dynamics</a:t>
            </a:r>
            <a:br>
              <a:rPr lang="en-US" dirty="0"/>
            </a:br>
            <a:r>
              <a:rPr lang="en-US" dirty="0" err="1"/>
              <a:t>SHELl</a:t>
            </a:r>
            <a:r>
              <a:rPr lang="en-US" dirty="0"/>
              <a:t>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4680"/>
            <a:ext cx="4944124" cy="37033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DFEE49-990A-A9BE-6AE5-ADE8494FC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173" y="3077706"/>
            <a:ext cx="4725368" cy="378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69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244590" y="3387777"/>
            <a:ext cx="1843790" cy="8244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Psychology of spaceflight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150" y="22574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HUMANS ARE MORE FLEXIBLE THAN WE THOUGHT!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37936" y="5844757"/>
            <a:ext cx="441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People are the most important </a:t>
            </a:r>
            <a:r>
              <a:rPr lang="en-US" i="1" dirty="0"/>
              <a:t>subsystem</a:t>
            </a:r>
            <a:r>
              <a:rPr lang="en-US" dirty="0"/>
              <a:t>!</a:t>
            </a:r>
          </a:p>
        </p:txBody>
      </p:sp>
      <p:pic>
        <p:nvPicPr>
          <p:cNvPr id="1026" name="Picture 2" descr="http://i.telegraph.co.uk/multimedia/archive/02320/a3_2320115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833688"/>
            <a:ext cx="5905500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projectrho.com/public_html/rocket/images/basicdesign/spacecraftDesig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0" y="2122690"/>
            <a:ext cx="3890962" cy="332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481550" y="3615340"/>
            <a:ext cx="132966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30" name="Picture 6" descr="astronua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513" y="3304438"/>
            <a:ext cx="854855" cy="99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5000" cy="42892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780" y="4289271"/>
            <a:ext cx="3201439" cy="253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0" y="731520"/>
            <a:ext cx="5143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Apollo 11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 descr="Die Wikipedia zum Mond schießen">
            <a:extLst>
              <a:ext uri="{FF2B5EF4-FFF2-40B4-BE49-F238E27FC236}">
                <a16:creationId xmlns:a16="http://schemas.microsoft.com/office/drawing/2014/main" id="{07EDFE10-0A99-00DF-3605-19D33DE68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55" y="3171209"/>
            <a:ext cx="6539345" cy="367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6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D5A81-A993-5E7E-EEBB-D29ECEB7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4</a:t>
            </a:fld>
            <a:endParaRPr lang="en-US"/>
          </a:p>
        </p:txBody>
      </p:sp>
      <p:pic>
        <p:nvPicPr>
          <p:cNvPr id="5" name="Online Media 4" title="Saturday marks 50 years since Apollo 11 crew landed on the moon">
            <a:hlinkClick r:id="" action="ppaction://media"/>
            <a:extLst>
              <a:ext uri="{FF2B5EF4-FFF2-40B4-BE49-F238E27FC236}">
                <a16:creationId xmlns:a16="http://schemas.microsoft.com/office/drawing/2014/main" id="{47C6FC87-7014-F40E-65A8-8002181789D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65027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6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335" y="21656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physical, chemical, or emotional factor that causes bodily or mental tension and may be a factor in disease causation</a:t>
            </a:r>
          </a:p>
          <a:p>
            <a:pPr marL="0" indent="0" algn="r">
              <a:buNone/>
            </a:pPr>
            <a:r>
              <a:rPr lang="en-US" dirty="0"/>
              <a:t>								Merriam-Webster</a:t>
            </a:r>
          </a:p>
          <a:p>
            <a:pPr marL="0" indent="0">
              <a:buNone/>
            </a:pPr>
            <a:r>
              <a:rPr lang="en-US" dirty="0"/>
              <a:t>A condition or feeling experienced when a person perceives that demands exceed the personal and social resources the individual is able to mobilize.</a:t>
            </a:r>
          </a:p>
          <a:p>
            <a:pPr marL="0" indent="0" algn="r">
              <a:buNone/>
            </a:pPr>
            <a:r>
              <a:rPr lang="en-US" dirty="0"/>
              <a:t>						      American Institute of Stress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245" y="364807"/>
            <a:ext cx="4027020" cy="278669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5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080" y="1994186"/>
            <a:ext cx="8265160" cy="48638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702156"/>
            <a:ext cx="11029615" cy="36783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People’s response to stressors.  It is reflected in physiological states, emotion, and activities. </a:t>
            </a:r>
          </a:p>
          <a:p>
            <a:pPr marL="0" indent="0" algn="r">
              <a:buNone/>
            </a:pPr>
            <a:r>
              <a:rPr lang="en-US" dirty="0"/>
              <a:t>											Harrison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8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Psychological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605" y="2371726"/>
            <a:ext cx="11029615" cy="415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#1 Need a strong link to mission goals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http://scienceblogs.com/startswithabang/files/2010/10/AS14_crew-600x45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4125"/>
            <a:ext cx="57150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scienceblogs.com/startswithabang/files/2010/10/she0-021-600x44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3" y="2546194"/>
            <a:ext cx="5919787" cy="44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6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Psychological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913" y="2300288"/>
            <a:ext cx="1155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Prevention and Optimization - Psychologists do 80% of their work before a mission begins</a:t>
            </a:r>
          </a:p>
        </p:txBody>
      </p:sp>
      <p:pic>
        <p:nvPicPr>
          <p:cNvPr id="3074" name="Picture 2" descr="vomit-com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3209924"/>
            <a:ext cx="5476875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6SMYEaCcAAziw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00350"/>
            <a:ext cx="6096000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1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Psychological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71713"/>
            <a:ext cx="11029615" cy="415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#3 Integrated systems approach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8626" y="2479343"/>
            <a:ext cx="3900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Organizational conditions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Flight environment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Crew</a:t>
            </a:r>
          </a:p>
        </p:txBody>
      </p:sp>
      <p:pic>
        <p:nvPicPr>
          <p:cNvPr id="4098" name="Picture 2" descr="IMAGE: Logo for the Amateur Radio International Space Station organization, or ARIS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3643"/>
            <a:ext cx="2357438" cy="235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: Astronaut Suni Willi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48" y="1957387"/>
            <a:ext cx="3644901" cy="3644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SA astronaut Alexander Gerst (left) and NASA astronaut Gregory Reid Wiseman (middle) during training at NASA's Johnson Space Center. Credit: ESA–S. Corvaj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643" y="3181349"/>
            <a:ext cx="5524500" cy="367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4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1FD4-58DD-94B7-E6FF-7A99A09C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– MARS 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BC7CF-CD5C-9BCA-64E4-3058F90A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https://images.openai.com/static-rsc-4/hE35f_x-SiabC-PTIT7A7G2S86gK_-b5GsNWRkwfLN9cDLc4mbocJiI7oY6E-Q5MYy0VPp37aPONMXoU8Rz8bl5HpU5Kqc7t-r1v0fOH-Vb4LtdjCC3bQcA9-1Q_i9Z7oZAc6OjH2ICRGCdHtw5XpJhLe-E9HYL-RNLOhtKPIrzKoLG2bJxwl6_z1PIC_lWh?purpose=fullsize">
            <a:extLst>
              <a:ext uri="{FF2B5EF4-FFF2-40B4-BE49-F238E27FC236}">
                <a16:creationId xmlns:a16="http://schemas.microsoft.com/office/drawing/2014/main" id="{1604D599-F270-D785-A7BA-74939780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6909"/>
            <a:ext cx="4803820" cy="3202546"/>
          </a:xfrm>
          <a:prstGeom prst="rect">
            <a:avLst/>
          </a:prstGeom>
        </p:spPr>
      </p:pic>
      <p:pic>
        <p:nvPicPr>
          <p:cNvPr id="6" name="Picture 5" descr="ESA - The Mars500 study is set to take place in a special facility at the Russian Institute of Biomedical Problems in Moscow">
            <a:extLst>
              <a:ext uri="{FF2B5EF4-FFF2-40B4-BE49-F238E27FC236}">
                <a16:creationId xmlns:a16="http://schemas.microsoft.com/office/drawing/2014/main" id="{1C662143-7E0E-69B1-6747-6D3B8186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977" y="1863477"/>
            <a:ext cx="5000047" cy="3347174"/>
          </a:xfrm>
          <a:prstGeom prst="rect">
            <a:avLst/>
          </a:prstGeom>
        </p:spPr>
      </p:pic>
      <p:pic>
        <p:nvPicPr>
          <p:cNvPr id="7" name="Picture 6" descr="Habitat: Weltenräume, Spielräume | GTW">
            <a:extLst>
              <a:ext uri="{FF2B5EF4-FFF2-40B4-BE49-F238E27FC236}">
                <a16:creationId xmlns:a16="http://schemas.microsoft.com/office/drawing/2014/main" id="{CDC403C3-D5C8-28D1-8821-451996783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087" y="3537064"/>
            <a:ext cx="4427913" cy="33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4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Psychological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605" y="2371726"/>
            <a:ext cx="11029615" cy="4152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#4 Linkages </a:t>
            </a:r>
            <a:r>
              <a:rPr lang="en-US"/>
              <a:t>and Knowledge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http://upload.wikimedia.org/wikipedia/en/2/2b/STS-131_crew_members_in_ISS_Cupol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68031"/>
            <a:ext cx="6343650" cy="4341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 Tracy Caldwell Dyson on the International Space Station looking at Eart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503" y="2957513"/>
            <a:ext cx="5864497" cy="39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Interpersonal Stressors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result of space travel was that I had become much more philosophical, at times unable even to focus on minor problems back on Earth because they just seemed so small in comparison to what I had experienced and the places I had been. My fellow astronauts who went to the Moon encountered varying degrees of the same disease; we broke the familiar matrix of life and couldn't repair it.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Eugene </a:t>
            </a:r>
            <a:r>
              <a:rPr lang="en-US" b="1" dirty="0" err="1"/>
              <a:t>Cernan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The Last Man on the Moon: Astronaut Eugene </a:t>
            </a:r>
            <a:r>
              <a:rPr lang="en-US" dirty="0" err="1">
                <a:hlinkClick r:id="rId2"/>
              </a:rPr>
              <a:t>Cernan</a:t>
            </a:r>
            <a:r>
              <a:rPr lang="en-US" dirty="0">
                <a:hlinkClick r:id="rId2"/>
              </a:rPr>
              <a:t> and America's Race in Space</a:t>
            </a:r>
            <a:r>
              <a:rPr lang="en-US" dirty="0"/>
              <a:t>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78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THE SHELL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13</a:t>
            </a:fld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638" y="1860157"/>
            <a:ext cx="8143875" cy="494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29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1396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Apollo 7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14</a:t>
            </a:fld>
            <a:endParaRPr lang="en-US"/>
          </a:p>
        </p:txBody>
      </p:sp>
      <p:pic>
        <p:nvPicPr>
          <p:cNvPr id="4" name="Online Media 3" title="How the Common Cold Affected the Crew of Apollo 7">
            <a:hlinkClick r:id="" action="ppaction://media"/>
            <a:extLst>
              <a:ext uri="{FF2B5EF4-FFF2-40B4-BE49-F238E27FC236}">
                <a16:creationId xmlns:a16="http://schemas.microsoft.com/office/drawing/2014/main" id="{B4FCE2FE-3D9A-C1EF-0548-60E2C11F9B2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591" y="2571823"/>
            <a:ext cx="6026621" cy="340504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633342A-160B-1B62-3FEE-5C5FB76CD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074" y="689675"/>
            <a:ext cx="6106926" cy="616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89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CDA4-BC8A-B13C-F837-A8F9A48E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SHELL MODEL AS APPLIED TO APOLLO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56BBA-9CC8-DD6D-7768-CA923A63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7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410" y="2245961"/>
            <a:ext cx="3929063" cy="3929063"/>
          </a:xfrm>
          <a:prstGeom prst="rect">
            <a:avLst/>
          </a:prstGeom>
        </p:spPr>
      </p:pic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0172096C-3033-6D8E-6CB6-D85D56F26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27" y="2153924"/>
            <a:ext cx="7312247" cy="411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7A8F6A-471F-BB4C-4E0B-CDB98D49F1FD}"/>
              </a:ext>
            </a:extLst>
          </p:cNvPr>
          <p:cNvSpPr txBox="1"/>
          <p:nvPr/>
        </p:nvSpPr>
        <p:spPr>
          <a:xfrm>
            <a:off x="3607981" y="871870"/>
            <a:ext cx="4976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CHALLENGER</a:t>
            </a:r>
          </a:p>
        </p:txBody>
      </p:sp>
    </p:spTree>
    <p:extLst>
      <p:ext uri="{BB962C8B-B14F-4D97-AF65-F5344CB8AC3E}">
        <p14:creationId xmlns:p14="http://schemas.microsoft.com/office/powerpoint/2010/main" val="1435112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Apollo 13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340" y="0"/>
            <a:ext cx="6042660" cy="4834128"/>
          </a:xfrm>
          <a:prstGeom prst="rect">
            <a:avLst/>
          </a:prstGeom>
        </p:spPr>
      </p:pic>
      <p:pic>
        <p:nvPicPr>
          <p:cNvPr id="7" name="Picture 6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6520"/>
            <a:ext cx="6149339" cy="455147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44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2209801"/>
            <a:ext cx="5024437" cy="4110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0" y="762001"/>
            <a:ext cx="670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Columbia 2003</a:t>
            </a:r>
          </a:p>
        </p:txBody>
      </p:sp>
    </p:spTree>
    <p:extLst>
      <p:ext uri="{BB962C8B-B14F-4D97-AF65-F5344CB8AC3E}">
        <p14:creationId xmlns:p14="http://schemas.microsoft.com/office/powerpoint/2010/main" val="201539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happened? Progress/mir collision 1997</a:t>
            </a:r>
          </a:p>
        </p:txBody>
      </p:sp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293620"/>
            <a:ext cx="5892800" cy="38671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56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3E15-3199-558B-F134-CE6919B0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Shell model as applied to progress/mir collision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8F33-EA45-B74E-E7AB-743D91A7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36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0F4D-DDA6-606A-310B-B47BFC13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5A14E-F1C1-56E6-F988-6BBB0FA8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7FAC4-87EA-7999-9968-DF880003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00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192" y="1779687"/>
            <a:ext cx="108630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Beginning Spacecraft Design.  18 January 2015.   </a:t>
            </a:r>
            <a:r>
              <a:rPr lang="en-US" i="1" dirty="0"/>
              <a:t>Beginning Spacecraft Design. </a:t>
            </a:r>
          </a:p>
          <a:p>
            <a:endParaRPr lang="en-US" i="1" dirty="0"/>
          </a:p>
          <a:p>
            <a:r>
              <a:rPr lang="en-US" dirty="0"/>
              <a:t>Howell, Elizabeth.  21 August 2013. </a:t>
            </a:r>
            <a:r>
              <a:rPr lang="en-US" dirty="0">
                <a:hlinkClick r:id="rId2"/>
              </a:rPr>
              <a:t>“Don’t Panic: How Space Emergency Astronaut Training Works.”  </a:t>
            </a:r>
            <a:r>
              <a:rPr lang="en-US" i="1" dirty="0"/>
              <a:t>Universe Today.</a:t>
            </a:r>
          </a:p>
          <a:p>
            <a:endParaRPr lang="en-US" dirty="0"/>
          </a:p>
          <a:p>
            <a:r>
              <a:rPr lang="en-US" dirty="0"/>
              <a:t>McNally, Victoria.  2 January 2015. </a:t>
            </a:r>
            <a:r>
              <a:rPr lang="en-US" dirty="0">
                <a:hlinkClick r:id="rId3"/>
              </a:rPr>
              <a:t>“ISS Astronaut Samantha </a:t>
            </a:r>
            <a:r>
              <a:rPr lang="en-US" dirty="0" err="1">
                <a:hlinkClick r:id="rId3"/>
              </a:rPr>
              <a:t>Cristoforetti</a:t>
            </a:r>
            <a:r>
              <a:rPr lang="en-US" dirty="0">
                <a:hlinkClick r:id="rId3"/>
              </a:rPr>
              <a:t> Shows Us How She Gets Haircuts In Space.” </a:t>
            </a:r>
            <a:r>
              <a:rPr lang="en-US" dirty="0"/>
              <a:t> </a:t>
            </a:r>
            <a:r>
              <a:rPr lang="en-US" i="1" dirty="0"/>
              <a:t>The Mary Sue.</a:t>
            </a:r>
          </a:p>
          <a:p>
            <a:endParaRPr lang="en-US" i="1" dirty="0"/>
          </a:p>
          <a:p>
            <a:r>
              <a:rPr lang="en-US" dirty="0"/>
              <a:t>NASA.  23 July 2012.  </a:t>
            </a:r>
            <a:r>
              <a:rPr lang="en-US" dirty="0">
                <a:hlinkClick r:id="rId4"/>
              </a:rPr>
              <a:t>International Space Station Reference - Ham Radio. 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Prigg</a:t>
            </a:r>
            <a:r>
              <a:rPr lang="en-US" dirty="0"/>
              <a:t>, Mark.  23 January 2015.  </a:t>
            </a:r>
            <a:r>
              <a:rPr lang="en-US" dirty="0">
                <a:hlinkClick r:id="rId5"/>
              </a:rPr>
              <a:t>“Asteroid to pass so close on Monday you'll be able to see it with binoculars - but don't panic, Earth's closest call until 2027 poses no threat 'for the foreseeable future.‘” </a:t>
            </a:r>
            <a:r>
              <a:rPr lang="en-US" dirty="0"/>
              <a:t> </a:t>
            </a:r>
            <a:r>
              <a:rPr lang="en-US" i="1" dirty="0"/>
              <a:t>Daily Mail.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Read more: </a:t>
            </a:r>
            <a:r>
              <a:rPr lang="en-US" dirty="0">
                <a:hlinkClick r:id="rId6"/>
              </a:rPr>
              <a:t>http://www.dailymail.co.uk/sciencetech/article-2924110/Asteroid-set-pass-close-Monday-ll-able-binoculars-Earth-s-closest-call-2027-poses-no-threat-foreseeable-future.html#ixzz3Pnyxn6aw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Follow us: </a:t>
            </a:r>
            <a:r>
              <a:rPr lang="en-US" dirty="0">
                <a:hlinkClick r:id="rId7"/>
              </a:rPr>
              <a:t>@</a:t>
            </a:r>
            <a:r>
              <a:rPr lang="en-US" dirty="0" err="1">
                <a:hlinkClick r:id="rId7"/>
              </a:rPr>
              <a:t>MailOnline</a:t>
            </a:r>
            <a:r>
              <a:rPr lang="en-US" dirty="0">
                <a:hlinkClick r:id="rId7"/>
              </a:rPr>
              <a:t> on Twitter</a:t>
            </a:r>
            <a:r>
              <a:rPr lang="en-US" dirty="0"/>
              <a:t> | </a:t>
            </a:r>
            <a:r>
              <a:rPr lang="en-US" dirty="0" err="1">
                <a:hlinkClick r:id="rId8"/>
              </a:rPr>
              <a:t>DailyMail</a:t>
            </a:r>
            <a:r>
              <a:rPr lang="en-US" dirty="0">
                <a:hlinkClick r:id="rId8"/>
              </a:rPr>
              <a:t> on Facebook</a:t>
            </a:r>
            <a:endParaRPr lang="en-US" dirty="0"/>
          </a:p>
          <a:p>
            <a:endParaRPr lang="en-US" dirty="0"/>
          </a:p>
          <a:p>
            <a:r>
              <a:rPr lang="en-US" dirty="0"/>
              <a:t>Siegel, Ethan.  2 October 2010.    </a:t>
            </a:r>
            <a:r>
              <a:rPr lang="en-US" dirty="0">
                <a:hlinkClick r:id="rId9"/>
              </a:rPr>
              <a:t>“Could You </a:t>
            </a:r>
            <a:r>
              <a:rPr lang="en-US" i="1" dirty="0">
                <a:hlinkClick r:id="rId9"/>
              </a:rPr>
              <a:t>Really</a:t>
            </a:r>
            <a:r>
              <a:rPr lang="en-US" dirty="0">
                <a:hlinkClick r:id="rId9"/>
              </a:rPr>
              <a:t> Hit a Gold Ball Miles and Miles and Miles on the Moon?” </a:t>
            </a:r>
            <a:r>
              <a:rPr lang="en-US" i="1" dirty="0"/>
              <a:t>Science Blogs.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F4B52-850F-484A-86CE-F84B7201AEE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2744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TC103457464[[fn=Dividend]]</Template>
  <TotalTime>1275</TotalTime>
  <Words>513</Words>
  <Application>Microsoft Office PowerPoint</Application>
  <PresentationFormat>Widescreen</PresentationFormat>
  <Paragraphs>72</Paragraphs>
  <Slides>22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Gill Sans MT</vt:lpstr>
      <vt:lpstr>Wingdings 2</vt:lpstr>
      <vt:lpstr>Dividend</vt:lpstr>
      <vt:lpstr>The psychological aspect Group Dynamics SHELl model</vt:lpstr>
      <vt:lpstr>Psychology of spaceflight</vt:lpstr>
      <vt:lpstr>PowerPoint Presentation</vt:lpstr>
      <vt:lpstr>PowerPoint Presentation</vt:lpstr>
      <vt:lpstr>PowerPoint Presentation</vt:lpstr>
      <vt:lpstr>Stress</vt:lpstr>
      <vt:lpstr>Psychological design</vt:lpstr>
      <vt:lpstr>Psychological design</vt:lpstr>
      <vt:lpstr>Psychological design</vt:lpstr>
      <vt:lpstr>EXAMPLE – MARS 500</vt:lpstr>
      <vt:lpstr>Psychological design</vt:lpstr>
      <vt:lpstr>Interpersonal Stressors</vt:lpstr>
      <vt:lpstr>THE SHELL MODEL</vt:lpstr>
      <vt:lpstr>Apollo 7</vt:lpstr>
      <vt:lpstr>SHELL MODEL AS APPLIED TO APOLLO 7</vt:lpstr>
      <vt:lpstr>PowerPoint Presentation</vt:lpstr>
      <vt:lpstr>Apollo 13</vt:lpstr>
      <vt:lpstr>PowerPoint Presentation</vt:lpstr>
      <vt:lpstr>What happened? Progress/mir collision 1997</vt:lpstr>
      <vt:lpstr>Shell model as applied to progress/mir collision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and Coping Group Dynamics</dc:title>
  <dc:creator>Lynnane George</dc:creator>
  <cp:lastModifiedBy>Lynnane George</cp:lastModifiedBy>
  <cp:revision>53</cp:revision>
  <dcterms:created xsi:type="dcterms:W3CDTF">2013-09-09T03:38:55Z</dcterms:created>
  <dcterms:modified xsi:type="dcterms:W3CDTF">2026-06-29T18:47:37Z</dcterms:modified>
</cp:coreProperties>
</file>