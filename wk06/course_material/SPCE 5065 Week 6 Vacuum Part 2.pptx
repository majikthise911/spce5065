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331" r:id="rId3"/>
    <p:sldId id="328" r:id="rId4"/>
    <p:sldId id="329" r:id="rId5"/>
    <p:sldId id="318" r:id="rId6"/>
    <p:sldId id="262" r:id="rId7"/>
    <p:sldId id="320" r:id="rId8"/>
    <p:sldId id="303" r:id="rId9"/>
    <p:sldId id="321" r:id="rId10"/>
    <p:sldId id="322" r:id="rId11"/>
    <p:sldId id="330" r:id="rId12"/>
    <p:sldId id="323" r:id="rId13"/>
    <p:sldId id="332" r:id="rId14"/>
    <p:sldId id="311" r:id="rId15"/>
    <p:sldId id="306" r:id="rId16"/>
    <p:sldId id="310" r:id="rId17"/>
    <p:sldId id="312" r:id="rId18"/>
    <p:sldId id="530" r:id="rId19"/>
    <p:sldId id="531" r:id="rId20"/>
    <p:sldId id="532" r:id="rId21"/>
    <p:sldId id="533" r:id="rId22"/>
    <p:sldId id="534" r:id="rId23"/>
    <p:sldId id="535" r:id="rId24"/>
    <p:sldId id="536" r:id="rId25"/>
    <p:sldId id="290" r:id="rId26"/>
    <p:sldId id="529" r:id="rId27"/>
    <p:sldId id="537" r:id="rId28"/>
    <p:sldId id="538" r:id="rId29"/>
    <p:sldId id="314" r:id="rId30"/>
    <p:sldId id="317" r:id="rId31"/>
    <p:sldId id="324" r:id="rId32"/>
    <p:sldId id="326" r:id="rId33"/>
    <p:sldId id="315" r:id="rId34"/>
    <p:sldId id="297"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CED0DE-0478-4D8F-8AFB-FD1988BF3F8A}" v="13" dt="2026-07-22T01:31:40.5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3" autoAdjust="0"/>
    <p:restoredTop sz="94660"/>
  </p:normalViewPr>
  <p:slideViewPr>
    <p:cSldViewPr snapToGrid="0">
      <p:cViewPr varScale="1">
        <p:scale>
          <a:sx n="101" d="100"/>
          <a:sy n="101" d="100"/>
        </p:scale>
        <p:origin x="84" y="200"/>
      </p:cViewPr>
      <p:guideLst/>
    </p:cSldViewPr>
  </p:slideViewPr>
  <p:notesTextViewPr>
    <p:cViewPr>
      <p:scale>
        <a:sx n="1" d="1"/>
        <a:sy n="1" d="1"/>
      </p:scale>
      <p:origin x="0" y="0"/>
    </p:cViewPr>
  </p:notesTextViewPr>
  <p:notesViewPr>
    <p:cSldViewPr snapToGrid="0">
      <p:cViewPr varScale="1">
        <p:scale>
          <a:sx n="49" d="100"/>
          <a:sy n="49" d="100"/>
        </p:scale>
        <p:origin x="2664" y="1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ynnane George" userId="065056628ae16e64" providerId="LiveId" clId="{1E9AE552-6B83-46CE-A2DC-1FB506DB1638}"/>
    <pc:docChg chg="undo custSel addSld delSld modSld">
      <pc:chgData name="Lynnane George" userId="065056628ae16e64" providerId="LiveId" clId="{1E9AE552-6B83-46CE-A2DC-1FB506DB1638}" dt="2026-07-22T01:35:22.310" v="279" actId="27636"/>
      <pc:docMkLst>
        <pc:docMk/>
      </pc:docMkLst>
      <pc:sldChg chg="delSp modSp mod">
        <pc:chgData name="Lynnane George" userId="065056628ae16e64" providerId="LiveId" clId="{1E9AE552-6B83-46CE-A2DC-1FB506DB1638}" dt="2026-07-22T01:16:05.850" v="225" actId="478"/>
        <pc:sldMkLst>
          <pc:docMk/>
          <pc:sldMk cId="731467338" sldId="256"/>
        </pc:sldMkLst>
        <pc:spChg chg="mod">
          <ac:chgData name="Lynnane George" userId="065056628ae16e64" providerId="LiveId" clId="{1E9AE552-6B83-46CE-A2DC-1FB506DB1638}" dt="2026-07-22T01:16:00.918" v="224" actId="20577"/>
          <ac:spMkLst>
            <pc:docMk/>
            <pc:sldMk cId="731467338" sldId="256"/>
            <ac:spMk id="2" creationId="{3861162C-B206-4FCC-BE4C-C29852AECCEA}"/>
          </ac:spMkLst>
        </pc:spChg>
        <pc:spChg chg="del">
          <ac:chgData name="Lynnane George" userId="065056628ae16e64" providerId="LiveId" clId="{1E9AE552-6B83-46CE-A2DC-1FB506DB1638}" dt="2026-07-22T01:16:05.850" v="225" actId="478"/>
          <ac:spMkLst>
            <pc:docMk/>
            <pc:sldMk cId="731467338" sldId="256"/>
            <ac:spMk id="5" creationId="{7BAD9DFA-6D27-49F2-9B6C-EFC65DE4F3A7}"/>
          </ac:spMkLst>
        </pc:spChg>
      </pc:sldChg>
      <pc:sldChg chg="add">
        <pc:chgData name="Lynnane George" userId="065056628ae16e64" providerId="LiveId" clId="{1E9AE552-6B83-46CE-A2DC-1FB506DB1638}" dt="2026-07-22T01:17:03.632" v="226"/>
        <pc:sldMkLst>
          <pc:docMk/>
          <pc:sldMk cId="3610450769" sldId="290"/>
        </pc:sldMkLst>
      </pc:sldChg>
      <pc:sldChg chg="modSp mod">
        <pc:chgData name="Lynnane George" userId="065056628ae16e64" providerId="LiveId" clId="{1E9AE552-6B83-46CE-A2DC-1FB506DB1638}" dt="2026-07-22T01:35:22.310" v="279" actId="27636"/>
        <pc:sldMkLst>
          <pc:docMk/>
          <pc:sldMk cId="449833968" sldId="297"/>
        </pc:sldMkLst>
        <pc:spChg chg="mod">
          <ac:chgData name="Lynnane George" userId="065056628ae16e64" providerId="LiveId" clId="{1E9AE552-6B83-46CE-A2DC-1FB506DB1638}" dt="2026-07-22T01:35:22.310" v="279" actId="27636"/>
          <ac:spMkLst>
            <pc:docMk/>
            <pc:sldMk cId="449833968" sldId="297"/>
            <ac:spMk id="3" creationId="{4FD3B9FB-3C8D-481B-9F89-A75EE15A21FF}"/>
          </ac:spMkLst>
        </pc:spChg>
      </pc:sldChg>
      <pc:sldChg chg="addSp delSp modSp mod">
        <pc:chgData name="Lynnane George" userId="065056628ae16e64" providerId="LiveId" clId="{1E9AE552-6B83-46CE-A2DC-1FB506DB1638}" dt="2026-07-22T01:22:12.713" v="251" actId="14100"/>
        <pc:sldMkLst>
          <pc:docMk/>
          <pc:sldMk cId="3252493802" sldId="310"/>
        </pc:sldMkLst>
        <pc:spChg chg="mod">
          <ac:chgData name="Lynnane George" userId="065056628ae16e64" providerId="LiveId" clId="{1E9AE552-6B83-46CE-A2DC-1FB506DB1638}" dt="2026-07-22T01:21:08.804" v="241" actId="1076"/>
          <ac:spMkLst>
            <pc:docMk/>
            <pc:sldMk cId="3252493802" sldId="310"/>
            <ac:spMk id="2" creationId="{94376A46-C37D-48E8-8ECD-3AAEC58E4FB0}"/>
          </ac:spMkLst>
        </pc:spChg>
        <pc:spChg chg="del mod">
          <ac:chgData name="Lynnane George" userId="065056628ae16e64" providerId="LiveId" clId="{1E9AE552-6B83-46CE-A2DC-1FB506DB1638}" dt="2026-07-22T01:20:02.021" v="230" actId="478"/>
          <ac:spMkLst>
            <pc:docMk/>
            <pc:sldMk cId="3252493802" sldId="310"/>
            <ac:spMk id="4" creationId="{EB7F8D08-D21B-478C-A2D6-98BCD66207A7}"/>
          </ac:spMkLst>
        </pc:spChg>
        <pc:picChg chg="add del mod ord">
          <ac:chgData name="Lynnane George" userId="065056628ae16e64" providerId="LiveId" clId="{1E9AE552-6B83-46CE-A2DC-1FB506DB1638}" dt="2026-07-22T01:22:12.713" v="251" actId="14100"/>
          <ac:picMkLst>
            <pc:docMk/>
            <pc:sldMk cId="3252493802" sldId="310"/>
            <ac:picMk id="6" creationId="{3BC35997-CC4F-EA1F-F987-93F8DA68C319}"/>
          </ac:picMkLst>
        </pc:picChg>
        <pc:picChg chg="mod">
          <ac:chgData name="Lynnane George" userId="065056628ae16e64" providerId="LiveId" clId="{1E9AE552-6B83-46CE-A2DC-1FB506DB1638}" dt="2026-07-22T01:21:56.367" v="249" actId="1076"/>
          <ac:picMkLst>
            <pc:docMk/>
            <pc:sldMk cId="3252493802" sldId="310"/>
            <ac:picMk id="1026" creationId="{8A7D695D-D1F6-4CAF-88E6-39CC4DA5F215}"/>
          </ac:picMkLst>
        </pc:picChg>
      </pc:sldChg>
      <pc:sldChg chg="modSp add mod">
        <pc:chgData name="Lynnane George" userId="065056628ae16e64" providerId="LiveId" clId="{1E9AE552-6B83-46CE-A2DC-1FB506DB1638}" dt="2026-07-22T01:34:17.665" v="276" actId="1076"/>
        <pc:sldMkLst>
          <pc:docMk/>
          <pc:sldMk cId="2288298840" sldId="312"/>
        </pc:sldMkLst>
        <pc:spChg chg="mod">
          <ac:chgData name="Lynnane George" userId="065056628ae16e64" providerId="LiveId" clId="{1E9AE552-6B83-46CE-A2DC-1FB506DB1638}" dt="2026-07-22T01:34:17.665" v="276" actId="1076"/>
          <ac:spMkLst>
            <pc:docMk/>
            <pc:sldMk cId="2288298840" sldId="312"/>
            <ac:spMk id="2" creationId="{96CEE5A6-B904-4BB9-A4B5-1FD489F7C651}"/>
          </ac:spMkLst>
        </pc:spChg>
      </pc:sldChg>
      <pc:sldChg chg="add">
        <pc:chgData name="Lynnane George" userId="065056628ae16e64" providerId="LiveId" clId="{1E9AE552-6B83-46CE-A2DC-1FB506DB1638}" dt="2026-07-22T01:17:03.632" v="226"/>
        <pc:sldMkLst>
          <pc:docMk/>
          <pc:sldMk cId="3279657316" sldId="314"/>
        </pc:sldMkLst>
      </pc:sldChg>
      <pc:sldChg chg="addSp delSp modSp add mod">
        <pc:chgData name="Lynnane George" userId="065056628ae16e64" providerId="LiveId" clId="{1E9AE552-6B83-46CE-A2DC-1FB506DB1638}" dt="2026-07-22T01:30:20.867" v="267" actId="14100"/>
        <pc:sldMkLst>
          <pc:docMk/>
          <pc:sldMk cId="1230097006" sldId="315"/>
        </pc:sldMkLst>
        <pc:spChg chg="mod">
          <ac:chgData name="Lynnane George" userId="065056628ae16e64" providerId="LiveId" clId="{1E9AE552-6B83-46CE-A2DC-1FB506DB1638}" dt="2026-07-22T01:23:38.046" v="258" actId="20577"/>
          <ac:spMkLst>
            <pc:docMk/>
            <pc:sldMk cId="1230097006" sldId="315"/>
            <ac:spMk id="3" creationId="{DD76E895-84BA-497E-98C1-A37CF9A65C14}"/>
          </ac:spMkLst>
        </pc:spChg>
        <pc:spChg chg="del">
          <ac:chgData name="Lynnane George" userId="065056628ae16e64" providerId="LiveId" clId="{1E9AE552-6B83-46CE-A2DC-1FB506DB1638}" dt="2026-07-22T01:23:44.393" v="259" actId="478"/>
          <ac:spMkLst>
            <pc:docMk/>
            <pc:sldMk cId="1230097006" sldId="315"/>
            <ac:spMk id="10" creationId="{F5720C1F-6837-4EE6-B44F-94FEC38C25DE}"/>
          </ac:spMkLst>
        </pc:spChg>
        <pc:spChg chg="del">
          <ac:chgData name="Lynnane George" userId="065056628ae16e64" providerId="LiveId" clId="{1E9AE552-6B83-46CE-A2DC-1FB506DB1638}" dt="2026-07-22T01:30:13.127" v="263" actId="478"/>
          <ac:spMkLst>
            <pc:docMk/>
            <pc:sldMk cId="1230097006" sldId="315"/>
            <ac:spMk id="11" creationId="{590BBA81-CF78-4563-99D9-749473D0B4F3}"/>
          </ac:spMkLst>
        </pc:spChg>
        <pc:spChg chg="del">
          <ac:chgData name="Lynnane George" userId="065056628ae16e64" providerId="LiveId" clId="{1E9AE552-6B83-46CE-A2DC-1FB506DB1638}" dt="2026-07-22T01:23:48.238" v="260" actId="478"/>
          <ac:spMkLst>
            <pc:docMk/>
            <pc:sldMk cId="1230097006" sldId="315"/>
            <ac:spMk id="12" creationId="{2AD3A9E3-F11A-4A3D-AF20-3D972C7D8057}"/>
          </ac:spMkLst>
        </pc:spChg>
        <pc:spChg chg="del">
          <ac:chgData name="Lynnane George" userId="065056628ae16e64" providerId="LiveId" clId="{1E9AE552-6B83-46CE-A2DC-1FB506DB1638}" dt="2026-07-22T01:23:49.676" v="261" actId="478"/>
          <ac:spMkLst>
            <pc:docMk/>
            <pc:sldMk cId="1230097006" sldId="315"/>
            <ac:spMk id="13" creationId="{E5C9B161-5594-4161-9B5E-43B64375A793}"/>
          </ac:spMkLst>
        </pc:spChg>
        <pc:spChg chg="del">
          <ac:chgData name="Lynnane George" userId="065056628ae16e64" providerId="LiveId" clId="{1E9AE552-6B83-46CE-A2DC-1FB506DB1638}" dt="2026-07-22T01:23:51.687" v="262" actId="478"/>
          <ac:spMkLst>
            <pc:docMk/>
            <pc:sldMk cId="1230097006" sldId="315"/>
            <ac:spMk id="15" creationId="{82F34912-9C10-454B-9634-5FBE43048DAC}"/>
          </ac:spMkLst>
        </pc:spChg>
        <pc:picChg chg="add mod">
          <ac:chgData name="Lynnane George" userId="065056628ae16e64" providerId="LiveId" clId="{1E9AE552-6B83-46CE-A2DC-1FB506DB1638}" dt="2026-07-22T01:30:20.867" v="267" actId="14100"/>
          <ac:picMkLst>
            <pc:docMk/>
            <pc:sldMk cId="1230097006" sldId="315"/>
            <ac:picMk id="5" creationId="{22440D8B-5476-DAE4-841A-770765AF7CAD}"/>
          </ac:picMkLst>
        </pc:picChg>
      </pc:sldChg>
      <pc:sldChg chg="add del">
        <pc:chgData name="Lynnane George" userId="065056628ae16e64" providerId="LiveId" clId="{1E9AE552-6B83-46CE-A2DC-1FB506DB1638}" dt="2026-07-22T01:34:48.677" v="277" actId="2696"/>
        <pc:sldMkLst>
          <pc:docMk/>
          <pc:sldMk cId="2666314152" sldId="316"/>
        </pc:sldMkLst>
      </pc:sldChg>
      <pc:sldChg chg="add">
        <pc:chgData name="Lynnane George" userId="065056628ae16e64" providerId="LiveId" clId="{1E9AE552-6B83-46CE-A2DC-1FB506DB1638}" dt="2026-07-22T01:17:03.632" v="226"/>
        <pc:sldMkLst>
          <pc:docMk/>
          <pc:sldMk cId="3117887157" sldId="317"/>
        </pc:sldMkLst>
      </pc:sldChg>
      <pc:sldChg chg="modSp mod">
        <pc:chgData name="Lynnane George" userId="065056628ae16e64" providerId="LiveId" clId="{1E9AE552-6B83-46CE-A2DC-1FB506DB1638}" dt="2026-07-19T19:51:30.081" v="26" actId="1035"/>
        <pc:sldMkLst>
          <pc:docMk/>
          <pc:sldMk cId="2724585602" sldId="321"/>
        </pc:sldMkLst>
        <pc:picChg chg="mod">
          <ac:chgData name="Lynnane George" userId="065056628ae16e64" providerId="LiveId" clId="{1E9AE552-6B83-46CE-A2DC-1FB506DB1638}" dt="2026-07-19T19:51:30.081" v="26" actId="1035"/>
          <ac:picMkLst>
            <pc:docMk/>
            <pc:sldMk cId="2724585602" sldId="321"/>
            <ac:picMk id="5" creationId="{D04FAA00-CD4E-4C3C-B153-0C70DDE58592}"/>
          </ac:picMkLst>
        </pc:picChg>
      </pc:sldChg>
      <pc:sldChg chg="add">
        <pc:chgData name="Lynnane George" userId="065056628ae16e64" providerId="LiveId" clId="{1E9AE552-6B83-46CE-A2DC-1FB506DB1638}" dt="2026-07-22T01:17:03.632" v="226"/>
        <pc:sldMkLst>
          <pc:docMk/>
          <pc:sldMk cId="3638594883" sldId="324"/>
        </pc:sldMkLst>
      </pc:sldChg>
      <pc:sldChg chg="add">
        <pc:chgData name="Lynnane George" userId="065056628ae16e64" providerId="LiveId" clId="{1E9AE552-6B83-46CE-A2DC-1FB506DB1638}" dt="2026-07-22T01:17:03.632" v="226"/>
        <pc:sldMkLst>
          <pc:docMk/>
          <pc:sldMk cId="435087669" sldId="326"/>
        </pc:sldMkLst>
      </pc:sldChg>
      <pc:sldChg chg="modSp add del mod">
        <pc:chgData name="Lynnane George" userId="065056628ae16e64" providerId="LiveId" clId="{1E9AE552-6B83-46CE-A2DC-1FB506DB1638}" dt="2026-07-22T01:31:45.308" v="275" actId="2696"/>
        <pc:sldMkLst>
          <pc:docMk/>
          <pc:sldMk cId="2304692271" sldId="327"/>
        </pc:sldMkLst>
        <pc:spChg chg="mod">
          <ac:chgData name="Lynnane George" userId="065056628ae16e64" providerId="LiveId" clId="{1E9AE552-6B83-46CE-A2DC-1FB506DB1638}" dt="2026-07-22T01:30:54.007" v="273" actId="1076"/>
          <ac:spMkLst>
            <pc:docMk/>
            <pc:sldMk cId="2304692271" sldId="327"/>
            <ac:spMk id="4" creationId="{33129DDC-FDFC-C4B3-3593-9043D5D6C387}"/>
          </ac:spMkLst>
        </pc:spChg>
      </pc:sldChg>
      <pc:sldChg chg="delSp modSp new mod">
        <pc:chgData name="Lynnane George" userId="065056628ae16e64" providerId="LiveId" clId="{1E9AE552-6B83-46CE-A2DC-1FB506DB1638}" dt="2026-07-19T19:20:16.364" v="16" actId="478"/>
        <pc:sldMkLst>
          <pc:docMk/>
          <pc:sldMk cId="2000466315" sldId="331"/>
        </pc:sldMkLst>
        <pc:spChg chg="mod">
          <ac:chgData name="Lynnane George" userId="065056628ae16e64" providerId="LiveId" clId="{1E9AE552-6B83-46CE-A2DC-1FB506DB1638}" dt="2026-07-19T19:20:12.575" v="15" actId="122"/>
          <ac:spMkLst>
            <pc:docMk/>
            <pc:sldMk cId="2000466315" sldId="331"/>
            <ac:spMk id="2" creationId="{32829654-D452-AB93-D4B7-C2394F8779AF}"/>
          </ac:spMkLst>
        </pc:spChg>
      </pc:sldChg>
      <pc:sldChg chg="modSp new mod">
        <pc:chgData name="Lynnane George" userId="065056628ae16e64" providerId="LiveId" clId="{1E9AE552-6B83-46CE-A2DC-1FB506DB1638}" dt="2026-07-19T20:05:55.465" v="45" actId="122"/>
        <pc:sldMkLst>
          <pc:docMk/>
          <pc:sldMk cId="1805798391" sldId="332"/>
        </pc:sldMkLst>
        <pc:spChg chg="mod">
          <ac:chgData name="Lynnane George" userId="065056628ae16e64" providerId="LiveId" clId="{1E9AE552-6B83-46CE-A2DC-1FB506DB1638}" dt="2026-07-19T20:05:55.465" v="45" actId="122"/>
          <ac:spMkLst>
            <pc:docMk/>
            <pc:sldMk cId="1805798391" sldId="332"/>
            <ac:spMk id="2" creationId="{294B5BE6-2046-70A9-D3A4-AB07AB30D3A2}"/>
          </ac:spMkLst>
        </pc:spChg>
      </pc:sldChg>
      <pc:sldChg chg="addSp delSp modSp new del mod">
        <pc:chgData name="Lynnane George" userId="065056628ae16e64" providerId="LiveId" clId="{1E9AE552-6B83-46CE-A2DC-1FB506DB1638}" dt="2026-07-22T01:22:31.827" v="252" actId="2696"/>
        <pc:sldMkLst>
          <pc:docMk/>
          <pc:sldMk cId="2497527442" sldId="333"/>
        </pc:sldMkLst>
      </pc:sldChg>
      <pc:sldChg chg="add del">
        <pc:chgData name="Lynnane George" userId="065056628ae16e64" providerId="LiveId" clId="{1E9AE552-6B83-46CE-A2DC-1FB506DB1638}" dt="2026-07-22T01:22:42.772" v="253" actId="2696"/>
        <pc:sldMkLst>
          <pc:docMk/>
          <pc:sldMk cId="1100958776" sldId="521"/>
        </pc:sldMkLst>
      </pc:sldChg>
      <pc:sldChg chg="add del">
        <pc:chgData name="Lynnane George" userId="065056628ae16e64" providerId="LiveId" clId="{1E9AE552-6B83-46CE-A2DC-1FB506DB1638}" dt="2026-07-22T01:22:45.280" v="254" actId="2696"/>
        <pc:sldMkLst>
          <pc:docMk/>
          <pc:sldMk cId="1346969536" sldId="527"/>
        </pc:sldMkLst>
      </pc:sldChg>
      <pc:sldChg chg="add">
        <pc:chgData name="Lynnane George" userId="065056628ae16e64" providerId="LiveId" clId="{1E9AE552-6B83-46CE-A2DC-1FB506DB1638}" dt="2026-07-22T01:17:03.632" v="226"/>
        <pc:sldMkLst>
          <pc:docMk/>
          <pc:sldMk cId="3459409954" sldId="529"/>
        </pc:sldMkLst>
      </pc:sldChg>
      <pc:sldChg chg="add">
        <pc:chgData name="Lynnane George" userId="065056628ae16e64" providerId="LiveId" clId="{1E9AE552-6B83-46CE-A2DC-1FB506DB1638}" dt="2026-07-22T01:17:03.632" v="226"/>
        <pc:sldMkLst>
          <pc:docMk/>
          <pc:sldMk cId="3536504401" sldId="530"/>
        </pc:sldMkLst>
      </pc:sldChg>
      <pc:sldChg chg="add">
        <pc:chgData name="Lynnane George" userId="065056628ae16e64" providerId="LiveId" clId="{1E9AE552-6B83-46CE-A2DC-1FB506DB1638}" dt="2026-07-22T01:17:03.632" v="226"/>
        <pc:sldMkLst>
          <pc:docMk/>
          <pc:sldMk cId="1440936934" sldId="531"/>
        </pc:sldMkLst>
      </pc:sldChg>
      <pc:sldChg chg="add">
        <pc:chgData name="Lynnane George" userId="065056628ae16e64" providerId="LiveId" clId="{1E9AE552-6B83-46CE-A2DC-1FB506DB1638}" dt="2026-07-22T01:17:03.632" v="226"/>
        <pc:sldMkLst>
          <pc:docMk/>
          <pc:sldMk cId="2696342607" sldId="532"/>
        </pc:sldMkLst>
      </pc:sldChg>
      <pc:sldChg chg="add">
        <pc:chgData name="Lynnane George" userId="065056628ae16e64" providerId="LiveId" clId="{1E9AE552-6B83-46CE-A2DC-1FB506DB1638}" dt="2026-07-22T01:17:03.632" v="226"/>
        <pc:sldMkLst>
          <pc:docMk/>
          <pc:sldMk cId="3939581761" sldId="533"/>
        </pc:sldMkLst>
      </pc:sldChg>
      <pc:sldChg chg="add">
        <pc:chgData name="Lynnane George" userId="065056628ae16e64" providerId="LiveId" clId="{1E9AE552-6B83-46CE-A2DC-1FB506DB1638}" dt="2026-07-22T01:17:03.632" v="226"/>
        <pc:sldMkLst>
          <pc:docMk/>
          <pc:sldMk cId="3261337624" sldId="534"/>
        </pc:sldMkLst>
      </pc:sldChg>
      <pc:sldChg chg="add">
        <pc:chgData name="Lynnane George" userId="065056628ae16e64" providerId="LiveId" clId="{1E9AE552-6B83-46CE-A2DC-1FB506DB1638}" dt="2026-07-22T01:17:03.632" v="226"/>
        <pc:sldMkLst>
          <pc:docMk/>
          <pc:sldMk cId="1579861508" sldId="535"/>
        </pc:sldMkLst>
      </pc:sldChg>
      <pc:sldChg chg="add">
        <pc:chgData name="Lynnane George" userId="065056628ae16e64" providerId="LiveId" clId="{1E9AE552-6B83-46CE-A2DC-1FB506DB1638}" dt="2026-07-22T01:17:03.632" v="226"/>
        <pc:sldMkLst>
          <pc:docMk/>
          <pc:sldMk cId="1191290714" sldId="536"/>
        </pc:sldMkLst>
      </pc:sldChg>
      <pc:sldChg chg="add">
        <pc:chgData name="Lynnane George" userId="065056628ae16e64" providerId="LiveId" clId="{1E9AE552-6B83-46CE-A2DC-1FB506DB1638}" dt="2026-07-22T01:17:03.632" v="226"/>
        <pc:sldMkLst>
          <pc:docMk/>
          <pc:sldMk cId="793462421" sldId="537"/>
        </pc:sldMkLst>
      </pc:sldChg>
      <pc:sldChg chg="add">
        <pc:chgData name="Lynnane George" userId="065056628ae16e64" providerId="LiveId" clId="{1E9AE552-6B83-46CE-A2DC-1FB506DB1638}" dt="2026-07-22T01:17:03.632" v="226"/>
        <pc:sldMkLst>
          <pc:docMk/>
          <pc:sldMk cId="886993765" sldId="53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BBCF67-0AF2-411F-B8B5-058D2AD674CF}"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CA3A347A-7982-47A1-9188-CC50F495ECD5}">
      <dgm:prSet/>
      <dgm:spPr/>
      <dgm:t>
        <a:bodyPr/>
        <a:lstStyle/>
        <a:p>
          <a:pPr>
            <a:lnSpc>
              <a:spcPct val="100000"/>
            </a:lnSpc>
          </a:pPr>
          <a:r>
            <a:rPr lang="en-US" dirty="0"/>
            <a:t>2) Inversely as a power of time</a:t>
          </a:r>
        </a:p>
      </dgm:t>
    </dgm:pt>
    <dgm:pt modelId="{EA1C84FD-B8B7-42F4-85A6-A8D21D2DB24A}" type="parTrans" cxnId="{D069FE65-6C61-4804-BDE0-10F84CB91AB8}">
      <dgm:prSet/>
      <dgm:spPr/>
      <dgm:t>
        <a:bodyPr/>
        <a:lstStyle/>
        <a:p>
          <a:endParaRPr lang="en-US"/>
        </a:p>
      </dgm:t>
    </dgm:pt>
    <dgm:pt modelId="{2529BE15-2BE4-42CF-9D92-F920F9F085C0}" type="sibTrans" cxnId="{D069FE65-6C61-4804-BDE0-10F84CB91AB8}">
      <dgm:prSet/>
      <dgm:spPr/>
      <dgm:t>
        <a:bodyPr/>
        <a:lstStyle/>
        <a:p>
          <a:endParaRPr lang="en-US"/>
        </a:p>
      </dgm:t>
    </dgm:pt>
    <dgm:pt modelId="{CAF5245E-356E-415A-930F-2B3219F216AA}">
      <dgm:prSet/>
      <dgm:spPr/>
      <dgm:t>
        <a:bodyPr/>
        <a:lstStyle/>
        <a:p>
          <a:pPr>
            <a:lnSpc>
              <a:spcPct val="100000"/>
            </a:lnSpc>
          </a:pPr>
          <a:r>
            <a:rPr lang="en-US"/>
            <a:t>3) Independently of time</a:t>
          </a:r>
        </a:p>
      </dgm:t>
    </dgm:pt>
    <dgm:pt modelId="{DD32BA4E-8136-40A4-8935-739781E26E2C}" type="parTrans" cxnId="{317C4CF6-51DC-4264-8B0A-A07024D04E7E}">
      <dgm:prSet/>
      <dgm:spPr/>
      <dgm:t>
        <a:bodyPr/>
        <a:lstStyle/>
        <a:p>
          <a:endParaRPr lang="en-US"/>
        </a:p>
      </dgm:t>
    </dgm:pt>
    <dgm:pt modelId="{24D577FF-FF4C-40BB-A1AB-475BB14C56E8}" type="sibTrans" cxnId="{317C4CF6-51DC-4264-8B0A-A07024D04E7E}">
      <dgm:prSet/>
      <dgm:spPr/>
      <dgm:t>
        <a:bodyPr/>
        <a:lstStyle/>
        <a:p>
          <a:endParaRPr lang="en-US"/>
        </a:p>
      </dgm:t>
    </dgm:pt>
    <dgm:pt modelId="{B81ECB80-4267-4E0C-A083-969212522BB8}">
      <dgm:prSet/>
      <dgm:spPr/>
      <dgm:t>
        <a:bodyPr/>
        <a:lstStyle/>
        <a:p>
          <a:pPr>
            <a:lnSpc>
              <a:spcPct val="100000"/>
            </a:lnSpc>
          </a:pPr>
          <a:r>
            <a:rPr lang="en-US" dirty="0"/>
            <a:t>1) Exponentially as a function of time</a:t>
          </a:r>
        </a:p>
      </dgm:t>
    </dgm:pt>
    <dgm:pt modelId="{2E578EB8-D087-49D5-A352-94154A7E6518}" type="parTrans" cxnId="{3A7F531B-62B7-40D6-9C12-67AEB814725F}">
      <dgm:prSet/>
      <dgm:spPr/>
      <dgm:t>
        <a:bodyPr/>
        <a:lstStyle/>
        <a:p>
          <a:endParaRPr lang="en-US"/>
        </a:p>
      </dgm:t>
    </dgm:pt>
    <dgm:pt modelId="{CDA62CD7-35F8-4034-B1AD-E214724B2F47}" type="sibTrans" cxnId="{3A7F531B-62B7-40D6-9C12-67AEB814725F}">
      <dgm:prSet/>
      <dgm:spPr/>
      <dgm:t>
        <a:bodyPr/>
        <a:lstStyle/>
        <a:p>
          <a:endParaRPr lang="en-US"/>
        </a:p>
      </dgm:t>
    </dgm:pt>
    <dgm:pt modelId="{664F2D6C-A86E-4788-916A-2255392F9473}" type="pres">
      <dgm:prSet presAssocID="{62BBCF67-0AF2-411F-B8B5-058D2AD674CF}" presName="vert0" presStyleCnt="0">
        <dgm:presLayoutVars>
          <dgm:dir/>
          <dgm:animOne val="branch"/>
          <dgm:animLvl val="lvl"/>
        </dgm:presLayoutVars>
      </dgm:prSet>
      <dgm:spPr/>
    </dgm:pt>
    <dgm:pt modelId="{655467A0-EFD8-4DBA-9CA1-0A542294DC67}" type="pres">
      <dgm:prSet presAssocID="{B81ECB80-4267-4E0C-A083-969212522BB8}" presName="thickLine" presStyleLbl="alignNode1" presStyleIdx="0" presStyleCnt="3"/>
      <dgm:spPr/>
    </dgm:pt>
    <dgm:pt modelId="{627F2E62-BA1F-4BED-B7E2-0EE6038BA479}" type="pres">
      <dgm:prSet presAssocID="{B81ECB80-4267-4E0C-A083-969212522BB8}" presName="horz1" presStyleCnt="0"/>
      <dgm:spPr/>
    </dgm:pt>
    <dgm:pt modelId="{9A5D2D74-3E3D-436F-B500-C89CAA2AD88F}" type="pres">
      <dgm:prSet presAssocID="{B81ECB80-4267-4E0C-A083-969212522BB8}" presName="tx1" presStyleLbl="revTx" presStyleIdx="0" presStyleCnt="3"/>
      <dgm:spPr/>
    </dgm:pt>
    <dgm:pt modelId="{C25A07C4-AE10-4955-B580-BCADE8BB0690}" type="pres">
      <dgm:prSet presAssocID="{B81ECB80-4267-4E0C-A083-969212522BB8}" presName="vert1" presStyleCnt="0"/>
      <dgm:spPr/>
    </dgm:pt>
    <dgm:pt modelId="{5A7320D0-8F7B-47A7-A932-684CB192AB9D}" type="pres">
      <dgm:prSet presAssocID="{CA3A347A-7982-47A1-9188-CC50F495ECD5}" presName="thickLine" presStyleLbl="alignNode1" presStyleIdx="1" presStyleCnt="3"/>
      <dgm:spPr/>
    </dgm:pt>
    <dgm:pt modelId="{0076B1C3-D40C-489B-ABAE-DF38A54BCC39}" type="pres">
      <dgm:prSet presAssocID="{CA3A347A-7982-47A1-9188-CC50F495ECD5}" presName="horz1" presStyleCnt="0"/>
      <dgm:spPr/>
    </dgm:pt>
    <dgm:pt modelId="{D78E338B-ACC5-4FF6-B7A9-F25224C465D8}" type="pres">
      <dgm:prSet presAssocID="{CA3A347A-7982-47A1-9188-CC50F495ECD5}" presName="tx1" presStyleLbl="revTx" presStyleIdx="1" presStyleCnt="3"/>
      <dgm:spPr/>
    </dgm:pt>
    <dgm:pt modelId="{9D59AC0D-AD51-49B3-B220-B52D267DA928}" type="pres">
      <dgm:prSet presAssocID="{CA3A347A-7982-47A1-9188-CC50F495ECD5}" presName="vert1" presStyleCnt="0"/>
      <dgm:spPr/>
    </dgm:pt>
    <dgm:pt modelId="{D6BC8AB6-2404-4815-A9BA-78AAB2D20B6B}" type="pres">
      <dgm:prSet presAssocID="{CAF5245E-356E-415A-930F-2B3219F216AA}" presName="thickLine" presStyleLbl="alignNode1" presStyleIdx="2" presStyleCnt="3"/>
      <dgm:spPr/>
    </dgm:pt>
    <dgm:pt modelId="{6891B73E-0B2E-49F7-970E-66E379F65C94}" type="pres">
      <dgm:prSet presAssocID="{CAF5245E-356E-415A-930F-2B3219F216AA}" presName="horz1" presStyleCnt="0"/>
      <dgm:spPr/>
    </dgm:pt>
    <dgm:pt modelId="{4509B264-791D-4B06-A346-6257478CDB36}" type="pres">
      <dgm:prSet presAssocID="{CAF5245E-356E-415A-930F-2B3219F216AA}" presName="tx1" presStyleLbl="revTx" presStyleIdx="2" presStyleCnt="3"/>
      <dgm:spPr/>
    </dgm:pt>
    <dgm:pt modelId="{57937506-B16E-419D-94A6-EBD617DDBDAE}" type="pres">
      <dgm:prSet presAssocID="{CAF5245E-356E-415A-930F-2B3219F216AA}" presName="vert1" presStyleCnt="0"/>
      <dgm:spPr/>
    </dgm:pt>
  </dgm:ptLst>
  <dgm:cxnLst>
    <dgm:cxn modelId="{75D75A0C-0239-4004-A745-FC9F47D7B238}" type="presOf" srcId="{CA3A347A-7982-47A1-9188-CC50F495ECD5}" destId="{D78E338B-ACC5-4FF6-B7A9-F25224C465D8}" srcOrd="0" destOrd="0" presId="urn:microsoft.com/office/officeart/2008/layout/LinedList"/>
    <dgm:cxn modelId="{3A7F531B-62B7-40D6-9C12-67AEB814725F}" srcId="{62BBCF67-0AF2-411F-B8B5-058D2AD674CF}" destId="{B81ECB80-4267-4E0C-A083-969212522BB8}" srcOrd="0" destOrd="0" parTransId="{2E578EB8-D087-49D5-A352-94154A7E6518}" sibTransId="{CDA62CD7-35F8-4034-B1AD-E214724B2F47}"/>
    <dgm:cxn modelId="{D069FE65-6C61-4804-BDE0-10F84CB91AB8}" srcId="{62BBCF67-0AF2-411F-B8B5-058D2AD674CF}" destId="{CA3A347A-7982-47A1-9188-CC50F495ECD5}" srcOrd="1" destOrd="0" parTransId="{EA1C84FD-B8B7-42F4-85A6-A8D21D2DB24A}" sibTransId="{2529BE15-2BE4-42CF-9D92-F920F9F085C0}"/>
    <dgm:cxn modelId="{30D7E648-A729-4D3E-B83C-D3B77CECF431}" type="presOf" srcId="{B81ECB80-4267-4E0C-A083-969212522BB8}" destId="{9A5D2D74-3E3D-436F-B500-C89CAA2AD88F}" srcOrd="0" destOrd="0" presId="urn:microsoft.com/office/officeart/2008/layout/LinedList"/>
    <dgm:cxn modelId="{CD4761E9-00A5-4D46-AF5D-2374D3C39265}" type="presOf" srcId="{CAF5245E-356E-415A-930F-2B3219F216AA}" destId="{4509B264-791D-4B06-A346-6257478CDB36}" srcOrd="0" destOrd="0" presId="urn:microsoft.com/office/officeart/2008/layout/LinedList"/>
    <dgm:cxn modelId="{06305BF4-F1CC-47B6-9939-1BCBACDBD11D}" type="presOf" srcId="{62BBCF67-0AF2-411F-B8B5-058D2AD674CF}" destId="{664F2D6C-A86E-4788-916A-2255392F9473}" srcOrd="0" destOrd="0" presId="urn:microsoft.com/office/officeart/2008/layout/LinedList"/>
    <dgm:cxn modelId="{317C4CF6-51DC-4264-8B0A-A07024D04E7E}" srcId="{62BBCF67-0AF2-411F-B8B5-058D2AD674CF}" destId="{CAF5245E-356E-415A-930F-2B3219F216AA}" srcOrd="2" destOrd="0" parTransId="{DD32BA4E-8136-40A4-8935-739781E26E2C}" sibTransId="{24D577FF-FF4C-40BB-A1AB-475BB14C56E8}"/>
    <dgm:cxn modelId="{DFCE19AB-D1D0-4113-9E7E-BCF346B45E1C}" type="presParOf" srcId="{664F2D6C-A86E-4788-916A-2255392F9473}" destId="{655467A0-EFD8-4DBA-9CA1-0A542294DC67}" srcOrd="0" destOrd="0" presId="urn:microsoft.com/office/officeart/2008/layout/LinedList"/>
    <dgm:cxn modelId="{019360AC-8AE9-4C28-B097-99F66C7DE8C3}" type="presParOf" srcId="{664F2D6C-A86E-4788-916A-2255392F9473}" destId="{627F2E62-BA1F-4BED-B7E2-0EE6038BA479}" srcOrd="1" destOrd="0" presId="urn:microsoft.com/office/officeart/2008/layout/LinedList"/>
    <dgm:cxn modelId="{D2C19364-A3AF-4208-8DF6-B0031D659152}" type="presParOf" srcId="{627F2E62-BA1F-4BED-B7E2-0EE6038BA479}" destId="{9A5D2D74-3E3D-436F-B500-C89CAA2AD88F}" srcOrd="0" destOrd="0" presId="urn:microsoft.com/office/officeart/2008/layout/LinedList"/>
    <dgm:cxn modelId="{0ABCB458-CD5B-4550-A5AE-69E62FDCD4C6}" type="presParOf" srcId="{627F2E62-BA1F-4BED-B7E2-0EE6038BA479}" destId="{C25A07C4-AE10-4955-B580-BCADE8BB0690}" srcOrd="1" destOrd="0" presId="urn:microsoft.com/office/officeart/2008/layout/LinedList"/>
    <dgm:cxn modelId="{0F4009E1-1A27-4B4F-92D6-7C60AF548636}" type="presParOf" srcId="{664F2D6C-A86E-4788-916A-2255392F9473}" destId="{5A7320D0-8F7B-47A7-A932-684CB192AB9D}" srcOrd="2" destOrd="0" presId="urn:microsoft.com/office/officeart/2008/layout/LinedList"/>
    <dgm:cxn modelId="{0DF00972-8CA5-4960-9F06-1132136B3C9A}" type="presParOf" srcId="{664F2D6C-A86E-4788-916A-2255392F9473}" destId="{0076B1C3-D40C-489B-ABAE-DF38A54BCC39}" srcOrd="3" destOrd="0" presId="urn:microsoft.com/office/officeart/2008/layout/LinedList"/>
    <dgm:cxn modelId="{10B0E003-8E58-4D6B-8DB0-8621FDC185F7}" type="presParOf" srcId="{0076B1C3-D40C-489B-ABAE-DF38A54BCC39}" destId="{D78E338B-ACC5-4FF6-B7A9-F25224C465D8}" srcOrd="0" destOrd="0" presId="urn:microsoft.com/office/officeart/2008/layout/LinedList"/>
    <dgm:cxn modelId="{AEF96A7B-2B71-4EF2-A07C-EF6C72694CA4}" type="presParOf" srcId="{0076B1C3-D40C-489B-ABAE-DF38A54BCC39}" destId="{9D59AC0D-AD51-49B3-B220-B52D267DA928}" srcOrd="1" destOrd="0" presId="urn:microsoft.com/office/officeart/2008/layout/LinedList"/>
    <dgm:cxn modelId="{367DD61E-2AF5-477B-99C6-C9DBE00F8045}" type="presParOf" srcId="{664F2D6C-A86E-4788-916A-2255392F9473}" destId="{D6BC8AB6-2404-4815-A9BA-78AAB2D20B6B}" srcOrd="4" destOrd="0" presId="urn:microsoft.com/office/officeart/2008/layout/LinedList"/>
    <dgm:cxn modelId="{BB2808EC-47B0-456D-A900-C76F3B7E4661}" type="presParOf" srcId="{664F2D6C-A86E-4788-916A-2255392F9473}" destId="{6891B73E-0B2E-49F7-970E-66E379F65C94}" srcOrd="5" destOrd="0" presId="urn:microsoft.com/office/officeart/2008/layout/LinedList"/>
    <dgm:cxn modelId="{72B6192D-7764-4C68-BF79-67E43F41DB9C}" type="presParOf" srcId="{6891B73E-0B2E-49F7-970E-66E379F65C94}" destId="{4509B264-791D-4B06-A346-6257478CDB36}" srcOrd="0" destOrd="0" presId="urn:microsoft.com/office/officeart/2008/layout/LinedList"/>
    <dgm:cxn modelId="{31629695-3F69-4F48-9A57-93875AC33C55}" type="presParOf" srcId="{6891B73E-0B2E-49F7-970E-66E379F65C94}" destId="{57937506-B16E-419D-94A6-EBD617DDBDA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5467A0-EFD8-4DBA-9CA1-0A542294DC67}">
      <dsp:nvSpPr>
        <dsp:cNvPr id="0" name=""/>
        <dsp:cNvSpPr/>
      </dsp:nvSpPr>
      <dsp:spPr>
        <a:xfrm>
          <a:off x="0" y="2492"/>
          <a:ext cx="649287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5D2D74-3E3D-436F-B500-C89CAA2AD88F}">
      <dsp:nvSpPr>
        <dsp:cNvPr id="0" name=""/>
        <dsp:cNvSpPr/>
      </dsp:nvSpPr>
      <dsp:spPr>
        <a:xfrm>
          <a:off x="0" y="2492"/>
          <a:ext cx="6492875"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marL="0" lvl="0" indent="0" algn="l" defTabSz="1955800">
            <a:lnSpc>
              <a:spcPct val="100000"/>
            </a:lnSpc>
            <a:spcBef>
              <a:spcPct val="0"/>
            </a:spcBef>
            <a:spcAft>
              <a:spcPct val="35000"/>
            </a:spcAft>
            <a:buNone/>
          </a:pPr>
          <a:r>
            <a:rPr lang="en-US" sz="4400" kern="1200" dirty="0"/>
            <a:t>1) Exponentially as a function of time</a:t>
          </a:r>
        </a:p>
      </dsp:txBody>
      <dsp:txXfrm>
        <a:off x="0" y="2492"/>
        <a:ext cx="6492875" cy="1700138"/>
      </dsp:txXfrm>
    </dsp:sp>
    <dsp:sp modelId="{5A7320D0-8F7B-47A7-A932-684CB192AB9D}">
      <dsp:nvSpPr>
        <dsp:cNvPr id="0" name=""/>
        <dsp:cNvSpPr/>
      </dsp:nvSpPr>
      <dsp:spPr>
        <a:xfrm>
          <a:off x="0" y="1702630"/>
          <a:ext cx="6492875" cy="0"/>
        </a:xfrm>
        <a:prstGeom prst="line">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8E338B-ACC5-4FF6-B7A9-F25224C465D8}">
      <dsp:nvSpPr>
        <dsp:cNvPr id="0" name=""/>
        <dsp:cNvSpPr/>
      </dsp:nvSpPr>
      <dsp:spPr>
        <a:xfrm>
          <a:off x="0" y="1702630"/>
          <a:ext cx="6492875"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marL="0" lvl="0" indent="0" algn="l" defTabSz="1955800">
            <a:lnSpc>
              <a:spcPct val="100000"/>
            </a:lnSpc>
            <a:spcBef>
              <a:spcPct val="0"/>
            </a:spcBef>
            <a:spcAft>
              <a:spcPct val="35000"/>
            </a:spcAft>
            <a:buNone/>
          </a:pPr>
          <a:r>
            <a:rPr lang="en-US" sz="4400" kern="1200" dirty="0"/>
            <a:t>2) Inversely as a power of time</a:t>
          </a:r>
        </a:p>
      </dsp:txBody>
      <dsp:txXfrm>
        <a:off x="0" y="1702630"/>
        <a:ext cx="6492875" cy="1700138"/>
      </dsp:txXfrm>
    </dsp:sp>
    <dsp:sp modelId="{D6BC8AB6-2404-4815-A9BA-78AAB2D20B6B}">
      <dsp:nvSpPr>
        <dsp:cNvPr id="0" name=""/>
        <dsp:cNvSpPr/>
      </dsp:nvSpPr>
      <dsp:spPr>
        <a:xfrm>
          <a:off x="0" y="3402769"/>
          <a:ext cx="6492875"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09B264-791D-4B06-A346-6257478CDB36}">
      <dsp:nvSpPr>
        <dsp:cNvPr id="0" name=""/>
        <dsp:cNvSpPr/>
      </dsp:nvSpPr>
      <dsp:spPr>
        <a:xfrm>
          <a:off x="0" y="3402769"/>
          <a:ext cx="6492875"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marL="0" lvl="0" indent="0" algn="l" defTabSz="1955800">
            <a:lnSpc>
              <a:spcPct val="100000"/>
            </a:lnSpc>
            <a:spcBef>
              <a:spcPct val="0"/>
            </a:spcBef>
            <a:spcAft>
              <a:spcPct val="35000"/>
            </a:spcAft>
            <a:buNone/>
          </a:pPr>
          <a:r>
            <a:rPr lang="en-US" sz="4400" kern="1200"/>
            <a:t>3) Independently of time</a:t>
          </a:r>
        </a:p>
      </dsp:txBody>
      <dsp:txXfrm>
        <a:off x="0" y="3402769"/>
        <a:ext cx="6492875" cy="1700138"/>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F88088-AF02-4C4C-8CF4-474666BF6A7A}" type="datetimeFigureOut">
              <a:rPr lang="en-US" smtClean="0"/>
              <a:t>7/21/2026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3B9E52-0C4F-4523-89FD-3FA7B40EA4E0}" type="slidenum">
              <a:rPr lang="en-US" smtClean="0"/>
              <a:t>‹#›</a:t>
            </a:fld>
            <a:endParaRPr lang="en-US"/>
          </a:p>
        </p:txBody>
      </p:sp>
    </p:spTree>
    <p:extLst>
      <p:ext uri="{BB962C8B-B14F-4D97-AF65-F5344CB8AC3E}">
        <p14:creationId xmlns:p14="http://schemas.microsoft.com/office/powerpoint/2010/main" val="2416023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en.wikipedia.org/wiki/Richard_Feynman" TargetMode="External"/><Relationship Id="rId2" Type="http://schemas.openxmlformats.org/officeDocument/2006/relationships/slide" Target="../slides/slide25.xml"/><Relationship Id="rId1" Type="http://schemas.openxmlformats.org/officeDocument/2006/relationships/notesMaster" Target="../notesMasters/notesMaster1.xml"/><Relationship Id="rId5" Type="http://schemas.openxmlformats.org/officeDocument/2006/relationships/hyperlink" Target="https://www.quora.com/How-was-cold-welding-discovered#fWSYm" TargetMode="External"/><Relationship Id="rId4" Type="http://schemas.openxmlformats.org/officeDocument/2006/relationships/hyperlink" Target="https://en.wikipedia.org/wiki/The_Feynman_Lectures"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9531E2AB-0D9B-45F2-8129-9AC4DC70874C}"/>
              </a:ext>
            </a:extLst>
          </p:cNvPr>
          <p:cNvSpPr>
            <a:spLocks noGrp="1" noRot="1" noChangeAspect="1" noChangeArrowheads="1" noTextEdit="1"/>
          </p:cNvSpPr>
          <p:nvPr>
            <p:ph type="sldImg"/>
          </p:nvPr>
        </p:nvSpPr>
        <p:spPr>
          <a:xfrm>
            <a:off x="460375" y="2590800"/>
            <a:ext cx="6124575" cy="3446463"/>
          </a:xfrm>
          <a:ln/>
        </p:spPr>
      </p:sp>
      <p:sp>
        <p:nvSpPr>
          <p:cNvPr id="99333" name="Text Box 5">
            <a:extLst>
              <a:ext uri="{FF2B5EF4-FFF2-40B4-BE49-F238E27FC236}">
                <a16:creationId xmlns:a16="http://schemas.microsoft.com/office/drawing/2014/main" id="{A9F3CCD9-75A5-4884-893F-8BF2A1773852}"/>
              </a:ext>
            </a:extLst>
          </p:cNvPr>
          <p:cNvSpPr txBox="1">
            <a:spLocks noChangeArrowheads="1"/>
          </p:cNvSpPr>
          <p:nvPr/>
        </p:nvSpPr>
        <p:spPr bwMode="auto">
          <a:xfrm>
            <a:off x="603250" y="1550988"/>
            <a:ext cx="1568450"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Accounts for much of the solar absorptance degradation during the mission</a:t>
            </a:r>
          </a:p>
        </p:txBody>
      </p:sp>
      <p:sp>
        <p:nvSpPr>
          <p:cNvPr id="99334" name="Line 6">
            <a:extLst>
              <a:ext uri="{FF2B5EF4-FFF2-40B4-BE49-F238E27FC236}">
                <a16:creationId xmlns:a16="http://schemas.microsoft.com/office/drawing/2014/main" id="{B36CF323-2E4C-4EA4-83C7-50A13C18279A}"/>
              </a:ext>
            </a:extLst>
          </p:cNvPr>
          <p:cNvSpPr>
            <a:spLocks noChangeShapeType="1"/>
          </p:cNvSpPr>
          <p:nvPr/>
        </p:nvSpPr>
        <p:spPr bwMode="auto">
          <a:xfrm>
            <a:off x="1646238" y="1893888"/>
            <a:ext cx="835025" cy="889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9335" name="Text Box 7">
            <a:extLst>
              <a:ext uri="{FF2B5EF4-FFF2-40B4-BE49-F238E27FC236}">
                <a16:creationId xmlns:a16="http://schemas.microsoft.com/office/drawing/2014/main" id="{5DD986D7-8192-4E7B-B5C7-2F6A03EB7C65}"/>
              </a:ext>
            </a:extLst>
          </p:cNvPr>
          <p:cNvSpPr txBox="1">
            <a:spLocks noChangeArrowheads="1"/>
          </p:cNvSpPr>
          <p:nvPr/>
        </p:nvSpPr>
        <p:spPr bwMode="auto">
          <a:xfrm>
            <a:off x="2278063" y="2957513"/>
            <a:ext cx="2401887"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Mass loss due to exposure to very low pressures</a:t>
            </a:r>
          </a:p>
        </p:txBody>
      </p:sp>
      <p:sp>
        <p:nvSpPr>
          <p:cNvPr id="99336" name="Text Box 8">
            <a:extLst>
              <a:ext uri="{FF2B5EF4-FFF2-40B4-BE49-F238E27FC236}">
                <a16:creationId xmlns:a16="http://schemas.microsoft.com/office/drawing/2014/main" id="{8A8DB926-A4E3-4632-B9E3-B62940DB1AEA}"/>
              </a:ext>
            </a:extLst>
          </p:cNvPr>
          <p:cNvSpPr txBox="1">
            <a:spLocks noChangeArrowheads="1"/>
          </p:cNvSpPr>
          <p:nvPr/>
        </p:nvSpPr>
        <p:spPr bwMode="auto">
          <a:xfrm>
            <a:off x="188913" y="3227388"/>
            <a:ext cx="1114425"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Lubricants can be a big problem</a:t>
            </a:r>
          </a:p>
        </p:txBody>
      </p:sp>
      <p:sp>
        <p:nvSpPr>
          <p:cNvPr id="99337" name="Line 9">
            <a:extLst>
              <a:ext uri="{FF2B5EF4-FFF2-40B4-BE49-F238E27FC236}">
                <a16:creationId xmlns:a16="http://schemas.microsoft.com/office/drawing/2014/main" id="{74EA2A1D-7F48-4803-8D02-5E13684F3FD7}"/>
              </a:ext>
            </a:extLst>
          </p:cNvPr>
          <p:cNvSpPr>
            <a:spLocks noChangeShapeType="1"/>
          </p:cNvSpPr>
          <p:nvPr/>
        </p:nvSpPr>
        <p:spPr bwMode="auto">
          <a:xfrm flipV="1">
            <a:off x="915988" y="3324225"/>
            <a:ext cx="592137" cy="14763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9338" name="Text Box 10">
            <a:extLst>
              <a:ext uri="{FF2B5EF4-FFF2-40B4-BE49-F238E27FC236}">
                <a16:creationId xmlns:a16="http://schemas.microsoft.com/office/drawing/2014/main" id="{D3266FD9-9CB0-4D75-AAE6-192C17A1A9E2}"/>
              </a:ext>
            </a:extLst>
          </p:cNvPr>
          <p:cNvSpPr txBox="1">
            <a:spLocks noChangeArrowheads="1"/>
          </p:cNvSpPr>
          <p:nvPr/>
        </p:nvSpPr>
        <p:spPr bwMode="auto">
          <a:xfrm>
            <a:off x="4518025" y="3422650"/>
            <a:ext cx="1566863"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And a thin contaminant film on the inside of your windshield</a:t>
            </a:r>
          </a:p>
        </p:txBody>
      </p:sp>
      <p:sp>
        <p:nvSpPr>
          <p:cNvPr id="99340" name="Oval 12">
            <a:extLst>
              <a:ext uri="{FF2B5EF4-FFF2-40B4-BE49-F238E27FC236}">
                <a16:creationId xmlns:a16="http://schemas.microsoft.com/office/drawing/2014/main" id="{5A0D8697-60B1-44E0-82B3-390863CB7434}"/>
              </a:ext>
            </a:extLst>
          </p:cNvPr>
          <p:cNvSpPr>
            <a:spLocks noChangeArrowheads="1"/>
          </p:cNvSpPr>
          <p:nvPr/>
        </p:nvSpPr>
        <p:spPr bwMode="auto">
          <a:xfrm>
            <a:off x="1538288" y="3092450"/>
            <a:ext cx="919162" cy="260350"/>
          </a:xfrm>
          <a:prstGeom prst="ellipse">
            <a:avLst/>
          </a:prstGeom>
          <a:noFill/>
          <a:ln w="28575">
            <a:solidFill>
              <a:schemeClr val="tx1"/>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9341" name="Text Box 13">
            <a:extLst>
              <a:ext uri="{FF2B5EF4-FFF2-40B4-BE49-F238E27FC236}">
                <a16:creationId xmlns:a16="http://schemas.microsoft.com/office/drawing/2014/main" id="{0AA6D012-3641-42F5-907F-F003F3B03F31}"/>
              </a:ext>
            </a:extLst>
          </p:cNvPr>
          <p:cNvSpPr txBox="1">
            <a:spLocks noChangeArrowheads="1"/>
          </p:cNvSpPr>
          <p:nvPr/>
        </p:nvSpPr>
        <p:spPr bwMode="auto">
          <a:xfrm>
            <a:off x="433388" y="6081713"/>
            <a:ext cx="2365375" cy="61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Tending to increase </a:t>
            </a:r>
            <a:r>
              <a:rPr lang="en-US" altLang="en-US" sz="900" i="1">
                <a:sym typeface="Symbol" charset="2"/>
              </a:rPr>
              <a:t>  and raise equilibrium temperature over time  (historical values increased by a factor of 4 or 5 from beginning to end of life)</a:t>
            </a:r>
            <a:endParaRPr lang="en-US" altLang="en-US" sz="900" i="1"/>
          </a:p>
        </p:txBody>
      </p:sp>
      <p:sp>
        <p:nvSpPr>
          <p:cNvPr id="99342" name="Line 14">
            <a:extLst>
              <a:ext uri="{FF2B5EF4-FFF2-40B4-BE49-F238E27FC236}">
                <a16:creationId xmlns:a16="http://schemas.microsoft.com/office/drawing/2014/main" id="{CA82BE4E-7E1F-4B3D-BAD3-34B64850929C}"/>
              </a:ext>
            </a:extLst>
          </p:cNvPr>
          <p:cNvSpPr>
            <a:spLocks noChangeShapeType="1"/>
          </p:cNvSpPr>
          <p:nvPr/>
        </p:nvSpPr>
        <p:spPr bwMode="auto">
          <a:xfrm flipV="1">
            <a:off x="619125" y="4846638"/>
            <a:ext cx="1147763" cy="123825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9343" name="Text Box 15">
            <a:extLst>
              <a:ext uri="{FF2B5EF4-FFF2-40B4-BE49-F238E27FC236}">
                <a16:creationId xmlns:a16="http://schemas.microsoft.com/office/drawing/2014/main" id="{00F2B5E2-0A61-4397-9296-D7D6E6B854EC}"/>
              </a:ext>
            </a:extLst>
          </p:cNvPr>
          <p:cNvSpPr txBox="1">
            <a:spLocks noChangeArrowheads="1"/>
          </p:cNvSpPr>
          <p:nvPr/>
        </p:nvSpPr>
        <p:spPr bwMode="auto">
          <a:xfrm>
            <a:off x="4446588" y="6126163"/>
            <a:ext cx="2366962"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Once released, molecules follow ballistic trajectories and randomly impact other surfaces in line of sight</a:t>
            </a:r>
          </a:p>
          <a:p>
            <a:pPr>
              <a:defRPr/>
            </a:pPr>
            <a:endParaRPr lang="en-US" altLang="en-US" sz="900" i="1"/>
          </a:p>
          <a:p>
            <a:pPr>
              <a:defRPr/>
            </a:pPr>
            <a:r>
              <a:rPr lang="en-US" altLang="en-US" sz="900" i="1">
                <a:sym typeface="Symbol" charset="2"/>
              </a:rPr>
              <a:t>   alter thermal and optical properties</a:t>
            </a:r>
            <a:endParaRPr lang="en-US" altLang="en-US" sz="900" i="1"/>
          </a:p>
        </p:txBody>
      </p:sp>
      <p:sp>
        <p:nvSpPr>
          <p:cNvPr id="99344" name="Line 16">
            <a:extLst>
              <a:ext uri="{FF2B5EF4-FFF2-40B4-BE49-F238E27FC236}">
                <a16:creationId xmlns:a16="http://schemas.microsoft.com/office/drawing/2014/main" id="{646AFBF4-4D5A-4CD8-A363-E0F282DECA2A}"/>
              </a:ext>
            </a:extLst>
          </p:cNvPr>
          <p:cNvSpPr>
            <a:spLocks noChangeShapeType="1"/>
          </p:cNvSpPr>
          <p:nvPr/>
        </p:nvSpPr>
        <p:spPr bwMode="auto">
          <a:xfrm flipH="1" flipV="1">
            <a:off x="4219575" y="3948113"/>
            <a:ext cx="2055813" cy="2136775"/>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9345" name="Arc 17">
            <a:extLst>
              <a:ext uri="{FF2B5EF4-FFF2-40B4-BE49-F238E27FC236}">
                <a16:creationId xmlns:a16="http://schemas.microsoft.com/office/drawing/2014/main" id="{1DCE02C9-8977-40EE-A699-2982092148F3}"/>
              </a:ext>
            </a:extLst>
          </p:cNvPr>
          <p:cNvSpPr>
            <a:spLocks/>
          </p:cNvSpPr>
          <p:nvPr/>
        </p:nvSpPr>
        <p:spPr bwMode="auto">
          <a:xfrm flipH="1" flipV="1">
            <a:off x="922338" y="3948113"/>
            <a:ext cx="1423987" cy="757237"/>
          </a:xfrm>
          <a:custGeom>
            <a:avLst/>
            <a:gdLst>
              <a:gd name="T0" fmla="*/ 804553 w 21600"/>
              <a:gd name="T1" fmla="*/ 0 h 36970"/>
              <a:gd name="T2" fmla="*/ 658990 w 21600"/>
              <a:gd name="T3" fmla="*/ 757237 h 36970"/>
              <a:gd name="T4" fmla="*/ 0 w 21600"/>
              <a:gd name="T5" fmla="*/ 365039 h 36970"/>
              <a:gd name="T6" fmla="*/ 0 60000 65536"/>
              <a:gd name="T7" fmla="*/ 0 60000 65536"/>
              <a:gd name="T8" fmla="*/ 0 60000 65536"/>
            </a:gdLst>
            <a:ahLst/>
            <a:cxnLst>
              <a:cxn ang="T6">
                <a:pos x="T0" y="T1"/>
              </a:cxn>
              <a:cxn ang="T7">
                <a:pos x="T2" y="T3"/>
              </a:cxn>
              <a:cxn ang="T8">
                <a:pos x="T4" y="T5"/>
              </a:cxn>
            </a:cxnLst>
            <a:rect l="0" t="0" r="r" b="b"/>
            <a:pathLst>
              <a:path w="21600" h="36970" fill="none" extrusionOk="0">
                <a:moveTo>
                  <a:pt x="12203" y="0"/>
                </a:moveTo>
                <a:cubicBezTo>
                  <a:pt x="18084" y="4026"/>
                  <a:pt x="21600" y="10695"/>
                  <a:pt x="21600" y="17822"/>
                </a:cubicBezTo>
                <a:cubicBezTo>
                  <a:pt x="21600" y="25867"/>
                  <a:pt x="17128" y="33246"/>
                  <a:pt x="9995" y="36969"/>
                </a:cubicBezTo>
              </a:path>
              <a:path w="21600" h="36970" stroke="0" extrusionOk="0">
                <a:moveTo>
                  <a:pt x="12203" y="0"/>
                </a:moveTo>
                <a:cubicBezTo>
                  <a:pt x="18084" y="4026"/>
                  <a:pt x="21600" y="10695"/>
                  <a:pt x="21600" y="17822"/>
                </a:cubicBezTo>
                <a:cubicBezTo>
                  <a:pt x="21600" y="25867"/>
                  <a:pt x="17128" y="33246"/>
                  <a:pt x="9995" y="36969"/>
                </a:cubicBezTo>
                <a:lnTo>
                  <a:pt x="0" y="17822"/>
                </a:lnTo>
                <a:lnTo>
                  <a:pt x="12203" y="0"/>
                </a:lnTo>
                <a:close/>
              </a:path>
            </a:pathLst>
          </a:custGeom>
          <a:noFill/>
          <a:ln w="12700">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endParaRPr lang="en-US"/>
          </a:p>
        </p:txBody>
      </p:sp>
      <p:sp>
        <p:nvSpPr>
          <p:cNvPr id="2" name="Notes Placeholder 1">
            <a:extLst>
              <a:ext uri="{FF2B5EF4-FFF2-40B4-BE49-F238E27FC236}">
                <a16:creationId xmlns:a16="http://schemas.microsoft.com/office/drawing/2014/main" id="{242F3B83-14D2-4136-8529-5F51AB24C5B3}"/>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Outgassing is important for a couple of reasons: the molecules can interfere with the instrument when high voltages are present, possibly damaging it; and they can absorb wavelengths of light, preventing the instrument from collecting all the information it could. To avoid these dangers, engineers waited until the outgassing was complete before bringing the instruments to full power</a:t>
            </a:r>
            <a:endParaRPr lang="en-US" dirty="0"/>
          </a:p>
        </p:txBody>
      </p:sp>
    </p:spTree>
    <p:extLst>
      <p:ext uri="{BB962C8B-B14F-4D97-AF65-F5344CB8AC3E}">
        <p14:creationId xmlns:p14="http://schemas.microsoft.com/office/powerpoint/2010/main" val="26670729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9531E2AB-0D9B-45F2-8129-9AC4DC70874C}"/>
              </a:ext>
            </a:extLst>
          </p:cNvPr>
          <p:cNvSpPr>
            <a:spLocks noGrp="1" noRot="1" noChangeAspect="1" noChangeArrowheads="1" noTextEdit="1"/>
          </p:cNvSpPr>
          <p:nvPr>
            <p:ph type="sldImg"/>
          </p:nvPr>
        </p:nvSpPr>
        <p:spPr>
          <a:xfrm>
            <a:off x="460375" y="2590800"/>
            <a:ext cx="6124575" cy="3446463"/>
          </a:xfrm>
          <a:ln/>
        </p:spPr>
      </p:sp>
      <p:sp>
        <p:nvSpPr>
          <p:cNvPr id="99333" name="Text Box 5">
            <a:extLst>
              <a:ext uri="{FF2B5EF4-FFF2-40B4-BE49-F238E27FC236}">
                <a16:creationId xmlns:a16="http://schemas.microsoft.com/office/drawing/2014/main" id="{A9F3CCD9-75A5-4884-893F-8BF2A1773852}"/>
              </a:ext>
            </a:extLst>
          </p:cNvPr>
          <p:cNvSpPr txBox="1">
            <a:spLocks noChangeArrowheads="1"/>
          </p:cNvSpPr>
          <p:nvPr/>
        </p:nvSpPr>
        <p:spPr bwMode="auto">
          <a:xfrm>
            <a:off x="603250" y="1550988"/>
            <a:ext cx="1568450"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Accounts for much of the solar absorptance degradation during the mission</a:t>
            </a:r>
          </a:p>
        </p:txBody>
      </p:sp>
      <p:sp>
        <p:nvSpPr>
          <p:cNvPr id="99334" name="Line 6">
            <a:extLst>
              <a:ext uri="{FF2B5EF4-FFF2-40B4-BE49-F238E27FC236}">
                <a16:creationId xmlns:a16="http://schemas.microsoft.com/office/drawing/2014/main" id="{B36CF323-2E4C-4EA4-83C7-50A13C18279A}"/>
              </a:ext>
            </a:extLst>
          </p:cNvPr>
          <p:cNvSpPr>
            <a:spLocks noChangeShapeType="1"/>
          </p:cNvSpPr>
          <p:nvPr/>
        </p:nvSpPr>
        <p:spPr bwMode="auto">
          <a:xfrm>
            <a:off x="1646238" y="1893888"/>
            <a:ext cx="835025" cy="889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9335" name="Text Box 7">
            <a:extLst>
              <a:ext uri="{FF2B5EF4-FFF2-40B4-BE49-F238E27FC236}">
                <a16:creationId xmlns:a16="http://schemas.microsoft.com/office/drawing/2014/main" id="{5DD986D7-8192-4E7B-B5C7-2F6A03EB7C65}"/>
              </a:ext>
            </a:extLst>
          </p:cNvPr>
          <p:cNvSpPr txBox="1">
            <a:spLocks noChangeArrowheads="1"/>
          </p:cNvSpPr>
          <p:nvPr/>
        </p:nvSpPr>
        <p:spPr bwMode="auto">
          <a:xfrm>
            <a:off x="2278063" y="2957513"/>
            <a:ext cx="2401887"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Mass loss due to exposure to very low pressures</a:t>
            </a:r>
          </a:p>
        </p:txBody>
      </p:sp>
      <p:sp>
        <p:nvSpPr>
          <p:cNvPr id="99336" name="Text Box 8">
            <a:extLst>
              <a:ext uri="{FF2B5EF4-FFF2-40B4-BE49-F238E27FC236}">
                <a16:creationId xmlns:a16="http://schemas.microsoft.com/office/drawing/2014/main" id="{8A8DB926-A4E3-4632-B9E3-B62940DB1AEA}"/>
              </a:ext>
            </a:extLst>
          </p:cNvPr>
          <p:cNvSpPr txBox="1">
            <a:spLocks noChangeArrowheads="1"/>
          </p:cNvSpPr>
          <p:nvPr/>
        </p:nvSpPr>
        <p:spPr bwMode="auto">
          <a:xfrm>
            <a:off x="188913" y="3227388"/>
            <a:ext cx="1114425"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Lubricants can be a big problem</a:t>
            </a:r>
          </a:p>
        </p:txBody>
      </p:sp>
      <p:sp>
        <p:nvSpPr>
          <p:cNvPr id="99337" name="Line 9">
            <a:extLst>
              <a:ext uri="{FF2B5EF4-FFF2-40B4-BE49-F238E27FC236}">
                <a16:creationId xmlns:a16="http://schemas.microsoft.com/office/drawing/2014/main" id="{74EA2A1D-7F48-4803-8D02-5E13684F3FD7}"/>
              </a:ext>
            </a:extLst>
          </p:cNvPr>
          <p:cNvSpPr>
            <a:spLocks noChangeShapeType="1"/>
          </p:cNvSpPr>
          <p:nvPr/>
        </p:nvSpPr>
        <p:spPr bwMode="auto">
          <a:xfrm flipV="1">
            <a:off x="915988" y="3324225"/>
            <a:ext cx="592137" cy="14763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9338" name="Text Box 10">
            <a:extLst>
              <a:ext uri="{FF2B5EF4-FFF2-40B4-BE49-F238E27FC236}">
                <a16:creationId xmlns:a16="http://schemas.microsoft.com/office/drawing/2014/main" id="{D3266FD9-9CB0-4D75-AAE6-192C17A1A9E2}"/>
              </a:ext>
            </a:extLst>
          </p:cNvPr>
          <p:cNvSpPr txBox="1">
            <a:spLocks noChangeArrowheads="1"/>
          </p:cNvSpPr>
          <p:nvPr/>
        </p:nvSpPr>
        <p:spPr bwMode="auto">
          <a:xfrm>
            <a:off x="4518025" y="3422650"/>
            <a:ext cx="1566863"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And a thin contaminant film on the inside of your windshield</a:t>
            </a:r>
          </a:p>
        </p:txBody>
      </p:sp>
      <p:sp>
        <p:nvSpPr>
          <p:cNvPr id="99340" name="Oval 12">
            <a:extLst>
              <a:ext uri="{FF2B5EF4-FFF2-40B4-BE49-F238E27FC236}">
                <a16:creationId xmlns:a16="http://schemas.microsoft.com/office/drawing/2014/main" id="{5A0D8697-60B1-44E0-82B3-390863CB7434}"/>
              </a:ext>
            </a:extLst>
          </p:cNvPr>
          <p:cNvSpPr>
            <a:spLocks noChangeArrowheads="1"/>
          </p:cNvSpPr>
          <p:nvPr/>
        </p:nvSpPr>
        <p:spPr bwMode="auto">
          <a:xfrm>
            <a:off x="1538288" y="3092450"/>
            <a:ext cx="919162" cy="260350"/>
          </a:xfrm>
          <a:prstGeom prst="ellipse">
            <a:avLst/>
          </a:prstGeom>
          <a:noFill/>
          <a:ln w="28575">
            <a:solidFill>
              <a:schemeClr val="tx1"/>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9341" name="Text Box 13">
            <a:extLst>
              <a:ext uri="{FF2B5EF4-FFF2-40B4-BE49-F238E27FC236}">
                <a16:creationId xmlns:a16="http://schemas.microsoft.com/office/drawing/2014/main" id="{0AA6D012-3641-42F5-907F-F003F3B03F31}"/>
              </a:ext>
            </a:extLst>
          </p:cNvPr>
          <p:cNvSpPr txBox="1">
            <a:spLocks noChangeArrowheads="1"/>
          </p:cNvSpPr>
          <p:nvPr/>
        </p:nvSpPr>
        <p:spPr bwMode="auto">
          <a:xfrm>
            <a:off x="433388" y="6081713"/>
            <a:ext cx="2365375" cy="61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Tending to increase </a:t>
            </a:r>
            <a:r>
              <a:rPr lang="en-US" altLang="en-US" sz="900" i="1">
                <a:sym typeface="Symbol" charset="2"/>
              </a:rPr>
              <a:t>  and raise equilibrium temperature over time  (historical values increased by a factor of 4 or 5 from beginning to end of life)</a:t>
            </a:r>
            <a:endParaRPr lang="en-US" altLang="en-US" sz="900" i="1"/>
          </a:p>
        </p:txBody>
      </p:sp>
      <p:sp>
        <p:nvSpPr>
          <p:cNvPr id="99342" name="Line 14">
            <a:extLst>
              <a:ext uri="{FF2B5EF4-FFF2-40B4-BE49-F238E27FC236}">
                <a16:creationId xmlns:a16="http://schemas.microsoft.com/office/drawing/2014/main" id="{CA82BE4E-7E1F-4B3D-BAD3-34B64850929C}"/>
              </a:ext>
            </a:extLst>
          </p:cNvPr>
          <p:cNvSpPr>
            <a:spLocks noChangeShapeType="1"/>
          </p:cNvSpPr>
          <p:nvPr/>
        </p:nvSpPr>
        <p:spPr bwMode="auto">
          <a:xfrm flipV="1">
            <a:off x="619125" y="4846638"/>
            <a:ext cx="1147763" cy="123825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9343" name="Text Box 15">
            <a:extLst>
              <a:ext uri="{FF2B5EF4-FFF2-40B4-BE49-F238E27FC236}">
                <a16:creationId xmlns:a16="http://schemas.microsoft.com/office/drawing/2014/main" id="{00F2B5E2-0A61-4397-9296-D7D6E6B854EC}"/>
              </a:ext>
            </a:extLst>
          </p:cNvPr>
          <p:cNvSpPr txBox="1">
            <a:spLocks noChangeArrowheads="1"/>
          </p:cNvSpPr>
          <p:nvPr/>
        </p:nvSpPr>
        <p:spPr bwMode="auto">
          <a:xfrm>
            <a:off x="4446588" y="6126163"/>
            <a:ext cx="2366962"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Once released, molecules follow ballistic trajectories and randomly impact other surfaces in line of sight</a:t>
            </a:r>
          </a:p>
          <a:p>
            <a:pPr>
              <a:defRPr/>
            </a:pPr>
            <a:endParaRPr lang="en-US" altLang="en-US" sz="900" i="1"/>
          </a:p>
          <a:p>
            <a:pPr>
              <a:defRPr/>
            </a:pPr>
            <a:r>
              <a:rPr lang="en-US" altLang="en-US" sz="900" i="1">
                <a:sym typeface="Symbol" charset="2"/>
              </a:rPr>
              <a:t>   alter thermal and optical properties</a:t>
            </a:r>
            <a:endParaRPr lang="en-US" altLang="en-US" sz="900" i="1"/>
          </a:p>
        </p:txBody>
      </p:sp>
      <p:sp>
        <p:nvSpPr>
          <p:cNvPr id="99344" name="Line 16">
            <a:extLst>
              <a:ext uri="{FF2B5EF4-FFF2-40B4-BE49-F238E27FC236}">
                <a16:creationId xmlns:a16="http://schemas.microsoft.com/office/drawing/2014/main" id="{646AFBF4-4D5A-4CD8-A363-E0F282DECA2A}"/>
              </a:ext>
            </a:extLst>
          </p:cNvPr>
          <p:cNvSpPr>
            <a:spLocks noChangeShapeType="1"/>
          </p:cNvSpPr>
          <p:nvPr/>
        </p:nvSpPr>
        <p:spPr bwMode="auto">
          <a:xfrm flipH="1" flipV="1">
            <a:off x="4219575" y="3948113"/>
            <a:ext cx="2055813" cy="2136775"/>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9345" name="Arc 17">
            <a:extLst>
              <a:ext uri="{FF2B5EF4-FFF2-40B4-BE49-F238E27FC236}">
                <a16:creationId xmlns:a16="http://schemas.microsoft.com/office/drawing/2014/main" id="{1DCE02C9-8977-40EE-A699-2982092148F3}"/>
              </a:ext>
            </a:extLst>
          </p:cNvPr>
          <p:cNvSpPr>
            <a:spLocks/>
          </p:cNvSpPr>
          <p:nvPr/>
        </p:nvSpPr>
        <p:spPr bwMode="auto">
          <a:xfrm flipH="1" flipV="1">
            <a:off x="922338" y="3948113"/>
            <a:ext cx="1423987" cy="757237"/>
          </a:xfrm>
          <a:custGeom>
            <a:avLst/>
            <a:gdLst>
              <a:gd name="T0" fmla="*/ 804553 w 21600"/>
              <a:gd name="T1" fmla="*/ 0 h 36970"/>
              <a:gd name="T2" fmla="*/ 658990 w 21600"/>
              <a:gd name="T3" fmla="*/ 757237 h 36970"/>
              <a:gd name="T4" fmla="*/ 0 w 21600"/>
              <a:gd name="T5" fmla="*/ 365039 h 36970"/>
              <a:gd name="T6" fmla="*/ 0 60000 65536"/>
              <a:gd name="T7" fmla="*/ 0 60000 65536"/>
              <a:gd name="T8" fmla="*/ 0 60000 65536"/>
            </a:gdLst>
            <a:ahLst/>
            <a:cxnLst>
              <a:cxn ang="T6">
                <a:pos x="T0" y="T1"/>
              </a:cxn>
              <a:cxn ang="T7">
                <a:pos x="T2" y="T3"/>
              </a:cxn>
              <a:cxn ang="T8">
                <a:pos x="T4" y="T5"/>
              </a:cxn>
            </a:cxnLst>
            <a:rect l="0" t="0" r="r" b="b"/>
            <a:pathLst>
              <a:path w="21600" h="36970" fill="none" extrusionOk="0">
                <a:moveTo>
                  <a:pt x="12203" y="0"/>
                </a:moveTo>
                <a:cubicBezTo>
                  <a:pt x="18084" y="4026"/>
                  <a:pt x="21600" y="10695"/>
                  <a:pt x="21600" y="17822"/>
                </a:cubicBezTo>
                <a:cubicBezTo>
                  <a:pt x="21600" y="25867"/>
                  <a:pt x="17128" y="33246"/>
                  <a:pt x="9995" y="36969"/>
                </a:cubicBezTo>
              </a:path>
              <a:path w="21600" h="36970" stroke="0" extrusionOk="0">
                <a:moveTo>
                  <a:pt x="12203" y="0"/>
                </a:moveTo>
                <a:cubicBezTo>
                  <a:pt x="18084" y="4026"/>
                  <a:pt x="21600" y="10695"/>
                  <a:pt x="21600" y="17822"/>
                </a:cubicBezTo>
                <a:cubicBezTo>
                  <a:pt x="21600" y="25867"/>
                  <a:pt x="17128" y="33246"/>
                  <a:pt x="9995" y="36969"/>
                </a:cubicBezTo>
                <a:lnTo>
                  <a:pt x="0" y="17822"/>
                </a:lnTo>
                <a:lnTo>
                  <a:pt x="12203" y="0"/>
                </a:lnTo>
                <a:close/>
              </a:path>
            </a:pathLst>
          </a:custGeom>
          <a:noFill/>
          <a:ln w="12700">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endParaRPr lang="en-US"/>
          </a:p>
        </p:txBody>
      </p:sp>
      <p:sp>
        <p:nvSpPr>
          <p:cNvPr id="2" name="Notes Placeholder 1">
            <a:extLst>
              <a:ext uri="{FF2B5EF4-FFF2-40B4-BE49-F238E27FC236}">
                <a16:creationId xmlns:a16="http://schemas.microsoft.com/office/drawing/2014/main" id="{FA481945-2415-4D39-A810-860DE5179F89}"/>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The reason for this unexpected behavior is that when the atoms in contact are all of the same kind, there is no way for the atoms to “know” that they are in different pieces of copper. When there are other atoms, in the oxides and greases and more complicated thin surface layers of contaminants in between, the atoms “know” when they are not on the same part.</a:t>
            </a:r>
          </a:p>
          <a:p>
            <a:r>
              <a:rPr lang="en-US" sz="1200" b="0" i="1" kern="1200" dirty="0">
                <a:solidFill>
                  <a:schemeClr val="tx1"/>
                </a:solidFill>
                <a:effectLst/>
                <a:latin typeface="+mn-lt"/>
                <a:ea typeface="+mn-ea"/>
                <a:cs typeface="+mn-cs"/>
              </a:rPr>
              <a:t>— </a:t>
            </a:r>
            <a:r>
              <a:rPr lang="en-US" sz="1200" b="0" i="1" u="none" strike="noStrike" kern="1200" dirty="0">
                <a:solidFill>
                  <a:schemeClr val="tx1"/>
                </a:solidFill>
                <a:effectLst/>
                <a:latin typeface="+mn-lt"/>
                <a:ea typeface="+mn-ea"/>
                <a:cs typeface="+mn-cs"/>
                <a:hlinkClick r:id="rId3" tooltip="Richard Feynman"/>
              </a:rPr>
              <a:t>Richard Feynman</a:t>
            </a:r>
            <a:r>
              <a:rPr lang="en-US" sz="1200" b="0" i="1" kern="1200" dirty="0">
                <a:solidFill>
                  <a:schemeClr val="tx1"/>
                </a:solidFill>
                <a:effectLst/>
                <a:latin typeface="+mn-lt"/>
                <a:ea typeface="+mn-ea"/>
                <a:cs typeface="+mn-cs"/>
              </a:rPr>
              <a:t>, </a:t>
            </a:r>
            <a:r>
              <a:rPr lang="en-US" sz="1200" b="0" i="1" u="none" strike="noStrike" kern="1200" dirty="0">
                <a:solidFill>
                  <a:schemeClr val="tx1"/>
                </a:solidFill>
                <a:effectLst/>
                <a:latin typeface="+mn-lt"/>
                <a:ea typeface="+mn-ea"/>
                <a:cs typeface="+mn-cs"/>
                <a:hlinkClick r:id="rId4" tooltip="The Feynman Lectures"/>
              </a:rPr>
              <a:t>The Feynman Lectures</a:t>
            </a:r>
            <a:r>
              <a:rPr lang="en-US" sz="1200" b="0" i="1" kern="1200" dirty="0">
                <a:solidFill>
                  <a:schemeClr val="tx1"/>
                </a:solidFill>
                <a:effectLst/>
                <a:latin typeface="+mn-lt"/>
                <a:ea typeface="+mn-ea"/>
                <a:cs typeface="+mn-cs"/>
              </a:rPr>
              <a:t>, 12–2 Friction</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Cold welding were later observed, for example in 1991 Galileo Spacecraft</a:t>
            </a:r>
            <a:r>
              <a:rPr lang="en-US" sz="1200" b="0" i="0" u="none" strike="noStrike" kern="1200" baseline="30000" dirty="0">
                <a:solidFill>
                  <a:schemeClr val="tx1"/>
                </a:solidFill>
                <a:effectLst/>
                <a:latin typeface="+mn-lt"/>
                <a:ea typeface="+mn-ea"/>
                <a:cs typeface="+mn-cs"/>
                <a:hlinkClick r:id="rId5"/>
              </a:rPr>
              <a:t>[1]</a:t>
            </a:r>
            <a:r>
              <a:rPr lang="en-US" sz="1200" b="0" i="0" kern="1200" dirty="0">
                <a:solidFill>
                  <a:schemeClr val="tx1"/>
                </a:solidFill>
                <a:effectLst/>
                <a:latin typeface="+mn-lt"/>
                <a:ea typeface="+mn-ea"/>
                <a:cs typeface="+mn-cs"/>
              </a:rPr>
              <a:t>on its way to Jupiter. During the deployment sequence of the High Gain Antenna, the antenna, which opens like an umbrella, never reached the fully deployed position.</a:t>
            </a:r>
            <a:endParaRPr lang="en-US" dirty="0"/>
          </a:p>
        </p:txBody>
      </p:sp>
    </p:spTree>
    <p:extLst>
      <p:ext uri="{BB962C8B-B14F-4D97-AF65-F5344CB8AC3E}">
        <p14:creationId xmlns:p14="http://schemas.microsoft.com/office/powerpoint/2010/main" val="3495514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9336D-51AB-4064-B30C-BAC3C673D9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5B76037-4598-42B1-B3D4-2F51A8D9C9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DD3217-258C-449B-8CCB-44032219B5B7}"/>
              </a:ext>
            </a:extLst>
          </p:cNvPr>
          <p:cNvSpPr>
            <a:spLocks noGrp="1"/>
          </p:cNvSpPr>
          <p:nvPr>
            <p:ph type="dt" sz="half" idx="10"/>
          </p:nvPr>
        </p:nvSpPr>
        <p:spPr/>
        <p:txBody>
          <a:bodyPr/>
          <a:lstStyle/>
          <a:p>
            <a:fld id="{AB3E354E-1E37-4E8A-8CCE-58AEC7345759}" type="datetime1">
              <a:rPr lang="en-US" smtClean="0"/>
              <a:t>7/21/2026</a:t>
            </a:fld>
            <a:endParaRPr lang="en-US"/>
          </a:p>
        </p:txBody>
      </p:sp>
      <p:sp>
        <p:nvSpPr>
          <p:cNvPr id="5" name="Footer Placeholder 4">
            <a:extLst>
              <a:ext uri="{FF2B5EF4-FFF2-40B4-BE49-F238E27FC236}">
                <a16:creationId xmlns:a16="http://schemas.microsoft.com/office/drawing/2014/main" id="{B0E0E9E9-AA7E-45E4-8489-2C7038C0AA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60582B-FBF5-4923-8547-205EB23AA0B2}"/>
              </a:ext>
            </a:extLst>
          </p:cNvPr>
          <p:cNvSpPr>
            <a:spLocks noGrp="1"/>
          </p:cNvSpPr>
          <p:nvPr>
            <p:ph type="sldNum" sz="quarter" idx="12"/>
          </p:nvPr>
        </p:nvSpPr>
        <p:spPr/>
        <p:txBody>
          <a:bodyPr/>
          <a:lstStyle/>
          <a:p>
            <a:fld id="{7DE213D0-F4A8-4002-9EDD-2AA04CFB5054}" type="slidenum">
              <a:rPr lang="en-US" smtClean="0"/>
              <a:t>‹#›</a:t>
            </a:fld>
            <a:endParaRPr lang="en-US"/>
          </a:p>
        </p:txBody>
      </p:sp>
    </p:spTree>
    <p:extLst>
      <p:ext uri="{BB962C8B-B14F-4D97-AF65-F5344CB8AC3E}">
        <p14:creationId xmlns:p14="http://schemas.microsoft.com/office/powerpoint/2010/main" val="3935326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A629B-A399-44A3-B033-0FA820D77C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FB63AB-6AD8-41BA-BBBC-01CC22EEB3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0EEBD8-7313-4FB9-86F9-A5D86E2EBA12}"/>
              </a:ext>
            </a:extLst>
          </p:cNvPr>
          <p:cNvSpPr>
            <a:spLocks noGrp="1"/>
          </p:cNvSpPr>
          <p:nvPr>
            <p:ph type="dt" sz="half" idx="10"/>
          </p:nvPr>
        </p:nvSpPr>
        <p:spPr/>
        <p:txBody>
          <a:bodyPr/>
          <a:lstStyle/>
          <a:p>
            <a:fld id="{DF4E0849-8DD0-48DD-B69D-79A889C2D448}" type="datetime1">
              <a:rPr lang="en-US" smtClean="0"/>
              <a:t>7/21/2026</a:t>
            </a:fld>
            <a:endParaRPr lang="en-US"/>
          </a:p>
        </p:txBody>
      </p:sp>
      <p:sp>
        <p:nvSpPr>
          <p:cNvPr id="5" name="Footer Placeholder 4">
            <a:extLst>
              <a:ext uri="{FF2B5EF4-FFF2-40B4-BE49-F238E27FC236}">
                <a16:creationId xmlns:a16="http://schemas.microsoft.com/office/drawing/2014/main" id="{239ECDDB-C7BF-4E82-901F-0441EBC07F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571577-2F4F-4631-A2EC-DDE0C6A5B08A}"/>
              </a:ext>
            </a:extLst>
          </p:cNvPr>
          <p:cNvSpPr>
            <a:spLocks noGrp="1"/>
          </p:cNvSpPr>
          <p:nvPr>
            <p:ph type="sldNum" sz="quarter" idx="12"/>
          </p:nvPr>
        </p:nvSpPr>
        <p:spPr/>
        <p:txBody>
          <a:bodyPr/>
          <a:lstStyle/>
          <a:p>
            <a:fld id="{7DE213D0-F4A8-4002-9EDD-2AA04CFB5054}" type="slidenum">
              <a:rPr lang="en-US" smtClean="0"/>
              <a:t>‹#›</a:t>
            </a:fld>
            <a:endParaRPr lang="en-US"/>
          </a:p>
        </p:txBody>
      </p:sp>
    </p:spTree>
    <p:extLst>
      <p:ext uri="{BB962C8B-B14F-4D97-AF65-F5344CB8AC3E}">
        <p14:creationId xmlns:p14="http://schemas.microsoft.com/office/powerpoint/2010/main" val="1445270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6986-D7FF-4DFC-A85B-17F58DA1F8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1FD2A68-D8E4-426F-826E-0AB4D595F9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2206D8-4B3B-4D93-B41F-EA18A2398758}"/>
              </a:ext>
            </a:extLst>
          </p:cNvPr>
          <p:cNvSpPr>
            <a:spLocks noGrp="1"/>
          </p:cNvSpPr>
          <p:nvPr>
            <p:ph type="dt" sz="half" idx="10"/>
          </p:nvPr>
        </p:nvSpPr>
        <p:spPr/>
        <p:txBody>
          <a:bodyPr/>
          <a:lstStyle/>
          <a:p>
            <a:fld id="{175B44C2-3BF1-41B3-90DB-5F719E6658BB}" type="datetime1">
              <a:rPr lang="en-US" smtClean="0"/>
              <a:t>7/21/2026</a:t>
            </a:fld>
            <a:endParaRPr lang="en-US"/>
          </a:p>
        </p:txBody>
      </p:sp>
      <p:sp>
        <p:nvSpPr>
          <p:cNvPr id="5" name="Footer Placeholder 4">
            <a:extLst>
              <a:ext uri="{FF2B5EF4-FFF2-40B4-BE49-F238E27FC236}">
                <a16:creationId xmlns:a16="http://schemas.microsoft.com/office/drawing/2014/main" id="{0F8C7FCA-DE9A-4FF3-B7DD-FC091CC1A1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5C9A3D-B3B6-480A-A1F9-6A0670671684}"/>
              </a:ext>
            </a:extLst>
          </p:cNvPr>
          <p:cNvSpPr>
            <a:spLocks noGrp="1"/>
          </p:cNvSpPr>
          <p:nvPr>
            <p:ph type="sldNum" sz="quarter" idx="12"/>
          </p:nvPr>
        </p:nvSpPr>
        <p:spPr/>
        <p:txBody>
          <a:bodyPr/>
          <a:lstStyle/>
          <a:p>
            <a:fld id="{7DE213D0-F4A8-4002-9EDD-2AA04CFB5054}" type="slidenum">
              <a:rPr lang="en-US" smtClean="0"/>
              <a:t>‹#›</a:t>
            </a:fld>
            <a:endParaRPr lang="en-US"/>
          </a:p>
        </p:txBody>
      </p:sp>
    </p:spTree>
    <p:extLst>
      <p:ext uri="{BB962C8B-B14F-4D97-AF65-F5344CB8AC3E}">
        <p14:creationId xmlns:p14="http://schemas.microsoft.com/office/powerpoint/2010/main" val="958848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F5043-9AF2-4BEE-BD1F-C0D7C7D58D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34ADF3-B954-4723-9B60-660A2843FF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54D22A5-565D-4ED2-AF51-4CD4B436F2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CF429D-0CB9-4886-A27D-C500D1A4E332}"/>
              </a:ext>
            </a:extLst>
          </p:cNvPr>
          <p:cNvSpPr>
            <a:spLocks noGrp="1"/>
          </p:cNvSpPr>
          <p:nvPr>
            <p:ph type="dt" sz="half" idx="10"/>
          </p:nvPr>
        </p:nvSpPr>
        <p:spPr/>
        <p:txBody>
          <a:bodyPr/>
          <a:lstStyle/>
          <a:p>
            <a:fld id="{83EC9C13-4DC8-432D-A349-0AFD52170E98}" type="datetime1">
              <a:rPr lang="en-US" smtClean="0"/>
              <a:t>7/21/2026</a:t>
            </a:fld>
            <a:endParaRPr lang="en-US"/>
          </a:p>
        </p:txBody>
      </p:sp>
      <p:sp>
        <p:nvSpPr>
          <p:cNvPr id="6" name="Footer Placeholder 5">
            <a:extLst>
              <a:ext uri="{FF2B5EF4-FFF2-40B4-BE49-F238E27FC236}">
                <a16:creationId xmlns:a16="http://schemas.microsoft.com/office/drawing/2014/main" id="{B398CA7C-7CD8-424E-9D59-3439CF782A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611B00-543E-411F-A9A8-48CB132F7538}"/>
              </a:ext>
            </a:extLst>
          </p:cNvPr>
          <p:cNvSpPr>
            <a:spLocks noGrp="1"/>
          </p:cNvSpPr>
          <p:nvPr>
            <p:ph type="sldNum" sz="quarter" idx="12"/>
          </p:nvPr>
        </p:nvSpPr>
        <p:spPr/>
        <p:txBody>
          <a:bodyPr/>
          <a:lstStyle/>
          <a:p>
            <a:fld id="{7DE213D0-F4A8-4002-9EDD-2AA04CFB5054}" type="slidenum">
              <a:rPr lang="en-US" smtClean="0"/>
              <a:t>‹#›</a:t>
            </a:fld>
            <a:endParaRPr lang="en-US"/>
          </a:p>
        </p:txBody>
      </p:sp>
    </p:spTree>
    <p:extLst>
      <p:ext uri="{BB962C8B-B14F-4D97-AF65-F5344CB8AC3E}">
        <p14:creationId xmlns:p14="http://schemas.microsoft.com/office/powerpoint/2010/main" val="501004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AF457-5E17-4229-8949-7739E7A5841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072998-9E0C-4279-AC1C-1159108F50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EBDD1D-32F9-43E6-B5F1-495712BB3B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9A0E4E-7D8F-4E25-935C-60091720A8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04F620-72FB-4B1C-AB1D-E8D252BE2B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798B2A-99E8-4B5D-BE5F-0D3E8FB57318}"/>
              </a:ext>
            </a:extLst>
          </p:cNvPr>
          <p:cNvSpPr>
            <a:spLocks noGrp="1"/>
          </p:cNvSpPr>
          <p:nvPr>
            <p:ph type="dt" sz="half" idx="10"/>
          </p:nvPr>
        </p:nvSpPr>
        <p:spPr/>
        <p:txBody>
          <a:bodyPr/>
          <a:lstStyle/>
          <a:p>
            <a:fld id="{3AD1296D-A13D-4099-AEBC-D3783189353D}" type="datetime1">
              <a:rPr lang="en-US" smtClean="0"/>
              <a:t>7/21/2026</a:t>
            </a:fld>
            <a:endParaRPr lang="en-US"/>
          </a:p>
        </p:txBody>
      </p:sp>
      <p:sp>
        <p:nvSpPr>
          <p:cNvPr id="8" name="Footer Placeholder 7">
            <a:extLst>
              <a:ext uri="{FF2B5EF4-FFF2-40B4-BE49-F238E27FC236}">
                <a16:creationId xmlns:a16="http://schemas.microsoft.com/office/drawing/2014/main" id="{8B3BF04C-7C3D-4474-B569-0286ADB89A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DEEF8CB-B686-4AB2-A4E2-D3CA0BD92BAD}"/>
              </a:ext>
            </a:extLst>
          </p:cNvPr>
          <p:cNvSpPr>
            <a:spLocks noGrp="1"/>
          </p:cNvSpPr>
          <p:nvPr>
            <p:ph type="sldNum" sz="quarter" idx="12"/>
          </p:nvPr>
        </p:nvSpPr>
        <p:spPr/>
        <p:txBody>
          <a:bodyPr/>
          <a:lstStyle/>
          <a:p>
            <a:fld id="{7DE213D0-F4A8-4002-9EDD-2AA04CFB5054}" type="slidenum">
              <a:rPr lang="en-US" smtClean="0"/>
              <a:t>‹#›</a:t>
            </a:fld>
            <a:endParaRPr lang="en-US"/>
          </a:p>
        </p:txBody>
      </p:sp>
    </p:spTree>
    <p:extLst>
      <p:ext uri="{BB962C8B-B14F-4D97-AF65-F5344CB8AC3E}">
        <p14:creationId xmlns:p14="http://schemas.microsoft.com/office/powerpoint/2010/main" val="3926559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7AF04-A7DB-45B3-B10C-D4DED478C3E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7FA6D1-F137-47E3-B27A-55B3B4869A42}"/>
              </a:ext>
            </a:extLst>
          </p:cNvPr>
          <p:cNvSpPr>
            <a:spLocks noGrp="1"/>
          </p:cNvSpPr>
          <p:nvPr>
            <p:ph type="dt" sz="half" idx="10"/>
          </p:nvPr>
        </p:nvSpPr>
        <p:spPr/>
        <p:txBody>
          <a:bodyPr/>
          <a:lstStyle/>
          <a:p>
            <a:fld id="{8FE7A55A-5500-4D22-A1B0-CDA797E8C8A1}" type="datetime1">
              <a:rPr lang="en-US" smtClean="0"/>
              <a:t>7/21/2026</a:t>
            </a:fld>
            <a:endParaRPr lang="en-US"/>
          </a:p>
        </p:txBody>
      </p:sp>
      <p:sp>
        <p:nvSpPr>
          <p:cNvPr id="4" name="Footer Placeholder 3">
            <a:extLst>
              <a:ext uri="{FF2B5EF4-FFF2-40B4-BE49-F238E27FC236}">
                <a16:creationId xmlns:a16="http://schemas.microsoft.com/office/drawing/2014/main" id="{30E06873-3F70-4F6C-8011-25B0042998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97C19C-DB9F-4618-B51B-7252EE187CFA}"/>
              </a:ext>
            </a:extLst>
          </p:cNvPr>
          <p:cNvSpPr>
            <a:spLocks noGrp="1"/>
          </p:cNvSpPr>
          <p:nvPr>
            <p:ph type="sldNum" sz="quarter" idx="12"/>
          </p:nvPr>
        </p:nvSpPr>
        <p:spPr/>
        <p:txBody>
          <a:bodyPr/>
          <a:lstStyle/>
          <a:p>
            <a:fld id="{7DE213D0-F4A8-4002-9EDD-2AA04CFB5054}" type="slidenum">
              <a:rPr lang="en-US" smtClean="0"/>
              <a:t>‹#›</a:t>
            </a:fld>
            <a:endParaRPr lang="en-US"/>
          </a:p>
        </p:txBody>
      </p:sp>
    </p:spTree>
    <p:extLst>
      <p:ext uri="{BB962C8B-B14F-4D97-AF65-F5344CB8AC3E}">
        <p14:creationId xmlns:p14="http://schemas.microsoft.com/office/powerpoint/2010/main" val="1716140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35F89A-0683-491B-95EA-90EB96887EF2}"/>
              </a:ext>
            </a:extLst>
          </p:cNvPr>
          <p:cNvSpPr>
            <a:spLocks noGrp="1"/>
          </p:cNvSpPr>
          <p:nvPr>
            <p:ph type="dt" sz="half" idx="10"/>
          </p:nvPr>
        </p:nvSpPr>
        <p:spPr/>
        <p:txBody>
          <a:bodyPr/>
          <a:lstStyle/>
          <a:p>
            <a:fld id="{517CA98F-061B-47D5-81BF-252FE1BBC25C}" type="datetime1">
              <a:rPr lang="en-US" smtClean="0"/>
              <a:t>7/21/2026</a:t>
            </a:fld>
            <a:endParaRPr lang="en-US"/>
          </a:p>
        </p:txBody>
      </p:sp>
      <p:sp>
        <p:nvSpPr>
          <p:cNvPr id="3" name="Footer Placeholder 2">
            <a:extLst>
              <a:ext uri="{FF2B5EF4-FFF2-40B4-BE49-F238E27FC236}">
                <a16:creationId xmlns:a16="http://schemas.microsoft.com/office/drawing/2014/main" id="{112282B0-F173-4EF6-9268-E4BDA869BF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8C65CE-828D-4082-91F7-D2AB7D587178}"/>
              </a:ext>
            </a:extLst>
          </p:cNvPr>
          <p:cNvSpPr>
            <a:spLocks noGrp="1"/>
          </p:cNvSpPr>
          <p:nvPr>
            <p:ph type="sldNum" sz="quarter" idx="12"/>
          </p:nvPr>
        </p:nvSpPr>
        <p:spPr/>
        <p:txBody>
          <a:bodyPr/>
          <a:lstStyle/>
          <a:p>
            <a:fld id="{7DE213D0-F4A8-4002-9EDD-2AA04CFB5054}" type="slidenum">
              <a:rPr lang="en-US" smtClean="0"/>
              <a:t>‹#›</a:t>
            </a:fld>
            <a:endParaRPr lang="en-US"/>
          </a:p>
        </p:txBody>
      </p:sp>
    </p:spTree>
    <p:extLst>
      <p:ext uri="{BB962C8B-B14F-4D97-AF65-F5344CB8AC3E}">
        <p14:creationId xmlns:p14="http://schemas.microsoft.com/office/powerpoint/2010/main" val="1998449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C4C49-E768-451C-8FAF-30F9DA0608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A57835-0EFE-4BE0-971F-4C94916AFC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D5D085-3B3E-41F9-B2A9-6048FACF7A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94E556-D497-4E98-8FE5-7B016592BE2B}"/>
              </a:ext>
            </a:extLst>
          </p:cNvPr>
          <p:cNvSpPr>
            <a:spLocks noGrp="1"/>
          </p:cNvSpPr>
          <p:nvPr>
            <p:ph type="dt" sz="half" idx="10"/>
          </p:nvPr>
        </p:nvSpPr>
        <p:spPr/>
        <p:txBody>
          <a:bodyPr/>
          <a:lstStyle/>
          <a:p>
            <a:fld id="{2AAA5612-3E9D-4F32-9039-38F600E42F8B}" type="datetime1">
              <a:rPr lang="en-US" smtClean="0"/>
              <a:t>7/21/2026</a:t>
            </a:fld>
            <a:endParaRPr lang="en-US"/>
          </a:p>
        </p:txBody>
      </p:sp>
      <p:sp>
        <p:nvSpPr>
          <p:cNvPr id="6" name="Footer Placeholder 5">
            <a:extLst>
              <a:ext uri="{FF2B5EF4-FFF2-40B4-BE49-F238E27FC236}">
                <a16:creationId xmlns:a16="http://schemas.microsoft.com/office/drawing/2014/main" id="{5A7CAA7C-543B-4E11-A5F5-A4DEC82FF8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8EDEA9-8A68-4AE2-AD6B-49ADBAD1E20B}"/>
              </a:ext>
            </a:extLst>
          </p:cNvPr>
          <p:cNvSpPr>
            <a:spLocks noGrp="1"/>
          </p:cNvSpPr>
          <p:nvPr>
            <p:ph type="sldNum" sz="quarter" idx="12"/>
          </p:nvPr>
        </p:nvSpPr>
        <p:spPr/>
        <p:txBody>
          <a:bodyPr/>
          <a:lstStyle/>
          <a:p>
            <a:fld id="{7DE213D0-F4A8-4002-9EDD-2AA04CFB5054}" type="slidenum">
              <a:rPr lang="en-US" smtClean="0"/>
              <a:t>‹#›</a:t>
            </a:fld>
            <a:endParaRPr lang="en-US"/>
          </a:p>
        </p:txBody>
      </p:sp>
    </p:spTree>
    <p:extLst>
      <p:ext uri="{BB962C8B-B14F-4D97-AF65-F5344CB8AC3E}">
        <p14:creationId xmlns:p14="http://schemas.microsoft.com/office/powerpoint/2010/main" val="1746694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3C01D-725C-4BB5-BEE8-A221B99783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A6F102-305E-4819-9B9E-B3FBDEC730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2A9BEC6-FDC1-43F3-B788-1D3F6BE5E3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6751AB-0BBC-48F8-9E59-F724E61FE98B}"/>
              </a:ext>
            </a:extLst>
          </p:cNvPr>
          <p:cNvSpPr>
            <a:spLocks noGrp="1"/>
          </p:cNvSpPr>
          <p:nvPr>
            <p:ph type="dt" sz="half" idx="10"/>
          </p:nvPr>
        </p:nvSpPr>
        <p:spPr/>
        <p:txBody>
          <a:bodyPr/>
          <a:lstStyle/>
          <a:p>
            <a:fld id="{7B0356BC-4EE3-4FBB-AF82-C3B854C01100}" type="datetime1">
              <a:rPr lang="en-US" smtClean="0"/>
              <a:t>7/21/2026</a:t>
            </a:fld>
            <a:endParaRPr lang="en-US"/>
          </a:p>
        </p:txBody>
      </p:sp>
      <p:sp>
        <p:nvSpPr>
          <p:cNvPr id="6" name="Footer Placeholder 5">
            <a:extLst>
              <a:ext uri="{FF2B5EF4-FFF2-40B4-BE49-F238E27FC236}">
                <a16:creationId xmlns:a16="http://schemas.microsoft.com/office/drawing/2014/main" id="{4070299A-B7F4-40C0-A36C-44B02AC560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B30844-6847-4BF1-9C15-E3A1646665BF}"/>
              </a:ext>
            </a:extLst>
          </p:cNvPr>
          <p:cNvSpPr>
            <a:spLocks noGrp="1"/>
          </p:cNvSpPr>
          <p:nvPr>
            <p:ph type="sldNum" sz="quarter" idx="12"/>
          </p:nvPr>
        </p:nvSpPr>
        <p:spPr/>
        <p:txBody>
          <a:bodyPr/>
          <a:lstStyle/>
          <a:p>
            <a:fld id="{7DE213D0-F4A8-4002-9EDD-2AA04CFB5054}" type="slidenum">
              <a:rPr lang="en-US" smtClean="0"/>
              <a:t>‹#›</a:t>
            </a:fld>
            <a:endParaRPr lang="en-US"/>
          </a:p>
        </p:txBody>
      </p:sp>
    </p:spTree>
    <p:extLst>
      <p:ext uri="{BB962C8B-B14F-4D97-AF65-F5344CB8AC3E}">
        <p14:creationId xmlns:p14="http://schemas.microsoft.com/office/powerpoint/2010/main" val="690500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A2C28-FF67-498F-B798-9E10FF4B0C4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E06F3B-AA34-4BC0-925F-D0A3E1939F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D43CFD-015A-415B-8C2C-713AF2204169}"/>
              </a:ext>
            </a:extLst>
          </p:cNvPr>
          <p:cNvSpPr>
            <a:spLocks noGrp="1"/>
          </p:cNvSpPr>
          <p:nvPr>
            <p:ph type="dt" sz="half" idx="10"/>
          </p:nvPr>
        </p:nvSpPr>
        <p:spPr/>
        <p:txBody>
          <a:bodyPr/>
          <a:lstStyle/>
          <a:p>
            <a:fld id="{82DEF66C-3539-4532-A55D-9838A4A946C7}" type="datetime1">
              <a:rPr lang="en-US" smtClean="0"/>
              <a:t>7/21/2026</a:t>
            </a:fld>
            <a:endParaRPr lang="en-US"/>
          </a:p>
        </p:txBody>
      </p:sp>
      <p:sp>
        <p:nvSpPr>
          <p:cNvPr id="5" name="Footer Placeholder 4">
            <a:extLst>
              <a:ext uri="{FF2B5EF4-FFF2-40B4-BE49-F238E27FC236}">
                <a16:creationId xmlns:a16="http://schemas.microsoft.com/office/drawing/2014/main" id="{18021E14-A879-4235-B3E9-E188935DFC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8105F9-7232-4ED5-8CF6-ACFB5C0791A0}"/>
              </a:ext>
            </a:extLst>
          </p:cNvPr>
          <p:cNvSpPr>
            <a:spLocks noGrp="1"/>
          </p:cNvSpPr>
          <p:nvPr>
            <p:ph type="sldNum" sz="quarter" idx="12"/>
          </p:nvPr>
        </p:nvSpPr>
        <p:spPr/>
        <p:txBody>
          <a:bodyPr/>
          <a:lstStyle/>
          <a:p>
            <a:fld id="{7DE213D0-F4A8-4002-9EDD-2AA04CFB5054}" type="slidenum">
              <a:rPr lang="en-US" smtClean="0"/>
              <a:t>‹#›</a:t>
            </a:fld>
            <a:endParaRPr lang="en-US"/>
          </a:p>
        </p:txBody>
      </p:sp>
    </p:spTree>
    <p:extLst>
      <p:ext uri="{BB962C8B-B14F-4D97-AF65-F5344CB8AC3E}">
        <p14:creationId xmlns:p14="http://schemas.microsoft.com/office/powerpoint/2010/main" val="1146272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62C0E8-5FF7-4959-8A0B-B1FC55E2C11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08B109-571F-4DC5-88A1-30901F9618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2175D4-646B-4CD9-8270-8944A8A48E2B}"/>
              </a:ext>
            </a:extLst>
          </p:cNvPr>
          <p:cNvSpPr>
            <a:spLocks noGrp="1"/>
          </p:cNvSpPr>
          <p:nvPr>
            <p:ph type="dt" sz="half" idx="10"/>
          </p:nvPr>
        </p:nvSpPr>
        <p:spPr/>
        <p:txBody>
          <a:bodyPr/>
          <a:lstStyle/>
          <a:p>
            <a:fld id="{8955ED1B-8452-4EAF-84BF-48AA9598FF0B}" type="datetime1">
              <a:rPr lang="en-US" smtClean="0"/>
              <a:t>7/21/2026</a:t>
            </a:fld>
            <a:endParaRPr lang="en-US"/>
          </a:p>
        </p:txBody>
      </p:sp>
      <p:sp>
        <p:nvSpPr>
          <p:cNvPr id="5" name="Footer Placeholder 4">
            <a:extLst>
              <a:ext uri="{FF2B5EF4-FFF2-40B4-BE49-F238E27FC236}">
                <a16:creationId xmlns:a16="http://schemas.microsoft.com/office/drawing/2014/main" id="{1EBDB902-3C43-411A-B819-910C315CF0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CDB9B1-DCB1-4709-8CE4-F9094DB7AFE6}"/>
              </a:ext>
            </a:extLst>
          </p:cNvPr>
          <p:cNvSpPr>
            <a:spLocks noGrp="1"/>
          </p:cNvSpPr>
          <p:nvPr>
            <p:ph type="sldNum" sz="quarter" idx="12"/>
          </p:nvPr>
        </p:nvSpPr>
        <p:spPr/>
        <p:txBody>
          <a:bodyPr/>
          <a:lstStyle/>
          <a:p>
            <a:fld id="{7DE213D0-F4A8-4002-9EDD-2AA04CFB5054}" type="slidenum">
              <a:rPr lang="en-US" smtClean="0"/>
              <a:t>‹#›</a:t>
            </a:fld>
            <a:endParaRPr lang="en-US"/>
          </a:p>
        </p:txBody>
      </p:sp>
    </p:spTree>
    <p:extLst>
      <p:ext uri="{BB962C8B-B14F-4D97-AF65-F5344CB8AC3E}">
        <p14:creationId xmlns:p14="http://schemas.microsoft.com/office/powerpoint/2010/main" val="2454832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1F63A2-9A8E-4C39-93EB-E5211F459F09}" type="datetime1">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15610272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A7A7BF-615B-4D90-A1F3-59F7EFBBA5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02E0F0C-C8AA-412C-B855-FF8A064BF1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BB585-CB65-4F4E-BA1A-B62B6D521D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A90F8D-64DA-4A84-8B2D-D4F64346AFF7}" type="datetime1">
              <a:rPr lang="en-US" smtClean="0"/>
              <a:t>7/21/2026</a:t>
            </a:fld>
            <a:endParaRPr lang="en-US"/>
          </a:p>
        </p:txBody>
      </p:sp>
      <p:sp>
        <p:nvSpPr>
          <p:cNvPr id="5" name="Footer Placeholder 4">
            <a:extLst>
              <a:ext uri="{FF2B5EF4-FFF2-40B4-BE49-F238E27FC236}">
                <a16:creationId xmlns:a16="http://schemas.microsoft.com/office/drawing/2014/main" id="{D05702A6-9B99-476D-8D25-8B57B20FAA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DB5BED5-2E5E-4B74-AD2A-67B9327AC9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E213D0-F4A8-4002-9EDD-2AA04CFB5054}" type="slidenum">
              <a:rPr lang="en-US" smtClean="0"/>
              <a:t>‹#›</a:t>
            </a:fld>
            <a:endParaRPr lang="en-US"/>
          </a:p>
        </p:txBody>
      </p:sp>
    </p:spTree>
    <p:extLst>
      <p:ext uri="{BB962C8B-B14F-4D97-AF65-F5344CB8AC3E}">
        <p14:creationId xmlns:p14="http://schemas.microsoft.com/office/powerpoint/2010/main" val="265981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6.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slideLayout" Target="../slideLayouts/slideLayout6.xml"/><Relationship Id="rId1" Type="http://schemas.openxmlformats.org/officeDocument/2006/relationships/video" Target="https://www.youtube.com/embed/K4DksMCWzfw?feature=oembed" TargetMode="External"/><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bin"/><Relationship Id="rId1" Type="http://schemas.openxmlformats.org/officeDocument/2006/relationships/slideLayout" Target="../slideLayouts/slideLayout6.xml"/><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hyperlink" Target="https://outgassing.nasa.gov/"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slideLayout" Target="../slideLayouts/slideLayout6.xml"/><Relationship Id="rId1" Type="http://schemas.openxmlformats.org/officeDocument/2006/relationships/video" Target="https://www.youtube.com/embed/Y2nQ8isf55s?feature=oembed"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0.png"/><Relationship Id="rId1" Type="http://schemas.openxmlformats.org/officeDocument/2006/relationships/slideLayout" Target="../slideLayouts/slideLayout6.xml"/><Relationship Id="rId5" Type="http://schemas.openxmlformats.org/officeDocument/2006/relationships/image" Target="../media/image170.png"/><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240.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hyperlink" Target="http://blog.parker.com/why-is-outgassing-critical-in-optics-and-electronics-applications#:~:text=Weight%20loss%20of%20compounds%20in%20a%20vacuum%20,Report%20%20%200.39%20%20%200.17%20" TargetMode="External"/><Relationship Id="rId2" Type="http://schemas.openxmlformats.org/officeDocument/2006/relationships/hyperlink" Target="https://www.chemistrylearner.com/chemical-reactions/decomposition-reaction" TargetMode="External"/><Relationship Id="rId1" Type="http://schemas.openxmlformats.org/officeDocument/2006/relationships/slideLayout" Target="../slideLayouts/slideLayout12.xml"/><Relationship Id="rId5" Type="http://schemas.openxmlformats.org/officeDocument/2006/relationships/hyperlink" Target="https://www.solarpowerworldonline.com/2010/08/fused-quartz-a-critical-component-of-the-solar-power-industry/" TargetMode="External"/><Relationship Id="rId4" Type="http://schemas.openxmlformats.org/officeDocument/2006/relationships/hyperlink" Target="https://planetfacts.org/outgass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1162C-B206-4FCC-BE4C-C29852AECCEA}"/>
              </a:ext>
            </a:extLst>
          </p:cNvPr>
          <p:cNvSpPr>
            <a:spLocks noGrp="1"/>
          </p:cNvSpPr>
          <p:nvPr>
            <p:ph type="ctrTitle"/>
          </p:nvPr>
        </p:nvSpPr>
        <p:spPr>
          <a:xfrm>
            <a:off x="1524000" y="555350"/>
            <a:ext cx="4572000" cy="2387600"/>
          </a:xfrm>
        </p:spPr>
        <p:txBody>
          <a:bodyPr>
            <a:normAutofit fontScale="90000"/>
          </a:bodyPr>
          <a:lstStyle/>
          <a:p>
            <a:r>
              <a:rPr lang="en-US" b="1" dirty="0"/>
              <a:t>SPCE 5065</a:t>
            </a:r>
            <a:br>
              <a:rPr lang="en-US" b="1" dirty="0"/>
            </a:br>
            <a:r>
              <a:rPr lang="en-US" b="1" dirty="0"/>
              <a:t>VACUUM ENVIRONMENT</a:t>
            </a:r>
          </a:p>
        </p:txBody>
      </p:sp>
      <p:sp>
        <p:nvSpPr>
          <p:cNvPr id="3" name="Subtitle 2">
            <a:extLst>
              <a:ext uri="{FF2B5EF4-FFF2-40B4-BE49-F238E27FC236}">
                <a16:creationId xmlns:a16="http://schemas.microsoft.com/office/drawing/2014/main" id="{053603A8-3E04-4413-8502-8C54E2F25CEB}"/>
              </a:ext>
            </a:extLst>
          </p:cNvPr>
          <p:cNvSpPr>
            <a:spLocks noGrp="1"/>
          </p:cNvSpPr>
          <p:nvPr>
            <p:ph type="subTitle" idx="1"/>
          </p:nvPr>
        </p:nvSpPr>
        <p:spPr>
          <a:xfrm>
            <a:off x="1653305" y="3632200"/>
            <a:ext cx="3887423" cy="1655762"/>
          </a:xfrm>
        </p:spPr>
        <p:txBody>
          <a:bodyPr>
            <a:normAutofit fontScale="47500" lnSpcReduction="20000"/>
          </a:bodyPr>
          <a:lstStyle/>
          <a:p>
            <a:pPr>
              <a:spcBef>
                <a:spcPct val="50000"/>
              </a:spcBef>
            </a:pPr>
            <a:r>
              <a:rPr lang="en-US" sz="9600" b="1" dirty="0"/>
              <a:t>Part 2:  Contamination</a:t>
            </a:r>
          </a:p>
          <a:p>
            <a:pPr lvl="8">
              <a:spcBef>
                <a:spcPct val="50000"/>
              </a:spcBef>
              <a:buFontTx/>
              <a:buChar char="•"/>
            </a:pPr>
            <a:endParaRPr lang="en-US" altLang="en-US" sz="7200" dirty="0">
              <a:solidFill>
                <a:schemeClr val="bg1"/>
              </a:solidFill>
              <a:latin typeface="Arial" panose="020B0604020202020204" pitchFamily="34" charset="0"/>
            </a:endParaRPr>
          </a:p>
          <a:p>
            <a:endParaRPr lang="en-US" b="1" dirty="0">
              <a:solidFill>
                <a:srgbClr val="FFFF00"/>
              </a:solidFill>
            </a:endParaRPr>
          </a:p>
        </p:txBody>
      </p:sp>
      <p:pic>
        <p:nvPicPr>
          <p:cNvPr id="4" name="Picture 2">
            <a:extLst>
              <a:ext uri="{FF2B5EF4-FFF2-40B4-BE49-F238E27FC236}">
                <a16:creationId xmlns:a16="http://schemas.microsoft.com/office/drawing/2014/main" id="{311269B3-0D8A-24F0-7C20-8CE3A25621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0" y="0"/>
            <a:ext cx="457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7885E625-0A12-ABA8-969E-732021DE42E1}"/>
              </a:ext>
            </a:extLst>
          </p:cNvPr>
          <p:cNvSpPr>
            <a:spLocks noGrp="1"/>
          </p:cNvSpPr>
          <p:nvPr>
            <p:ph type="sldNum" sz="quarter" idx="12"/>
          </p:nvPr>
        </p:nvSpPr>
        <p:spPr/>
        <p:txBody>
          <a:bodyPr/>
          <a:lstStyle/>
          <a:p>
            <a:fld id="{7DE213D0-F4A8-4002-9EDD-2AA04CFB5054}" type="slidenum">
              <a:rPr lang="en-US" smtClean="0"/>
              <a:t>1</a:t>
            </a:fld>
            <a:endParaRPr lang="en-US"/>
          </a:p>
        </p:txBody>
      </p:sp>
    </p:spTree>
    <p:extLst>
      <p:ext uri="{BB962C8B-B14F-4D97-AF65-F5344CB8AC3E}">
        <p14:creationId xmlns:p14="http://schemas.microsoft.com/office/powerpoint/2010/main" val="731467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29654-D452-AB93-D4B7-C2394F8779AF}"/>
              </a:ext>
            </a:extLst>
          </p:cNvPr>
          <p:cNvSpPr>
            <a:spLocks noGrp="1"/>
          </p:cNvSpPr>
          <p:nvPr>
            <p:ph type="title"/>
          </p:nvPr>
        </p:nvSpPr>
        <p:spPr/>
        <p:txBody>
          <a:bodyPr/>
          <a:lstStyle/>
          <a:p>
            <a:pPr algn="ctr"/>
            <a:r>
              <a:rPr lang="en-US" dirty="0"/>
              <a:t>CONTAMINATION</a:t>
            </a:r>
          </a:p>
        </p:txBody>
      </p:sp>
      <p:sp>
        <p:nvSpPr>
          <p:cNvPr id="4" name="Slide Number Placeholder 3">
            <a:extLst>
              <a:ext uri="{FF2B5EF4-FFF2-40B4-BE49-F238E27FC236}">
                <a16:creationId xmlns:a16="http://schemas.microsoft.com/office/drawing/2014/main" id="{72A99D1B-DA1C-324D-0E37-49F344A1F808}"/>
              </a:ext>
            </a:extLst>
          </p:cNvPr>
          <p:cNvSpPr>
            <a:spLocks noGrp="1"/>
          </p:cNvSpPr>
          <p:nvPr>
            <p:ph type="sldNum" sz="quarter" idx="12"/>
          </p:nvPr>
        </p:nvSpPr>
        <p:spPr/>
        <p:txBody>
          <a:bodyPr/>
          <a:lstStyle/>
          <a:p>
            <a:fld id="{7DE213D0-F4A8-4002-9EDD-2AA04CFB5054}" type="slidenum">
              <a:rPr lang="en-US" smtClean="0"/>
              <a:t>2</a:t>
            </a:fld>
            <a:endParaRPr lang="en-US"/>
          </a:p>
        </p:txBody>
      </p:sp>
    </p:spTree>
    <p:extLst>
      <p:ext uri="{BB962C8B-B14F-4D97-AF65-F5344CB8AC3E}">
        <p14:creationId xmlns:p14="http://schemas.microsoft.com/office/powerpoint/2010/main" val="2000466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E9DBC-51DC-0F2E-7F97-5D1A141586CB}"/>
              </a:ext>
            </a:extLst>
          </p:cNvPr>
          <p:cNvSpPr>
            <a:spLocks noGrp="1"/>
          </p:cNvSpPr>
          <p:nvPr>
            <p:ph type="title"/>
          </p:nvPr>
        </p:nvSpPr>
        <p:spPr>
          <a:xfrm>
            <a:off x="838200" y="365126"/>
            <a:ext cx="10515600" cy="524782"/>
          </a:xfrm>
        </p:spPr>
        <p:txBody>
          <a:bodyPr>
            <a:normAutofit fontScale="90000"/>
          </a:bodyPr>
          <a:lstStyle/>
          <a:p>
            <a:pPr algn="ctr"/>
            <a:r>
              <a:rPr lang="en-US" dirty="0"/>
              <a:t>CONTAMINATION EXAMPLE</a:t>
            </a:r>
          </a:p>
        </p:txBody>
      </p:sp>
      <p:pic>
        <p:nvPicPr>
          <p:cNvPr id="5" name="Picture 4">
            <a:extLst>
              <a:ext uri="{FF2B5EF4-FFF2-40B4-BE49-F238E27FC236}">
                <a16:creationId xmlns:a16="http://schemas.microsoft.com/office/drawing/2014/main" id="{9073D6E9-19F8-8988-EB8A-C9C7A5BAB78D}"/>
              </a:ext>
            </a:extLst>
          </p:cNvPr>
          <p:cNvPicPr>
            <a:picLocks noChangeAspect="1"/>
          </p:cNvPicPr>
          <p:nvPr/>
        </p:nvPicPr>
        <p:blipFill>
          <a:blip r:embed="rId2"/>
          <a:stretch>
            <a:fillRect/>
          </a:stretch>
        </p:blipFill>
        <p:spPr>
          <a:xfrm>
            <a:off x="1043245" y="1012060"/>
            <a:ext cx="9505012" cy="5845940"/>
          </a:xfrm>
          <a:prstGeom prst="rect">
            <a:avLst/>
          </a:prstGeom>
        </p:spPr>
      </p:pic>
      <p:sp>
        <p:nvSpPr>
          <p:cNvPr id="3" name="Slide Number Placeholder 2">
            <a:extLst>
              <a:ext uri="{FF2B5EF4-FFF2-40B4-BE49-F238E27FC236}">
                <a16:creationId xmlns:a16="http://schemas.microsoft.com/office/drawing/2014/main" id="{186206C9-924B-C883-0E14-362305768C3A}"/>
              </a:ext>
            </a:extLst>
          </p:cNvPr>
          <p:cNvSpPr>
            <a:spLocks noGrp="1"/>
          </p:cNvSpPr>
          <p:nvPr>
            <p:ph type="sldNum" sz="quarter" idx="12"/>
          </p:nvPr>
        </p:nvSpPr>
        <p:spPr/>
        <p:txBody>
          <a:bodyPr/>
          <a:lstStyle/>
          <a:p>
            <a:fld id="{7DE213D0-F4A8-4002-9EDD-2AA04CFB5054}" type="slidenum">
              <a:rPr lang="en-US" smtClean="0"/>
              <a:t>3</a:t>
            </a:fld>
            <a:endParaRPr lang="en-US"/>
          </a:p>
        </p:txBody>
      </p:sp>
    </p:spTree>
    <p:extLst>
      <p:ext uri="{BB962C8B-B14F-4D97-AF65-F5344CB8AC3E}">
        <p14:creationId xmlns:p14="http://schemas.microsoft.com/office/powerpoint/2010/main" val="723317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3DDCB-F250-36D3-3674-30D7B0997B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2D2A44-64F0-4419-2C67-A0F335FC2270}"/>
              </a:ext>
            </a:extLst>
          </p:cNvPr>
          <p:cNvSpPr>
            <a:spLocks noGrp="1"/>
          </p:cNvSpPr>
          <p:nvPr>
            <p:ph type="title"/>
          </p:nvPr>
        </p:nvSpPr>
        <p:spPr>
          <a:xfrm>
            <a:off x="838200" y="365126"/>
            <a:ext cx="10515600" cy="524782"/>
          </a:xfrm>
        </p:spPr>
        <p:txBody>
          <a:bodyPr>
            <a:normAutofit fontScale="90000"/>
          </a:bodyPr>
          <a:lstStyle/>
          <a:p>
            <a:pPr algn="ctr"/>
            <a:r>
              <a:rPr lang="en-US" dirty="0"/>
              <a:t>CONTAMINATION EXAMPLE</a:t>
            </a:r>
          </a:p>
        </p:txBody>
      </p:sp>
      <p:pic>
        <p:nvPicPr>
          <p:cNvPr id="4" name="Picture 3">
            <a:extLst>
              <a:ext uri="{FF2B5EF4-FFF2-40B4-BE49-F238E27FC236}">
                <a16:creationId xmlns:a16="http://schemas.microsoft.com/office/drawing/2014/main" id="{2B0B47C4-C755-56F9-0E50-73F82663CCBD}"/>
              </a:ext>
            </a:extLst>
          </p:cNvPr>
          <p:cNvPicPr>
            <a:picLocks noChangeAspect="1"/>
          </p:cNvPicPr>
          <p:nvPr/>
        </p:nvPicPr>
        <p:blipFill>
          <a:blip r:embed="rId2"/>
          <a:stretch>
            <a:fillRect/>
          </a:stretch>
        </p:blipFill>
        <p:spPr>
          <a:xfrm>
            <a:off x="1567542" y="803576"/>
            <a:ext cx="9237789" cy="5989109"/>
          </a:xfrm>
          <a:prstGeom prst="rect">
            <a:avLst/>
          </a:prstGeom>
        </p:spPr>
      </p:pic>
      <p:sp>
        <p:nvSpPr>
          <p:cNvPr id="3" name="Slide Number Placeholder 2">
            <a:extLst>
              <a:ext uri="{FF2B5EF4-FFF2-40B4-BE49-F238E27FC236}">
                <a16:creationId xmlns:a16="http://schemas.microsoft.com/office/drawing/2014/main" id="{B66042B0-98EB-99CA-7E8B-86AFA93FC082}"/>
              </a:ext>
            </a:extLst>
          </p:cNvPr>
          <p:cNvSpPr>
            <a:spLocks noGrp="1"/>
          </p:cNvSpPr>
          <p:nvPr>
            <p:ph type="sldNum" sz="quarter" idx="12"/>
          </p:nvPr>
        </p:nvSpPr>
        <p:spPr/>
        <p:txBody>
          <a:bodyPr/>
          <a:lstStyle/>
          <a:p>
            <a:fld id="{7DE213D0-F4A8-4002-9EDD-2AA04CFB5054}" type="slidenum">
              <a:rPr lang="en-US" smtClean="0"/>
              <a:t>4</a:t>
            </a:fld>
            <a:endParaRPr lang="en-US"/>
          </a:p>
        </p:txBody>
      </p:sp>
    </p:spTree>
    <p:extLst>
      <p:ext uri="{BB962C8B-B14F-4D97-AF65-F5344CB8AC3E}">
        <p14:creationId xmlns:p14="http://schemas.microsoft.com/office/powerpoint/2010/main" val="379257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60F83-66C1-178C-E881-8532971CAF3F}"/>
              </a:ext>
            </a:extLst>
          </p:cNvPr>
          <p:cNvSpPr>
            <a:spLocks noGrp="1"/>
          </p:cNvSpPr>
          <p:nvPr>
            <p:ph type="title"/>
          </p:nvPr>
        </p:nvSpPr>
        <p:spPr/>
        <p:txBody>
          <a:bodyPr/>
          <a:lstStyle/>
          <a:p>
            <a:pPr algn="ctr"/>
            <a:r>
              <a:rPr lang="en-US" dirty="0"/>
              <a:t>TYPES OF CONTAMINATION</a:t>
            </a:r>
          </a:p>
        </p:txBody>
      </p:sp>
      <p:sp>
        <p:nvSpPr>
          <p:cNvPr id="3" name="Slide Number Placeholder 2">
            <a:extLst>
              <a:ext uri="{FF2B5EF4-FFF2-40B4-BE49-F238E27FC236}">
                <a16:creationId xmlns:a16="http://schemas.microsoft.com/office/drawing/2014/main" id="{3FCBC53A-09B8-8CC4-301A-86B898FB5D05}"/>
              </a:ext>
            </a:extLst>
          </p:cNvPr>
          <p:cNvSpPr>
            <a:spLocks noGrp="1"/>
          </p:cNvSpPr>
          <p:nvPr>
            <p:ph type="sldNum" sz="quarter" idx="12"/>
          </p:nvPr>
        </p:nvSpPr>
        <p:spPr/>
        <p:txBody>
          <a:bodyPr/>
          <a:lstStyle/>
          <a:p>
            <a:fld id="{7DE213D0-F4A8-4002-9EDD-2AA04CFB5054}" type="slidenum">
              <a:rPr lang="en-US" smtClean="0"/>
              <a:t>5</a:t>
            </a:fld>
            <a:endParaRPr lang="en-US"/>
          </a:p>
        </p:txBody>
      </p:sp>
      <p:sp>
        <p:nvSpPr>
          <p:cNvPr id="4" name="TextBox 3">
            <a:extLst>
              <a:ext uri="{FF2B5EF4-FFF2-40B4-BE49-F238E27FC236}">
                <a16:creationId xmlns:a16="http://schemas.microsoft.com/office/drawing/2014/main" id="{418CA6A7-43E6-1C83-74EB-AF81601035EE}"/>
              </a:ext>
            </a:extLst>
          </p:cNvPr>
          <p:cNvSpPr txBox="1"/>
          <p:nvPr/>
        </p:nvSpPr>
        <p:spPr>
          <a:xfrm>
            <a:off x="393768" y="1798589"/>
            <a:ext cx="7985382" cy="4247317"/>
          </a:xfrm>
          <a:prstGeom prst="rect">
            <a:avLst/>
          </a:prstGeom>
          <a:noFill/>
        </p:spPr>
        <p:txBody>
          <a:bodyPr wrap="square" rtlCol="0">
            <a:spAutoFit/>
          </a:bodyPr>
          <a:lstStyle/>
          <a:p>
            <a:pPr marL="285750" indent="-285750">
              <a:buFontTx/>
              <a:buChar char="-"/>
            </a:pPr>
            <a:r>
              <a:rPr lang="en-US" dirty="0"/>
              <a:t>Molecular</a:t>
            </a:r>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r>
              <a:rPr lang="en-US" dirty="0"/>
              <a:t>Particulate</a:t>
            </a:r>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r>
              <a:rPr lang="en-US" dirty="0"/>
              <a:t>Biological</a:t>
            </a:r>
          </a:p>
        </p:txBody>
      </p:sp>
      <p:pic>
        <p:nvPicPr>
          <p:cNvPr id="2050" name="Picture 2" descr="Ah, that new car smell: NASA technology protects spacecraft from outgassed molecular contaminants">
            <a:extLst>
              <a:ext uri="{FF2B5EF4-FFF2-40B4-BE49-F238E27FC236}">
                <a16:creationId xmlns:a16="http://schemas.microsoft.com/office/drawing/2014/main" id="{043739FD-6609-4147-5B21-B05FB7C9A2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600" y="1328256"/>
            <a:ext cx="3581400" cy="26860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These dust mites were found floating in a globule of water on board the Mir Space Station">
            <a:extLst>
              <a:ext uri="{FF2B5EF4-FFF2-40B4-BE49-F238E27FC236}">
                <a16:creationId xmlns:a16="http://schemas.microsoft.com/office/drawing/2014/main" id="{97A39171-2A91-5810-05FC-32624E783E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4022" y="4589756"/>
            <a:ext cx="4311639" cy="229954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ee the source image">
            <a:extLst>
              <a:ext uri="{FF2B5EF4-FFF2-40B4-BE49-F238E27FC236}">
                <a16:creationId xmlns:a16="http://schemas.microsoft.com/office/drawing/2014/main" id="{7099B5AA-74B6-2B6C-B5A5-F9DE1866EF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3902" y="1690688"/>
            <a:ext cx="4139573" cy="28899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463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BDB39837-631F-4DED-90C6-C0DC56F5D636}"/>
              </a:ext>
            </a:extLst>
          </p:cNvPr>
          <p:cNvSpPr>
            <a:spLocks noGrp="1" noChangeArrowheads="1"/>
          </p:cNvSpPr>
          <p:nvPr>
            <p:ph type="title"/>
          </p:nvPr>
        </p:nvSpPr>
        <p:spPr>
          <a:xfrm>
            <a:off x="630832" y="1426200"/>
            <a:ext cx="4249006" cy="1325563"/>
          </a:xfrm>
        </p:spPr>
        <p:txBody>
          <a:bodyPr vert="horz" lIns="91440" tIns="45720" rIns="91440" bIns="45720" rtlCol="0" anchor="ctr">
            <a:normAutofit fontScale="90000"/>
          </a:bodyPr>
          <a:lstStyle/>
          <a:p>
            <a:pPr algn="ctr">
              <a:defRPr/>
            </a:pPr>
            <a:r>
              <a:rPr lang="en-US" altLang="en-US" sz="3400" kern="1200" dirty="0">
                <a:solidFill>
                  <a:schemeClr val="tx1"/>
                </a:solidFill>
                <a:latin typeface="+mj-lt"/>
                <a:ea typeface="+mj-ea"/>
                <a:cs typeface="+mj-cs"/>
              </a:rPr>
              <a:t>Vacuum Environment: MOLECULAR CONTAMINATION</a:t>
            </a:r>
          </a:p>
        </p:txBody>
      </p:sp>
      <p:sp>
        <p:nvSpPr>
          <p:cNvPr id="2" name="Slide Number Placeholder 1">
            <a:extLst>
              <a:ext uri="{FF2B5EF4-FFF2-40B4-BE49-F238E27FC236}">
                <a16:creationId xmlns:a16="http://schemas.microsoft.com/office/drawing/2014/main" id="{BAE5F70B-78E4-4A05-8E72-4DF8BFFD1BB4}"/>
              </a:ext>
            </a:extLst>
          </p:cNvPr>
          <p:cNvSpPr>
            <a:spLocks noGrp="1"/>
          </p:cNvSpPr>
          <p:nvPr>
            <p:ph type="sldNum" sz="quarter" idx="12"/>
          </p:nvPr>
        </p:nvSpPr>
        <p:spPr>
          <a:xfrm>
            <a:off x="804484" y="599325"/>
            <a:ext cx="548640" cy="548640"/>
          </a:xfrm>
          <a:prstGeom prst="ellipse">
            <a:avLst/>
          </a:prstGeom>
          <a:solidFill>
            <a:srgbClr val="4F4737"/>
          </a:solidFill>
        </p:spPr>
        <p:txBody>
          <a:bodyPr vert="horz" lIns="91440" tIns="45720" rIns="91440" bIns="45720" rtlCol="0" anchor="ctr">
            <a:normAutofit/>
          </a:bodyPr>
          <a:lstStyle/>
          <a:p>
            <a:pPr algn="ctr">
              <a:spcAft>
                <a:spcPts val="600"/>
              </a:spcAft>
            </a:pPr>
            <a:fld id="{C83C362F-97FB-4C1E-B0F0-C3069DD0CDD1}" type="slidenum">
              <a:rPr lang="en-US" sz="1500">
                <a:solidFill>
                  <a:srgbClr val="FFFFFF"/>
                </a:solidFill>
              </a:rPr>
              <a:pPr algn="ctr">
                <a:spcAft>
                  <a:spcPts val="600"/>
                </a:spcAft>
              </a:pPr>
              <a:t>6</a:t>
            </a:fld>
            <a:endParaRPr lang="en-US" sz="1500">
              <a:solidFill>
                <a:srgbClr val="FFFFFF"/>
              </a:solidFill>
            </a:endParaRPr>
          </a:p>
        </p:txBody>
      </p:sp>
      <p:sp>
        <p:nvSpPr>
          <p:cNvPr id="18436" name="Rectangle 4">
            <a:extLst>
              <a:ext uri="{FF2B5EF4-FFF2-40B4-BE49-F238E27FC236}">
                <a16:creationId xmlns:a16="http://schemas.microsoft.com/office/drawing/2014/main" id="{E6BE146C-1A1E-447E-AA71-79328D2DD954}"/>
              </a:ext>
            </a:extLst>
          </p:cNvPr>
          <p:cNvSpPr>
            <a:spLocks noChangeArrowheads="1"/>
          </p:cNvSpPr>
          <p:nvPr/>
        </p:nvSpPr>
        <p:spPr bwMode="auto">
          <a:xfrm>
            <a:off x="805544" y="2871982"/>
            <a:ext cx="4245428" cy="318168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lIns="91440" tIns="45720" rIns="91440" bIns="45720" rtlCol="0" anchor="t">
            <a:normAutofit/>
          </a:bodyPr>
          <a:lstStyle>
            <a:lvl1pPr marL="342900" indent="-342900">
              <a:defRPr sz="2400">
                <a:solidFill>
                  <a:schemeClr val="tx1"/>
                </a:solidFill>
                <a:latin typeface="Times New Roman" charset="0"/>
              </a:defRPr>
            </a:lvl1pPr>
            <a:lvl2pPr marL="800100" indent="-342900">
              <a:defRPr sz="2400">
                <a:solidFill>
                  <a:schemeClr val="tx1"/>
                </a:solidFill>
                <a:latin typeface="Times New Roman" charset="0"/>
              </a:defRPr>
            </a:lvl2pPr>
            <a:lvl3pPr marL="1320800" indent="-228600">
              <a:defRPr sz="2400">
                <a:solidFill>
                  <a:schemeClr val="tx1"/>
                </a:solidFill>
                <a:latin typeface="Times New Roman" charset="0"/>
              </a:defRPr>
            </a:lvl3pPr>
            <a:lvl4pPr marL="16637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indent="-228600">
              <a:lnSpc>
                <a:spcPct val="90000"/>
              </a:lnSpc>
              <a:spcBef>
                <a:spcPct val="150000"/>
              </a:spcBef>
              <a:buFont typeface="Arial" panose="020B0604020202020204" pitchFamily="34" charset="0"/>
              <a:buChar char="•"/>
              <a:defRPr/>
            </a:pPr>
            <a:r>
              <a:rPr lang="en-US" altLang="en-US" sz="1800">
                <a:latin typeface="+mn-lt"/>
              </a:rPr>
              <a:t>Outgassing – the generation of spurious molecules which may act as contaminants to other surfaces</a:t>
            </a:r>
          </a:p>
          <a:p>
            <a:pPr lvl="1" indent="-228600">
              <a:lnSpc>
                <a:spcPct val="90000"/>
              </a:lnSpc>
              <a:spcBef>
                <a:spcPct val="30000"/>
              </a:spcBef>
              <a:buFont typeface="Arial" panose="020B0604020202020204" pitchFamily="34" charset="0"/>
              <a:buChar char="•"/>
              <a:defRPr/>
            </a:pPr>
            <a:r>
              <a:rPr lang="en-US" altLang="en-US" sz="1800">
                <a:latin typeface="+mn-lt"/>
              </a:rPr>
              <a:t>Surfaces sensitive to contamination include:</a:t>
            </a:r>
          </a:p>
          <a:p>
            <a:pPr lvl="2">
              <a:lnSpc>
                <a:spcPct val="90000"/>
              </a:lnSpc>
              <a:spcBef>
                <a:spcPct val="30000"/>
              </a:spcBef>
              <a:buFont typeface="Arial" panose="020B0604020202020204" pitchFamily="34" charset="0"/>
              <a:buChar char="•"/>
              <a:defRPr/>
            </a:pPr>
            <a:r>
              <a:rPr lang="en-US" altLang="en-US" sz="1800">
                <a:latin typeface="+mn-lt"/>
              </a:rPr>
              <a:t>Thermal control surfaces</a:t>
            </a:r>
          </a:p>
          <a:p>
            <a:pPr lvl="2">
              <a:lnSpc>
                <a:spcPct val="90000"/>
              </a:lnSpc>
              <a:spcBef>
                <a:spcPct val="30000"/>
              </a:spcBef>
              <a:buFont typeface="Arial" panose="020B0604020202020204" pitchFamily="34" charset="0"/>
              <a:buChar char="•"/>
              <a:defRPr/>
            </a:pPr>
            <a:r>
              <a:rPr lang="en-US" altLang="en-US" sz="1800">
                <a:latin typeface="+mn-lt"/>
              </a:rPr>
              <a:t>Solar arrays</a:t>
            </a:r>
          </a:p>
          <a:p>
            <a:pPr lvl="2">
              <a:lnSpc>
                <a:spcPct val="90000"/>
              </a:lnSpc>
              <a:spcBef>
                <a:spcPct val="30000"/>
              </a:spcBef>
              <a:buFont typeface="Arial" panose="020B0604020202020204" pitchFamily="34" charset="0"/>
              <a:buChar char="•"/>
              <a:defRPr/>
            </a:pPr>
            <a:r>
              <a:rPr lang="en-US" altLang="en-US" sz="1800">
                <a:latin typeface="+mn-lt"/>
              </a:rPr>
              <a:t>Optical devices (sun and star sensors, telescopes, camera lenses)</a:t>
            </a:r>
          </a:p>
        </p:txBody>
      </p:sp>
      <p:sp>
        <p:nvSpPr>
          <p:cNvPr id="18441" name="Freeform: Shape 18440">
            <a:extLst>
              <a:ext uri="{FF2B5EF4-FFF2-40B4-BE49-F238E27FC236}">
                <a16:creationId xmlns:a16="http://schemas.microsoft.com/office/drawing/2014/main" id="{A86541C6-61B1-4DAA-B57A-EAF3F24F0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933310" y="1"/>
            <a:ext cx="6488456" cy="3036711"/>
          </a:xfrm>
          <a:custGeom>
            <a:avLst/>
            <a:gdLst>
              <a:gd name="connsiteX0" fmla="*/ 0 w 6488456"/>
              <a:gd name="connsiteY0" fmla="*/ 0 h 3036711"/>
              <a:gd name="connsiteX1" fmla="*/ 6488456 w 6488456"/>
              <a:gd name="connsiteY1" fmla="*/ 0 h 3036711"/>
              <a:gd name="connsiteX2" fmla="*/ 6482686 w 6488456"/>
              <a:gd name="connsiteY2" fmla="*/ 114279 h 3036711"/>
              <a:gd name="connsiteX3" fmla="*/ 3244228 w 6488456"/>
              <a:gd name="connsiteY3" fmla="*/ 3036711 h 3036711"/>
              <a:gd name="connsiteX4" fmla="*/ 5771 w 6488456"/>
              <a:gd name="connsiteY4" fmla="*/ 114279 h 3036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88456" h="3036711">
                <a:moveTo>
                  <a:pt x="0" y="0"/>
                </a:moveTo>
                <a:lnTo>
                  <a:pt x="6488456" y="0"/>
                </a:lnTo>
                <a:lnTo>
                  <a:pt x="6482686" y="114279"/>
                </a:lnTo>
                <a:cubicBezTo>
                  <a:pt x="6315984" y="1755766"/>
                  <a:pt x="4929697" y="3036711"/>
                  <a:pt x="3244228" y="3036711"/>
                </a:cubicBezTo>
                <a:cubicBezTo>
                  <a:pt x="1558760" y="3036711"/>
                  <a:pt x="172473" y="1755766"/>
                  <a:pt x="5771" y="114279"/>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5362" name="Picture 2" descr="https://tse1.mm.bing.net/th?id=OIP.mJvspBqfCemDd794CcD8kAEsCo&amp;pid=15.1&amp;P=0&amp;w=283&amp;h=160">
            <a:extLst>
              <a:ext uri="{FF2B5EF4-FFF2-40B4-BE49-F238E27FC236}">
                <a16:creationId xmlns:a16="http://schemas.microsoft.com/office/drawing/2014/main" id="{E35CB8E1-786F-454C-878F-5B0828EF9ED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 b="16720"/>
          <a:stretch/>
        </p:blipFill>
        <p:spPr bwMode="auto">
          <a:xfrm>
            <a:off x="5142944" y="3"/>
            <a:ext cx="6069184" cy="2839783"/>
          </a:xfrm>
          <a:custGeom>
            <a:avLst/>
            <a:gdLst/>
            <a:ahLst/>
            <a:cxnLst/>
            <a:rect l="l" t="t" r="r" b="b"/>
            <a:pathLst>
              <a:path w="6069184" h="2839783">
                <a:moveTo>
                  <a:pt x="0" y="0"/>
                </a:moveTo>
                <a:lnTo>
                  <a:pt x="6069184" y="0"/>
                </a:lnTo>
                <a:lnTo>
                  <a:pt x="6063823" y="106160"/>
                </a:lnTo>
                <a:cubicBezTo>
                  <a:pt x="5907891" y="1641596"/>
                  <a:pt x="4611168" y="2839783"/>
                  <a:pt x="3034592" y="2839783"/>
                </a:cubicBezTo>
                <a:cubicBezTo>
                  <a:pt x="1458016" y="2839783"/>
                  <a:pt x="161292" y="1641596"/>
                  <a:pt x="5360" y="106160"/>
                </a:cubicBezTo>
                <a:close/>
              </a:path>
            </a:pathLst>
          </a:custGeom>
          <a:noFill/>
          <a:extLst>
            <a:ext uri="{909E8E84-426E-40DD-AFC4-6F175D3DCCD1}">
              <a14:hiddenFill xmlns:a14="http://schemas.microsoft.com/office/drawing/2010/main">
                <a:solidFill>
                  <a:srgbClr val="FFFFFF"/>
                </a:solidFill>
              </a14:hiddenFill>
            </a:ext>
          </a:extLst>
        </p:spPr>
      </p:pic>
      <p:sp>
        <p:nvSpPr>
          <p:cNvPr id="18443" name="Freeform: Shape 18442">
            <a:extLst>
              <a:ext uri="{FF2B5EF4-FFF2-40B4-BE49-F238E27FC236}">
                <a16:creationId xmlns:a16="http://schemas.microsoft.com/office/drawing/2014/main" id="{71750011-2006-46BB-AFDE-C6E4617523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93989" y="2900758"/>
            <a:ext cx="5198011" cy="3957242"/>
          </a:xfrm>
          <a:custGeom>
            <a:avLst/>
            <a:gdLst>
              <a:gd name="connsiteX0" fmla="*/ 1942747 w 5198011"/>
              <a:gd name="connsiteY0" fmla="*/ 0 h 3957242"/>
              <a:gd name="connsiteX1" fmla="*/ 5198011 w 5198011"/>
              <a:gd name="connsiteY1" fmla="*/ 3255264 h 3957242"/>
              <a:gd name="connsiteX2" fmla="*/ 5131876 w 5198011"/>
              <a:gd name="connsiteY2" fmla="*/ 3911314 h 3957242"/>
              <a:gd name="connsiteX3" fmla="*/ 5120066 w 5198011"/>
              <a:gd name="connsiteY3" fmla="*/ 3957242 h 3957242"/>
              <a:gd name="connsiteX4" fmla="*/ 0 w 5198011"/>
              <a:gd name="connsiteY4" fmla="*/ 3957242 h 3957242"/>
              <a:gd name="connsiteX5" fmla="*/ 0 w 5198011"/>
              <a:gd name="connsiteY5" fmla="*/ 647700 h 3957242"/>
              <a:gd name="connsiteX6" fmla="*/ 122698 w 5198011"/>
              <a:gd name="connsiteY6" fmla="*/ 555948 h 3957242"/>
              <a:gd name="connsiteX7" fmla="*/ 1942747 w 5198011"/>
              <a:gd name="connsiteY7" fmla="*/ 0 h 3957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8011" h="3957242">
                <a:moveTo>
                  <a:pt x="1942747" y="0"/>
                </a:moveTo>
                <a:cubicBezTo>
                  <a:pt x="3740580" y="0"/>
                  <a:pt x="5198011" y="1457431"/>
                  <a:pt x="5198011" y="3255264"/>
                </a:cubicBezTo>
                <a:cubicBezTo>
                  <a:pt x="5198011" y="3479993"/>
                  <a:pt x="5175239" y="3699404"/>
                  <a:pt x="5131876" y="3911314"/>
                </a:cubicBezTo>
                <a:lnTo>
                  <a:pt x="5120066" y="3957242"/>
                </a:lnTo>
                <a:lnTo>
                  <a:pt x="0" y="3957242"/>
                </a:lnTo>
                <a:lnTo>
                  <a:pt x="0" y="647700"/>
                </a:lnTo>
                <a:lnTo>
                  <a:pt x="122698" y="555948"/>
                </a:lnTo>
                <a:cubicBezTo>
                  <a:pt x="642241" y="204951"/>
                  <a:pt x="1268560" y="0"/>
                  <a:pt x="1942747" y="0"/>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6" name="Picture 2" descr="See the source image">
            <a:extLst>
              <a:ext uri="{FF2B5EF4-FFF2-40B4-BE49-F238E27FC236}">
                <a16:creationId xmlns:a16="http://schemas.microsoft.com/office/drawing/2014/main" id="{22FFD0A2-CCCD-F506-C3C3-BF499E4E2C4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 b="479"/>
          <a:stretch/>
        </p:blipFill>
        <p:spPr bwMode="auto">
          <a:xfrm>
            <a:off x="7190587" y="3124784"/>
            <a:ext cx="5001415" cy="3733214"/>
          </a:xfrm>
          <a:custGeom>
            <a:avLst/>
            <a:gdLst/>
            <a:ahLst/>
            <a:cxnLst/>
            <a:rect l="l" t="t" r="r" b="b"/>
            <a:pathLst>
              <a:path w="5001415" h="3733214">
                <a:moveTo>
                  <a:pt x="3044952" y="0"/>
                </a:moveTo>
                <a:cubicBezTo>
                  <a:pt x="3780687" y="0"/>
                  <a:pt x="4455477" y="260939"/>
                  <a:pt x="4981824" y="695319"/>
                </a:cubicBezTo>
                <a:lnTo>
                  <a:pt x="5001415" y="713124"/>
                </a:lnTo>
                <a:lnTo>
                  <a:pt x="5001415" y="3733214"/>
                </a:lnTo>
                <a:lnTo>
                  <a:pt x="81043" y="3733214"/>
                </a:lnTo>
                <a:lnTo>
                  <a:pt x="61862" y="3658617"/>
                </a:lnTo>
                <a:cubicBezTo>
                  <a:pt x="21301" y="3460397"/>
                  <a:pt x="0" y="3255162"/>
                  <a:pt x="0" y="3044952"/>
                </a:cubicBezTo>
                <a:cubicBezTo>
                  <a:pt x="0" y="1363271"/>
                  <a:pt x="1363271" y="0"/>
                  <a:pt x="3044952"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115844"/>
      </p:ext>
    </p:extLst>
  </p:cSld>
  <p:clrMapOvr>
    <a:overrideClrMapping bg1="dk1" tx1="lt1" bg2="dk2" tx2="lt2" accent1="accent1" accent2="accent2" accent3="accent3" accent4="accent4" accent5="accent5" accent6="accent6" hlink="hlink" folHlink="folHlink"/>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3" name="Group 12">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4"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5"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txBody>
            <a:bodyPr/>
            <a:lstStyle/>
            <a:p>
              <a:endParaRPr lang="en-US"/>
            </a:p>
          </p:txBody>
        </p:sp>
        <p:sp>
          <p:nvSpPr>
            <p:cNvPr id="16"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txBody>
            <a:bodyPr/>
            <a:lstStyle/>
            <a:p>
              <a:endParaRPr lang="en-US"/>
            </a:p>
          </p:txBody>
        </p:sp>
        <p:sp>
          <p:nvSpPr>
            <p:cNvPr id="17"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8"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22"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A682D6CE-2C85-41F4-BC89-E9E2FA7B0CAE}"/>
              </a:ext>
            </a:extLst>
          </p:cNvPr>
          <p:cNvSpPr>
            <a:spLocks noGrp="1"/>
          </p:cNvSpPr>
          <p:nvPr>
            <p:ph type="title"/>
          </p:nvPr>
        </p:nvSpPr>
        <p:spPr>
          <a:xfrm>
            <a:off x="535020" y="685800"/>
            <a:ext cx="2780271" cy="5105400"/>
          </a:xfrm>
        </p:spPr>
        <p:txBody>
          <a:bodyPr vert="horz" lIns="91440" tIns="45720" rIns="91440" bIns="45720" rtlCol="0" anchor="ctr">
            <a:normAutofit/>
          </a:bodyPr>
          <a:lstStyle/>
          <a:p>
            <a:pPr lvl="0"/>
            <a:r>
              <a:rPr lang="en-US" sz="4000" b="1" kern="1200">
                <a:solidFill>
                  <a:srgbClr val="FFFFFF"/>
                </a:solidFill>
                <a:latin typeface="+mj-lt"/>
                <a:ea typeface="+mj-ea"/>
                <a:cs typeface="+mj-cs"/>
              </a:rPr>
              <a:t>How does outgassing vary? </a:t>
            </a:r>
          </a:p>
        </p:txBody>
      </p:sp>
      <p:sp>
        <p:nvSpPr>
          <p:cNvPr id="4" name="Slide Number Placeholder 3">
            <a:extLst>
              <a:ext uri="{FF2B5EF4-FFF2-40B4-BE49-F238E27FC236}">
                <a16:creationId xmlns:a16="http://schemas.microsoft.com/office/drawing/2014/main" id="{D5E6D3F6-DDC7-6EFB-F1FE-1A3C10DA100C}"/>
              </a:ext>
            </a:extLst>
          </p:cNvPr>
          <p:cNvSpPr>
            <a:spLocks noGrp="1"/>
          </p:cNvSpPr>
          <p:nvPr>
            <p:ph type="sldNum" sz="quarter" idx="12"/>
          </p:nvPr>
        </p:nvSpPr>
        <p:spPr>
          <a:xfrm>
            <a:off x="10265568" y="6309360"/>
            <a:ext cx="1088231" cy="365125"/>
          </a:xfrm>
        </p:spPr>
        <p:txBody>
          <a:bodyPr vert="horz" lIns="91440" tIns="45720" rIns="91440" bIns="45720" rtlCol="0" anchor="ctr">
            <a:normAutofit/>
          </a:bodyPr>
          <a:lstStyle/>
          <a:p>
            <a:pPr>
              <a:spcAft>
                <a:spcPts val="600"/>
              </a:spcAft>
            </a:pPr>
            <a:fld id="{7DE213D0-F4A8-4002-9EDD-2AA04CFB5054}" type="slidenum">
              <a:rPr lang="en-US">
                <a:solidFill>
                  <a:prstClr val="black">
                    <a:tint val="75000"/>
                  </a:prstClr>
                </a:solidFill>
              </a:rPr>
              <a:pPr>
                <a:spcAft>
                  <a:spcPts val="600"/>
                </a:spcAft>
              </a:pPr>
              <a:t>7</a:t>
            </a:fld>
            <a:endParaRPr lang="en-US">
              <a:solidFill>
                <a:prstClr val="black">
                  <a:tint val="75000"/>
                </a:prstClr>
              </a:solidFill>
            </a:endParaRPr>
          </a:p>
        </p:txBody>
      </p:sp>
      <p:graphicFrame>
        <p:nvGraphicFramePr>
          <p:cNvPr id="6" name="TextBox 2">
            <a:extLst>
              <a:ext uri="{FF2B5EF4-FFF2-40B4-BE49-F238E27FC236}">
                <a16:creationId xmlns:a16="http://schemas.microsoft.com/office/drawing/2014/main" id="{FF16F6BC-B6A0-6CDE-5BD1-596A47CDAA0C}"/>
              </a:ext>
            </a:extLst>
          </p:cNvPr>
          <p:cNvGraphicFramePr/>
          <p:nvPr>
            <p:extLst>
              <p:ext uri="{D42A27DB-BD31-4B8C-83A1-F6EECF244321}">
                <p14:modId xmlns:p14="http://schemas.microsoft.com/office/powerpoint/2010/main" val="1629206085"/>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12960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3A9F7-5656-4325-A96F-4CED314EA894}"/>
              </a:ext>
            </a:extLst>
          </p:cNvPr>
          <p:cNvSpPr>
            <a:spLocks noGrp="1"/>
          </p:cNvSpPr>
          <p:nvPr>
            <p:ph type="title"/>
          </p:nvPr>
        </p:nvSpPr>
        <p:spPr>
          <a:xfrm>
            <a:off x="1237303" y="458331"/>
            <a:ext cx="4370344" cy="1325563"/>
          </a:xfrm>
        </p:spPr>
        <p:txBody>
          <a:bodyPr>
            <a:normAutofit/>
          </a:bodyPr>
          <a:lstStyle/>
          <a:p>
            <a:pPr algn="ctr"/>
            <a:r>
              <a:rPr lang="en-US" sz="5400" b="1"/>
              <a:t>OUTGASSING</a:t>
            </a:r>
            <a:endParaRPr lang="en-US" sz="5400" b="1" dirty="0"/>
          </a:p>
        </p:txBody>
      </p:sp>
      <p:sp>
        <p:nvSpPr>
          <p:cNvPr id="3" name="TextBox 2">
            <a:extLst>
              <a:ext uri="{FF2B5EF4-FFF2-40B4-BE49-F238E27FC236}">
                <a16:creationId xmlns:a16="http://schemas.microsoft.com/office/drawing/2014/main" id="{9481F2C3-3A01-4D9D-BB33-B7F20785B7D4}"/>
              </a:ext>
            </a:extLst>
          </p:cNvPr>
          <p:cNvSpPr txBox="1"/>
          <p:nvPr/>
        </p:nvSpPr>
        <p:spPr>
          <a:xfrm>
            <a:off x="666434" y="1781623"/>
            <a:ext cx="6618805" cy="4832092"/>
          </a:xfrm>
          <a:prstGeom prst="rect">
            <a:avLst/>
          </a:prstGeom>
          <a:noFill/>
        </p:spPr>
        <p:txBody>
          <a:bodyPr wrap="square" rtlCol="0">
            <a:spAutoFit/>
          </a:bodyPr>
          <a:lstStyle/>
          <a:p>
            <a:pPr marL="285750" indent="-285750">
              <a:buFontTx/>
              <a:buChar char="-"/>
            </a:pPr>
            <a:r>
              <a:rPr lang="en-US" sz="4400" dirty="0"/>
              <a:t>LARGELY VARIES WITH TIME</a:t>
            </a:r>
          </a:p>
          <a:p>
            <a:endParaRPr lang="en-US" sz="4400" dirty="0"/>
          </a:p>
          <a:p>
            <a:pPr marL="285750" indent="-285750">
              <a:buFontTx/>
              <a:buChar char="-"/>
            </a:pPr>
            <a:r>
              <a:rPr lang="en-US" sz="4400" dirty="0"/>
              <a:t>MECHANISMS</a:t>
            </a:r>
          </a:p>
          <a:p>
            <a:pPr marL="742950" lvl="1" indent="-285750">
              <a:buFontTx/>
              <a:buChar char="-"/>
            </a:pPr>
            <a:r>
              <a:rPr lang="en-US" sz="4400" dirty="0"/>
              <a:t>DESORPTION</a:t>
            </a:r>
          </a:p>
          <a:p>
            <a:pPr marL="742950" lvl="1" indent="-285750">
              <a:buFontTx/>
              <a:buChar char="-"/>
            </a:pPr>
            <a:r>
              <a:rPr lang="en-US" sz="4400" dirty="0"/>
              <a:t>DIFFUSION</a:t>
            </a:r>
          </a:p>
          <a:p>
            <a:pPr marL="742950" lvl="1" indent="-285750">
              <a:buFontTx/>
              <a:buChar char="-"/>
            </a:pPr>
            <a:r>
              <a:rPr lang="en-US" sz="4400" dirty="0"/>
              <a:t>DECOMPOSITION</a:t>
            </a:r>
          </a:p>
        </p:txBody>
      </p:sp>
      <p:pic>
        <p:nvPicPr>
          <p:cNvPr id="1030" name="Picture 6" descr="See the source image">
            <a:extLst>
              <a:ext uri="{FF2B5EF4-FFF2-40B4-BE49-F238E27FC236}">
                <a16:creationId xmlns:a16="http://schemas.microsoft.com/office/drawing/2014/main" id="{0B2A709C-7D53-4194-881E-29698D6EBF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2135" y="4069565"/>
            <a:ext cx="3923431" cy="270848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A5243245-BE98-49B1-A21E-28C720A7AF81}"/>
              </a:ext>
            </a:extLst>
          </p:cNvPr>
          <p:cNvPicPr>
            <a:picLocks noChangeAspect="1"/>
          </p:cNvPicPr>
          <p:nvPr/>
        </p:nvPicPr>
        <p:blipFill>
          <a:blip r:embed="rId3"/>
          <a:stretch>
            <a:fillRect/>
          </a:stretch>
        </p:blipFill>
        <p:spPr>
          <a:xfrm rot="5400000">
            <a:off x="7841626" y="-378433"/>
            <a:ext cx="3488838" cy="4986259"/>
          </a:xfrm>
          <a:prstGeom prst="rect">
            <a:avLst/>
          </a:prstGeom>
        </p:spPr>
      </p:pic>
      <p:sp>
        <p:nvSpPr>
          <p:cNvPr id="4" name="Slide Number Placeholder 3">
            <a:extLst>
              <a:ext uri="{FF2B5EF4-FFF2-40B4-BE49-F238E27FC236}">
                <a16:creationId xmlns:a16="http://schemas.microsoft.com/office/drawing/2014/main" id="{78A64891-7B2F-0DE2-B509-ACEE06802C43}"/>
              </a:ext>
            </a:extLst>
          </p:cNvPr>
          <p:cNvSpPr>
            <a:spLocks noGrp="1"/>
          </p:cNvSpPr>
          <p:nvPr>
            <p:ph type="sldNum" sz="quarter" idx="12"/>
          </p:nvPr>
        </p:nvSpPr>
        <p:spPr/>
        <p:txBody>
          <a:bodyPr/>
          <a:lstStyle/>
          <a:p>
            <a:fld id="{7DE213D0-F4A8-4002-9EDD-2AA04CFB5054}" type="slidenum">
              <a:rPr lang="en-US" smtClean="0"/>
              <a:t>8</a:t>
            </a:fld>
            <a:endParaRPr lang="en-US"/>
          </a:p>
        </p:txBody>
      </p:sp>
    </p:spTree>
    <p:extLst>
      <p:ext uri="{BB962C8B-B14F-4D97-AF65-F5344CB8AC3E}">
        <p14:creationId xmlns:p14="http://schemas.microsoft.com/office/powerpoint/2010/main" val="2135065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0258A-329A-47E8-80FE-EBF6EFD90FDE}"/>
              </a:ext>
            </a:extLst>
          </p:cNvPr>
          <p:cNvSpPr>
            <a:spLocks noGrp="1"/>
          </p:cNvSpPr>
          <p:nvPr>
            <p:ph type="title"/>
          </p:nvPr>
        </p:nvSpPr>
        <p:spPr>
          <a:xfrm>
            <a:off x="790794" y="-309673"/>
            <a:ext cx="10515600" cy="1325563"/>
          </a:xfrm>
        </p:spPr>
        <p:txBody>
          <a:bodyPr>
            <a:normAutofit/>
          </a:bodyPr>
          <a:lstStyle/>
          <a:p>
            <a:pPr algn="ctr"/>
            <a:r>
              <a:rPr lang="en-US" sz="4000" b="1" dirty="0">
                <a:solidFill>
                  <a:srgbClr val="FF0000"/>
                </a:solidFill>
              </a:rPr>
              <a:t>CHARACTISTICS OF OUTGASSING MECHANISMS</a:t>
            </a:r>
          </a:p>
        </p:txBody>
      </p:sp>
      <mc:AlternateContent xmlns:mc="http://schemas.openxmlformats.org/markup-compatibility/2006" xmlns:a14="http://schemas.microsoft.com/office/drawing/2010/main">
        <mc:Choice Requires="a14">
          <p:graphicFrame>
            <p:nvGraphicFramePr>
              <p:cNvPr id="3" name="Table 3">
                <a:extLst>
                  <a:ext uri="{FF2B5EF4-FFF2-40B4-BE49-F238E27FC236}">
                    <a16:creationId xmlns:a16="http://schemas.microsoft.com/office/drawing/2014/main" id="{071CB3E7-86FC-4003-A724-C14F09E8E69A}"/>
                  </a:ext>
                </a:extLst>
              </p:cNvPr>
              <p:cNvGraphicFramePr>
                <a:graphicFrameLocks noGrp="1"/>
              </p:cNvGraphicFramePr>
              <p:nvPr/>
            </p:nvGraphicFramePr>
            <p:xfrm>
              <a:off x="973077" y="4131915"/>
              <a:ext cx="10151035" cy="2684994"/>
            </p:xfrm>
            <a:graphic>
              <a:graphicData uri="http://schemas.openxmlformats.org/drawingml/2006/table">
                <a:tbl>
                  <a:tblPr firstRow="1" bandRow="1">
                    <a:tableStyleId>{5C22544A-7EE6-4342-B048-85BDC9FD1C3A}</a:tableStyleId>
                  </a:tblPr>
                  <a:tblGrid>
                    <a:gridCol w="2543022">
                      <a:extLst>
                        <a:ext uri="{9D8B030D-6E8A-4147-A177-3AD203B41FA5}">
                          <a16:colId xmlns:a16="http://schemas.microsoft.com/office/drawing/2014/main" val="2537790287"/>
                        </a:ext>
                      </a:extLst>
                    </a:gridCol>
                    <a:gridCol w="2532495">
                      <a:extLst>
                        <a:ext uri="{9D8B030D-6E8A-4147-A177-3AD203B41FA5}">
                          <a16:colId xmlns:a16="http://schemas.microsoft.com/office/drawing/2014/main" val="3826407569"/>
                        </a:ext>
                      </a:extLst>
                    </a:gridCol>
                    <a:gridCol w="1691840">
                      <a:extLst>
                        <a:ext uri="{9D8B030D-6E8A-4147-A177-3AD203B41FA5}">
                          <a16:colId xmlns:a16="http://schemas.microsoft.com/office/drawing/2014/main" val="951405096"/>
                        </a:ext>
                      </a:extLst>
                    </a:gridCol>
                    <a:gridCol w="3383678">
                      <a:extLst>
                        <a:ext uri="{9D8B030D-6E8A-4147-A177-3AD203B41FA5}">
                          <a16:colId xmlns:a16="http://schemas.microsoft.com/office/drawing/2014/main" val="1480939334"/>
                        </a:ext>
                      </a:extLst>
                    </a:gridCol>
                  </a:tblGrid>
                  <a:tr h="947445">
                    <a:tc>
                      <a:txBody>
                        <a:bodyPr/>
                        <a:lstStyle/>
                        <a:p>
                          <a:pPr algn="ctr"/>
                          <a:r>
                            <a:rPr lang="en-US" sz="2000" dirty="0"/>
                            <a:t>MECHANISM</a:t>
                          </a:r>
                        </a:p>
                      </a:txBody>
                      <a:tcPr/>
                    </a:tc>
                    <a:tc gridSpan="2">
                      <a:txBody>
                        <a:bodyPr/>
                        <a:lstStyle/>
                        <a:p>
                          <a:pPr algn="ctr"/>
                          <a:r>
                            <a:rPr lang="en-US" sz="2000" dirty="0"/>
                            <a:t>ACTIVATION ENERGY </a:t>
                          </a:r>
                        </a:p>
                        <a:p>
                          <a:pPr algn="ctr"/>
                          <a:r>
                            <a:rPr lang="en-US" sz="2000" dirty="0"/>
                            <a:t>            eV                kcal/mole</a:t>
                          </a:r>
                        </a:p>
                      </a:txBody>
                      <a:tcPr/>
                    </a:tc>
                    <a:tc hMerge="1">
                      <a:txBody>
                        <a:bodyPr/>
                        <a:lstStyle/>
                        <a:p>
                          <a:pPr algn="ctr"/>
                          <a:endParaRPr lang="en-US" sz="3200" dirty="0"/>
                        </a:p>
                      </a:txBody>
                      <a:tcPr/>
                    </a:tc>
                    <a:tc>
                      <a:txBody>
                        <a:bodyPr/>
                        <a:lstStyle/>
                        <a:p>
                          <a:pPr algn="ctr"/>
                          <a:r>
                            <a:rPr lang="en-US" sz="2000" dirty="0"/>
                            <a:t>TIME DEPENDENCE</a:t>
                          </a:r>
                        </a:p>
                      </a:txBody>
                      <a:tcPr/>
                    </a:tc>
                    <a:extLst>
                      <a:ext uri="{0D108BD9-81ED-4DB2-BD59-A6C34878D82A}">
                        <a16:rowId xmlns:a16="http://schemas.microsoft.com/office/drawing/2014/main" val="3944267470"/>
                      </a:ext>
                    </a:extLst>
                  </a:tr>
                  <a:tr h="514328">
                    <a:tc>
                      <a:txBody>
                        <a:bodyPr/>
                        <a:lstStyle/>
                        <a:p>
                          <a:pPr algn="ctr"/>
                          <a:r>
                            <a:rPr lang="en-US" sz="1800" dirty="0"/>
                            <a:t>Desorption</a:t>
                          </a:r>
                        </a:p>
                      </a:txBody>
                      <a:tcPr/>
                    </a:tc>
                    <a:tc>
                      <a:txBody>
                        <a:bodyPr/>
                        <a:lstStyle/>
                        <a:p>
                          <a:pPr algn="ctr"/>
                          <a:r>
                            <a:rPr lang="en-US" sz="1800" dirty="0"/>
                            <a:t>0.0434 - 0.434 </a:t>
                          </a:r>
                        </a:p>
                      </a:txBody>
                      <a:tcPr/>
                    </a:tc>
                    <a:tc>
                      <a:txBody>
                        <a:bodyPr/>
                        <a:lstStyle/>
                        <a:p>
                          <a:pPr algn="ctr"/>
                          <a:r>
                            <a:rPr lang="en-US" sz="1800" dirty="0"/>
                            <a:t>1 – 10</a:t>
                          </a:r>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sz="1800" i="1" smtClean="0">
                                        <a:latin typeface="Cambria Math" panose="02040503050406030204" pitchFamily="18" charset="0"/>
                                      </a:rPr>
                                    </m:ctrlPr>
                                  </m:sSupPr>
                                  <m:e>
                                    <m:r>
                                      <a:rPr lang="en-US" sz="1800" b="0" i="1" smtClean="0">
                                        <a:latin typeface="Cambria Math" panose="02040503050406030204" pitchFamily="18" charset="0"/>
                                      </a:rPr>
                                      <m:t>𝑡</m:t>
                                    </m:r>
                                  </m:e>
                                  <m:sup>
                                    <m:r>
                                      <a:rPr lang="en-US" sz="1800" b="0" i="1" smtClean="0">
                                        <a:latin typeface="Cambria Math" panose="02040503050406030204" pitchFamily="18" charset="0"/>
                                      </a:rPr>
                                      <m:t>−1</m:t>
                                    </m:r>
                                  </m:sup>
                                </m:sSup>
                                <m:r>
                                  <a:rPr lang="en-US" sz="1800" b="0" i="1" smtClean="0">
                                    <a:latin typeface="Cambria Math" panose="02040503050406030204" pitchFamily="18" charset="0"/>
                                  </a:rPr>
                                  <m:t> </m:t>
                                </m:r>
                                <m:r>
                                  <a:rPr lang="en-US" sz="1800" b="0" i="1" smtClean="0">
                                    <a:latin typeface="Cambria Math" panose="02040503050406030204" pitchFamily="18" charset="0"/>
                                  </a:rPr>
                                  <m:t>𝑡𝑜</m:t>
                                </m:r>
                                <m:r>
                                  <a:rPr lang="en-US" sz="1800" b="0" i="1" smtClean="0">
                                    <a:latin typeface="Cambria Math" panose="02040503050406030204" pitchFamily="18" charset="0"/>
                                  </a:rPr>
                                  <m:t> </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𝑡</m:t>
                                    </m:r>
                                  </m:e>
                                  <m:sup>
                                    <m:r>
                                      <a:rPr lang="en-US" sz="1800" b="0" i="1" smtClean="0">
                                        <a:latin typeface="Cambria Math" panose="02040503050406030204" pitchFamily="18" charset="0"/>
                                      </a:rPr>
                                      <m:t>−2</m:t>
                                    </m:r>
                                  </m:sup>
                                </m:sSup>
                              </m:oMath>
                            </m:oMathPara>
                          </a14:m>
                          <a:endParaRPr lang="en-US" sz="1800" dirty="0"/>
                        </a:p>
                      </a:txBody>
                      <a:tcPr/>
                    </a:tc>
                    <a:extLst>
                      <a:ext uri="{0D108BD9-81ED-4DB2-BD59-A6C34878D82A}">
                        <a16:rowId xmlns:a16="http://schemas.microsoft.com/office/drawing/2014/main" val="2821458313"/>
                      </a:ext>
                    </a:extLst>
                  </a:tr>
                  <a:tr h="708893">
                    <a:tc>
                      <a:txBody>
                        <a:bodyPr/>
                        <a:lstStyle/>
                        <a:p>
                          <a:pPr algn="ctr"/>
                          <a:r>
                            <a:rPr lang="en-US" sz="1800" dirty="0"/>
                            <a:t>Diffusion</a:t>
                          </a:r>
                        </a:p>
                      </a:txBody>
                      <a:tcPr/>
                    </a:tc>
                    <a:tc>
                      <a:txBody>
                        <a:bodyPr/>
                        <a:lstStyle/>
                        <a:p>
                          <a:pPr algn="ctr"/>
                          <a:r>
                            <a:rPr lang="en-US" sz="1800" dirty="0"/>
                            <a:t>0.2 - 0.65</a:t>
                          </a:r>
                        </a:p>
                      </a:txBody>
                      <a:tcPr/>
                    </a:tc>
                    <a:tc>
                      <a:txBody>
                        <a:bodyPr/>
                        <a:lstStyle/>
                        <a:p>
                          <a:pPr algn="ctr"/>
                          <a:r>
                            <a:rPr lang="en-US" sz="1800" dirty="0"/>
                            <a:t>5 – 15</a:t>
                          </a:r>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sz="1800" i="1" smtClean="0">
                                        <a:latin typeface="Cambria Math" panose="02040503050406030204" pitchFamily="18" charset="0"/>
                                      </a:rPr>
                                    </m:ctrlPr>
                                  </m:sSupPr>
                                  <m:e>
                                    <m:r>
                                      <a:rPr lang="en-US" sz="1800" b="0" i="1" smtClean="0">
                                        <a:latin typeface="Cambria Math" panose="02040503050406030204" pitchFamily="18" charset="0"/>
                                      </a:rPr>
                                      <m:t>𝑡</m:t>
                                    </m:r>
                                  </m:e>
                                  <m:sup>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r>
                                          <a:rPr lang="en-US" sz="1800" b="0" i="1" smtClean="0">
                                            <a:latin typeface="Cambria Math" panose="02040503050406030204" pitchFamily="18" charset="0"/>
                                          </a:rPr>
                                          <m:t>2</m:t>
                                        </m:r>
                                      </m:den>
                                    </m:f>
                                  </m:sup>
                                </m:sSup>
                              </m:oMath>
                            </m:oMathPara>
                          </a14:m>
                          <a:endParaRPr lang="en-US" sz="1800" dirty="0"/>
                        </a:p>
                      </a:txBody>
                      <a:tcPr/>
                    </a:tc>
                    <a:extLst>
                      <a:ext uri="{0D108BD9-81ED-4DB2-BD59-A6C34878D82A}">
                        <a16:rowId xmlns:a16="http://schemas.microsoft.com/office/drawing/2014/main" val="3443339622"/>
                      </a:ext>
                    </a:extLst>
                  </a:tr>
                  <a:tr h="514328">
                    <a:tc>
                      <a:txBody>
                        <a:bodyPr/>
                        <a:lstStyle/>
                        <a:p>
                          <a:pPr algn="ctr"/>
                          <a:r>
                            <a:rPr lang="en-US" sz="1800" dirty="0"/>
                            <a:t>Decomposition</a:t>
                          </a:r>
                        </a:p>
                      </a:txBody>
                      <a:tcPr/>
                    </a:tc>
                    <a:tc>
                      <a:txBody>
                        <a:bodyPr/>
                        <a:lstStyle/>
                        <a:p>
                          <a:pPr algn="ctr"/>
                          <a:r>
                            <a:rPr lang="en-US" sz="1800" dirty="0"/>
                            <a:t>0.87 -  3.5</a:t>
                          </a:r>
                        </a:p>
                      </a:txBody>
                      <a:tcPr/>
                    </a:tc>
                    <a:tc>
                      <a:txBody>
                        <a:bodyPr/>
                        <a:lstStyle/>
                        <a:p>
                          <a:pPr algn="ctr"/>
                          <a:r>
                            <a:rPr lang="en-US" sz="1800" dirty="0"/>
                            <a:t>20 - 80</a:t>
                          </a:r>
                        </a:p>
                      </a:txBody>
                      <a:tcPr/>
                    </a:tc>
                    <a:tc>
                      <a:txBody>
                        <a:bodyPr/>
                        <a:lstStyle/>
                        <a:p>
                          <a:pPr algn="ctr"/>
                          <a:r>
                            <a:rPr lang="en-US" sz="1800" dirty="0"/>
                            <a:t>n/a</a:t>
                          </a:r>
                        </a:p>
                      </a:txBody>
                      <a:tcPr/>
                    </a:tc>
                    <a:extLst>
                      <a:ext uri="{0D108BD9-81ED-4DB2-BD59-A6C34878D82A}">
                        <a16:rowId xmlns:a16="http://schemas.microsoft.com/office/drawing/2014/main" val="1290359355"/>
                      </a:ext>
                    </a:extLst>
                  </a:tr>
                </a:tbl>
              </a:graphicData>
            </a:graphic>
          </p:graphicFrame>
        </mc:Choice>
        <mc:Fallback xmlns="">
          <p:graphicFrame>
            <p:nvGraphicFramePr>
              <p:cNvPr id="3" name="Table 3">
                <a:extLst>
                  <a:ext uri="{FF2B5EF4-FFF2-40B4-BE49-F238E27FC236}">
                    <a16:creationId xmlns:a16="http://schemas.microsoft.com/office/drawing/2014/main" id="{071CB3E7-86FC-4003-A724-C14F09E8E69A}"/>
                  </a:ext>
                </a:extLst>
              </p:cNvPr>
              <p:cNvGraphicFramePr>
                <a:graphicFrameLocks noGrp="1"/>
              </p:cNvGraphicFramePr>
              <p:nvPr>
                <p:extLst>
                  <p:ext uri="{D42A27DB-BD31-4B8C-83A1-F6EECF244321}">
                    <p14:modId xmlns:p14="http://schemas.microsoft.com/office/powerpoint/2010/main" val="1562720851"/>
                  </p:ext>
                </p:extLst>
              </p:nvPr>
            </p:nvGraphicFramePr>
            <p:xfrm>
              <a:off x="973077" y="4131915"/>
              <a:ext cx="10151035" cy="2684994"/>
            </p:xfrm>
            <a:graphic>
              <a:graphicData uri="http://schemas.openxmlformats.org/drawingml/2006/table">
                <a:tbl>
                  <a:tblPr firstRow="1" bandRow="1">
                    <a:tableStyleId>{5C22544A-7EE6-4342-B048-85BDC9FD1C3A}</a:tableStyleId>
                  </a:tblPr>
                  <a:tblGrid>
                    <a:gridCol w="2543022">
                      <a:extLst>
                        <a:ext uri="{9D8B030D-6E8A-4147-A177-3AD203B41FA5}">
                          <a16:colId xmlns:a16="http://schemas.microsoft.com/office/drawing/2014/main" val="2537790287"/>
                        </a:ext>
                      </a:extLst>
                    </a:gridCol>
                    <a:gridCol w="2532495">
                      <a:extLst>
                        <a:ext uri="{9D8B030D-6E8A-4147-A177-3AD203B41FA5}">
                          <a16:colId xmlns:a16="http://schemas.microsoft.com/office/drawing/2014/main" val="3826407569"/>
                        </a:ext>
                      </a:extLst>
                    </a:gridCol>
                    <a:gridCol w="1691840">
                      <a:extLst>
                        <a:ext uri="{9D8B030D-6E8A-4147-A177-3AD203B41FA5}">
                          <a16:colId xmlns:a16="http://schemas.microsoft.com/office/drawing/2014/main" val="951405096"/>
                        </a:ext>
                      </a:extLst>
                    </a:gridCol>
                    <a:gridCol w="3383678">
                      <a:extLst>
                        <a:ext uri="{9D8B030D-6E8A-4147-A177-3AD203B41FA5}">
                          <a16:colId xmlns:a16="http://schemas.microsoft.com/office/drawing/2014/main" val="1480939334"/>
                        </a:ext>
                      </a:extLst>
                    </a:gridCol>
                  </a:tblGrid>
                  <a:tr h="947445">
                    <a:tc>
                      <a:txBody>
                        <a:bodyPr/>
                        <a:lstStyle/>
                        <a:p>
                          <a:pPr algn="ctr"/>
                          <a:r>
                            <a:rPr lang="en-US" sz="2000" dirty="0"/>
                            <a:t>MECHANISM</a:t>
                          </a:r>
                        </a:p>
                      </a:txBody>
                      <a:tcPr/>
                    </a:tc>
                    <a:tc gridSpan="2">
                      <a:txBody>
                        <a:bodyPr/>
                        <a:lstStyle/>
                        <a:p>
                          <a:pPr algn="ctr"/>
                          <a:r>
                            <a:rPr lang="en-US" sz="2000" dirty="0"/>
                            <a:t>ACTIVATION ENERGY </a:t>
                          </a:r>
                        </a:p>
                        <a:p>
                          <a:pPr algn="ctr"/>
                          <a:r>
                            <a:rPr lang="en-US" sz="2000" dirty="0"/>
                            <a:t>            eV                kcal/mole</a:t>
                          </a:r>
                        </a:p>
                      </a:txBody>
                      <a:tcPr/>
                    </a:tc>
                    <a:tc hMerge="1">
                      <a:txBody>
                        <a:bodyPr/>
                        <a:lstStyle/>
                        <a:p>
                          <a:pPr algn="ctr"/>
                          <a:endParaRPr lang="en-US" sz="3200" dirty="0"/>
                        </a:p>
                      </a:txBody>
                      <a:tcPr/>
                    </a:tc>
                    <a:tc>
                      <a:txBody>
                        <a:bodyPr/>
                        <a:lstStyle/>
                        <a:p>
                          <a:pPr algn="ctr"/>
                          <a:r>
                            <a:rPr lang="en-US" sz="2000" dirty="0"/>
                            <a:t>TIME DEPENDENCE</a:t>
                          </a:r>
                        </a:p>
                      </a:txBody>
                      <a:tcPr/>
                    </a:tc>
                    <a:extLst>
                      <a:ext uri="{0D108BD9-81ED-4DB2-BD59-A6C34878D82A}">
                        <a16:rowId xmlns:a16="http://schemas.microsoft.com/office/drawing/2014/main" val="3944267470"/>
                      </a:ext>
                    </a:extLst>
                  </a:tr>
                  <a:tr h="514328">
                    <a:tc>
                      <a:txBody>
                        <a:bodyPr/>
                        <a:lstStyle/>
                        <a:p>
                          <a:pPr algn="ctr"/>
                          <a:r>
                            <a:rPr lang="en-US" sz="1800" dirty="0"/>
                            <a:t>Desorption</a:t>
                          </a:r>
                        </a:p>
                      </a:txBody>
                      <a:tcPr/>
                    </a:tc>
                    <a:tc>
                      <a:txBody>
                        <a:bodyPr/>
                        <a:lstStyle/>
                        <a:p>
                          <a:pPr algn="ctr"/>
                          <a:r>
                            <a:rPr lang="en-US" sz="1800" dirty="0"/>
                            <a:t>0.0434 - 0.434 </a:t>
                          </a:r>
                        </a:p>
                      </a:txBody>
                      <a:tcPr/>
                    </a:tc>
                    <a:tc>
                      <a:txBody>
                        <a:bodyPr/>
                        <a:lstStyle/>
                        <a:p>
                          <a:pPr algn="ctr"/>
                          <a:r>
                            <a:rPr lang="en-US" sz="1800" dirty="0"/>
                            <a:t>1 – 10</a:t>
                          </a:r>
                        </a:p>
                      </a:txBody>
                      <a:tcPr/>
                    </a:tc>
                    <a:tc>
                      <a:txBody>
                        <a:bodyPr/>
                        <a:lstStyle/>
                        <a:p>
                          <a:endParaRPr lang="en-US"/>
                        </a:p>
                      </a:txBody>
                      <a:tcPr>
                        <a:blipFill>
                          <a:blip r:embed="rId3"/>
                          <a:stretch>
                            <a:fillRect l="-200360" t="-189412" r="-721" b="-238824"/>
                          </a:stretch>
                        </a:blipFill>
                      </a:tcPr>
                    </a:tc>
                    <a:extLst>
                      <a:ext uri="{0D108BD9-81ED-4DB2-BD59-A6C34878D82A}">
                        <a16:rowId xmlns:a16="http://schemas.microsoft.com/office/drawing/2014/main" val="2821458313"/>
                      </a:ext>
                    </a:extLst>
                  </a:tr>
                  <a:tr h="708893">
                    <a:tc>
                      <a:txBody>
                        <a:bodyPr/>
                        <a:lstStyle/>
                        <a:p>
                          <a:pPr algn="ctr"/>
                          <a:r>
                            <a:rPr lang="en-US" sz="1800" dirty="0"/>
                            <a:t>Diffusion</a:t>
                          </a:r>
                        </a:p>
                      </a:txBody>
                      <a:tcPr/>
                    </a:tc>
                    <a:tc>
                      <a:txBody>
                        <a:bodyPr/>
                        <a:lstStyle/>
                        <a:p>
                          <a:pPr algn="ctr"/>
                          <a:r>
                            <a:rPr lang="en-US" sz="1800" dirty="0"/>
                            <a:t>0.2 - 0.65</a:t>
                          </a:r>
                        </a:p>
                      </a:txBody>
                      <a:tcPr/>
                    </a:tc>
                    <a:tc>
                      <a:txBody>
                        <a:bodyPr/>
                        <a:lstStyle/>
                        <a:p>
                          <a:pPr algn="ctr"/>
                          <a:r>
                            <a:rPr lang="en-US" sz="1800" dirty="0"/>
                            <a:t>5 – 15</a:t>
                          </a:r>
                        </a:p>
                      </a:txBody>
                      <a:tcPr/>
                    </a:tc>
                    <a:tc>
                      <a:txBody>
                        <a:bodyPr/>
                        <a:lstStyle/>
                        <a:p>
                          <a:endParaRPr lang="en-US"/>
                        </a:p>
                      </a:txBody>
                      <a:tcPr>
                        <a:blipFill>
                          <a:blip r:embed="rId3"/>
                          <a:stretch>
                            <a:fillRect l="-200360" t="-212069" r="-721" b="-75000"/>
                          </a:stretch>
                        </a:blipFill>
                      </a:tcPr>
                    </a:tc>
                    <a:extLst>
                      <a:ext uri="{0D108BD9-81ED-4DB2-BD59-A6C34878D82A}">
                        <a16:rowId xmlns:a16="http://schemas.microsoft.com/office/drawing/2014/main" val="3443339622"/>
                      </a:ext>
                    </a:extLst>
                  </a:tr>
                  <a:tr h="514328">
                    <a:tc>
                      <a:txBody>
                        <a:bodyPr/>
                        <a:lstStyle/>
                        <a:p>
                          <a:pPr algn="ctr"/>
                          <a:r>
                            <a:rPr lang="en-US" sz="1800" dirty="0"/>
                            <a:t>Decomposition</a:t>
                          </a:r>
                        </a:p>
                      </a:txBody>
                      <a:tcPr/>
                    </a:tc>
                    <a:tc>
                      <a:txBody>
                        <a:bodyPr/>
                        <a:lstStyle/>
                        <a:p>
                          <a:pPr algn="ctr"/>
                          <a:r>
                            <a:rPr lang="en-US" sz="1800" dirty="0"/>
                            <a:t>0.87 -  3.5</a:t>
                          </a:r>
                        </a:p>
                      </a:txBody>
                      <a:tcPr/>
                    </a:tc>
                    <a:tc>
                      <a:txBody>
                        <a:bodyPr/>
                        <a:lstStyle/>
                        <a:p>
                          <a:pPr algn="ctr"/>
                          <a:r>
                            <a:rPr lang="en-US" sz="1800" dirty="0"/>
                            <a:t>20 - 80</a:t>
                          </a:r>
                        </a:p>
                      </a:txBody>
                      <a:tcPr/>
                    </a:tc>
                    <a:tc>
                      <a:txBody>
                        <a:bodyPr/>
                        <a:lstStyle/>
                        <a:p>
                          <a:pPr algn="ctr"/>
                          <a:r>
                            <a:rPr lang="en-US" sz="1800" dirty="0"/>
                            <a:t>n/a</a:t>
                          </a:r>
                        </a:p>
                      </a:txBody>
                      <a:tcPr/>
                    </a:tc>
                    <a:extLst>
                      <a:ext uri="{0D108BD9-81ED-4DB2-BD59-A6C34878D82A}">
                        <a16:rowId xmlns:a16="http://schemas.microsoft.com/office/drawing/2014/main" val="1290359355"/>
                      </a:ext>
                    </a:extLst>
                  </a:tr>
                </a:tbl>
              </a:graphicData>
            </a:graphic>
          </p:graphicFrame>
        </mc:Fallback>
      </mc:AlternateContent>
      <p:sp>
        <p:nvSpPr>
          <p:cNvPr id="4" name="Slide Number Placeholder 3">
            <a:extLst>
              <a:ext uri="{FF2B5EF4-FFF2-40B4-BE49-F238E27FC236}">
                <a16:creationId xmlns:a16="http://schemas.microsoft.com/office/drawing/2014/main" id="{7083C88C-2569-9839-36F3-DA4B47B9ED22}"/>
              </a:ext>
            </a:extLst>
          </p:cNvPr>
          <p:cNvSpPr>
            <a:spLocks noGrp="1"/>
          </p:cNvSpPr>
          <p:nvPr>
            <p:ph type="sldNum" sz="quarter" idx="12"/>
          </p:nvPr>
        </p:nvSpPr>
        <p:spPr/>
        <p:txBody>
          <a:bodyPr/>
          <a:lstStyle/>
          <a:p>
            <a:fld id="{7DE213D0-F4A8-4002-9EDD-2AA04CFB5054}" type="slidenum">
              <a:rPr lang="en-US" smtClean="0"/>
              <a:t>9</a:t>
            </a:fld>
            <a:endParaRPr lang="en-US"/>
          </a:p>
        </p:txBody>
      </p:sp>
      <p:pic>
        <p:nvPicPr>
          <p:cNvPr id="5" name="Online Media 4" title="Animation of `Oumuamua outgassing and rotating">
            <a:hlinkClick r:id="" action="ppaction://media"/>
            <a:extLst>
              <a:ext uri="{FF2B5EF4-FFF2-40B4-BE49-F238E27FC236}">
                <a16:creationId xmlns:a16="http://schemas.microsoft.com/office/drawing/2014/main" id="{D04FAA00-CD4E-4C3C-B153-0C70DDE58592}"/>
              </a:ext>
            </a:extLst>
          </p:cNvPr>
          <p:cNvPicPr>
            <a:picLocks noRot="1" noChangeAspect="1"/>
          </p:cNvPicPr>
          <p:nvPr>
            <a:videoFile r:link="rId1"/>
          </p:nvPr>
        </p:nvPicPr>
        <p:blipFill>
          <a:blip r:embed="rId4"/>
          <a:stretch>
            <a:fillRect/>
          </a:stretch>
        </p:blipFill>
        <p:spPr>
          <a:xfrm>
            <a:off x="2554387" y="623535"/>
            <a:ext cx="6200147" cy="3503083"/>
          </a:xfrm>
          <a:prstGeom prst="rect">
            <a:avLst/>
          </a:prstGeom>
        </p:spPr>
      </p:pic>
    </p:spTree>
    <p:extLst>
      <p:ext uri="{BB962C8B-B14F-4D97-AF65-F5344CB8AC3E}">
        <p14:creationId xmlns:p14="http://schemas.microsoft.com/office/powerpoint/2010/main" val="2724585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01F03-5A97-59EB-262F-7C5ACA153BC3}"/>
              </a:ext>
            </a:extLst>
          </p:cNvPr>
          <p:cNvSpPr>
            <a:spLocks noGrp="1"/>
          </p:cNvSpPr>
          <p:nvPr>
            <p:ph type="title"/>
          </p:nvPr>
        </p:nvSpPr>
        <p:spPr>
          <a:xfrm>
            <a:off x="588301" y="1489667"/>
            <a:ext cx="3978019" cy="1325563"/>
          </a:xfrm>
        </p:spPr>
        <p:txBody>
          <a:bodyPr>
            <a:normAutofit fontScale="90000"/>
          </a:bodyPr>
          <a:lstStyle/>
          <a:p>
            <a:pPr algn="ctr"/>
            <a:r>
              <a:rPr lang="en-US" dirty="0"/>
              <a:t>CASSINI NAC CONTAMINATION</a:t>
            </a:r>
          </a:p>
        </p:txBody>
      </p:sp>
      <p:sp>
        <p:nvSpPr>
          <p:cNvPr id="3" name="Slide Number Placeholder 2">
            <a:extLst>
              <a:ext uri="{FF2B5EF4-FFF2-40B4-BE49-F238E27FC236}">
                <a16:creationId xmlns:a16="http://schemas.microsoft.com/office/drawing/2014/main" id="{8DADE2F9-7AE2-A83B-5D06-45B6B4592AEC}"/>
              </a:ext>
            </a:extLst>
          </p:cNvPr>
          <p:cNvSpPr>
            <a:spLocks noGrp="1"/>
          </p:cNvSpPr>
          <p:nvPr>
            <p:ph type="sldNum" sz="quarter" idx="12"/>
          </p:nvPr>
        </p:nvSpPr>
        <p:spPr/>
        <p:txBody>
          <a:bodyPr/>
          <a:lstStyle/>
          <a:p>
            <a:fld id="{7DE213D0-F4A8-4002-9EDD-2AA04CFB5054}" type="slidenum">
              <a:rPr lang="en-US" smtClean="0"/>
              <a:t>10</a:t>
            </a:fld>
            <a:endParaRPr lang="en-US"/>
          </a:p>
        </p:txBody>
      </p:sp>
      <p:graphicFrame>
        <p:nvGraphicFramePr>
          <p:cNvPr id="4" name="Object 3">
            <a:extLst>
              <a:ext uri="{FF2B5EF4-FFF2-40B4-BE49-F238E27FC236}">
                <a16:creationId xmlns:a16="http://schemas.microsoft.com/office/drawing/2014/main" id="{843FFFBE-68BC-DA80-30CA-28DC926D75AE}"/>
              </a:ext>
            </a:extLst>
          </p:cNvPr>
          <p:cNvGraphicFramePr>
            <a:graphicFrameLocks noChangeAspect="1"/>
          </p:cNvGraphicFramePr>
          <p:nvPr/>
        </p:nvGraphicFramePr>
        <p:xfrm>
          <a:off x="255468" y="4158604"/>
          <a:ext cx="11681064" cy="2263838"/>
        </p:xfrm>
        <a:graphic>
          <a:graphicData uri="http://schemas.openxmlformats.org/presentationml/2006/ole">
            <mc:AlternateContent xmlns:mc="http://schemas.openxmlformats.org/markup-compatibility/2006">
              <mc:Choice xmlns:v="urn:schemas-microsoft-com:vml" Requires="v">
                <p:oleObj name="Bitmap Image" r:id="rId2" imgW="6610320" imgH="1281240" progId="Paint.Picture">
                  <p:embed/>
                </p:oleObj>
              </mc:Choice>
              <mc:Fallback>
                <p:oleObj name="Bitmap Image" r:id="rId2" imgW="6610320" imgH="1281240" progId="Paint.Picture">
                  <p:embed/>
                  <p:pic>
                    <p:nvPicPr>
                      <p:cNvPr id="4" name="Object 3">
                        <a:extLst>
                          <a:ext uri="{FF2B5EF4-FFF2-40B4-BE49-F238E27FC236}">
                            <a16:creationId xmlns:a16="http://schemas.microsoft.com/office/drawing/2014/main" id="{843FFFBE-68BC-DA80-30CA-28DC926D75AE}"/>
                          </a:ext>
                        </a:extLst>
                      </p:cNvPr>
                      <p:cNvPicPr/>
                      <p:nvPr/>
                    </p:nvPicPr>
                    <p:blipFill>
                      <a:blip r:embed="rId3"/>
                      <a:stretch>
                        <a:fillRect/>
                      </a:stretch>
                    </p:blipFill>
                    <p:spPr>
                      <a:xfrm>
                        <a:off x="255468" y="4158604"/>
                        <a:ext cx="11681064" cy="2263838"/>
                      </a:xfrm>
                      <a:prstGeom prst="rect">
                        <a:avLst/>
                      </a:prstGeom>
                    </p:spPr>
                  </p:pic>
                </p:oleObj>
              </mc:Fallback>
            </mc:AlternateContent>
          </a:graphicData>
        </a:graphic>
      </p:graphicFrame>
      <p:pic>
        <p:nvPicPr>
          <p:cNvPr id="1028" name="Picture 4">
            <a:extLst>
              <a:ext uri="{FF2B5EF4-FFF2-40B4-BE49-F238E27FC236}">
                <a16:creationId xmlns:a16="http://schemas.microsoft.com/office/drawing/2014/main" id="{BCE908B6-FA19-6C4B-80C5-985AAE9D68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7273" y="155664"/>
            <a:ext cx="5535732" cy="37039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0236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CF92D-4D43-A896-D635-61170E582D7F}"/>
              </a:ext>
            </a:extLst>
          </p:cNvPr>
          <p:cNvSpPr>
            <a:spLocks noGrp="1"/>
          </p:cNvSpPr>
          <p:nvPr>
            <p:ph type="title"/>
          </p:nvPr>
        </p:nvSpPr>
        <p:spPr>
          <a:xfrm>
            <a:off x="2601686" y="234496"/>
            <a:ext cx="6346371" cy="532946"/>
          </a:xfrm>
        </p:spPr>
        <p:txBody>
          <a:bodyPr>
            <a:normAutofit fontScale="90000"/>
          </a:bodyPr>
          <a:lstStyle/>
          <a:p>
            <a:r>
              <a:rPr lang="en-US" dirty="0"/>
              <a:t>NASA OUTGASSING DATABASE</a:t>
            </a:r>
          </a:p>
        </p:txBody>
      </p:sp>
      <p:pic>
        <p:nvPicPr>
          <p:cNvPr id="4" name="Picture 3">
            <a:extLst>
              <a:ext uri="{FF2B5EF4-FFF2-40B4-BE49-F238E27FC236}">
                <a16:creationId xmlns:a16="http://schemas.microsoft.com/office/drawing/2014/main" id="{99EEDA32-F5C9-21D9-840B-1D565262A619}"/>
              </a:ext>
            </a:extLst>
          </p:cNvPr>
          <p:cNvPicPr>
            <a:picLocks noChangeAspect="1"/>
          </p:cNvPicPr>
          <p:nvPr/>
        </p:nvPicPr>
        <p:blipFill>
          <a:blip r:embed="rId2"/>
          <a:stretch>
            <a:fillRect/>
          </a:stretch>
        </p:blipFill>
        <p:spPr>
          <a:xfrm>
            <a:off x="2188682" y="837889"/>
            <a:ext cx="7232904" cy="5869200"/>
          </a:xfrm>
          <a:prstGeom prst="rect">
            <a:avLst/>
          </a:prstGeom>
        </p:spPr>
      </p:pic>
      <p:sp>
        <p:nvSpPr>
          <p:cNvPr id="3" name="Slide Number Placeholder 2">
            <a:extLst>
              <a:ext uri="{FF2B5EF4-FFF2-40B4-BE49-F238E27FC236}">
                <a16:creationId xmlns:a16="http://schemas.microsoft.com/office/drawing/2014/main" id="{84122E70-0A61-9648-D2DC-20CF1BF8719C}"/>
              </a:ext>
            </a:extLst>
          </p:cNvPr>
          <p:cNvSpPr>
            <a:spLocks noGrp="1"/>
          </p:cNvSpPr>
          <p:nvPr>
            <p:ph type="sldNum" sz="quarter" idx="12"/>
          </p:nvPr>
        </p:nvSpPr>
        <p:spPr/>
        <p:txBody>
          <a:bodyPr/>
          <a:lstStyle/>
          <a:p>
            <a:fld id="{7DE213D0-F4A8-4002-9EDD-2AA04CFB5054}" type="slidenum">
              <a:rPr lang="en-US" smtClean="0"/>
              <a:t>11</a:t>
            </a:fld>
            <a:endParaRPr lang="en-US"/>
          </a:p>
        </p:txBody>
      </p:sp>
    </p:spTree>
    <p:extLst>
      <p:ext uri="{BB962C8B-B14F-4D97-AF65-F5344CB8AC3E}">
        <p14:creationId xmlns:p14="http://schemas.microsoft.com/office/powerpoint/2010/main" val="2277695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18BF-DC01-405D-A72A-B4A72A47E082}"/>
              </a:ext>
            </a:extLst>
          </p:cNvPr>
          <p:cNvSpPr>
            <a:spLocks noGrp="1"/>
          </p:cNvSpPr>
          <p:nvPr>
            <p:ph type="title"/>
          </p:nvPr>
        </p:nvSpPr>
        <p:spPr>
          <a:xfrm>
            <a:off x="838200" y="75770"/>
            <a:ext cx="10515600" cy="753079"/>
          </a:xfrm>
        </p:spPr>
        <p:txBody>
          <a:bodyPr/>
          <a:lstStyle/>
          <a:p>
            <a:pPr algn="ctr"/>
            <a:r>
              <a:rPr lang="en-US" dirty="0"/>
              <a:t>MEASURING OUTGASSING RATES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BF41A3B-D25C-4203-8F78-ABF8B63375B6}"/>
                  </a:ext>
                </a:extLst>
              </p:cNvPr>
              <p:cNvSpPr txBox="1"/>
              <p:nvPr/>
            </p:nvSpPr>
            <p:spPr>
              <a:xfrm>
                <a:off x="334923" y="1468105"/>
                <a:ext cx="5717358" cy="4937585"/>
              </a:xfrm>
              <a:prstGeom prst="rect">
                <a:avLst/>
              </a:prstGeom>
            </p:spPr>
            <p:txBody>
              <a:bodyPr vert="horz" lIns="91440" tIns="45720" rIns="91440" bIns="45720" rtlCol="0">
                <a:normAutofit fontScale="92500" lnSpcReduction="10000"/>
              </a:bodyPr>
              <a:lstStyle/>
              <a:p>
                <a:pPr>
                  <a:lnSpc>
                    <a:spcPct val="90000"/>
                  </a:lnSpc>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𝑞</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𝑚</m:t>
                              </m:r>
                            </m:e>
                          </m:acc>
                          <m:r>
                            <a:rPr lang="en-US" sz="2000" b="0" i="1" smtClean="0">
                              <a:latin typeface="Cambria Math" panose="02040503050406030204" pitchFamily="18" charset="0"/>
                            </a:rPr>
                            <m:t>(</m:t>
                          </m:r>
                          <m:r>
                            <a:rPr lang="en-US" sz="2000" b="0" i="1" smtClean="0">
                              <a:latin typeface="Cambria Math" panose="02040503050406030204" pitchFamily="18" charset="0"/>
                            </a:rPr>
                            <m:t>𝑡</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𝐴</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𝐵</m:t>
                              </m:r>
                            </m:sub>
                          </m:sSub>
                          <m:r>
                            <a:rPr lang="en-US" sz="2000" b="0" i="1" smtClean="0">
                              <a:latin typeface="Cambria Math" panose="02040503050406030204" pitchFamily="18" charset="0"/>
                            </a:rPr>
                            <m:t>𝑇</m:t>
                          </m:r>
                        </m:num>
                        <m:den>
                          <m:r>
                            <a:rPr lang="en-US" sz="2000" b="0" i="1" smtClean="0">
                              <a:latin typeface="Cambria Math" panose="02040503050406030204" pitchFamily="18" charset="0"/>
                            </a:rPr>
                            <m:t>𝑀</m:t>
                          </m:r>
                        </m:den>
                      </m:f>
                    </m:oMath>
                  </m:oMathPara>
                </a14:m>
                <a:endParaRPr lang="en-US" sz="2000" b="0" dirty="0"/>
              </a:p>
              <a:p>
                <a:pPr indent="-228600">
                  <a:lnSpc>
                    <a:spcPct val="90000"/>
                  </a:lnSpc>
                  <a:spcAft>
                    <a:spcPts val="600"/>
                  </a:spcAft>
                  <a:buFont typeface="Arial" panose="020B0604020202020204" pitchFamily="34" charset="0"/>
                  <a:buChar char="•"/>
                </a:pPr>
                <a:endParaRPr lang="en-US" sz="2000" b="0" dirty="0"/>
              </a:p>
              <a:p>
                <a:pPr indent="-228600">
                  <a:lnSpc>
                    <a:spcPct val="90000"/>
                  </a:lnSpc>
                  <a:spcAft>
                    <a:spcPts val="600"/>
                  </a:spcAft>
                  <a:buFont typeface="Arial" panose="020B0604020202020204" pitchFamily="34" charset="0"/>
                  <a:buChar char="•"/>
                </a:pPr>
                <a:r>
                  <a:rPr lang="en-US" sz="2000" dirty="0"/>
                  <a:t>q</a:t>
                </a:r>
                <a:r>
                  <a:rPr lang="en-US" sz="2000" b="0" dirty="0"/>
                  <a:t>(t) = outgassing rate </a:t>
                </a:r>
                <a14:m>
                  <m:oMath xmlns:m="http://schemas.openxmlformats.org/officeDocument/2006/math">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𝑊</m:t>
                        </m:r>
                      </m:num>
                      <m:den>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𝑚</m:t>
                            </m:r>
                          </m:e>
                          <m:sup>
                            <m:r>
                              <a:rPr lang="en-US" sz="2000" b="0" i="1" smtClean="0">
                                <a:latin typeface="Cambria Math" panose="02040503050406030204" pitchFamily="18" charset="0"/>
                              </a:rPr>
                              <m:t>2</m:t>
                            </m:r>
                          </m:sup>
                        </m:sSup>
                      </m:den>
                    </m:f>
                  </m:oMath>
                </a14:m>
                <a:r>
                  <a:rPr lang="en-US" sz="2000" b="0" dirty="0"/>
                  <a:t> </a:t>
                </a:r>
              </a:p>
              <a:p>
                <a:pPr indent="-228600">
                  <a:lnSpc>
                    <a:spcPct val="90000"/>
                  </a:lnSpc>
                  <a:spcAft>
                    <a:spcPts val="600"/>
                  </a:spcAft>
                  <a:buFont typeface="Arial" panose="020B0604020202020204" pitchFamily="34" charset="0"/>
                  <a:buChar char="•"/>
                </a:pP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𝑚</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m:rPr>
                        <m:sty m:val="p"/>
                      </m:rPr>
                      <a:rPr lang="en-US" b="0" i="0" smtClean="0">
                        <a:latin typeface="Cambria Math" panose="02040503050406030204" pitchFamily="18" charset="0"/>
                      </a:rPr>
                      <m:t>mass</m:t>
                    </m:r>
                    <m:r>
                      <a:rPr lang="en-US" b="0" i="0" smtClean="0">
                        <a:latin typeface="Cambria Math" panose="02040503050406030204" pitchFamily="18" charset="0"/>
                      </a:rPr>
                      <m:t> </m:t>
                    </m:r>
                    <m:r>
                      <m:rPr>
                        <m:sty m:val="p"/>
                      </m:rPr>
                      <a:rPr lang="en-US" b="0" i="0" smtClean="0">
                        <a:latin typeface="Cambria Math" panose="02040503050406030204" pitchFamily="18" charset="0"/>
                      </a:rPr>
                      <m:t>loss</m:t>
                    </m:r>
                    <m:r>
                      <a:rPr lang="en-US" b="0" i="0" smtClean="0">
                        <a:latin typeface="Cambria Math" panose="02040503050406030204" pitchFamily="18" charset="0"/>
                      </a:rPr>
                      <m:t> </m:t>
                    </m:r>
                    <m:r>
                      <m:rPr>
                        <m:sty m:val="p"/>
                      </m:rPr>
                      <a:rPr lang="en-US" b="0" i="0" smtClean="0">
                        <a:latin typeface="Cambria Math" panose="02040503050406030204" pitchFamily="18" charset="0"/>
                      </a:rPr>
                      <m:t>per</m:t>
                    </m:r>
                    <m:r>
                      <a:rPr lang="en-US" b="0" i="0" smtClean="0">
                        <a:latin typeface="Cambria Math" panose="02040503050406030204" pitchFamily="18" charset="0"/>
                      </a:rPr>
                      <m:t> </m:t>
                    </m:r>
                    <m:r>
                      <m:rPr>
                        <m:sty m:val="p"/>
                      </m:rPr>
                      <a:rPr lang="en-US" b="0" i="0" smtClean="0">
                        <a:latin typeface="Cambria Math" panose="02040503050406030204" pitchFamily="18" charset="0"/>
                      </a:rPr>
                      <m:t>unit</m:t>
                    </m:r>
                    <m:r>
                      <a:rPr lang="en-US" b="0" i="0" smtClean="0">
                        <a:latin typeface="Cambria Math" panose="02040503050406030204" pitchFamily="18" charset="0"/>
                      </a:rPr>
                      <m:t> </m:t>
                    </m:r>
                    <m:r>
                      <m:rPr>
                        <m:sty m:val="p"/>
                      </m:rPr>
                      <a:rPr lang="en-US" b="0" i="0" smtClean="0">
                        <a:latin typeface="Cambria Math" panose="02040503050406030204" pitchFamily="18" charset="0"/>
                      </a:rPr>
                      <m:t>area</m:t>
                    </m:r>
                    <m:r>
                      <a:rPr lang="en-US" b="0" i="0" smtClean="0">
                        <a:latin typeface="Cambria Math" panose="02040503050406030204" pitchFamily="18" charset="0"/>
                      </a:rPr>
                      <m:t> </m:t>
                    </m:r>
                    <m:r>
                      <m:rPr>
                        <m:sty m:val="p"/>
                      </m:rPr>
                      <a:rPr lang="en-US" b="0" i="0" smtClean="0">
                        <a:latin typeface="Cambria Math" panose="02040503050406030204" pitchFamily="18" charset="0"/>
                      </a:rPr>
                      <m:t>per</m:t>
                    </m:r>
                    <m:r>
                      <a:rPr lang="en-US" b="0" i="0" smtClean="0">
                        <a:latin typeface="Cambria Math" panose="02040503050406030204" pitchFamily="18" charset="0"/>
                      </a:rPr>
                      <m:t> </m:t>
                    </m:r>
                    <m:r>
                      <m:rPr>
                        <m:sty m:val="p"/>
                      </m:rPr>
                      <a:rPr lang="en-US" b="0" i="0" smtClean="0">
                        <a:latin typeface="Cambria Math" panose="02040503050406030204" pitchFamily="18" charset="0"/>
                      </a:rPr>
                      <m:t>unit</m:t>
                    </m:r>
                    <m:r>
                      <a:rPr lang="en-US" b="0" i="0" smtClean="0">
                        <a:latin typeface="Cambria Math" panose="02040503050406030204" pitchFamily="18" charset="0"/>
                      </a:rPr>
                      <m:t> </m:t>
                    </m:r>
                    <m:r>
                      <m:rPr>
                        <m:sty m:val="p"/>
                      </m:rPr>
                      <a:rPr lang="en-US" b="0" i="0" smtClean="0">
                        <a:latin typeface="Cambria Math" panose="02040503050406030204" pitchFamily="18" charset="0"/>
                      </a:rPr>
                      <m:t>time</m:t>
                    </m:r>
                    <m:r>
                      <a:rPr lang="en-US" b="0" i="0" smtClean="0">
                        <a:latin typeface="Cambria Math" panose="02040503050406030204" pitchFamily="18" charset="0"/>
                      </a:rPr>
                      <m:t> </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kg</m:t>
                            </m:r>
                          </m:num>
                          <m:den>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m</m:t>
                                </m:r>
                              </m:e>
                              <m:sup>
                                <m:r>
                                  <a:rPr lang="en-US" b="0" i="0" smtClean="0">
                                    <a:latin typeface="Cambria Math" panose="02040503050406030204" pitchFamily="18" charset="0"/>
                                  </a:rPr>
                                  <m:t>2</m:t>
                                </m:r>
                              </m:sup>
                            </m:sSup>
                            <m:r>
                              <m:rPr>
                                <m:sty m:val="p"/>
                              </m:rPr>
                              <a:rPr lang="en-US" b="0" i="0" smtClean="0">
                                <a:latin typeface="Cambria Math" panose="02040503050406030204" pitchFamily="18" charset="0"/>
                              </a:rPr>
                              <m:t>s</m:t>
                            </m:r>
                          </m:den>
                        </m:f>
                      </m:e>
                    </m:d>
                  </m:oMath>
                </a14:m>
                <a:endParaRPr lang="en-US" b="0" dirty="0"/>
              </a:p>
              <a:p>
                <a:pPr indent="-228600">
                  <a:lnSpc>
                    <a:spcPct val="90000"/>
                  </a:lnSpc>
                  <a:spcAft>
                    <a:spcPts val="600"/>
                  </a:spcAft>
                  <a:buFont typeface="Arial" panose="020B0604020202020204" pitchFamily="34" charset="0"/>
                  <a:buChar char="•"/>
                </a:pPr>
                <a:r>
                  <a:rPr lang="en-US" b="0" dirty="0"/>
                  <a:t>M = molar mass of outgassing particles </a:t>
                </a:r>
                <a14:m>
                  <m:oMath xmlns:m="http://schemas.openxmlformats.org/officeDocument/2006/math">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𝑘𝑔</m:t>
                            </m:r>
                          </m:num>
                          <m:den>
                            <m:r>
                              <a:rPr lang="en-US" b="0" i="1" smtClean="0">
                                <a:latin typeface="Cambria Math" panose="02040503050406030204" pitchFamily="18" charset="0"/>
                              </a:rPr>
                              <m:t>𝑘𝑚𝑜𝑙</m:t>
                            </m:r>
                          </m:den>
                        </m:f>
                      </m:e>
                    </m:d>
                  </m:oMath>
                </a14:m>
                <a:endParaRPr lang="en-US" b="0" dirty="0"/>
              </a:p>
              <a:p>
                <a:pPr indent="-228600">
                  <a:lnSpc>
                    <a:spcPct val="90000"/>
                  </a:lnSpc>
                  <a:spcAft>
                    <a:spcPts val="600"/>
                  </a:spcAft>
                  <a:buFont typeface="Arial" panose="020B0604020202020204" pitchFamily="34" charset="0"/>
                  <a:buChar char="•"/>
                </a:pP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𝑁</m:t>
                        </m:r>
                      </m:e>
                      <m:sub>
                        <m:r>
                          <a:rPr lang="en-US" sz="2000" b="0" i="1" dirty="0" smtClean="0">
                            <a:latin typeface="Cambria Math" panose="02040503050406030204" pitchFamily="18" charset="0"/>
                          </a:rPr>
                          <m:t>𝐴</m:t>
                        </m:r>
                      </m:sub>
                    </m:sSub>
                    <m:r>
                      <a:rPr lang="en-US" sz="2000" i="1" dirty="0" smtClean="0">
                        <a:latin typeface="Cambria Math" panose="02040503050406030204" pitchFamily="18" charset="0"/>
                      </a:rPr>
                      <m:t>=</m:t>
                    </m:r>
                    <m:r>
                      <m:rPr>
                        <m:sty m:val="p"/>
                      </m:rPr>
                      <a:rPr lang="en-US" sz="2000" b="0" i="0" dirty="0" smtClean="0">
                        <a:latin typeface="Cambria Math" panose="02040503050406030204" pitchFamily="18" charset="0"/>
                      </a:rPr>
                      <m:t>Avogadro</m:t>
                    </m:r>
                    <m:r>
                      <a:rPr lang="en-US" sz="2000" b="0" i="0" dirty="0" smtClean="0">
                        <a:latin typeface="Cambria Math" panose="02040503050406030204" pitchFamily="18" charset="0"/>
                      </a:rPr>
                      <m:t> </m:t>
                    </m:r>
                    <m:r>
                      <m:rPr>
                        <m:sty m:val="p"/>
                      </m:rPr>
                      <a:rPr lang="en-US" sz="2000" b="0" i="0" dirty="0" smtClean="0">
                        <a:latin typeface="Cambria Math" panose="02040503050406030204" pitchFamily="18" charset="0"/>
                      </a:rPr>
                      <m:t>constant</m:t>
                    </m:r>
                  </m:oMath>
                </a14:m>
                <a:r>
                  <a:rPr lang="en-US" sz="2000" b="0" dirty="0"/>
                  <a:t> 1/</a:t>
                </a:r>
                <a:r>
                  <a:rPr lang="en-US" sz="2000" b="0" dirty="0" err="1"/>
                  <a:t>kmol</a:t>
                </a:r>
                <a:endParaRPr lang="en-US" sz="2000" b="0" dirty="0"/>
              </a:p>
              <a:p>
                <a:pPr indent="-228600">
                  <a:lnSpc>
                    <a:spcPct val="90000"/>
                  </a:lnSpc>
                  <a:spcAft>
                    <a:spcPts val="600"/>
                  </a:spcAft>
                  <a:buFont typeface="Arial" panose="020B0604020202020204" pitchFamily="34" charset="0"/>
                  <a:buChar char="•"/>
                </a:pPr>
                <a:r>
                  <a:rPr lang="en-US" sz="2000" b="0" dirty="0"/>
                  <a:t>Temperature (K)</a:t>
                </a:r>
              </a:p>
              <a:p>
                <a:pPr indent="-228600">
                  <a:lnSpc>
                    <a:spcPct val="90000"/>
                  </a:lnSpc>
                  <a:spcAft>
                    <a:spcPts val="600"/>
                  </a:spcAft>
                  <a:buFont typeface="Arial" panose="020B0604020202020204" pitchFamily="34" charset="0"/>
                  <a:buChar char="•"/>
                </a:pPr>
                <a:endParaRPr lang="en-US" sz="2000" dirty="0"/>
              </a:p>
              <a:p>
                <a:pPr>
                  <a:lnSpc>
                    <a:spcPct val="90000"/>
                  </a:lnSpc>
                  <a:spcAft>
                    <a:spcPts val="600"/>
                  </a:spcAft>
                </a:pPr>
                <a:r>
                  <a:rPr lang="en-US" sz="2000" b="0" dirty="0"/>
                  <a:t>Alternately</a:t>
                </a:r>
              </a:p>
              <a:p>
                <a:pPr>
                  <a:lnSpc>
                    <a:spcPct val="90000"/>
                  </a:lnSpc>
                  <a:spcAft>
                    <a:spcPts val="600"/>
                  </a:spcAft>
                </a:pPr>
                <a14:m>
                  <m:oMath xmlns:m="http://schemas.openxmlformats.org/officeDocument/2006/math">
                    <m:r>
                      <a:rPr lang="en-US" sz="2000" b="0" i="1" smtClean="0">
                        <a:latin typeface="Cambria Math" panose="02040503050406030204" pitchFamily="18" charset="0"/>
                      </a:rPr>
                      <m:t>𝑞</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𝐵</m:t>
                        </m:r>
                      </m:sub>
                    </m:sSub>
                    <m:r>
                      <a:rPr lang="en-US" sz="2000" b="0" i="1" smtClean="0">
                        <a:latin typeface="Cambria Math" panose="02040503050406030204" pitchFamily="18" charset="0"/>
                      </a:rPr>
                      <m:t>𝑇</m:t>
                    </m:r>
                  </m:oMath>
                </a14:m>
                <a:r>
                  <a:rPr lang="en-US" sz="2000" dirty="0"/>
                  <a:t>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𝑛</m:t>
                        </m:r>
                      </m:e>
                    </m:acc>
                    <m:d>
                      <m:dPr>
                        <m:ctrlPr>
                          <a:rPr lang="en-US" sz="2000" i="1">
                            <a:latin typeface="Cambria Math" panose="02040503050406030204" pitchFamily="18" charset="0"/>
                          </a:rPr>
                        </m:ctrlPr>
                      </m:dPr>
                      <m:e>
                        <m:r>
                          <a:rPr lang="en-US" sz="2000" i="1">
                            <a:latin typeface="Cambria Math" panose="02040503050406030204" pitchFamily="18" charset="0"/>
                          </a:rPr>
                          <m:t>𝑡</m:t>
                        </m:r>
                      </m:e>
                    </m:d>
                  </m:oMath>
                </a14:m>
                <a:endParaRPr lang="en-US" sz="2000" b="0" dirty="0"/>
              </a:p>
              <a:p>
                <a:pPr>
                  <a:lnSpc>
                    <a:spcPct val="90000"/>
                  </a:lnSpc>
                  <a:spcAft>
                    <a:spcPts val="600"/>
                  </a:spcAft>
                </a:pPr>
                <a14:m>
                  <m:oMathPara xmlns:m="http://schemas.openxmlformats.org/officeDocument/2006/math">
                    <m:oMathParaPr>
                      <m:jc m:val="left"/>
                    </m:oMathParaPr>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𝑛</m:t>
                          </m:r>
                        </m:e>
                      </m:acc>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r>
                        <m:rPr>
                          <m:sty m:val="p"/>
                        </m:rPr>
                        <a:rPr lang="en-US" sz="2000" b="0" i="0" smtClean="0">
                          <a:latin typeface="Cambria Math" panose="02040503050406030204" pitchFamily="18" charset="0"/>
                        </a:rPr>
                        <m:t>outgassing</m:t>
                      </m:r>
                      <m:r>
                        <a:rPr lang="en-US" sz="2000" b="0" i="0" smtClean="0">
                          <a:latin typeface="Cambria Math" panose="02040503050406030204" pitchFamily="18" charset="0"/>
                        </a:rPr>
                        <m:t> </m:t>
                      </m:r>
                      <m:r>
                        <m:rPr>
                          <m:sty m:val="p"/>
                        </m:rPr>
                        <a:rPr lang="en-US" sz="2000" b="0" i="0" smtClean="0">
                          <a:latin typeface="Cambria Math" panose="02040503050406030204" pitchFamily="18" charset="0"/>
                        </a:rPr>
                        <m:t>particle</m:t>
                      </m:r>
                      <m:r>
                        <a:rPr lang="en-US" sz="2000" b="0" i="0" smtClean="0">
                          <a:latin typeface="Cambria Math" panose="02040503050406030204" pitchFamily="18" charset="0"/>
                        </a:rPr>
                        <m:t> </m:t>
                      </m:r>
                      <m:r>
                        <m:rPr>
                          <m:sty m:val="p"/>
                        </m:rPr>
                        <a:rPr lang="en-US" sz="2000" b="0" i="0" smtClean="0">
                          <a:latin typeface="Cambria Math" panose="02040503050406030204" pitchFamily="18" charset="0"/>
                        </a:rPr>
                        <m:t>rate</m:t>
                      </m:r>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m:rPr>
                                  <m:sty m:val="p"/>
                                </m:rPr>
                                <a:rPr lang="en-US" sz="2000" b="0" i="0" smtClean="0">
                                  <a:latin typeface="Cambria Math" panose="02040503050406030204" pitchFamily="18" charset="0"/>
                                </a:rPr>
                                <m:t>molecules</m:t>
                              </m:r>
                            </m:num>
                            <m:den>
                              <m:sSup>
                                <m:sSupPr>
                                  <m:ctrlPr>
                                    <a:rPr lang="en-US" sz="2000" b="0" i="1" smtClean="0">
                                      <a:latin typeface="Cambria Math" panose="02040503050406030204" pitchFamily="18" charset="0"/>
                                    </a:rPr>
                                  </m:ctrlPr>
                                </m:sSupPr>
                                <m:e>
                                  <m:r>
                                    <m:rPr>
                                      <m:sty m:val="p"/>
                                    </m:rPr>
                                    <a:rPr lang="en-US" sz="2000" b="0" i="0" smtClean="0">
                                      <a:latin typeface="Cambria Math" panose="02040503050406030204" pitchFamily="18" charset="0"/>
                                    </a:rPr>
                                    <m:t>m</m:t>
                                  </m:r>
                                </m:e>
                                <m:sup>
                                  <m:r>
                                    <a:rPr lang="en-US" sz="2000" b="0" i="0" smtClean="0">
                                      <a:latin typeface="Cambria Math" panose="02040503050406030204" pitchFamily="18" charset="0"/>
                                    </a:rPr>
                                    <m:t>2</m:t>
                                  </m:r>
                                </m:sup>
                              </m:sSup>
                              <m:r>
                                <m:rPr>
                                  <m:sty m:val="p"/>
                                </m:rPr>
                                <a:rPr lang="en-US" sz="2000" b="0" i="0" smtClean="0">
                                  <a:latin typeface="Cambria Math" panose="02040503050406030204" pitchFamily="18" charset="0"/>
                                </a:rPr>
                                <m:t>s</m:t>
                              </m:r>
                            </m:den>
                          </m:f>
                        </m:e>
                      </m:d>
                    </m:oMath>
                  </m:oMathPara>
                </a14:m>
                <a:endParaRPr lang="en-US" sz="2000" b="0" dirty="0"/>
              </a:p>
              <a:p>
                <a:pPr>
                  <a:lnSpc>
                    <a:spcPct val="90000"/>
                  </a:lnSpc>
                  <a:spcAft>
                    <a:spcPts val="600"/>
                  </a:spcAft>
                </a:pPr>
                <a14:m>
                  <m:oMathPara xmlns:m="http://schemas.openxmlformats.org/officeDocument/2006/math">
                    <m:oMathParaPr>
                      <m:jc m:val="left"/>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𝐾</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r>
                        <a:rPr lang="en-US" sz="2000" b="0" i="1" smtClean="0">
                          <a:latin typeface="Cambria Math" panose="02040503050406030204" pitchFamily="18" charset="0"/>
                        </a:rPr>
                        <m:t>𝐵𝑜𝑙𝑡𝑧𝑚𝑎𝑛</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𝑛</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𝑠</m:t>
                      </m:r>
                      <m:r>
                        <a:rPr lang="en-US" sz="2000" b="0" i="1" smtClean="0">
                          <a:latin typeface="Cambria Math" panose="02040503050406030204" pitchFamily="18" charset="0"/>
                        </a:rPr>
                        <m:t> </m:t>
                      </m:r>
                      <m:r>
                        <a:rPr lang="en-US" sz="2000" b="0" i="1" smtClean="0">
                          <a:latin typeface="Cambria Math" panose="02040503050406030204" pitchFamily="18" charset="0"/>
                        </a:rPr>
                        <m:t>𝐶𝑜𝑛𝑠𝑡𝑎𝑛𝑡</m:t>
                      </m:r>
                      <m:r>
                        <a:rPr lang="en-US" sz="2000" b="0" i="1" smtClean="0">
                          <a:latin typeface="Cambria Math" panose="02040503050406030204" pitchFamily="18" charset="0"/>
                        </a:rPr>
                        <m:t>=1.3806452 </m:t>
                      </m:r>
                      <m:r>
                        <a:rPr lang="en-US" sz="2000" b="0" i="1" smtClean="0">
                          <a:latin typeface="Cambria Math" panose="02040503050406030204" pitchFamily="18" charset="0"/>
                        </a:rPr>
                        <m:t>𝐽</m:t>
                      </m:r>
                      <m:r>
                        <a:rPr lang="en-US" sz="2000" b="0" i="1" smtClean="0">
                          <a:latin typeface="Cambria Math" panose="02040503050406030204" pitchFamily="18" charset="0"/>
                        </a:rPr>
                        <m:t>/</m:t>
                      </m:r>
                      <m:r>
                        <a:rPr lang="en-US" sz="2000" b="0" i="1" smtClean="0">
                          <a:latin typeface="Cambria Math" panose="02040503050406030204" pitchFamily="18" charset="0"/>
                        </a:rPr>
                        <m:t>𝐾</m:t>
                      </m:r>
                    </m:oMath>
                  </m:oMathPara>
                </a14:m>
                <a:endParaRPr lang="en-US" sz="2000" b="0" dirty="0"/>
              </a:p>
              <a:p>
                <a:pPr>
                  <a:lnSpc>
                    <a:spcPct val="90000"/>
                  </a:lnSpc>
                  <a:spcAft>
                    <a:spcPts val="600"/>
                  </a:spcAft>
                </a:pPr>
                <a:endParaRPr lang="en-US" sz="2000" b="0" dirty="0"/>
              </a:p>
              <a:p>
                <a:pPr>
                  <a:lnSpc>
                    <a:spcPct val="90000"/>
                  </a:lnSpc>
                  <a:spcAft>
                    <a:spcPts val="600"/>
                  </a:spcAft>
                </a:pPr>
                <a:endParaRPr lang="en-US" sz="2000" b="0" dirty="0"/>
              </a:p>
              <a:p>
                <a:pPr indent="-228600">
                  <a:lnSpc>
                    <a:spcPct val="90000"/>
                  </a:lnSpc>
                  <a:spcAft>
                    <a:spcPts val="600"/>
                  </a:spcAft>
                  <a:buFont typeface="Arial" panose="020B0604020202020204" pitchFamily="34" charset="0"/>
                  <a:buChar char="•"/>
                </a:pPr>
                <a:endParaRPr lang="en-US" sz="2000" b="0" dirty="0"/>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endParaRPr lang="en-US" sz="2000" dirty="0"/>
              </a:p>
            </p:txBody>
          </p:sp>
        </mc:Choice>
        <mc:Fallback xmlns="">
          <p:sp>
            <p:nvSpPr>
              <p:cNvPr id="3" name="TextBox 2">
                <a:extLst>
                  <a:ext uri="{FF2B5EF4-FFF2-40B4-BE49-F238E27FC236}">
                    <a16:creationId xmlns:a16="http://schemas.microsoft.com/office/drawing/2014/main" id="{EBF41A3B-D25C-4203-8F78-ABF8B63375B6}"/>
                  </a:ext>
                </a:extLst>
              </p:cNvPr>
              <p:cNvSpPr txBox="1">
                <a:spLocks noRot="1" noChangeAspect="1" noMove="1" noResize="1" noEditPoints="1" noAdjustHandles="1" noChangeArrowheads="1" noChangeShapeType="1" noTextEdit="1"/>
              </p:cNvSpPr>
              <p:nvPr/>
            </p:nvSpPr>
            <p:spPr>
              <a:xfrm>
                <a:off x="334923" y="1468105"/>
                <a:ext cx="5717358" cy="4937585"/>
              </a:xfrm>
              <a:prstGeom prst="rect">
                <a:avLst/>
              </a:prstGeom>
              <a:blipFill>
                <a:blip r:embed="rId2"/>
                <a:stretch>
                  <a:fillRect l="-1066"/>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379FA05D-F039-4392-9F6A-B65C1BB61CC1}"/>
              </a:ext>
            </a:extLst>
          </p:cNvPr>
          <p:cNvPicPr>
            <a:picLocks noChangeAspect="1"/>
          </p:cNvPicPr>
          <p:nvPr/>
        </p:nvPicPr>
        <p:blipFill>
          <a:blip r:embed="rId3"/>
          <a:stretch>
            <a:fillRect/>
          </a:stretch>
        </p:blipFill>
        <p:spPr>
          <a:xfrm rot="16200000">
            <a:off x="6419817" y="764700"/>
            <a:ext cx="4849372" cy="6122945"/>
          </a:xfrm>
          <a:prstGeom prst="rect">
            <a:avLst/>
          </a:prstGeom>
        </p:spPr>
      </p:pic>
      <p:sp>
        <p:nvSpPr>
          <p:cNvPr id="4" name="Slide Number Placeholder 3">
            <a:extLst>
              <a:ext uri="{FF2B5EF4-FFF2-40B4-BE49-F238E27FC236}">
                <a16:creationId xmlns:a16="http://schemas.microsoft.com/office/drawing/2014/main" id="{3876A4AA-6E56-C7DE-B7F6-D8F753F1E61E}"/>
              </a:ext>
            </a:extLst>
          </p:cNvPr>
          <p:cNvSpPr>
            <a:spLocks noGrp="1"/>
          </p:cNvSpPr>
          <p:nvPr>
            <p:ph type="sldNum" sz="quarter" idx="12"/>
          </p:nvPr>
        </p:nvSpPr>
        <p:spPr/>
        <p:txBody>
          <a:bodyPr/>
          <a:lstStyle/>
          <a:p>
            <a:fld id="{7DE213D0-F4A8-4002-9EDD-2AA04CFB5054}" type="slidenum">
              <a:rPr lang="en-US" smtClean="0"/>
              <a:t>12</a:t>
            </a:fld>
            <a:endParaRPr lang="en-US"/>
          </a:p>
        </p:txBody>
      </p:sp>
      <p:sp>
        <p:nvSpPr>
          <p:cNvPr id="7" name="TextBox 6">
            <a:extLst>
              <a:ext uri="{FF2B5EF4-FFF2-40B4-BE49-F238E27FC236}">
                <a16:creationId xmlns:a16="http://schemas.microsoft.com/office/drawing/2014/main" id="{2F72D8DC-6671-7001-6BE9-DF1A1543D9E8}"/>
              </a:ext>
            </a:extLst>
          </p:cNvPr>
          <p:cNvSpPr txBox="1"/>
          <p:nvPr/>
        </p:nvSpPr>
        <p:spPr>
          <a:xfrm>
            <a:off x="1968049" y="794743"/>
            <a:ext cx="7944903" cy="369332"/>
          </a:xfrm>
          <a:prstGeom prst="rect">
            <a:avLst/>
          </a:prstGeom>
          <a:noFill/>
        </p:spPr>
        <p:txBody>
          <a:bodyPr wrap="square">
            <a:spAutoFit/>
          </a:bodyPr>
          <a:lstStyle/>
          <a:p>
            <a:r>
              <a:rPr lang="en-US" dirty="0">
                <a:hlinkClick r:id="rId4"/>
              </a:rPr>
              <a:t>Outgassing Data for Selecting Spacecraft Materials Online | Outgassing (nasa.gov)</a:t>
            </a:r>
            <a:endParaRPr lang="en-US" dirty="0"/>
          </a:p>
        </p:txBody>
      </p:sp>
    </p:spTree>
    <p:extLst>
      <p:ext uri="{BB962C8B-B14F-4D97-AF65-F5344CB8AC3E}">
        <p14:creationId xmlns:p14="http://schemas.microsoft.com/office/powerpoint/2010/main" val="2739959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B5BE6-2046-70A9-D3A4-AB07AB30D3A2}"/>
              </a:ext>
            </a:extLst>
          </p:cNvPr>
          <p:cNvSpPr>
            <a:spLocks noGrp="1"/>
          </p:cNvSpPr>
          <p:nvPr>
            <p:ph type="title"/>
          </p:nvPr>
        </p:nvSpPr>
        <p:spPr/>
        <p:txBody>
          <a:bodyPr/>
          <a:lstStyle/>
          <a:p>
            <a:pPr algn="ctr"/>
            <a:r>
              <a:rPr lang="en-US" dirty="0"/>
              <a:t>NOTES ON MODELING</a:t>
            </a:r>
          </a:p>
        </p:txBody>
      </p:sp>
      <p:sp>
        <p:nvSpPr>
          <p:cNvPr id="3" name="Slide Number Placeholder 2">
            <a:extLst>
              <a:ext uri="{FF2B5EF4-FFF2-40B4-BE49-F238E27FC236}">
                <a16:creationId xmlns:a16="http://schemas.microsoft.com/office/drawing/2014/main" id="{F191FB5A-35B6-1BBC-946A-D702C898DD7A}"/>
              </a:ext>
            </a:extLst>
          </p:cNvPr>
          <p:cNvSpPr>
            <a:spLocks noGrp="1"/>
          </p:cNvSpPr>
          <p:nvPr>
            <p:ph type="sldNum" sz="quarter" idx="12"/>
          </p:nvPr>
        </p:nvSpPr>
        <p:spPr/>
        <p:txBody>
          <a:bodyPr/>
          <a:lstStyle/>
          <a:p>
            <a:fld id="{7DE213D0-F4A8-4002-9EDD-2AA04CFB5054}" type="slidenum">
              <a:rPr lang="en-US" smtClean="0"/>
              <a:t>13</a:t>
            </a:fld>
            <a:endParaRPr lang="en-US"/>
          </a:p>
        </p:txBody>
      </p:sp>
    </p:spTree>
    <p:extLst>
      <p:ext uri="{BB962C8B-B14F-4D97-AF65-F5344CB8AC3E}">
        <p14:creationId xmlns:p14="http://schemas.microsoft.com/office/powerpoint/2010/main" val="1805798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CD30A-FBEC-4B85-A4E8-6F1AA746AA25}"/>
              </a:ext>
            </a:extLst>
          </p:cNvPr>
          <p:cNvSpPr>
            <a:spLocks noGrp="1"/>
          </p:cNvSpPr>
          <p:nvPr>
            <p:ph type="title"/>
          </p:nvPr>
        </p:nvSpPr>
        <p:spPr/>
        <p:txBody>
          <a:bodyPr/>
          <a:lstStyle/>
          <a:p>
            <a:pPr algn="ctr"/>
            <a:r>
              <a:rPr lang="en-US" dirty="0"/>
              <a:t>DESORPTION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133B1F7-EF8D-46A5-BF4F-9D70F48AE566}"/>
                  </a:ext>
                </a:extLst>
              </p:cNvPr>
              <p:cNvSpPr txBox="1"/>
              <p:nvPr/>
            </p:nvSpPr>
            <p:spPr>
              <a:xfrm>
                <a:off x="919290" y="1838578"/>
                <a:ext cx="4479093" cy="2688493"/>
              </a:xfrm>
              <a:prstGeom prst="rect">
                <a:avLst/>
              </a:prstGeom>
              <a:noFill/>
            </p:spPr>
            <p:txBody>
              <a:bodyPr wrap="square" lIns="0" tIns="0" rIns="0" bIns="0" rtlCol="0">
                <a:spAutoFit/>
              </a:bodyPr>
              <a:lstStyle/>
              <a:p>
                <a:r>
                  <a:rPr lang="en-US" dirty="0">
                    <a:latin typeface="Cambria Math" panose="02040503050406030204" pitchFamily="18" charset="0"/>
                  </a:rPr>
                  <a:t>Outgassing Rate</a:t>
                </a:r>
              </a:p>
              <a:p>
                <a:endParaRPr lang="en-US"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𝑚</m:t>
                          </m:r>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𝑚</m:t>
                          </m:r>
                        </m:num>
                        <m:den>
                          <m:r>
                            <a:rPr lang="en-US" b="0" i="1" smtClean="0">
                              <a:latin typeface="Cambria Math" panose="02040503050406030204" pitchFamily="18" charset="0"/>
                              <a:ea typeface="Cambria Math" panose="02040503050406030204" pitchFamily="18" charset="0"/>
                            </a:rPr>
                            <m:t>𝜏</m:t>
                          </m:r>
                        </m:den>
                      </m:f>
                    </m:oMath>
                  </m:oMathPara>
                </a14:m>
                <a:endParaRPr lang="en-US" dirty="0"/>
              </a:p>
              <a:p>
                <a:endParaRPr lang="en-US" dirty="0"/>
              </a:p>
              <a:p>
                <a:r>
                  <a:rPr lang="en-US" dirty="0"/>
                  <a:t>where</a:t>
                </a:r>
              </a:p>
              <a:p>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𝑚</m:t>
                        </m:r>
                      </m:e>
                    </m:acc>
                  </m:oMath>
                </a14:m>
                <a:r>
                  <a:rPr lang="en-US" dirty="0"/>
                  <a:t> = outgassing mass rate per unit area </a:t>
                </a:r>
                <a14:m>
                  <m:oMath xmlns:m="http://schemas.openxmlformats.org/officeDocument/2006/math">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𝑘𝑔</m:t>
                            </m:r>
                          </m:num>
                          <m:den>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2</m:t>
                                </m:r>
                              </m:sup>
                            </m:sSup>
                            <m:r>
                              <a:rPr lang="en-US" b="0" i="1" smtClean="0">
                                <a:latin typeface="Cambria Math" panose="02040503050406030204" pitchFamily="18" charset="0"/>
                              </a:rPr>
                              <m:t>𝑠</m:t>
                            </m:r>
                          </m:den>
                        </m:f>
                      </m:e>
                    </m:d>
                  </m:oMath>
                </a14:m>
                <a:endParaRPr lang="en-US" dirty="0"/>
              </a:p>
              <a:p>
                <a:r>
                  <a:rPr lang="en-US" dirty="0"/>
                  <a:t>m = outgassing mass per unit area </a:t>
                </a:r>
                <a14:m>
                  <m:oMath xmlns:m="http://schemas.openxmlformats.org/officeDocument/2006/math">
                    <m:d>
                      <m:dPr>
                        <m:ctrlPr>
                          <a:rPr lang="en-US" i="1" smtClean="0">
                            <a:latin typeface="Cambria Math" panose="02040503050406030204" pitchFamily="18" charset="0"/>
                          </a:rPr>
                        </m:ctrlPr>
                      </m:dPr>
                      <m:e>
                        <m:f>
                          <m:fPr>
                            <m:ctrlPr>
                              <a:rPr lang="en-US" i="1" smtClean="0">
                                <a:latin typeface="Cambria Math" panose="02040503050406030204" pitchFamily="18" charset="0"/>
                              </a:rPr>
                            </m:ctrlPr>
                          </m:fPr>
                          <m:num>
                            <m:r>
                              <a:rPr lang="en-US" b="0" i="1" smtClean="0">
                                <a:latin typeface="Cambria Math" panose="02040503050406030204" pitchFamily="18" charset="0"/>
                              </a:rPr>
                              <m:t>𝑘𝑔</m:t>
                            </m:r>
                          </m:num>
                          <m:den>
                            <m:sSup>
                              <m:sSupPr>
                                <m:ctrlPr>
                                  <a:rPr lang="en-US"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2</m:t>
                                </m:r>
                              </m:sup>
                            </m:sSup>
                          </m:den>
                        </m:f>
                      </m:e>
                    </m:d>
                  </m:oMath>
                </a14:m>
                <a:endParaRPr lang="en-US" dirty="0"/>
              </a:p>
              <a:p>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𝑟𝑒𝑠𝑖𝑑𝑒𝑛𝑐𝑒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𝑡𝑖𝑚𝑒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3" name="TextBox 2">
                <a:extLst>
                  <a:ext uri="{FF2B5EF4-FFF2-40B4-BE49-F238E27FC236}">
                    <a16:creationId xmlns:a16="http://schemas.microsoft.com/office/drawing/2014/main" id="{6133B1F7-EF8D-46A5-BF4F-9D70F48AE566}"/>
                  </a:ext>
                </a:extLst>
              </p:cNvPr>
              <p:cNvSpPr txBox="1">
                <a:spLocks noRot="1" noChangeAspect="1" noMove="1" noResize="1" noEditPoints="1" noAdjustHandles="1" noChangeArrowheads="1" noChangeShapeType="1" noTextEdit="1"/>
              </p:cNvSpPr>
              <p:nvPr/>
            </p:nvSpPr>
            <p:spPr>
              <a:xfrm>
                <a:off x="919290" y="1838578"/>
                <a:ext cx="4479093" cy="2688493"/>
              </a:xfrm>
              <a:prstGeom prst="rect">
                <a:avLst/>
              </a:prstGeom>
              <a:blipFill>
                <a:blip r:embed="rId2"/>
                <a:stretch>
                  <a:fillRect l="-3265" t="-3175" b="-27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5616410-27E9-41FA-AC95-6FD920232FD1}"/>
                  </a:ext>
                </a:extLst>
              </p:cNvPr>
              <p:cNvSpPr txBox="1"/>
              <p:nvPr/>
            </p:nvSpPr>
            <p:spPr>
              <a:xfrm>
                <a:off x="6092333" y="1872805"/>
                <a:ext cx="5609053" cy="3398494"/>
              </a:xfrm>
              <a:prstGeom prst="rect">
                <a:avLst/>
              </a:prstGeom>
              <a:noFill/>
            </p:spPr>
            <p:txBody>
              <a:bodyPr wrap="square" lIns="0" tIns="0" rIns="0" bIns="0" rtlCol="0">
                <a:spAutoFit/>
              </a:bodyPr>
              <a:lstStyle/>
              <a:p>
                <a:r>
                  <a:rPr lang="en-US" dirty="0"/>
                  <a:t>AVERAGE RESIDENCE TIME ON A SURFACE</a:t>
                </a:r>
                <a:endParaRPr lang="en-US"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𝜏</m:t>
                          </m:r>
                        </m:e>
                        <m:sub>
                          <m:r>
                            <a:rPr lang="en-US" b="0" i="1" smtClean="0">
                              <a:latin typeface="Cambria Math" panose="02040503050406030204" pitchFamily="18" charset="0"/>
                              <a:ea typeface="Cambria Math" panose="02040503050406030204" pitchFamily="18" charset="0"/>
                            </a:rPr>
                            <m:t>𝑜</m:t>
                          </m:r>
                        </m:sub>
                      </m:sSub>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𝐸</m:t>
                                  </m:r>
                                </m:e>
                                <m:sub>
                                  <m:r>
                                    <a:rPr lang="en-US" b="0" i="1" smtClean="0">
                                      <a:latin typeface="Cambria Math" panose="02040503050406030204" pitchFamily="18" charset="0"/>
                                      <a:ea typeface="Cambria Math" panose="02040503050406030204" pitchFamily="18" charset="0"/>
                                    </a:rPr>
                                    <m:t>𝑎</m:t>
                                  </m:r>
                                </m:sub>
                              </m:sSub>
                            </m:num>
                            <m:den>
                              <m:r>
                                <a:rPr lang="en-US" b="0" i="1" smtClean="0">
                                  <a:latin typeface="Cambria Math" panose="02040503050406030204" pitchFamily="18" charset="0"/>
                                  <a:ea typeface="Cambria Math" panose="02040503050406030204" pitchFamily="18" charset="0"/>
                                </a:rPr>
                                <m:t>𝑅𝑇</m:t>
                              </m:r>
                            </m:den>
                          </m:f>
                        </m:sup>
                      </m:sSup>
                    </m:oMath>
                  </m:oMathPara>
                </a14:m>
                <a:endParaRPr lang="en-US" dirty="0">
                  <a:latin typeface="Cambria Math" panose="02040503050406030204" pitchFamily="18" charset="0"/>
                </a:endParaRPr>
              </a:p>
              <a:p>
                <a:endParaRPr lang="en-US" dirty="0">
                  <a:latin typeface="Cambria Math" panose="02040503050406030204" pitchFamily="18" charset="0"/>
                </a:endParaRPr>
              </a:p>
              <a:p>
                <a:r>
                  <a:rPr lang="en-US" dirty="0">
                    <a:latin typeface="Cambria Math" panose="02040503050406030204" pitchFamily="18" charset="0"/>
                  </a:rPr>
                  <a:t>where</a:t>
                </a:r>
              </a:p>
              <a:p>
                <a:endParaRPr lang="en-US" dirty="0">
                  <a:latin typeface="Cambria Math" panose="02040503050406030204" pitchFamily="18" charset="0"/>
                </a:endParaRPr>
              </a:p>
              <a:p>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𝐸</m:t>
                        </m:r>
                      </m:e>
                      <m:sub>
                        <m:r>
                          <a:rPr lang="en-US" b="0" i="1" smtClean="0">
                            <a:latin typeface="Cambria Math" panose="02040503050406030204" pitchFamily="18" charset="0"/>
                            <a:ea typeface="Cambria Math" panose="02040503050406030204" pitchFamily="18" charset="0"/>
                          </a:rPr>
                          <m:t>𝑎</m:t>
                        </m:r>
                      </m:sub>
                    </m:sSub>
                  </m:oMath>
                </a14:m>
                <a:r>
                  <a:rPr lang="en-US" dirty="0">
                    <a:latin typeface="Cambria Math" panose="02040503050406030204" pitchFamily="18" charset="0"/>
                  </a:rPr>
                  <a:t>=activation energy for desorption of contaminant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𝐽</m:t>
                        </m:r>
                      </m:num>
                      <m:den>
                        <m:r>
                          <a:rPr lang="en-US" b="0" i="1" smtClean="0">
                            <a:latin typeface="Cambria Math" panose="02040503050406030204" pitchFamily="18" charset="0"/>
                          </a:rPr>
                          <m:t>𝑘𝑚𝑜𝑙</m:t>
                        </m:r>
                      </m:den>
                    </m:f>
                  </m:oMath>
                </a14:m>
                <a:endParaRPr lang="en-US" dirty="0">
                  <a:latin typeface="Cambria Math" panose="02040503050406030204" pitchFamily="18" charset="0"/>
                </a:endParaRPr>
              </a:p>
              <a:p>
                <a:r>
                  <a:rPr lang="en-US" dirty="0">
                    <a:latin typeface="Cambria Math" panose="02040503050406030204" pitchFamily="18" charset="0"/>
                  </a:rPr>
                  <a:t>R = universal gas constant = 8.3144598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𝐽</m:t>
                        </m:r>
                      </m:num>
                      <m:den>
                        <m:r>
                          <a:rPr lang="en-US" b="0" i="1" smtClean="0">
                            <a:latin typeface="Cambria Math" panose="02040503050406030204" pitchFamily="18" charset="0"/>
                          </a:rPr>
                          <m:t>𝑘𝑚𝑜𝑙</m:t>
                        </m:r>
                        <m:r>
                          <a:rPr lang="en-US" b="0" i="1" smtClean="0">
                            <a:latin typeface="Cambria Math" panose="02040503050406030204" pitchFamily="18" charset="0"/>
                          </a:rPr>
                          <m:t> </m:t>
                        </m:r>
                        <m:r>
                          <a:rPr lang="en-US" b="0" i="1" smtClean="0">
                            <a:latin typeface="Cambria Math" panose="02040503050406030204" pitchFamily="18" charset="0"/>
                          </a:rPr>
                          <m:t>𝐾</m:t>
                        </m:r>
                      </m:den>
                    </m:f>
                  </m:oMath>
                </a14:m>
                <a:endParaRPr lang="en-US" dirty="0">
                  <a:latin typeface="Cambria Math" panose="02040503050406030204" pitchFamily="18" charset="0"/>
                </a:endParaRPr>
              </a:p>
              <a:p>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𝜏</m:t>
                        </m:r>
                      </m:e>
                      <m:sub>
                        <m:r>
                          <a:rPr lang="en-US" b="0" i="1" smtClean="0">
                            <a:latin typeface="Cambria Math" panose="02040503050406030204" pitchFamily="18" charset="0"/>
                            <a:ea typeface="Cambria Math" panose="02040503050406030204" pitchFamily="18" charset="0"/>
                          </a:rPr>
                          <m:t>𝑜</m:t>
                        </m:r>
                      </m:sub>
                    </m:sSub>
                  </m:oMath>
                </a14:m>
                <a:r>
                  <a:rPr lang="en-US" dirty="0">
                    <a:latin typeface="Cambria Math" panose="02040503050406030204" pitchFamily="18" charset="0"/>
                  </a:rPr>
                  <a:t> = constant (s)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h</m:t>
                        </m:r>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𝑘</m:t>
                            </m:r>
                          </m:e>
                          <m:sub>
                            <m:r>
                              <a:rPr lang="en-US" b="0" i="1" smtClean="0">
                                <a:latin typeface="Cambria Math" panose="02040503050406030204" pitchFamily="18" charset="0"/>
                                <a:ea typeface="Cambria Math" panose="02040503050406030204" pitchFamily="18" charset="0"/>
                              </a:rPr>
                              <m:t>𝐵</m:t>
                            </m:r>
                          </m:sub>
                        </m:sSub>
                        <m:r>
                          <a:rPr lang="en-US" b="0" i="1" smtClean="0">
                            <a:latin typeface="Cambria Math" panose="02040503050406030204" pitchFamily="18" charset="0"/>
                            <a:ea typeface="Cambria Math" panose="02040503050406030204" pitchFamily="18" charset="0"/>
                          </a:rPr>
                          <m:t>𝑇</m:t>
                        </m:r>
                      </m:den>
                    </m:f>
                  </m:oMath>
                </a14:m>
                <a:endParaRPr lang="en-US" dirty="0">
                  <a:latin typeface="Cambria Math" panose="02040503050406030204" pitchFamily="18" charset="0"/>
                  <a:ea typeface="Cambria Math" panose="02040503050406030204" pitchFamily="18" charset="0"/>
                </a:endParaRPr>
              </a:p>
              <a:p>
                <a:r>
                  <a:rPr lang="en-US" dirty="0">
                    <a:latin typeface="Cambria Math" panose="02040503050406030204" pitchFamily="18" charset="0"/>
                    <a:ea typeface="Cambria Math" panose="02040503050406030204" pitchFamily="18" charset="0"/>
                  </a:rPr>
                  <a:t>h = Planck’s constant = </a:t>
                </a:r>
                <a:r>
                  <a:rPr lang="en-US" b="0" i="0" dirty="0">
                    <a:solidFill>
                      <a:srgbClr val="202122"/>
                    </a:solidFill>
                    <a:effectLst/>
                    <a:latin typeface="Arial" panose="020B0604020202020204" pitchFamily="34" charset="0"/>
                  </a:rPr>
                  <a:t>6.62607015×10</a:t>
                </a:r>
                <a:r>
                  <a:rPr lang="en-US" b="0" i="0" baseline="30000" dirty="0">
                    <a:solidFill>
                      <a:srgbClr val="202122"/>
                    </a:solidFill>
                    <a:effectLst/>
                    <a:latin typeface="Arial" panose="020B0604020202020204" pitchFamily="34" charset="0"/>
                  </a:rPr>
                  <a:t>−34</a:t>
                </a:r>
                <a:r>
                  <a:rPr lang="en-US" b="0" i="0" dirty="0">
                    <a:solidFill>
                      <a:srgbClr val="202122"/>
                    </a:solidFill>
                    <a:effectLst/>
                    <a:latin typeface="Arial" panose="020B0604020202020204" pitchFamily="34" charset="0"/>
                  </a:rPr>
                  <a:t> </a:t>
                </a:r>
                <a14:m>
                  <m:oMath xmlns:m="http://schemas.openxmlformats.org/officeDocument/2006/math">
                    <m:f>
                      <m:fPr>
                        <m:ctrlPr>
                          <a:rPr lang="en-US" b="0" i="1" smtClean="0">
                            <a:solidFill>
                              <a:srgbClr val="202122"/>
                            </a:solidFill>
                            <a:effectLst/>
                            <a:latin typeface="Cambria Math" panose="02040503050406030204" pitchFamily="18" charset="0"/>
                          </a:rPr>
                        </m:ctrlPr>
                      </m:fPr>
                      <m:num>
                        <m:r>
                          <a:rPr lang="en-US" b="0" i="1" smtClean="0">
                            <a:solidFill>
                              <a:srgbClr val="202122"/>
                            </a:solidFill>
                            <a:effectLst/>
                            <a:latin typeface="Cambria Math" panose="02040503050406030204" pitchFamily="18" charset="0"/>
                          </a:rPr>
                          <m:t>𝐽</m:t>
                        </m:r>
                      </m:num>
                      <m:den>
                        <m:r>
                          <a:rPr lang="en-US" b="0" i="1" smtClean="0">
                            <a:solidFill>
                              <a:srgbClr val="202122"/>
                            </a:solidFill>
                            <a:effectLst/>
                            <a:latin typeface="Cambria Math" panose="02040503050406030204" pitchFamily="18" charset="0"/>
                          </a:rPr>
                          <m:t>𝐻𝑧</m:t>
                        </m:r>
                      </m:den>
                    </m:f>
                  </m:oMath>
                </a14:m>
                <a:endParaRPr lang="en-US" dirty="0">
                  <a:latin typeface="Cambria Math" panose="02040503050406030204" pitchFamily="18" charset="0"/>
                </a:endParaRPr>
              </a:p>
              <a:p>
                <a:endParaRPr lang="en-US"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35616410-27E9-41FA-AC95-6FD920232FD1}"/>
                  </a:ext>
                </a:extLst>
              </p:cNvPr>
              <p:cNvSpPr txBox="1">
                <a:spLocks noRot="1" noChangeAspect="1" noMove="1" noResize="1" noEditPoints="1" noAdjustHandles="1" noChangeArrowheads="1" noChangeShapeType="1" noTextEdit="1"/>
              </p:cNvSpPr>
              <p:nvPr/>
            </p:nvSpPr>
            <p:spPr>
              <a:xfrm>
                <a:off x="6092333" y="1872805"/>
                <a:ext cx="5609053" cy="3398494"/>
              </a:xfrm>
              <a:prstGeom prst="rect">
                <a:avLst/>
              </a:prstGeom>
              <a:blipFill>
                <a:blip r:embed="rId3"/>
                <a:stretch>
                  <a:fillRect l="-2497" t="-2330"/>
                </a:stretch>
              </a:blipFill>
            </p:spPr>
            <p:txBody>
              <a:bodyPr/>
              <a:lstStyle/>
              <a:p>
                <a:r>
                  <a:rPr lang="en-US">
                    <a:noFill/>
                  </a:rPr>
                  <a:t> </a:t>
                </a:r>
              </a:p>
            </p:txBody>
          </p:sp>
        </mc:Fallback>
      </mc:AlternateContent>
      <p:pic>
        <p:nvPicPr>
          <p:cNvPr id="2050" name="Picture 2">
            <a:extLst>
              <a:ext uri="{FF2B5EF4-FFF2-40B4-BE49-F238E27FC236}">
                <a16:creationId xmlns:a16="http://schemas.microsoft.com/office/drawing/2014/main" id="{460BE779-0B51-4A1E-96F4-D0689D2854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2154" y="4627951"/>
            <a:ext cx="2225488" cy="2058576"/>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A0C2450E-38BD-EB0F-AFCC-0D67B3E7FD7E}"/>
              </a:ext>
            </a:extLst>
          </p:cNvPr>
          <p:cNvSpPr>
            <a:spLocks noGrp="1"/>
          </p:cNvSpPr>
          <p:nvPr>
            <p:ph type="sldNum" sz="quarter" idx="12"/>
          </p:nvPr>
        </p:nvSpPr>
        <p:spPr/>
        <p:txBody>
          <a:bodyPr/>
          <a:lstStyle/>
          <a:p>
            <a:fld id="{7DE213D0-F4A8-4002-9EDD-2AA04CFB5054}" type="slidenum">
              <a:rPr lang="en-US" smtClean="0"/>
              <a:t>14</a:t>
            </a:fld>
            <a:endParaRPr lang="en-US"/>
          </a:p>
        </p:txBody>
      </p:sp>
    </p:spTree>
    <p:extLst>
      <p:ext uri="{BB962C8B-B14F-4D97-AF65-F5344CB8AC3E}">
        <p14:creationId xmlns:p14="http://schemas.microsoft.com/office/powerpoint/2010/main" val="2399764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7AA58-E430-4DFD-8FA2-362715DE9D9F}"/>
              </a:ext>
            </a:extLst>
          </p:cNvPr>
          <p:cNvSpPr>
            <a:spLocks noGrp="1"/>
          </p:cNvSpPr>
          <p:nvPr>
            <p:ph type="title"/>
          </p:nvPr>
        </p:nvSpPr>
        <p:spPr>
          <a:xfrm>
            <a:off x="648929" y="629266"/>
            <a:ext cx="3505495" cy="1622321"/>
          </a:xfrm>
        </p:spPr>
        <p:txBody>
          <a:bodyPr vert="horz" lIns="91440" tIns="45720" rIns="91440" bIns="45720" rtlCol="0" anchor="ctr">
            <a:normAutofit/>
          </a:bodyPr>
          <a:lstStyle/>
          <a:p>
            <a:r>
              <a:rPr lang="en-US" kern="1200">
                <a:solidFill>
                  <a:schemeClr val="tx1"/>
                </a:solidFill>
                <a:latin typeface="+mj-lt"/>
                <a:ea typeface="+mj-ea"/>
                <a:cs typeface="+mj-cs"/>
              </a:rPr>
              <a:t>DIFFUSION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E82D3CB-3DCF-4787-BA29-FD158DA6B0AE}"/>
                  </a:ext>
                </a:extLst>
              </p:cNvPr>
              <p:cNvSpPr txBox="1"/>
              <p:nvPr/>
            </p:nvSpPr>
            <p:spPr>
              <a:xfrm>
                <a:off x="-35364" y="2438400"/>
                <a:ext cx="4779130" cy="3785419"/>
              </a:xfrm>
              <a:prstGeom prst="rect">
                <a:avLst/>
              </a:prstGeom>
            </p:spPr>
            <p:txBody>
              <a:bodyPr vert="horz" lIns="91440" tIns="45720" rIns="91440" bIns="45720" rtlCol="0">
                <a:normAutofit/>
              </a:bodyPr>
              <a:lstStyle/>
              <a:p>
                <a:pPr>
                  <a:lnSpc>
                    <a:spcPct val="90000"/>
                  </a:lnSpc>
                  <a:spcAft>
                    <a:spcPts val="600"/>
                  </a:spcAft>
                </a:pPr>
                <a14:m>
                  <m:oMathPara xmlns:m="http://schemas.openxmlformats.org/officeDocument/2006/math">
                    <m:oMathParaPr>
                      <m:jc m:val="centerGroup"/>
                    </m:oMathParaPr>
                    <m:oMath xmlns:m="http://schemas.openxmlformats.org/officeDocument/2006/math">
                      <m:f>
                        <m:fPr>
                          <m:ctrlPr>
                            <a:rPr lang="en-US" sz="2000" i="1">
                              <a:latin typeface="Cambria Math" panose="02040503050406030204" pitchFamily="18" charset="0"/>
                            </a:rPr>
                          </m:ctrlPr>
                        </m:fPr>
                        <m:num>
                          <m:r>
                            <a:rPr lang="en-US" sz="2000" b="0" i="1">
                              <a:latin typeface="Cambria Math" panose="02040503050406030204" pitchFamily="18" charset="0"/>
                            </a:rPr>
                            <m:t>𝑑𝑚</m:t>
                          </m:r>
                        </m:num>
                        <m:den>
                          <m:r>
                            <a:rPr lang="en-US" sz="2000" b="0" i="1">
                              <a:latin typeface="Cambria Math" panose="02040503050406030204" pitchFamily="18" charset="0"/>
                            </a:rPr>
                            <m:t>𝑑𝑡</m:t>
                          </m:r>
                        </m:den>
                      </m:f>
                      <m:r>
                        <a:rPr lang="en-US" sz="2000" b="0" i="1">
                          <a:latin typeface="Cambria Math" panose="02040503050406030204" pitchFamily="18" charset="0"/>
                        </a:rPr>
                        <m:t>=</m:t>
                      </m:r>
                      <m:f>
                        <m:fPr>
                          <m:ctrlPr>
                            <a:rPr lang="en-US" sz="2000" b="0" i="1">
                              <a:latin typeface="Cambria Math" panose="02040503050406030204" pitchFamily="18" charset="0"/>
                            </a:rPr>
                          </m:ctrlPr>
                        </m:fPr>
                        <m:num>
                          <m:sSub>
                            <m:sSubPr>
                              <m:ctrlPr>
                                <a:rPr lang="en-US" sz="2000" b="0" i="1">
                                  <a:latin typeface="Cambria Math" panose="02040503050406030204" pitchFamily="18" charset="0"/>
                                </a:rPr>
                              </m:ctrlPr>
                            </m:sSubPr>
                            <m:e>
                              <m:r>
                                <a:rPr lang="en-US" sz="2000" b="0" i="1">
                                  <a:latin typeface="Cambria Math" panose="02040503050406030204" pitchFamily="18" charset="0"/>
                                </a:rPr>
                                <m:t>𝑞</m:t>
                              </m:r>
                            </m:e>
                            <m:sub>
                              <m:r>
                                <a:rPr lang="en-US" sz="2000" b="0" i="1">
                                  <a:latin typeface="Cambria Math" panose="02040503050406030204" pitchFamily="18" charset="0"/>
                                </a:rPr>
                                <m:t>𝑜</m:t>
                              </m:r>
                            </m:sub>
                          </m:sSub>
                          <m:sSup>
                            <m:sSupPr>
                              <m:ctrlPr>
                                <a:rPr lang="en-US" sz="2000" b="0" i="1">
                                  <a:latin typeface="Cambria Math" panose="02040503050406030204" pitchFamily="18" charset="0"/>
                                </a:rPr>
                              </m:ctrlPr>
                            </m:sSupPr>
                            <m:e>
                              <m:r>
                                <a:rPr lang="en-US" sz="2000" b="0" i="1">
                                  <a:latin typeface="Cambria Math" panose="02040503050406030204" pitchFamily="18" charset="0"/>
                                </a:rPr>
                                <m:t>𝑒</m:t>
                              </m:r>
                            </m:e>
                            <m:sup>
                              <m:r>
                                <a:rPr lang="en-US" sz="2000" b="0" i="1">
                                  <a:latin typeface="Cambria Math" panose="02040503050406030204" pitchFamily="18" charset="0"/>
                                </a:rPr>
                                <m:t>−</m:t>
                              </m:r>
                              <m:f>
                                <m:fPr>
                                  <m:ctrlPr>
                                    <a:rPr lang="en-US" sz="2000" b="0" i="1">
                                      <a:latin typeface="Cambria Math" panose="02040503050406030204" pitchFamily="18" charset="0"/>
                                    </a:rPr>
                                  </m:ctrlPr>
                                </m:fPr>
                                <m:num>
                                  <m:sSub>
                                    <m:sSubPr>
                                      <m:ctrlPr>
                                        <a:rPr lang="en-US" sz="2000" b="0" i="1">
                                          <a:latin typeface="Cambria Math" panose="02040503050406030204" pitchFamily="18" charset="0"/>
                                        </a:rPr>
                                      </m:ctrlPr>
                                    </m:sSubPr>
                                    <m:e>
                                      <m:r>
                                        <a:rPr lang="en-US" sz="2000" b="0" i="1">
                                          <a:latin typeface="Cambria Math" panose="02040503050406030204" pitchFamily="18" charset="0"/>
                                        </a:rPr>
                                        <m:t>𝐸</m:t>
                                      </m:r>
                                    </m:e>
                                    <m:sub>
                                      <m:r>
                                        <a:rPr lang="en-US" sz="2000" b="0" i="1">
                                          <a:latin typeface="Cambria Math" panose="02040503050406030204" pitchFamily="18" charset="0"/>
                                        </a:rPr>
                                        <m:t>𝑎</m:t>
                                      </m:r>
                                    </m:sub>
                                  </m:sSub>
                                </m:num>
                                <m:den>
                                  <m:r>
                                    <a:rPr lang="en-US" sz="2000" b="0" i="1">
                                      <a:latin typeface="Cambria Math" panose="02040503050406030204" pitchFamily="18" charset="0"/>
                                    </a:rPr>
                                    <m:t>𝑅𝑇</m:t>
                                  </m:r>
                                </m:den>
                              </m:f>
                            </m:sup>
                          </m:sSup>
                        </m:num>
                        <m:den>
                          <m:rad>
                            <m:radPr>
                              <m:degHide m:val="on"/>
                              <m:ctrlPr>
                                <a:rPr lang="en-US" sz="2000" b="0" i="1">
                                  <a:latin typeface="Cambria Math" panose="02040503050406030204" pitchFamily="18" charset="0"/>
                                </a:rPr>
                              </m:ctrlPr>
                            </m:radPr>
                            <m:deg/>
                            <m:e>
                              <m:r>
                                <a:rPr lang="en-US" sz="2000" b="0" i="1">
                                  <a:latin typeface="Cambria Math" panose="02040503050406030204" pitchFamily="18" charset="0"/>
                                </a:rPr>
                                <m:t>𝑡</m:t>
                              </m:r>
                            </m:e>
                          </m:rad>
                        </m:den>
                      </m:f>
                    </m:oMath>
                  </m:oMathPara>
                </a14:m>
                <a:endParaRPr lang="en-US" sz="2000" b="0" dirty="0"/>
              </a:p>
              <a:p>
                <a:pPr indent="-228600">
                  <a:lnSpc>
                    <a:spcPct val="90000"/>
                  </a:lnSpc>
                  <a:spcAft>
                    <a:spcPts val="600"/>
                  </a:spcAft>
                  <a:buFont typeface="Arial" panose="020B0604020202020204" pitchFamily="34" charset="0"/>
                  <a:buChar char="•"/>
                </a:pPr>
                <a:endParaRPr lang="en-US" sz="2000" b="0" dirty="0"/>
              </a:p>
              <a:p>
                <a:pPr indent="-228600">
                  <a:lnSpc>
                    <a:spcPct val="90000"/>
                  </a:lnSpc>
                  <a:spcAft>
                    <a:spcPts val="600"/>
                  </a:spcAft>
                  <a:buFont typeface="Arial" panose="020B0604020202020204" pitchFamily="34" charset="0"/>
                  <a:buChar char="•"/>
                </a:pPr>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rPr>
                          <m:t>𝑞</m:t>
                        </m:r>
                      </m:e>
                      <m:sub>
                        <m:r>
                          <a:rPr lang="en-US" sz="2000" b="0" i="1">
                            <a:latin typeface="Cambria Math" panose="02040503050406030204" pitchFamily="18" charset="0"/>
                          </a:rPr>
                          <m:t>𝑜</m:t>
                        </m:r>
                      </m:sub>
                    </m:sSub>
                    <m:r>
                      <a:rPr lang="en-US" sz="2000" b="0" i="1">
                        <a:latin typeface="Cambria Math" panose="02040503050406030204" pitchFamily="18" charset="0"/>
                      </a:rPr>
                      <m:t>=</m:t>
                    </m:r>
                    <m:r>
                      <a:rPr lang="en-US" sz="2000" b="0" i="1">
                        <a:latin typeface="Cambria Math" panose="02040503050406030204" pitchFamily="18" charset="0"/>
                      </a:rPr>
                      <m:t>𝑟𝑒𝑎𝑐𝑡𝑖𝑜𝑛</m:t>
                    </m:r>
                    <m:r>
                      <a:rPr lang="en-US" sz="2000" b="0" i="1">
                        <a:latin typeface="Cambria Math" panose="02040503050406030204" pitchFamily="18" charset="0"/>
                      </a:rPr>
                      <m:t> </m:t>
                    </m:r>
                    <m:r>
                      <a:rPr lang="en-US" sz="2000" b="0" i="1">
                        <a:latin typeface="Cambria Math" panose="02040503050406030204" pitchFamily="18" charset="0"/>
                      </a:rPr>
                      <m:t>𝑐𝑜𝑛𝑠𝑡𝑎𝑛𝑡</m:t>
                    </m:r>
                  </m:oMath>
                </a14:m>
                <a:r>
                  <a:rPr lang="en-US" sz="2000" b="0" dirty="0"/>
                  <a:t> (ref ASTM E595)</a:t>
                </a:r>
              </a:p>
              <a:p>
                <a:pPr indent="-228600">
                  <a:lnSpc>
                    <a:spcPct val="90000"/>
                  </a:lnSpc>
                  <a:spcAft>
                    <a:spcPts val="600"/>
                  </a:spcAft>
                  <a:buFont typeface="Arial" panose="020B0604020202020204" pitchFamily="34" charset="0"/>
                  <a:buChar char="•"/>
                </a:pPr>
                <a14:m>
                  <m:oMath xmlns:m="http://schemas.openxmlformats.org/officeDocument/2006/math">
                    <m:sSub>
                      <m:sSubPr>
                        <m:ctrlPr>
                          <a:rPr lang="en-US" sz="2000" b="0" i="1">
                            <a:latin typeface="Cambria Math" panose="02040503050406030204" pitchFamily="18" charset="0"/>
                          </a:rPr>
                        </m:ctrlPr>
                      </m:sSubPr>
                      <m:e>
                        <m:r>
                          <a:rPr lang="en-US" sz="2000" b="0" i="1">
                            <a:latin typeface="Cambria Math" panose="02040503050406030204" pitchFamily="18" charset="0"/>
                          </a:rPr>
                          <m:t>𝐸</m:t>
                        </m:r>
                      </m:e>
                      <m:sub>
                        <m:r>
                          <a:rPr lang="en-US" sz="2000" b="0" i="1">
                            <a:latin typeface="Cambria Math" panose="02040503050406030204" pitchFamily="18" charset="0"/>
                          </a:rPr>
                          <m:t>𝑎</m:t>
                        </m:r>
                      </m:sub>
                    </m:sSub>
                    <m:r>
                      <a:rPr lang="en-US" sz="2000" b="0" i="1">
                        <a:latin typeface="Cambria Math" panose="02040503050406030204" pitchFamily="18" charset="0"/>
                      </a:rPr>
                      <m:t>=</m:t>
                    </m:r>
                    <m:r>
                      <a:rPr lang="en-US" sz="2000" b="0" i="1">
                        <a:latin typeface="Cambria Math" panose="02040503050406030204" pitchFamily="18" charset="0"/>
                      </a:rPr>
                      <m:t>𝑎𝑐𝑡𝑖𝑣𝑎𝑡𝑖𝑜𝑛</m:t>
                    </m:r>
                    <m:r>
                      <a:rPr lang="en-US" sz="2000" b="0" i="1">
                        <a:latin typeface="Cambria Math" panose="02040503050406030204" pitchFamily="18" charset="0"/>
                      </a:rPr>
                      <m:t> </m:t>
                    </m:r>
                    <m:r>
                      <a:rPr lang="en-US" sz="2000" b="0" i="1">
                        <a:latin typeface="Cambria Math" panose="02040503050406030204" pitchFamily="18" charset="0"/>
                      </a:rPr>
                      <m:t>𝑒𝑛𝑒𝑟𝑔𝑦</m:t>
                    </m:r>
                    <m:r>
                      <a:rPr lang="en-US" sz="2000" b="0" i="1">
                        <a:latin typeface="Cambria Math" panose="02040503050406030204" pitchFamily="18" charset="0"/>
                      </a:rPr>
                      <m:t> </m:t>
                    </m:r>
                    <m:d>
                      <m:dPr>
                        <m:ctrlPr>
                          <a:rPr lang="en-US" sz="2000" b="0" i="1">
                            <a:latin typeface="Cambria Math" panose="02040503050406030204" pitchFamily="18" charset="0"/>
                          </a:rPr>
                        </m:ctrlPr>
                      </m:dPr>
                      <m:e>
                        <m:f>
                          <m:fPr>
                            <m:ctrlPr>
                              <a:rPr lang="en-US" sz="2000" b="0" i="1">
                                <a:latin typeface="Cambria Math" panose="02040503050406030204" pitchFamily="18" charset="0"/>
                              </a:rPr>
                            </m:ctrlPr>
                          </m:fPr>
                          <m:num>
                            <m:r>
                              <a:rPr lang="en-US" sz="2000" b="0" i="1">
                                <a:latin typeface="Cambria Math" panose="02040503050406030204" pitchFamily="18" charset="0"/>
                              </a:rPr>
                              <m:t>𝑘𝑐𝑎𝑙</m:t>
                            </m:r>
                          </m:num>
                          <m:den>
                            <m:r>
                              <a:rPr lang="en-US" sz="2000" b="0" i="1">
                                <a:latin typeface="Cambria Math" panose="02040503050406030204" pitchFamily="18" charset="0"/>
                              </a:rPr>
                              <m:t>𝑚𝑜𝑙𝑒</m:t>
                            </m:r>
                          </m:den>
                        </m:f>
                      </m:e>
                    </m:d>
                  </m:oMath>
                </a14:m>
                <a:endParaRPr lang="en-US" sz="2000" b="0" dirty="0"/>
              </a:p>
              <a:p>
                <a:pPr indent="-228600">
                  <a:lnSpc>
                    <a:spcPct val="90000"/>
                  </a:lnSpc>
                  <a:spcAft>
                    <a:spcPts val="600"/>
                  </a:spcAft>
                  <a:buFont typeface="Arial" panose="020B0604020202020204" pitchFamily="34" charset="0"/>
                  <a:buChar char="•"/>
                </a:pPr>
                <a:r>
                  <a:rPr lang="en-US" sz="2000" dirty="0"/>
                  <a:t>R = gas constant (kcal K/mole)</a:t>
                </a:r>
              </a:p>
              <a:p>
                <a:pPr indent="-228600">
                  <a:lnSpc>
                    <a:spcPct val="90000"/>
                  </a:lnSpc>
                  <a:spcAft>
                    <a:spcPts val="600"/>
                  </a:spcAft>
                  <a:buFont typeface="Arial" panose="020B0604020202020204" pitchFamily="34" charset="0"/>
                  <a:buChar char="•"/>
                </a:pPr>
                <a:r>
                  <a:rPr lang="en-US" sz="2000" b="0" dirty="0"/>
                  <a:t>T = Temperature (K)</a:t>
                </a:r>
              </a:p>
              <a:p>
                <a:pPr indent="-228600">
                  <a:lnSpc>
                    <a:spcPct val="90000"/>
                  </a:lnSpc>
                  <a:spcAft>
                    <a:spcPts val="600"/>
                  </a:spcAft>
                  <a:buFont typeface="Arial" panose="020B0604020202020204" pitchFamily="34" charset="0"/>
                  <a:buChar char="•"/>
                </a:pPr>
                <a:endParaRPr lang="en-US" sz="2000" b="0" dirty="0"/>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endParaRPr lang="en-US" sz="2000" dirty="0"/>
              </a:p>
            </p:txBody>
          </p:sp>
        </mc:Choice>
        <mc:Fallback xmlns="">
          <p:sp>
            <p:nvSpPr>
              <p:cNvPr id="3" name="TextBox 2">
                <a:extLst>
                  <a:ext uri="{FF2B5EF4-FFF2-40B4-BE49-F238E27FC236}">
                    <a16:creationId xmlns:a16="http://schemas.microsoft.com/office/drawing/2014/main" id="{FE82D3CB-3DCF-4787-BA29-FD158DA6B0AE}"/>
                  </a:ext>
                </a:extLst>
              </p:cNvPr>
              <p:cNvSpPr txBox="1">
                <a:spLocks noRot="1" noChangeAspect="1" noMove="1" noResize="1" noEditPoints="1" noAdjustHandles="1" noChangeArrowheads="1" noChangeShapeType="1" noTextEdit="1"/>
              </p:cNvSpPr>
              <p:nvPr/>
            </p:nvSpPr>
            <p:spPr>
              <a:xfrm>
                <a:off x="-35364" y="2438400"/>
                <a:ext cx="4779130" cy="3785419"/>
              </a:xfrm>
              <a:prstGeom prst="rect">
                <a:avLst/>
              </a:prstGeom>
              <a:blipFill>
                <a:blip r:embed="rId2"/>
                <a:stretch>
                  <a:fillRect l="-1148" r="-1148"/>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D5C8D551-3D4D-4C1B-A5A3-B0C023CFD3F6}"/>
              </a:ext>
            </a:extLst>
          </p:cNvPr>
          <p:cNvGraphicFramePr>
            <a:graphicFrameLocks noGrp="1"/>
          </p:cNvGraphicFramePr>
          <p:nvPr>
            <p:extLst>
              <p:ext uri="{D42A27DB-BD31-4B8C-83A1-F6EECF244321}">
                <p14:modId xmlns:p14="http://schemas.microsoft.com/office/powerpoint/2010/main" val="4152652445"/>
              </p:ext>
            </p:extLst>
          </p:nvPr>
        </p:nvGraphicFramePr>
        <p:xfrm>
          <a:off x="5405862" y="1918628"/>
          <a:ext cx="6019333" cy="3017500"/>
        </p:xfrm>
        <a:graphic>
          <a:graphicData uri="http://schemas.openxmlformats.org/drawingml/2006/table">
            <a:tbl>
              <a:tblPr/>
              <a:tblGrid>
                <a:gridCol w="3273603">
                  <a:extLst>
                    <a:ext uri="{9D8B030D-6E8A-4147-A177-3AD203B41FA5}">
                      <a16:colId xmlns:a16="http://schemas.microsoft.com/office/drawing/2014/main" val="42336679"/>
                    </a:ext>
                  </a:extLst>
                </a:gridCol>
                <a:gridCol w="2660076">
                  <a:extLst>
                    <a:ext uri="{9D8B030D-6E8A-4147-A177-3AD203B41FA5}">
                      <a16:colId xmlns:a16="http://schemas.microsoft.com/office/drawing/2014/main" val="3092721253"/>
                    </a:ext>
                  </a:extLst>
                </a:gridCol>
                <a:gridCol w="85654">
                  <a:extLst>
                    <a:ext uri="{9D8B030D-6E8A-4147-A177-3AD203B41FA5}">
                      <a16:colId xmlns:a16="http://schemas.microsoft.com/office/drawing/2014/main" val="1833780680"/>
                    </a:ext>
                  </a:extLst>
                </a:gridCol>
              </a:tblGrid>
              <a:tr h="429006">
                <a:tc>
                  <a:txBody>
                    <a:bodyPr/>
                    <a:lstStyle/>
                    <a:p>
                      <a:pPr algn="ctr" fontAlgn="ctr">
                        <a:spcBef>
                          <a:spcPts val="0"/>
                        </a:spcBef>
                        <a:spcAft>
                          <a:spcPts val="0"/>
                        </a:spcAft>
                      </a:pPr>
                      <a:r>
                        <a:rPr lang="en-US" sz="2100" b="0" i="0" u="none" strike="noStrike">
                          <a:effectLst/>
                          <a:latin typeface="Arial" panose="020B0604020202020204" pitchFamily="34" charset="0"/>
                        </a:rPr>
                        <a:t> </a:t>
                      </a:r>
                    </a:p>
                  </a:txBody>
                  <a:tcPr marL="30127" marR="30127" marT="30127" marB="30127"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tcPr>
                </a:tc>
                <a:tc>
                  <a:txBody>
                    <a:bodyPr/>
                    <a:lstStyle/>
                    <a:p>
                      <a:pPr algn="ctr" fontAlgn="ctr">
                        <a:spcBef>
                          <a:spcPts val="0"/>
                        </a:spcBef>
                        <a:spcAft>
                          <a:spcPts val="0"/>
                        </a:spcAft>
                      </a:pPr>
                      <a:r>
                        <a:rPr lang="en-US" sz="2100" b="0" i="0" u="none" strike="noStrike" dirty="0">
                          <a:effectLst/>
                          <a:latin typeface="Arial" panose="020B0604020202020204" pitchFamily="34" charset="0"/>
                        </a:rPr>
                        <a:t>Limit</a:t>
                      </a:r>
                    </a:p>
                  </a:txBody>
                  <a:tcPr marL="30127" marR="30127" marT="30127" marB="30127"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tcPr>
                </a:tc>
                <a:tc rowSpan="4">
                  <a:txBody>
                    <a:bodyPr/>
                    <a:lstStyle/>
                    <a:p>
                      <a:pPr algn="ctr" fontAlgn="ctr">
                        <a:spcBef>
                          <a:spcPts val="0"/>
                        </a:spcBef>
                        <a:spcAft>
                          <a:spcPts val="0"/>
                        </a:spcAft>
                      </a:pPr>
                      <a:endParaRPr lang="en-US" sz="2100" b="0" i="0" u="none" strike="noStrike" dirty="0">
                        <a:effectLst/>
                        <a:latin typeface="Arial" panose="020B0604020202020204" pitchFamily="34" charset="0"/>
                      </a:endParaRPr>
                    </a:p>
                  </a:txBody>
                  <a:tcPr marL="30127" marR="30127" marT="30127" marB="30127"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458828596"/>
                  </a:ext>
                </a:extLst>
              </a:tr>
              <a:tr h="754375">
                <a:tc>
                  <a:txBody>
                    <a:bodyPr/>
                    <a:lstStyle/>
                    <a:p>
                      <a:pPr algn="l" fontAlgn="ctr">
                        <a:spcBef>
                          <a:spcPts val="0"/>
                        </a:spcBef>
                        <a:spcAft>
                          <a:spcPts val="0"/>
                        </a:spcAft>
                      </a:pPr>
                      <a:r>
                        <a:rPr lang="en-US" sz="2100" b="0" i="0" u="none" strike="noStrike">
                          <a:effectLst/>
                          <a:latin typeface="Arial" panose="020B0604020202020204" pitchFamily="34" charset="0"/>
                        </a:rPr>
                        <a:t>Total Mass Loss (TML, %)</a:t>
                      </a:r>
                    </a:p>
                  </a:txBody>
                  <a:tcPr marL="30127" marR="30127" marT="30127" marB="30127"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solidFill>
                      <a:srgbClr val="FFB91D"/>
                    </a:solidFill>
                  </a:tcPr>
                </a:tc>
                <a:tc>
                  <a:txBody>
                    <a:bodyPr/>
                    <a:lstStyle/>
                    <a:p>
                      <a:pPr algn="ctr" fontAlgn="ctr">
                        <a:spcBef>
                          <a:spcPts val="0"/>
                        </a:spcBef>
                        <a:spcAft>
                          <a:spcPts val="0"/>
                        </a:spcAft>
                      </a:pPr>
                      <a:r>
                        <a:rPr lang="en-US" sz="2100" b="0" i="0" u="none" strike="noStrike">
                          <a:effectLst/>
                          <a:latin typeface="Arial" panose="020B0604020202020204" pitchFamily="34" charset="0"/>
                        </a:rPr>
                        <a:t>1.00 % max</a:t>
                      </a:r>
                    </a:p>
                  </a:txBody>
                  <a:tcPr marL="30127" marR="30127" marT="30127" marB="30127"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solidFill>
                      <a:srgbClr val="FFB91D"/>
                    </a:solidFill>
                  </a:tcPr>
                </a:tc>
                <a:tc vMerge="1">
                  <a:txBody>
                    <a:bodyPr/>
                    <a:lstStyle/>
                    <a:p>
                      <a:pPr algn="ctr" fontAlgn="ctr">
                        <a:spcBef>
                          <a:spcPts val="0"/>
                        </a:spcBef>
                        <a:spcAft>
                          <a:spcPts val="0"/>
                        </a:spcAft>
                      </a:pPr>
                      <a:r>
                        <a:rPr lang="en-US" sz="2100" b="0" i="0" u="none" strike="noStrike">
                          <a:effectLst/>
                          <a:latin typeface="Arial" panose="020B0604020202020204" pitchFamily="34" charset="0"/>
                        </a:rPr>
                        <a:t>0.48</a:t>
                      </a:r>
                    </a:p>
                  </a:txBody>
                  <a:tcPr marL="30127" marR="30127" marT="30127" marB="30127"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solidFill>
                      <a:srgbClr val="FFB91D"/>
                    </a:solidFill>
                  </a:tcPr>
                </a:tc>
                <a:extLst>
                  <a:ext uri="{0D108BD9-81ED-4DB2-BD59-A6C34878D82A}">
                    <a16:rowId xmlns:a16="http://schemas.microsoft.com/office/drawing/2014/main" val="2652304373"/>
                  </a:ext>
                </a:extLst>
              </a:tr>
              <a:tr h="1079744">
                <a:tc>
                  <a:txBody>
                    <a:bodyPr/>
                    <a:lstStyle/>
                    <a:p>
                      <a:pPr algn="l" fontAlgn="ctr">
                        <a:spcBef>
                          <a:spcPts val="0"/>
                        </a:spcBef>
                        <a:spcAft>
                          <a:spcPts val="0"/>
                        </a:spcAft>
                      </a:pPr>
                      <a:r>
                        <a:rPr lang="en-US" sz="2100" b="0" i="0" u="none" strike="noStrike">
                          <a:effectLst/>
                          <a:latin typeface="Arial" panose="020B0604020202020204" pitchFamily="34" charset="0"/>
                        </a:rPr>
                        <a:t>Collected Volatile Condensable Material (CVCM, %)</a:t>
                      </a:r>
                    </a:p>
                  </a:txBody>
                  <a:tcPr marL="30127" marR="30127" marT="30127" marB="30127"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tcPr>
                </a:tc>
                <a:tc>
                  <a:txBody>
                    <a:bodyPr/>
                    <a:lstStyle/>
                    <a:p>
                      <a:pPr algn="ctr" fontAlgn="ctr">
                        <a:spcBef>
                          <a:spcPts val="0"/>
                        </a:spcBef>
                        <a:spcAft>
                          <a:spcPts val="0"/>
                        </a:spcAft>
                      </a:pPr>
                      <a:r>
                        <a:rPr lang="en-US" sz="2100" b="0" i="0" u="none" strike="noStrike">
                          <a:effectLst/>
                          <a:latin typeface="Arial" panose="020B0604020202020204" pitchFamily="34" charset="0"/>
                        </a:rPr>
                        <a:t>0.10% max</a:t>
                      </a:r>
                    </a:p>
                  </a:txBody>
                  <a:tcPr marL="30127" marR="30127" marT="30127" marB="30127"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tcPr>
                </a:tc>
                <a:tc vMerge="1">
                  <a:txBody>
                    <a:bodyPr/>
                    <a:lstStyle/>
                    <a:p>
                      <a:pPr algn="ctr" fontAlgn="ctr">
                        <a:spcBef>
                          <a:spcPts val="0"/>
                        </a:spcBef>
                        <a:spcAft>
                          <a:spcPts val="0"/>
                        </a:spcAft>
                      </a:pPr>
                      <a:r>
                        <a:rPr lang="en-US" sz="2100" b="0" i="0" u="none" strike="noStrike">
                          <a:effectLst/>
                          <a:latin typeface="Arial" panose="020B0604020202020204" pitchFamily="34" charset="0"/>
                        </a:rPr>
                        <a:t>&lt;0.01</a:t>
                      </a:r>
                    </a:p>
                  </a:txBody>
                  <a:tcPr marL="30127" marR="30127" marT="30127" marB="30127"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928234042"/>
                  </a:ext>
                </a:extLst>
              </a:tr>
              <a:tr h="754375">
                <a:tc>
                  <a:txBody>
                    <a:bodyPr/>
                    <a:lstStyle/>
                    <a:p>
                      <a:pPr algn="l" fontAlgn="ctr">
                        <a:spcBef>
                          <a:spcPts val="0"/>
                        </a:spcBef>
                        <a:spcAft>
                          <a:spcPts val="0"/>
                        </a:spcAft>
                      </a:pPr>
                      <a:r>
                        <a:rPr lang="en-US" sz="2100" b="0" i="0" u="none" strike="noStrike">
                          <a:effectLst/>
                          <a:latin typeface="Arial" panose="020B0604020202020204" pitchFamily="34" charset="0"/>
                        </a:rPr>
                        <a:t>Water Vapor Regain (WVR, %)</a:t>
                      </a:r>
                    </a:p>
                  </a:txBody>
                  <a:tcPr marL="30127" marR="30127" marT="30127" marB="30127"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solidFill>
                      <a:srgbClr val="FFB91D"/>
                    </a:solidFill>
                  </a:tcPr>
                </a:tc>
                <a:tc>
                  <a:txBody>
                    <a:bodyPr/>
                    <a:lstStyle/>
                    <a:p>
                      <a:pPr algn="ctr" fontAlgn="ctr">
                        <a:spcBef>
                          <a:spcPts val="0"/>
                        </a:spcBef>
                        <a:spcAft>
                          <a:spcPts val="0"/>
                        </a:spcAft>
                      </a:pPr>
                      <a:r>
                        <a:rPr lang="en-US" sz="2100" b="0" i="0" u="none" strike="noStrike" dirty="0">
                          <a:effectLst/>
                          <a:latin typeface="Arial" panose="020B0604020202020204" pitchFamily="34" charset="0"/>
                        </a:rPr>
                        <a:t>Report</a:t>
                      </a:r>
                    </a:p>
                  </a:txBody>
                  <a:tcPr marL="30127" marR="30127" marT="30127" marB="30127"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solidFill>
                      <a:srgbClr val="FFB91D"/>
                    </a:solidFill>
                  </a:tcPr>
                </a:tc>
                <a:tc vMerge="1">
                  <a:txBody>
                    <a:bodyPr/>
                    <a:lstStyle/>
                    <a:p>
                      <a:pPr algn="ctr" fontAlgn="ctr">
                        <a:spcBef>
                          <a:spcPts val="0"/>
                        </a:spcBef>
                        <a:spcAft>
                          <a:spcPts val="0"/>
                        </a:spcAft>
                      </a:pPr>
                      <a:r>
                        <a:rPr lang="en-US" sz="2100" b="0" i="0" u="none" strike="noStrike">
                          <a:effectLst/>
                          <a:latin typeface="Arial" panose="020B0604020202020204" pitchFamily="34" charset="0"/>
                        </a:rPr>
                        <a:t>0.39</a:t>
                      </a:r>
                    </a:p>
                  </a:txBody>
                  <a:tcPr marL="30127" marR="30127" marT="30127" marB="30127"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solidFill>
                      <a:srgbClr val="FFB91D"/>
                    </a:solidFill>
                  </a:tcPr>
                </a:tc>
                <a:extLst>
                  <a:ext uri="{0D108BD9-81ED-4DB2-BD59-A6C34878D82A}">
                    <a16:rowId xmlns:a16="http://schemas.microsoft.com/office/drawing/2014/main" val="4135725961"/>
                  </a:ext>
                </a:extLst>
              </a:tr>
            </a:tbl>
          </a:graphicData>
        </a:graphic>
      </p:graphicFrame>
      <p:sp>
        <p:nvSpPr>
          <p:cNvPr id="5" name="Slide Number Placeholder 4">
            <a:extLst>
              <a:ext uri="{FF2B5EF4-FFF2-40B4-BE49-F238E27FC236}">
                <a16:creationId xmlns:a16="http://schemas.microsoft.com/office/drawing/2014/main" id="{A7CA4755-65F6-5A80-291F-9F3BCE99FEDA}"/>
              </a:ext>
            </a:extLst>
          </p:cNvPr>
          <p:cNvSpPr>
            <a:spLocks noGrp="1"/>
          </p:cNvSpPr>
          <p:nvPr>
            <p:ph type="sldNum" sz="quarter" idx="12"/>
          </p:nvPr>
        </p:nvSpPr>
        <p:spPr/>
        <p:txBody>
          <a:bodyPr/>
          <a:lstStyle/>
          <a:p>
            <a:fld id="{7DE213D0-F4A8-4002-9EDD-2AA04CFB5054}" type="slidenum">
              <a:rPr lang="en-US" smtClean="0"/>
              <a:t>15</a:t>
            </a:fld>
            <a:endParaRPr lang="en-US"/>
          </a:p>
        </p:txBody>
      </p:sp>
    </p:spTree>
    <p:extLst>
      <p:ext uri="{BB962C8B-B14F-4D97-AF65-F5344CB8AC3E}">
        <p14:creationId xmlns:p14="http://schemas.microsoft.com/office/powerpoint/2010/main" val="1309170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0" name="Rectangle 70">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4376A46-C37D-48E8-8ECD-3AAEC58E4FB0}"/>
              </a:ext>
            </a:extLst>
          </p:cNvPr>
          <p:cNvSpPr>
            <a:spLocks noGrp="1"/>
          </p:cNvSpPr>
          <p:nvPr>
            <p:ph type="title"/>
          </p:nvPr>
        </p:nvSpPr>
        <p:spPr>
          <a:xfrm>
            <a:off x="671778" y="-168083"/>
            <a:ext cx="10905066" cy="1135737"/>
          </a:xfrm>
        </p:spPr>
        <p:txBody>
          <a:bodyPr vert="horz" lIns="91440" tIns="45720" rIns="91440" bIns="45720" rtlCol="0" anchor="ctr">
            <a:normAutofit/>
          </a:bodyPr>
          <a:lstStyle/>
          <a:p>
            <a:pPr algn="ctr"/>
            <a:r>
              <a:rPr lang="en-US" sz="3600" kern="1200" dirty="0">
                <a:solidFill>
                  <a:schemeClr val="tx1"/>
                </a:solidFill>
                <a:latin typeface="+mj-lt"/>
                <a:ea typeface="+mj-ea"/>
                <a:cs typeface="+mj-cs"/>
              </a:rPr>
              <a:t>HOMEWORK PROBLEM 6</a:t>
            </a:r>
          </a:p>
        </p:txBody>
      </p:sp>
      <p:grpSp>
        <p:nvGrpSpPr>
          <p:cNvPr id="1031" name="Group 72">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74" name="Isosceles Triangle 7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76">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78" name="Rectangle 77">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Isosceles Triangle 78">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Slide Number Placeholder 2">
            <a:extLst>
              <a:ext uri="{FF2B5EF4-FFF2-40B4-BE49-F238E27FC236}">
                <a16:creationId xmlns:a16="http://schemas.microsoft.com/office/drawing/2014/main" id="{63FE8FD6-3DAD-35C3-03F6-7CF0AAEA0DC6}"/>
              </a:ext>
            </a:extLst>
          </p:cNvPr>
          <p:cNvSpPr>
            <a:spLocks noGrp="1"/>
          </p:cNvSpPr>
          <p:nvPr>
            <p:ph type="sldNum" sz="quarter" idx="12"/>
          </p:nvPr>
        </p:nvSpPr>
        <p:spPr/>
        <p:txBody>
          <a:bodyPr/>
          <a:lstStyle/>
          <a:p>
            <a:fld id="{7DE213D0-F4A8-4002-9EDD-2AA04CFB5054}" type="slidenum">
              <a:rPr lang="en-US" smtClean="0"/>
              <a:t>16</a:t>
            </a:fld>
            <a:endParaRPr lang="en-US"/>
          </a:p>
        </p:txBody>
      </p:sp>
      <p:pic>
        <p:nvPicPr>
          <p:cNvPr id="6" name="Picture 5">
            <a:extLst>
              <a:ext uri="{FF2B5EF4-FFF2-40B4-BE49-F238E27FC236}">
                <a16:creationId xmlns:a16="http://schemas.microsoft.com/office/drawing/2014/main" id="{3BC35997-CC4F-EA1F-F987-93F8DA68C3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612" y="853963"/>
            <a:ext cx="8514009" cy="2802819"/>
          </a:xfrm>
          <a:prstGeom prst="rect">
            <a:avLst/>
          </a:prstGeom>
        </p:spPr>
      </p:pic>
      <p:pic>
        <p:nvPicPr>
          <p:cNvPr id="1026" name="Picture 2" descr="See the source image">
            <a:extLst>
              <a:ext uri="{FF2B5EF4-FFF2-40B4-BE49-F238E27FC236}">
                <a16:creationId xmlns:a16="http://schemas.microsoft.com/office/drawing/2014/main" id="{8A7D695D-D1F6-4CAF-88E6-39CC4DA5F21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936066" y="3340569"/>
            <a:ext cx="6253212" cy="35174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2493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e the source image">
            <a:extLst>
              <a:ext uri="{FF2B5EF4-FFF2-40B4-BE49-F238E27FC236}">
                <a16:creationId xmlns:a16="http://schemas.microsoft.com/office/drawing/2014/main" id="{E48340B4-8CC2-4BF4-A0BB-41B22532CC2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413"/>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6CEE5A6-B904-4BB9-A4B5-1FD489F7C651}"/>
              </a:ext>
            </a:extLst>
          </p:cNvPr>
          <p:cNvSpPr>
            <a:spLocks noGrp="1"/>
          </p:cNvSpPr>
          <p:nvPr>
            <p:ph type="title"/>
          </p:nvPr>
        </p:nvSpPr>
        <p:spPr>
          <a:xfrm>
            <a:off x="574325" y="6166494"/>
            <a:ext cx="11210925" cy="744836"/>
          </a:xfrm>
        </p:spPr>
        <p:txBody>
          <a:bodyPr>
            <a:normAutofit/>
          </a:bodyPr>
          <a:lstStyle/>
          <a:p>
            <a:pPr algn="ctr"/>
            <a:r>
              <a:rPr lang="en-US" sz="3600" dirty="0">
                <a:solidFill>
                  <a:schemeClr val="tx1">
                    <a:lumMod val="85000"/>
                    <a:lumOff val="15000"/>
                  </a:schemeClr>
                </a:solidFill>
              </a:rPr>
              <a:t>PARTICULATE CONTAMINATION</a:t>
            </a:r>
          </a:p>
        </p:txBody>
      </p:sp>
      <p:sp>
        <p:nvSpPr>
          <p:cNvPr id="3" name="Slide Number Placeholder 2">
            <a:extLst>
              <a:ext uri="{FF2B5EF4-FFF2-40B4-BE49-F238E27FC236}">
                <a16:creationId xmlns:a16="http://schemas.microsoft.com/office/drawing/2014/main" id="{DF12D707-C4D7-AD1C-D3E9-85ACA5BEB510}"/>
              </a:ext>
            </a:extLst>
          </p:cNvPr>
          <p:cNvSpPr>
            <a:spLocks noGrp="1"/>
          </p:cNvSpPr>
          <p:nvPr>
            <p:ph type="sldNum" sz="quarter" idx="12"/>
          </p:nvPr>
        </p:nvSpPr>
        <p:spPr/>
        <p:txBody>
          <a:bodyPr/>
          <a:lstStyle/>
          <a:p>
            <a:fld id="{1EFA36A4-E408-49BC-BEE1-EC0DE8FF41C4}" type="slidenum">
              <a:rPr lang="en-US" smtClean="0"/>
              <a:t>17</a:t>
            </a:fld>
            <a:endParaRPr lang="en-US"/>
          </a:p>
        </p:txBody>
      </p:sp>
    </p:spTree>
    <p:extLst>
      <p:ext uri="{BB962C8B-B14F-4D97-AF65-F5344CB8AC3E}">
        <p14:creationId xmlns:p14="http://schemas.microsoft.com/office/powerpoint/2010/main" val="2288298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3828083-004E-E297-9395-AE6A30592B74}"/>
              </a:ext>
            </a:extLst>
          </p:cNvPr>
          <p:cNvPicPr>
            <a:picLocks noGrp="1" noChangeAspect="1"/>
          </p:cNvPicPr>
          <p:nvPr>
            <p:ph idx="1"/>
          </p:nvPr>
        </p:nvPicPr>
        <p:blipFill>
          <a:blip r:embed="rId2"/>
          <a:stretch>
            <a:fillRect/>
          </a:stretch>
        </p:blipFill>
        <p:spPr>
          <a:xfrm>
            <a:off x="-3276" y="-13224"/>
            <a:ext cx="12195276" cy="6859843"/>
          </a:xfrm>
          <a:prstGeom prst="rect">
            <a:avLst/>
          </a:prstGeom>
        </p:spPr>
      </p:pic>
      <p:sp>
        <p:nvSpPr>
          <p:cNvPr id="2" name="Slide Number Placeholder 1">
            <a:extLst>
              <a:ext uri="{FF2B5EF4-FFF2-40B4-BE49-F238E27FC236}">
                <a16:creationId xmlns:a16="http://schemas.microsoft.com/office/drawing/2014/main" id="{45A9F765-52F4-D850-58C7-3292AB475EC7}"/>
              </a:ext>
            </a:extLst>
          </p:cNvPr>
          <p:cNvSpPr>
            <a:spLocks noGrp="1"/>
          </p:cNvSpPr>
          <p:nvPr>
            <p:ph type="sldNum" sz="quarter" idx="12"/>
          </p:nvPr>
        </p:nvSpPr>
        <p:spPr/>
        <p:txBody>
          <a:bodyPr/>
          <a:lstStyle/>
          <a:p>
            <a:fld id="{1EFA36A4-E408-49BC-BEE1-EC0DE8FF41C4}" type="slidenum">
              <a:rPr lang="en-US" smtClean="0"/>
              <a:t>18</a:t>
            </a:fld>
            <a:endParaRPr lang="en-US"/>
          </a:p>
        </p:txBody>
      </p:sp>
    </p:spTree>
    <p:extLst>
      <p:ext uri="{BB962C8B-B14F-4D97-AF65-F5344CB8AC3E}">
        <p14:creationId xmlns:p14="http://schemas.microsoft.com/office/powerpoint/2010/main" val="3536504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04870-CDA9-CECC-2074-4753E5221D96}"/>
              </a:ext>
            </a:extLst>
          </p:cNvPr>
          <p:cNvSpPr>
            <a:spLocks noGrp="1"/>
          </p:cNvSpPr>
          <p:nvPr>
            <p:ph type="title"/>
          </p:nvPr>
        </p:nvSpPr>
        <p:spPr>
          <a:xfrm>
            <a:off x="838200" y="188957"/>
            <a:ext cx="10515600" cy="641554"/>
          </a:xfrm>
        </p:spPr>
        <p:txBody>
          <a:bodyPr>
            <a:normAutofit fontScale="90000"/>
          </a:bodyPr>
          <a:lstStyle/>
          <a:p>
            <a:pPr algn="ctr"/>
            <a:r>
              <a:rPr lang="en-US" dirty="0"/>
              <a:t>SOLAR UV DEGRADATION</a:t>
            </a:r>
          </a:p>
        </p:txBody>
      </p:sp>
      <p:pic>
        <p:nvPicPr>
          <p:cNvPr id="1026" name="Picture 2" descr="What is ultraviolet radiation? - Canada.ca">
            <a:extLst>
              <a:ext uri="{FF2B5EF4-FFF2-40B4-BE49-F238E27FC236}">
                <a16:creationId xmlns:a16="http://schemas.microsoft.com/office/drawing/2014/main" id="{DDDB3D9D-0477-3C0D-88DE-CB5AAED337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0942" y="830511"/>
            <a:ext cx="5619750" cy="29622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830BCB8-6393-E8FA-7FCE-5FB4D38E901F}"/>
              </a:ext>
            </a:extLst>
          </p:cNvPr>
          <p:cNvSpPr txBox="1"/>
          <p:nvPr/>
        </p:nvSpPr>
        <p:spPr>
          <a:xfrm>
            <a:off x="195433" y="4186106"/>
            <a:ext cx="5931017" cy="2031325"/>
          </a:xfrm>
          <a:prstGeom prst="rect">
            <a:avLst/>
          </a:prstGeom>
          <a:noFill/>
        </p:spPr>
        <p:txBody>
          <a:bodyPr wrap="square" rtlCol="0">
            <a:spAutoFit/>
          </a:bodyPr>
          <a:lstStyle/>
          <a:p>
            <a:r>
              <a:rPr lang="en-US" dirty="0"/>
              <a:t>		 </a:t>
            </a:r>
            <a:r>
              <a:rPr lang="en-US" b="1" dirty="0"/>
              <a:t>Physics Classifications</a:t>
            </a:r>
          </a:p>
          <a:p>
            <a:r>
              <a:rPr lang="en-US" dirty="0"/>
              <a:t>Name	Abbreviation	Wavelength (nm)	Energy (eV)</a:t>
            </a:r>
          </a:p>
          <a:p>
            <a:r>
              <a:rPr lang="en-US" dirty="0"/>
              <a:t>Near	Near UV		300 - 400		4.13 – 3.10</a:t>
            </a:r>
          </a:p>
          <a:p>
            <a:r>
              <a:rPr lang="en-US" dirty="0"/>
              <a:t>Middle	MUV		200 – 300	6.20 – 4.13 Far	FUV, VUV	100 – 200	12.4 – 6.20 Extreme	EUV, XUV	10 – 100		124 – 12.4	</a:t>
            </a:r>
          </a:p>
        </p:txBody>
      </p:sp>
      <p:sp>
        <p:nvSpPr>
          <p:cNvPr id="5" name="TextBox 4">
            <a:extLst>
              <a:ext uri="{FF2B5EF4-FFF2-40B4-BE49-F238E27FC236}">
                <a16:creationId xmlns:a16="http://schemas.microsoft.com/office/drawing/2014/main" id="{CFF9CC10-F8E3-3C08-C4A2-A3F5AB8EE2CA}"/>
              </a:ext>
            </a:extLst>
          </p:cNvPr>
          <p:cNvSpPr txBox="1"/>
          <p:nvPr/>
        </p:nvSpPr>
        <p:spPr>
          <a:xfrm>
            <a:off x="6260983" y="4169328"/>
            <a:ext cx="5931017" cy="1477328"/>
          </a:xfrm>
          <a:prstGeom prst="rect">
            <a:avLst/>
          </a:prstGeom>
          <a:noFill/>
        </p:spPr>
        <p:txBody>
          <a:bodyPr wrap="square" rtlCol="0">
            <a:spAutoFit/>
          </a:bodyPr>
          <a:lstStyle/>
          <a:p>
            <a:r>
              <a:rPr lang="en-US" dirty="0"/>
              <a:t>		</a:t>
            </a:r>
            <a:r>
              <a:rPr lang="en-US" b="1" dirty="0"/>
              <a:t> Biology Classifications</a:t>
            </a:r>
          </a:p>
          <a:p>
            <a:r>
              <a:rPr lang="en-US" dirty="0"/>
              <a:t>Name	    Abbreviation	Wavelength (nm)	Energy (eV)</a:t>
            </a:r>
          </a:p>
          <a:p>
            <a:r>
              <a:rPr lang="en-US" dirty="0"/>
              <a:t>Long-</a:t>
            </a:r>
            <a:r>
              <a:rPr lang="el-GR" dirty="0"/>
              <a:t>λ</a:t>
            </a:r>
            <a:r>
              <a:rPr lang="en-US" dirty="0"/>
              <a:t>	    UVA		320 – 400	3.94 – 3.10 Medium-</a:t>
            </a:r>
            <a:r>
              <a:rPr lang="el-GR" dirty="0"/>
              <a:t>λ</a:t>
            </a:r>
            <a:r>
              <a:rPr lang="en-US" dirty="0"/>
              <a:t>   UVB		290 – 320	4.43 – 3.94</a:t>
            </a:r>
          </a:p>
          <a:p>
            <a:r>
              <a:rPr lang="en-US" dirty="0"/>
              <a:t>Short-λ	     UVC 		100 – 290	12.4 – 4.43</a:t>
            </a:r>
          </a:p>
        </p:txBody>
      </p:sp>
      <p:sp>
        <p:nvSpPr>
          <p:cNvPr id="3" name="Slide Number Placeholder 2">
            <a:extLst>
              <a:ext uri="{FF2B5EF4-FFF2-40B4-BE49-F238E27FC236}">
                <a16:creationId xmlns:a16="http://schemas.microsoft.com/office/drawing/2014/main" id="{6C2CAF78-A9A7-2AAF-B22C-6A608EA7BA9F}"/>
              </a:ext>
            </a:extLst>
          </p:cNvPr>
          <p:cNvSpPr>
            <a:spLocks noGrp="1"/>
          </p:cNvSpPr>
          <p:nvPr>
            <p:ph type="sldNum" sz="quarter" idx="12"/>
          </p:nvPr>
        </p:nvSpPr>
        <p:spPr/>
        <p:txBody>
          <a:bodyPr/>
          <a:lstStyle/>
          <a:p>
            <a:fld id="{1EFA36A4-E408-49BC-BEE1-EC0DE8FF41C4}" type="slidenum">
              <a:rPr lang="en-US" smtClean="0"/>
              <a:t>19</a:t>
            </a:fld>
            <a:endParaRPr lang="en-US"/>
          </a:p>
        </p:txBody>
      </p:sp>
    </p:spTree>
    <p:extLst>
      <p:ext uri="{BB962C8B-B14F-4D97-AF65-F5344CB8AC3E}">
        <p14:creationId xmlns:p14="http://schemas.microsoft.com/office/powerpoint/2010/main" val="1440936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624C8-1E40-702E-E71C-48E7FCFBE1AA}"/>
              </a:ext>
            </a:extLst>
          </p:cNvPr>
          <p:cNvSpPr>
            <a:spLocks noGrp="1"/>
          </p:cNvSpPr>
          <p:nvPr>
            <p:ph type="title"/>
          </p:nvPr>
        </p:nvSpPr>
        <p:spPr/>
        <p:txBody>
          <a:bodyPr/>
          <a:lstStyle/>
          <a:p>
            <a:pPr algn="ctr"/>
            <a:r>
              <a:rPr lang="en-US" dirty="0"/>
              <a:t>USEFUL USES</a:t>
            </a:r>
          </a:p>
        </p:txBody>
      </p:sp>
      <p:sp>
        <p:nvSpPr>
          <p:cNvPr id="3" name="Content Placeholder 2">
            <a:extLst>
              <a:ext uri="{FF2B5EF4-FFF2-40B4-BE49-F238E27FC236}">
                <a16:creationId xmlns:a16="http://schemas.microsoft.com/office/drawing/2014/main" id="{7CAA3E27-3C2A-03BA-2E50-DB483985B709}"/>
              </a:ext>
            </a:extLst>
          </p:cNvPr>
          <p:cNvSpPr>
            <a:spLocks noGrp="1"/>
          </p:cNvSpPr>
          <p:nvPr>
            <p:ph idx="1"/>
          </p:nvPr>
        </p:nvSpPr>
        <p:spPr>
          <a:xfrm>
            <a:off x="838200" y="1825625"/>
            <a:ext cx="10515600" cy="1080307"/>
          </a:xfrm>
        </p:spPr>
        <p:txBody>
          <a:bodyPr/>
          <a:lstStyle/>
          <a:p>
            <a:pPr marL="0" indent="0">
              <a:buNone/>
            </a:pPr>
            <a:r>
              <a:rPr lang="en-US" dirty="0"/>
              <a:t>Fused quartz glass (fused silica) </a:t>
            </a:r>
          </a:p>
          <a:p>
            <a:pPr marL="0" indent="0">
              <a:buNone/>
            </a:pPr>
            <a:r>
              <a:rPr lang="en-US" dirty="0"/>
              <a:t>	- transparent and used to cover solar cells to maximize </a:t>
            </a:r>
            <a:r>
              <a:rPr lang="el-GR" dirty="0"/>
              <a:t>η</a:t>
            </a:r>
            <a:endParaRPr lang="en-US" dirty="0"/>
          </a:p>
        </p:txBody>
      </p:sp>
      <p:pic>
        <p:nvPicPr>
          <p:cNvPr id="8" name="Picture 7">
            <a:extLst>
              <a:ext uri="{FF2B5EF4-FFF2-40B4-BE49-F238E27FC236}">
                <a16:creationId xmlns:a16="http://schemas.microsoft.com/office/drawing/2014/main" id="{1C5E2972-5DC1-B2AB-76DA-C5B1CD38F085}"/>
              </a:ext>
            </a:extLst>
          </p:cNvPr>
          <p:cNvPicPr>
            <a:picLocks noChangeAspect="1"/>
          </p:cNvPicPr>
          <p:nvPr/>
        </p:nvPicPr>
        <p:blipFill>
          <a:blip r:embed="rId2"/>
          <a:stretch>
            <a:fillRect/>
          </a:stretch>
        </p:blipFill>
        <p:spPr>
          <a:xfrm>
            <a:off x="606222" y="2919088"/>
            <a:ext cx="3946043" cy="3628354"/>
          </a:xfrm>
          <a:prstGeom prst="rect">
            <a:avLst/>
          </a:prstGeom>
        </p:spPr>
      </p:pic>
      <p:sp>
        <p:nvSpPr>
          <p:cNvPr id="9" name="AutoShape 8">
            <a:extLst>
              <a:ext uri="{FF2B5EF4-FFF2-40B4-BE49-F238E27FC236}">
                <a16:creationId xmlns:a16="http://schemas.microsoft.com/office/drawing/2014/main" id="{810E02E2-38B9-ABB6-0D55-D52BF66F374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40F99226-A944-25F7-9900-03532D200272}"/>
              </a:ext>
            </a:extLst>
          </p:cNvPr>
          <p:cNvPicPr>
            <a:picLocks noChangeAspect="1"/>
          </p:cNvPicPr>
          <p:nvPr/>
        </p:nvPicPr>
        <p:blipFill>
          <a:blip r:embed="rId3"/>
          <a:stretch>
            <a:fillRect/>
          </a:stretch>
        </p:blipFill>
        <p:spPr>
          <a:xfrm>
            <a:off x="6096000" y="2905932"/>
            <a:ext cx="4856223" cy="3679656"/>
          </a:xfrm>
          <a:prstGeom prst="rect">
            <a:avLst/>
          </a:prstGeom>
        </p:spPr>
      </p:pic>
      <p:sp>
        <p:nvSpPr>
          <p:cNvPr id="4" name="Slide Number Placeholder 3">
            <a:extLst>
              <a:ext uri="{FF2B5EF4-FFF2-40B4-BE49-F238E27FC236}">
                <a16:creationId xmlns:a16="http://schemas.microsoft.com/office/drawing/2014/main" id="{4DAA75EE-4813-AA89-A65B-E48D8143D3D8}"/>
              </a:ext>
            </a:extLst>
          </p:cNvPr>
          <p:cNvSpPr>
            <a:spLocks noGrp="1"/>
          </p:cNvSpPr>
          <p:nvPr>
            <p:ph type="sldNum" sz="quarter" idx="12"/>
          </p:nvPr>
        </p:nvSpPr>
        <p:spPr/>
        <p:txBody>
          <a:bodyPr/>
          <a:lstStyle/>
          <a:p>
            <a:fld id="{1EFA36A4-E408-49BC-BEE1-EC0DE8FF41C4}" type="slidenum">
              <a:rPr lang="en-US" smtClean="0"/>
              <a:t>20</a:t>
            </a:fld>
            <a:endParaRPr lang="en-US"/>
          </a:p>
        </p:txBody>
      </p:sp>
    </p:spTree>
    <p:extLst>
      <p:ext uri="{BB962C8B-B14F-4D97-AF65-F5344CB8AC3E}">
        <p14:creationId xmlns:p14="http://schemas.microsoft.com/office/powerpoint/2010/main" val="26963426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FB330-936D-6C00-DEC9-52B3E0F0C1FC}"/>
              </a:ext>
            </a:extLst>
          </p:cNvPr>
          <p:cNvSpPr>
            <a:spLocks noGrp="1"/>
          </p:cNvSpPr>
          <p:nvPr>
            <p:ph type="title"/>
          </p:nvPr>
        </p:nvSpPr>
        <p:spPr/>
        <p:txBody>
          <a:bodyPr/>
          <a:lstStyle/>
          <a:p>
            <a:pPr algn="ctr"/>
            <a:r>
              <a:rPr lang="en-US" dirty="0"/>
              <a:t>MITIGATING UV DEGRADATION </a:t>
            </a:r>
            <a:br>
              <a:rPr lang="en-US" dirty="0"/>
            </a:br>
            <a:r>
              <a:rPr lang="en-US" dirty="0"/>
              <a:t>KAPTON POLYIMIDE FILM AND TAPE</a:t>
            </a:r>
          </a:p>
        </p:txBody>
      </p:sp>
      <p:sp>
        <p:nvSpPr>
          <p:cNvPr id="3" name="Content Placeholder 2">
            <a:extLst>
              <a:ext uri="{FF2B5EF4-FFF2-40B4-BE49-F238E27FC236}">
                <a16:creationId xmlns:a16="http://schemas.microsoft.com/office/drawing/2014/main" id="{9C9E1B2E-1F00-3A5B-D346-4722992BDD10}"/>
              </a:ext>
            </a:extLst>
          </p:cNvPr>
          <p:cNvSpPr>
            <a:spLocks noGrp="1"/>
          </p:cNvSpPr>
          <p:nvPr>
            <p:ph idx="1"/>
          </p:nvPr>
        </p:nvSpPr>
        <p:spPr>
          <a:xfrm>
            <a:off x="838200" y="1825625"/>
            <a:ext cx="10515600" cy="602265"/>
          </a:xfrm>
        </p:spPr>
        <p:txBody>
          <a:bodyPr/>
          <a:lstStyle/>
          <a:p>
            <a:pPr marL="0" indent="0" algn="ctr">
              <a:buNone/>
            </a:pPr>
            <a:r>
              <a:rPr lang="en-US" dirty="0"/>
              <a:t>4 – 673 K (-269 – 400 °C)</a:t>
            </a:r>
          </a:p>
          <a:p>
            <a:pPr marL="0" indent="0" algn="ctr">
              <a:buNone/>
            </a:pPr>
            <a:endParaRPr lang="en-US" dirty="0"/>
          </a:p>
        </p:txBody>
      </p:sp>
      <p:sp>
        <p:nvSpPr>
          <p:cNvPr id="4" name="AutoShape 2" descr="Image result for Kapton Double Sided Tape">
            <a:extLst>
              <a:ext uri="{FF2B5EF4-FFF2-40B4-BE49-F238E27FC236}">
                <a16:creationId xmlns:a16="http://schemas.microsoft.com/office/drawing/2014/main" id="{95C64B64-879E-72C0-4D63-A063F6291B8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4290A64C-55D3-F7B6-B918-F1675E17ADBA}"/>
              </a:ext>
            </a:extLst>
          </p:cNvPr>
          <p:cNvPicPr>
            <a:picLocks noChangeAspect="1"/>
          </p:cNvPicPr>
          <p:nvPr/>
        </p:nvPicPr>
        <p:blipFill>
          <a:blip r:embed="rId2"/>
          <a:stretch>
            <a:fillRect/>
          </a:stretch>
        </p:blipFill>
        <p:spPr>
          <a:xfrm>
            <a:off x="537820" y="3083133"/>
            <a:ext cx="3824455" cy="2693956"/>
          </a:xfrm>
          <a:prstGeom prst="rect">
            <a:avLst/>
          </a:prstGeom>
        </p:spPr>
      </p:pic>
      <p:pic>
        <p:nvPicPr>
          <p:cNvPr id="3076" name="Picture 4" descr="Kapton® and Pyralux® Provide Superior Performance in Satellite ...">
            <a:extLst>
              <a:ext uri="{FF2B5EF4-FFF2-40B4-BE49-F238E27FC236}">
                <a16:creationId xmlns:a16="http://schemas.microsoft.com/office/drawing/2014/main" id="{2D637924-B0B5-37E5-9C19-66D1159329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0721" y="3083133"/>
            <a:ext cx="6752850" cy="2693956"/>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6E1A54C5-1C61-B0B9-96E0-1B6461FD0AF1}"/>
              </a:ext>
            </a:extLst>
          </p:cNvPr>
          <p:cNvSpPr>
            <a:spLocks noGrp="1"/>
          </p:cNvSpPr>
          <p:nvPr>
            <p:ph type="sldNum" sz="quarter" idx="12"/>
          </p:nvPr>
        </p:nvSpPr>
        <p:spPr/>
        <p:txBody>
          <a:bodyPr/>
          <a:lstStyle/>
          <a:p>
            <a:fld id="{1EFA36A4-E408-49BC-BEE1-EC0DE8FF41C4}" type="slidenum">
              <a:rPr lang="en-US" smtClean="0"/>
              <a:t>21</a:t>
            </a:fld>
            <a:endParaRPr lang="en-US"/>
          </a:p>
        </p:txBody>
      </p:sp>
    </p:spTree>
    <p:extLst>
      <p:ext uri="{BB962C8B-B14F-4D97-AF65-F5344CB8AC3E}">
        <p14:creationId xmlns:p14="http://schemas.microsoft.com/office/powerpoint/2010/main" val="39395817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4C60A-7EA4-9F10-8F67-85DA939CB6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87C6DE-5C73-FAED-80B2-A346246BDDAD}"/>
              </a:ext>
            </a:extLst>
          </p:cNvPr>
          <p:cNvSpPr>
            <a:spLocks noGrp="1"/>
          </p:cNvSpPr>
          <p:nvPr>
            <p:ph type="title"/>
          </p:nvPr>
        </p:nvSpPr>
        <p:spPr/>
        <p:txBody>
          <a:bodyPr/>
          <a:lstStyle/>
          <a:p>
            <a:pPr algn="ctr"/>
            <a:r>
              <a:rPr lang="en-US" dirty="0"/>
              <a:t>MITIGATING UV DEGRADATION </a:t>
            </a:r>
            <a:br>
              <a:rPr lang="en-US" dirty="0"/>
            </a:br>
            <a:r>
              <a:rPr lang="en-US" dirty="0"/>
              <a:t>MYLAR POLYESTER FILM</a:t>
            </a:r>
          </a:p>
        </p:txBody>
      </p:sp>
      <p:sp>
        <p:nvSpPr>
          <p:cNvPr id="3" name="Content Placeholder 2">
            <a:extLst>
              <a:ext uri="{FF2B5EF4-FFF2-40B4-BE49-F238E27FC236}">
                <a16:creationId xmlns:a16="http://schemas.microsoft.com/office/drawing/2014/main" id="{97EDB3B4-CAEA-7B7C-308F-902709D5B149}"/>
              </a:ext>
            </a:extLst>
          </p:cNvPr>
          <p:cNvSpPr>
            <a:spLocks noGrp="1"/>
          </p:cNvSpPr>
          <p:nvPr>
            <p:ph idx="1"/>
          </p:nvPr>
        </p:nvSpPr>
        <p:spPr>
          <a:xfrm>
            <a:off x="838200" y="1825625"/>
            <a:ext cx="10515600" cy="602265"/>
          </a:xfrm>
        </p:spPr>
        <p:txBody>
          <a:bodyPr/>
          <a:lstStyle/>
          <a:p>
            <a:pPr marL="0" indent="0" algn="ctr">
              <a:buNone/>
            </a:pPr>
            <a:r>
              <a:rPr lang="en-US" dirty="0"/>
              <a:t>200 – 450 K (-73 – 177 °C)</a:t>
            </a:r>
          </a:p>
        </p:txBody>
      </p:sp>
      <p:sp>
        <p:nvSpPr>
          <p:cNvPr id="4" name="AutoShape 2" descr="Image result for Kapton Double Sided Tape">
            <a:extLst>
              <a:ext uri="{FF2B5EF4-FFF2-40B4-BE49-F238E27FC236}">
                <a16:creationId xmlns:a16="http://schemas.microsoft.com/office/drawing/2014/main" id="{08B0115B-9CA5-20AA-2863-EF41C7A945F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098" name="Picture 2" descr="MLI Blankets | The Habitable Zone Planet Finder">
            <a:extLst>
              <a:ext uri="{FF2B5EF4-FFF2-40B4-BE49-F238E27FC236}">
                <a16:creationId xmlns:a16="http://schemas.microsoft.com/office/drawing/2014/main" id="{2ED160B8-BD0F-BB81-0889-D0A8C218E8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5986" y="2349382"/>
            <a:ext cx="7403735" cy="450861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ighly Reflective Mylar Film Roll 4FT x 100FT for Outdoor Grow Room Indoor Decoration Aluminum Paint Coated 2 Mil Silver">
            <a:extLst>
              <a:ext uri="{FF2B5EF4-FFF2-40B4-BE49-F238E27FC236}">
                <a16:creationId xmlns:a16="http://schemas.microsoft.com/office/drawing/2014/main" id="{4F51F9C6-00C1-DD9B-E2D2-C92DCF3247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79" y="2386668"/>
            <a:ext cx="4471332" cy="4471332"/>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461C2EB6-224A-AD66-5D71-CA205314FCC6}"/>
              </a:ext>
            </a:extLst>
          </p:cNvPr>
          <p:cNvSpPr>
            <a:spLocks noGrp="1"/>
          </p:cNvSpPr>
          <p:nvPr>
            <p:ph type="sldNum" sz="quarter" idx="12"/>
          </p:nvPr>
        </p:nvSpPr>
        <p:spPr/>
        <p:txBody>
          <a:bodyPr/>
          <a:lstStyle/>
          <a:p>
            <a:fld id="{1EFA36A4-E408-49BC-BEE1-EC0DE8FF41C4}" type="slidenum">
              <a:rPr lang="en-US" smtClean="0"/>
              <a:t>22</a:t>
            </a:fld>
            <a:endParaRPr lang="en-US"/>
          </a:p>
        </p:txBody>
      </p:sp>
    </p:spTree>
    <p:extLst>
      <p:ext uri="{BB962C8B-B14F-4D97-AF65-F5344CB8AC3E}">
        <p14:creationId xmlns:p14="http://schemas.microsoft.com/office/powerpoint/2010/main" val="32613376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10327-41E9-7DAC-8E09-7E353AC70F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EF46E3-DED5-4FEE-61FC-7C7B4419CD60}"/>
              </a:ext>
            </a:extLst>
          </p:cNvPr>
          <p:cNvSpPr>
            <a:spLocks noGrp="1"/>
          </p:cNvSpPr>
          <p:nvPr>
            <p:ph type="title"/>
          </p:nvPr>
        </p:nvSpPr>
        <p:spPr/>
        <p:txBody>
          <a:bodyPr/>
          <a:lstStyle/>
          <a:p>
            <a:pPr algn="ctr"/>
            <a:r>
              <a:rPr lang="en-US" dirty="0"/>
              <a:t>MITIGATING UV DEGRADATION </a:t>
            </a:r>
            <a:br>
              <a:rPr lang="en-US" dirty="0"/>
            </a:br>
            <a:r>
              <a:rPr lang="en-US" dirty="0"/>
              <a:t>TEFLON</a:t>
            </a:r>
          </a:p>
        </p:txBody>
      </p:sp>
      <p:sp>
        <p:nvSpPr>
          <p:cNvPr id="3" name="Content Placeholder 2">
            <a:extLst>
              <a:ext uri="{FF2B5EF4-FFF2-40B4-BE49-F238E27FC236}">
                <a16:creationId xmlns:a16="http://schemas.microsoft.com/office/drawing/2014/main" id="{D3D468D5-9E2E-9C60-974E-64DEAD570D9D}"/>
              </a:ext>
            </a:extLst>
          </p:cNvPr>
          <p:cNvSpPr>
            <a:spLocks noGrp="1"/>
          </p:cNvSpPr>
          <p:nvPr>
            <p:ph idx="1"/>
          </p:nvPr>
        </p:nvSpPr>
        <p:spPr>
          <a:xfrm>
            <a:off x="838200" y="1825625"/>
            <a:ext cx="10515600" cy="602265"/>
          </a:xfrm>
        </p:spPr>
        <p:txBody>
          <a:bodyPr/>
          <a:lstStyle/>
          <a:p>
            <a:pPr marL="0" indent="0" algn="ctr">
              <a:buNone/>
            </a:pPr>
            <a:r>
              <a:rPr lang="en-US" dirty="0"/>
              <a:t>123 – 533 K (-150 - 260°C)</a:t>
            </a:r>
          </a:p>
          <a:p>
            <a:pPr marL="0" indent="0" algn="ctr">
              <a:buNone/>
            </a:pPr>
            <a:endParaRPr lang="en-US" dirty="0"/>
          </a:p>
        </p:txBody>
      </p:sp>
      <p:sp>
        <p:nvSpPr>
          <p:cNvPr id="4" name="AutoShape 2" descr="Image result for Kapton Double Sided Tape">
            <a:extLst>
              <a:ext uri="{FF2B5EF4-FFF2-40B4-BE49-F238E27FC236}">
                <a16:creationId xmlns:a16="http://schemas.microsoft.com/office/drawing/2014/main" id="{AA15E304-26FE-B545-1ABD-4DB2CC1712D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7A043024-7F24-213C-5022-3F1FC2329D9B}"/>
              </a:ext>
            </a:extLst>
          </p:cNvPr>
          <p:cNvPicPr>
            <a:picLocks noChangeAspect="1"/>
          </p:cNvPicPr>
          <p:nvPr/>
        </p:nvPicPr>
        <p:blipFill>
          <a:blip r:embed="rId2"/>
          <a:stretch>
            <a:fillRect/>
          </a:stretch>
        </p:blipFill>
        <p:spPr>
          <a:xfrm>
            <a:off x="838200" y="2388534"/>
            <a:ext cx="3531397" cy="4143696"/>
          </a:xfrm>
          <a:prstGeom prst="rect">
            <a:avLst/>
          </a:prstGeom>
        </p:spPr>
      </p:pic>
      <p:pic>
        <p:nvPicPr>
          <p:cNvPr id="5122" name="Picture 2">
            <a:extLst>
              <a:ext uri="{FF2B5EF4-FFF2-40B4-BE49-F238E27FC236}">
                <a16:creationId xmlns:a16="http://schemas.microsoft.com/office/drawing/2014/main" id="{84E4121B-BB69-0D2A-5982-229B7B71E9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4178" y="2427890"/>
            <a:ext cx="5255738" cy="4064985"/>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DED954F5-6F00-C29B-3BE9-624913803823}"/>
              </a:ext>
            </a:extLst>
          </p:cNvPr>
          <p:cNvSpPr>
            <a:spLocks noGrp="1"/>
          </p:cNvSpPr>
          <p:nvPr>
            <p:ph type="sldNum" sz="quarter" idx="12"/>
          </p:nvPr>
        </p:nvSpPr>
        <p:spPr/>
        <p:txBody>
          <a:bodyPr/>
          <a:lstStyle/>
          <a:p>
            <a:fld id="{1EFA36A4-E408-49BC-BEE1-EC0DE8FF41C4}" type="slidenum">
              <a:rPr lang="en-US" smtClean="0"/>
              <a:t>23</a:t>
            </a:fld>
            <a:endParaRPr lang="en-US"/>
          </a:p>
        </p:txBody>
      </p:sp>
    </p:spTree>
    <p:extLst>
      <p:ext uri="{BB962C8B-B14F-4D97-AF65-F5344CB8AC3E}">
        <p14:creationId xmlns:p14="http://schemas.microsoft.com/office/powerpoint/2010/main" val="15798615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79D99-A153-4AA5-911E-56BAA00A0D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4A908B-4BA5-EFEC-7290-BF6B0A62E24D}"/>
              </a:ext>
            </a:extLst>
          </p:cNvPr>
          <p:cNvSpPr>
            <a:spLocks noGrp="1"/>
          </p:cNvSpPr>
          <p:nvPr>
            <p:ph type="title"/>
          </p:nvPr>
        </p:nvSpPr>
        <p:spPr/>
        <p:txBody>
          <a:bodyPr/>
          <a:lstStyle/>
          <a:p>
            <a:pPr algn="ctr"/>
            <a:r>
              <a:rPr lang="en-US" dirty="0"/>
              <a:t>MITIGATING UV DEGRADATION </a:t>
            </a:r>
            <a:br>
              <a:rPr lang="en-US" dirty="0"/>
            </a:br>
            <a:r>
              <a:rPr lang="en-US" dirty="0"/>
              <a:t>UV BLOCKERS, ABSORBERS &amp; STABILIZERS</a:t>
            </a:r>
          </a:p>
        </p:txBody>
      </p:sp>
      <p:sp>
        <p:nvSpPr>
          <p:cNvPr id="3" name="Content Placeholder 2">
            <a:extLst>
              <a:ext uri="{FF2B5EF4-FFF2-40B4-BE49-F238E27FC236}">
                <a16:creationId xmlns:a16="http://schemas.microsoft.com/office/drawing/2014/main" id="{E60B2706-8520-0A15-42F7-DB190A6C472B}"/>
              </a:ext>
            </a:extLst>
          </p:cNvPr>
          <p:cNvSpPr>
            <a:spLocks noGrp="1"/>
          </p:cNvSpPr>
          <p:nvPr>
            <p:ph idx="1"/>
          </p:nvPr>
        </p:nvSpPr>
        <p:spPr>
          <a:xfrm>
            <a:off x="130284" y="1881378"/>
            <a:ext cx="3071070" cy="602265"/>
          </a:xfrm>
        </p:spPr>
        <p:txBody>
          <a:bodyPr/>
          <a:lstStyle/>
          <a:p>
            <a:pPr marL="0" indent="0" algn="ctr">
              <a:buNone/>
            </a:pPr>
            <a:r>
              <a:rPr lang="en-US" dirty="0"/>
              <a:t>Blockers</a:t>
            </a:r>
          </a:p>
        </p:txBody>
      </p:sp>
      <p:sp>
        <p:nvSpPr>
          <p:cNvPr id="4" name="AutoShape 2" descr="Image result for Kapton Double Sided Tape">
            <a:extLst>
              <a:ext uri="{FF2B5EF4-FFF2-40B4-BE49-F238E27FC236}">
                <a16:creationId xmlns:a16="http://schemas.microsoft.com/office/drawing/2014/main" id="{03DE8AF6-1A48-61F9-170C-EE46DDD91E8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146" name="Picture 2" descr="Multilayer Insulation (MLI) - HPS GmbH – The Team to Trust HPS GmbH ...">
            <a:extLst>
              <a:ext uri="{FF2B5EF4-FFF2-40B4-BE49-F238E27FC236}">
                <a16:creationId xmlns:a16="http://schemas.microsoft.com/office/drawing/2014/main" id="{60C7432F-D480-3F72-8B68-01207B77D5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95" y="2427890"/>
            <a:ext cx="3431082" cy="2287388"/>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1969D595-1D72-9640-43E6-D4037BD7C806}"/>
              </a:ext>
            </a:extLst>
          </p:cNvPr>
          <p:cNvSpPr txBox="1">
            <a:spLocks/>
          </p:cNvSpPr>
          <p:nvPr/>
        </p:nvSpPr>
        <p:spPr>
          <a:xfrm>
            <a:off x="617639" y="5498206"/>
            <a:ext cx="3071070" cy="6022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Absorbers</a:t>
            </a:r>
          </a:p>
        </p:txBody>
      </p:sp>
      <p:pic>
        <p:nvPicPr>
          <p:cNvPr id="6148" name="Picture 4" descr="Airbus and University of Surrey Develop Coating to Protect Satellites ...">
            <a:extLst>
              <a:ext uri="{FF2B5EF4-FFF2-40B4-BE49-F238E27FC236}">
                <a16:creationId xmlns:a16="http://schemas.microsoft.com/office/drawing/2014/main" id="{23D64448-075C-E455-D2F2-6806B88095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0177" y="4240868"/>
            <a:ext cx="3925698" cy="2617132"/>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Hals Uv Stabilizer UV HALS - 783 Tinuvin 783 Sabotab 783, Packaging ...">
            <a:extLst>
              <a:ext uri="{FF2B5EF4-FFF2-40B4-BE49-F238E27FC236}">
                <a16:creationId xmlns:a16="http://schemas.microsoft.com/office/drawing/2014/main" id="{152F97CC-913F-FB3A-1298-F80EC015DE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29500" y="2427890"/>
            <a:ext cx="4762500" cy="2143125"/>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6EE1995B-D5F6-69D4-717B-1B3CB0618A85}"/>
              </a:ext>
            </a:extLst>
          </p:cNvPr>
          <p:cNvSpPr txBox="1">
            <a:spLocks/>
          </p:cNvSpPr>
          <p:nvPr/>
        </p:nvSpPr>
        <p:spPr>
          <a:xfrm>
            <a:off x="8101223" y="1930783"/>
            <a:ext cx="3071070" cy="6022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Stabilizers</a:t>
            </a:r>
          </a:p>
        </p:txBody>
      </p:sp>
      <p:sp>
        <p:nvSpPr>
          <p:cNvPr id="6" name="Slide Number Placeholder 5">
            <a:extLst>
              <a:ext uri="{FF2B5EF4-FFF2-40B4-BE49-F238E27FC236}">
                <a16:creationId xmlns:a16="http://schemas.microsoft.com/office/drawing/2014/main" id="{27A5EDAB-A7FC-051A-E008-9EA17FD94A09}"/>
              </a:ext>
            </a:extLst>
          </p:cNvPr>
          <p:cNvSpPr>
            <a:spLocks noGrp="1"/>
          </p:cNvSpPr>
          <p:nvPr>
            <p:ph type="sldNum" sz="quarter" idx="12"/>
          </p:nvPr>
        </p:nvSpPr>
        <p:spPr/>
        <p:txBody>
          <a:bodyPr/>
          <a:lstStyle/>
          <a:p>
            <a:fld id="{1EFA36A4-E408-49BC-BEE1-EC0DE8FF41C4}" type="slidenum">
              <a:rPr lang="en-US" smtClean="0"/>
              <a:t>24</a:t>
            </a:fld>
            <a:endParaRPr lang="en-US"/>
          </a:p>
        </p:txBody>
      </p:sp>
    </p:spTree>
    <p:extLst>
      <p:ext uri="{BB962C8B-B14F-4D97-AF65-F5344CB8AC3E}">
        <p14:creationId xmlns:p14="http://schemas.microsoft.com/office/powerpoint/2010/main" val="11912907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BDB39837-631F-4DED-90C6-C0DC56F5D636}"/>
              </a:ext>
            </a:extLst>
          </p:cNvPr>
          <p:cNvSpPr>
            <a:spLocks noGrp="1" noChangeArrowheads="1"/>
          </p:cNvSpPr>
          <p:nvPr>
            <p:ph type="title"/>
          </p:nvPr>
        </p:nvSpPr>
        <p:spPr>
          <a:xfrm>
            <a:off x="2019300" y="327404"/>
            <a:ext cx="7962900" cy="762000"/>
          </a:xfrm>
        </p:spPr>
        <p:txBody>
          <a:bodyPr>
            <a:noAutofit/>
          </a:bodyPr>
          <a:lstStyle/>
          <a:p>
            <a:pPr algn="ctr">
              <a:defRPr/>
            </a:pPr>
            <a:r>
              <a:rPr lang="en-US" altLang="en-US" sz="2800" b="1" dirty="0"/>
              <a:t>COLD WELDING</a:t>
            </a:r>
          </a:p>
        </p:txBody>
      </p:sp>
      <p:sp>
        <p:nvSpPr>
          <p:cNvPr id="18436" name="Rectangle 4">
            <a:extLst>
              <a:ext uri="{FF2B5EF4-FFF2-40B4-BE49-F238E27FC236}">
                <a16:creationId xmlns:a16="http://schemas.microsoft.com/office/drawing/2014/main" id="{E6BE146C-1A1E-447E-AA71-79328D2DD954}"/>
              </a:ext>
            </a:extLst>
          </p:cNvPr>
          <p:cNvSpPr>
            <a:spLocks noChangeArrowheads="1"/>
          </p:cNvSpPr>
          <p:nvPr/>
        </p:nvSpPr>
        <p:spPr bwMode="auto">
          <a:xfrm>
            <a:off x="1701800" y="1093788"/>
            <a:ext cx="8788400" cy="5262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marL="342900" indent="-342900">
              <a:defRPr sz="2400">
                <a:solidFill>
                  <a:schemeClr val="tx1"/>
                </a:solidFill>
                <a:latin typeface="Times New Roman" charset="0"/>
              </a:defRPr>
            </a:lvl1pPr>
            <a:lvl2pPr marL="800100" indent="-342900">
              <a:defRPr sz="2400">
                <a:solidFill>
                  <a:schemeClr val="tx1"/>
                </a:solidFill>
                <a:latin typeface="Times New Roman" charset="0"/>
              </a:defRPr>
            </a:lvl2pPr>
            <a:lvl3pPr marL="1320800" indent="-228600">
              <a:defRPr sz="2400">
                <a:solidFill>
                  <a:schemeClr val="tx1"/>
                </a:solidFill>
                <a:latin typeface="Times New Roman" charset="0"/>
              </a:defRPr>
            </a:lvl3pPr>
            <a:lvl4pPr marL="16637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a:spcBef>
                <a:spcPct val="150000"/>
              </a:spcBef>
              <a:buFontTx/>
              <a:buChar char="•"/>
              <a:defRPr/>
            </a:pPr>
            <a:r>
              <a:rPr lang="en-US" altLang="en-US" dirty="0">
                <a:latin typeface="Arial" charset="0"/>
              </a:rPr>
              <a:t>Cold welding – the unintended bonding of materials because of lack of atmosphere between surfaces</a:t>
            </a:r>
          </a:p>
        </p:txBody>
      </p:sp>
      <p:sp>
        <p:nvSpPr>
          <p:cNvPr id="2" name="Slide Number Placeholder 1">
            <a:extLst>
              <a:ext uri="{FF2B5EF4-FFF2-40B4-BE49-F238E27FC236}">
                <a16:creationId xmlns:a16="http://schemas.microsoft.com/office/drawing/2014/main" id="{BAE5F70B-78E4-4A05-8E72-4DF8BFFD1BB4}"/>
              </a:ext>
            </a:extLst>
          </p:cNvPr>
          <p:cNvSpPr>
            <a:spLocks noGrp="1"/>
          </p:cNvSpPr>
          <p:nvPr>
            <p:ph type="sldNum" sz="quarter" idx="12"/>
          </p:nvPr>
        </p:nvSpPr>
        <p:spPr/>
        <p:txBody>
          <a:bodyPr/>
          <a:lstStyle/>
          <a:p>
            <a:fld id="{C83C362F-97FB-4C1E-B0F0-C3069DD0CDD1}" type="slidenum">
              <a:rPr lang="en-US" smtClean="0"/>
              <a:t>25</a:t>
            </a:fld>
            <a:endParaRPr lang="en-US"/>
          </a:p>
        </p:txBody>
      </p:sp>
      <p:pic>
        <p:nvPicPr>
          <p:cNvPr id="15362" name="Picture 2" descr="http://northessexastro.files.wordpress.com/2011/10/19-composite21.jpg">
            <a:extLst>
              <a:ext uri="{FF2B5EF4-FFF2-40B4-BE49-F238E27FC236}">
                <a16:creationId xmlns:a16="http://schemas.microsoft.com/office/drawing/2014/main" id="{4E245050-2A28-4C63-8F54-7D7B66FB8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5533" y="2428222"/>
            <a:ext cx="5903912" cy="36915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0450769"/>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77F76-9AF3-91A1-F205-888B5D8F658B}"/>
              </a:ext>
            </a:extLst>
          </p:cNvPr>
          <p:cNvSpPr>
            <a:spLocks noGrp="1"/>
          </p:cNvSpPr>
          <p:nvPr>
            <p:ph type="title"/>
          </p:nvPr>
        </p:nvSpPr>
        <p:spPr>
          <a:xfrm>
            <a:off x="838200" y="147012"/>
            <a:ext cx="10515600" cy="658332"/>
          </a:xfrm>
        </p:spPr>
        <p:txBody>
          <a:bodyPr>
            <a:normAutofit fontScale="90000"/>
          </a:bodyPr>
          <a:lstStyle/>
          <a:p>
            <a:pPr algn="ctr"/>
            <a:r>
              <a:rPr lang="en-US" dirty="0"/>
              <a:t>COLD WELDING</a:t>
            </a:r>
          </a:p>
        </p:txBody>
      </p:sp>
      <p:pic>
        <p:nvPicPr>
          <p:cNvPr id="5" name="Online Media 4" title="Why Metals Spontaneously Fuse Together In Space">
            <a:hlinkClick r:id="" action="ppaction://media"/>
            <a:extLst>
              <a:ext uri="{FF2B5EF4-FFF2-40B4-BE49-F238E27FC236}">
                <a16:creationId xmlns:a16="http://schemas.microsoft.com/office/drawing/2014/main" id="{94E514A7-8639-84B2-130F-18528CF094D4}"/>
              </a:ext>
            </a:extLst>
          </p:cNvPr>
          <p:cNvPicPr>
            <a:picLocks noRot="1" noChangeAspect="1"/>
          </p:cNvPicPr>
          <p:nvPr>
            <a:videoFile r:link="rId1"/>
          </p:nvPr>
        </p:nvPicPr>
        <p:blipFill>
          <a:blip r:embed="rId3"/>
          <a:stretch>
            <a:fillRect/>
          </a:stretch>
        </p:blipFill>
        <p:spPr>
          <a:xfrm>
            <a:off x="863849" y="931178"/>
            <a:ext cx="10489951" cy="5926822"/>
          </a:xfrm>
          <a:prstGeom prst="rect">
            <a:avLst/>
          </a:prstGeom>
        </p:spPr>
      </p:pic>
      <p:sp>
        <p:nvSpPr>
          <p:cNvPr id="3" name="Slide Number Placeholder 2">
            <a:extLst>
              <a:ext uri="{FF2B5EF4-FFF2-40B4-BE49-F238E27FC236}">
                <a16:creationId xmlns:a16="http://schemas.microsoft.com/office/drawing/2014/main" id="{4AED06DA-0A8A-FFD7-F6F3-0305655DECB3}"/>
              </a:ext>
            </a:extLst>
          </p:cNvPr>
          <p:cNvSpPr>
            <a:spLocks noGrp="1"/>
          </p:cNvSpPr>
          <p:nvPr>
            <p:ph type="sldNum" sz="quarter" idx="12"/>
          </p:nvPr>
        </p:nvSpPr>
        <p:spPr/>
        <p:txBody>
          <a:bodyPr/>
          <a:lstStyle/>
          <a:p>
            <a:fld id="{1EFA36A4-E408-49BC-BEE1-EC0DE8FF41C4}" type="slidenum">
              <a:rPr lang="en-US" smtClean="0"/>
              <a:t>26</a:t>
            </a:fld>
            <a:endParaRPr lang="en-US"/>
          </a:p>
        </p:txBody>
      </p:sp>
    </p:spTree>
    <p:extLst>
      <p:ext uri="{BB962C8B-B14F-4D97-AF65-F5344CB8AC3E}">
        <p14:creationId xmlns:p14="http://schemas.microsoft.com/office/powerpoint/2010/main" val="3459409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9FD1D-71BE-E38F-120A-4B9AE2A45489}"/>
              </a:ext>
            </a:extLst>
          </p:cNvPr>
          <p:cNvSpPr>
            <a:spLocks noGrp="1"/>
          </p:cNvSpPr>
          <p:nvPr>
            <p:ph type="title"/>
          </p:nvPr>
        </p:nvSpPr>
        <p:spPr>
          <a:xfrm>
            <a:off x="838200" y="223236"/>
            <a:ext cx="10515600" cy="809406"/>
          </a:xfrm>
        </p:spPr>
        <p:txBody>
          <a:bodyPr/>
          <a:lstStyle/>
          <a:p>
            <a:pPr algn="ctr"/>
            <a:r>
              <a:rPr lang="en-US" dirty="0"/>
              <a:t>METHODS TO PREVENT COLD WELDING</a:t>
            </a:r>
          </a:p>
        </p:txBody>
      </p:sp>
      <p:sp>
        <p:nvSpPr>
          <p:cNvPr id="3" name="TextBox 2">
            <a:extLst>
              <a:ext uri="{FF2B5EF4-FFF2-40B4-BE49-F238E27FC236}">
                <a16:creationId xmlns:a16="http://schemas.microsoft.com/office/drawing/2014/main" id="{05C70BD6-7D42-8B8A-9139-40A6A9A18F51}"/>
              </a:ext>
            </a:extLst>
          </p:cNvPr>
          <p:cNvSpPr txBox="1"/>
          <p:nvPr/>
        </p:nvSpPr>
        <p:spPr>
          <a:xfrm>
            <a:off x="960360" y="1249084"/>
            <a:ext cx="9655444" cy="4801314"/>
          </a:xfrm>
          <a:prstGeom prst="rect">
            <a:avLst/>
          </a:prstGeom>
          <a:noFill/>
        </p:spPr>
        <p:txBody>
          <a:bodyPr wrap="square" rtlCol="0">
            <a:spAutoFit/>
          </a:bodyPr>
          <a:lstStyle/>
          <a:p>
            <a:pPr marL="342900" indent="-342900">
              <a:buAutoNum type="arabicPeriod"/>
            </a:pPr>
            <a:r>
              <a:rPr lang="en-US" dirty="0"/>
              <a:t>Use of dissimilar materials</a:t>
            </a:r>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r>
              <a:rPr lang="en-US" dirty="0"/>
              <a:t>Surface coatings and </a:t>
            </a:r>
            <a:r>
              <a:rPr lang="en-US" dirty="0" err="1"/>
              <a:t>platings</a:t>
            </a: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r>
              <a:rPr lang="en-US" dirty="0"/>
              <a:t>Lubrication</a:t>
            </a:r>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r>
              <a:rPr lang="en-US" dirty="0"/>
              <a:t>Design strategies</a:t>
            </a:r>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r>
              <a:rPr lang="en-US" dirty="0"/>
              <a:t>Cleaning and handling controls</a:t>
            </a:r>
          </a:p>
        </p:txBody>
      </p:sp>
      <p:pic>
        <p:nvPicPr>
          <p:cNvPr id="7170" name="Picture 2" descr="Joining Technology for Metal-dissimilar Materials DLAMP®｜DLAMP ...">
            <a:extLst>
              <a:ext uri="{FF2B5EF4-FFF2-40B4-BE49-F238E27FC236}">
                <a16:creationId xmlns:a16="http://schemas.microsoft.com/office/drawing/2014/main" id="{315F2F89-84F4-4DE4-A607-97B39D4129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3916" y="1003792"/>
            <a:ext cx="4362450" cy="25241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981178D-D7EB-7071-CBCF-1DD36854BEE3}"/>
              </a:ext>
            </a:extLst>
          </p:cNvPr>
          <p:cNvPicPr>
            <a:picLocks noChangeAspect="1"/>
          </p:cNvPicPr>
          <p:nvPr/>
        </p:nvPicPr>
        <p:blipFill>
          <a:blip r:embed="rId3"/>
          <a:stretch>
            <a:fillRect/>
          </a:stretch>
        </p:blipFill>
        <p:spPr>
          <a:xfrm>
            <a:off x="6321597" y="3556018"/>
            <a:ext cx="3547087" cy="3301982"/>
          </a:xfrm>
          <a:prstGeom prst="rect">
            <a:avLst/>
          </a:prstGeom>
        </p:spPr>
      </p:pic>
      <p:sp>
        <p:nvSpPr>
          <p:cNvPr id="4" name="Slide Number Placeholder 3">
            <a:extLst>
              <a:ext uri="{FF2B5EF4-FFF2-40B4-BE49-F238E27FC236}">
                <a16:creationId xmlns:a16="http://schemas.microsoft.com/office/drawing/2014/main" id="{62C04ABB-A723-CF53-528C-CC8DF507A7CB}"/>
              </a:ext>
            </a:extLst>
          </p:cNvPr>
          <p:cNvSpPr>
            <a:spLocks noGrp="1"/>
          </p:cNvSpPr>
          <p:nvPr>
            <p:ph type="sldNum" sz="quarter" idx="12"/>
          </p:nvPr>
        </p:nvSpPr>
        <p:spPr/>
        <p:txBody>
          <a:bodyPr/>
          <a:lstStyle/>
          <a:p>
            <a:fld id="{1EFA36A4-E408-49BC-BEE1-EC0DE8FF41C4}" type="slidenum">
              <a:rPr lang="en-US" smtClean="0"/>
              <a:t>27</a:t>
            </a:fld>
            <a:endParaRPr lang="en-US"/>
          </a:p>
        </p:txBody>
      </p:sp>
    </p:spTree>
    <p:extLst>
      <p:ext uri="{BB962C8B-B14F-4D97-AF65-F5344CB8AC3E}">
        <p14:creationId xmlns:p14="http://schemas.microsoft.com/office/powerpoint/2010/main" val="7934624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ACCBD-4361-2E8D-9171-151FDBB72A5F}"/>
              </a:ext>
            </a:extLst>
          </p:cNvPr>
          <p:cNvSpPr>
            <a:spLocks noGrp="1"/>
          </p:cNvSpPr>
          <p:nvPr>
            <p:ph type="title"/>
          </p:nvPr>
        </p:nvSpPr>
        <p:spPr/>
        <p:txBody>
          <a:bodyPr/>
          <a:lstStyle/>
          <a:p>
            <a:pPr algn="ctr"/>
            <a:r>
              <a:rPr lang="en-US" dirty="0"/>
              <a:t>CONTAMINATION CONTROL</a:t>
            </a:r>
          </a:p>
        </p:txBody>
      </p:sp>
      <p:sp>
        <p:nvSpPr>
          <p:cNvPr id="3" name="Slide Number Placeholder 2">
            <a:extLst>
              <a:ext uri="{FF2B5EF4-FFF2-40B4-BE49-F238E27FC236}">
                <a16:creationId xmlns:a16="http://schemas.microsoft.com/office/drawing/2014/main" id="{85DD0615-51E5-72A7-21A2-F1D7A8D3A377}"/>
              </a:ext>
            </a:extLst>
          </p:cNvPr>
          <p:cNvSpPr>
            <a:spLocks noGrp="1"/>
          </p:cNvSpPr>
          <p:nvPr>
            <p:ph type="sldNum" sz="quarter" idx="12"/>
          </p:nvPr>
        </p:nvSpPr>
        <p:spPr/>
        <p:txBody>
          <a:bodyPr/>
          <a:lstStyle/>
          <a:p>
            <a:fld id="{1EFA36A4-E408-49BC-BEE1-EC0DE8FF41C4}" type="slidenum">
              <a:rPr lang="en-US" smtClean="0"/>
              <a:t>28</a:t>
            </a:fld>
            <a:endParaRPr lang="en-US"/>
          </a:p>
        </p:txBody>
      </p:sp>
      <p:pic>
        <p:nvPicPr>
          <p:cNvPr id="1026" name="Picture 2" descr="Cleanroom Technology Cleanrooms for hospitals and electronics ...">
            <a:extLst>
              <a:ext uri="{FF2B5EF4-FFF2-40B4-BE49-F238E27FC236}">
                <a16:creationId xmlns:a16="http://schemas.microsoft.com/office/drawing/2014/main" id="{895A52B5-46EC-2391-7062-ECA299E228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4180" y="1573664"/>
            <a:ext cx="6381750" cy="4791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69937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20CF147-F7A9-40D1-A566-71BC1817C076}"/>
                  </a:ext>
                </a:extLst>
              </p:cNvPr>
              <p:cNvSpPr>
                <a:spLocks noGrp="1"/>
              </p:cNvSpPr>
              <p:nvPr>
                <p:ph type="title"/>
              </p:nvPr>
            </p:nvSpPr>
            <p:spPr>
              <a:xfrm>
                <a:off x="350865" y="610993"/>
                <a:ext cx="3505495" cy="1622321"/>
              </a:xfrm>
            </p:spPr>
            <p:txBody>
              <a:bodyPr vert="horz" lIns="91440" tIns="45720" rIns="91440" bIns="45720" rtlCol="0" anchor="ctr">
                <a:noAutofit/>
              </a:bodyPr>
              <a:lstStyle/>
              <a:p>
                <a:pPr/>
                <a14:m>
                  <m:oMathPara xmlns:m="http://schemas.openxmlformats.org/officeDocument/2006/math">
                    <m:oMathParaPr>
                      <m:jc m:val="centerGroup"/>
                    </m:oMathParaPr>
                    <m:oMath xmlns:m="http://schemas.openxmlformats.org/officeDocument/2006/math">
                      <m:r>
                        <a:rPr lang="en-US" sz="1800" i="1" kern="1200">
                          <a:solidFill>
                            <a:schemeClr val="tx1"/>
                          </a:solidFill>
                          <a:latin typeface="Cambria Math" panose="02040503050406030204" pitchFamily="18" charset="0"/>
                          <a:ea typeface="+mj-ea"/>
                          <a:cs typeface="+mj-cs"/>
                        </a:rPr>
                        <m:t>𝑃</m:t>
                      </m:r>
                      <m:r>
                        <a:rPr lang="en-US" sz="1800" b="0" i="1" kern="1200">
                          <a:solidFill>
                            <a:schemeClr val="tx1"/>
                          </a:solidFill>
                          <a:latin typeface="Cambria Math" panose="02040503050406030204" pitchFamily="18" charset="0"/>
                          <a:ea typeface="+mj-ea"/>
                          <a:cs typeface="+mj-cs"/>
                        </a:rPr>
                        <m:t>𝐴𝑅𝑇𝐼𝐶𝐿𝐸</m:t>
                      </m:r>
                      <m:r>
                        <a:rPr lang="en-US" sz="1800" b="0" i="1" kern="1200">
                          <a:solidFill>
                            <a:schemeClr val="tx1"/>
                          </a:solidFill>
                          <a:latin typeface="Cambria Math" panose="02040503050406030204" pitchFamily="18" charset="0"/>
                          <a:ea typeface="+mj-ea"/>
                          <a:cs typeface="+mj-cs"/>
                        </a:rPr>
                        <m:t> </m:t>
                      </m:r>
                      <m:r>
                        <a:rPr lang="en-US" sz="1800" b="0" i="1" kern="1200">
                          <a:solidFill>
                            <a:schemeClr val="tx1"/>
                          </a:solidFill>
                          <a:latin typeface="Cambria Math" panose="02040503050406030204" pitchFamily="18" charset="0"/>
                          <a:ea typeface="+mj-ea"/>
                          <a:cs typeface="+mj-cs"/>
                        </a:rPr>
                        <m:t>𝐶𝑂𝑁𝐶𝐸𝑁𝑇𝑅𝐴𝑇𝐼𝑂𝑁</m:t>
                      </m:r>
                      <m:r>
                        <a:rPr lang="en-US" sz="1800" b="0" i="1" kern="1200">
                          <a:solidFill>
                            <a:schemeClr val="tx1"/>
                          </a:solidFill>
                          <a:latin typeface="Cambria Math" panose="02040503050406030204" pitchFamily="18" charset="0"/>
                          <a:ea typeface="+mj-ea"/>
                          <a:cs typeface="+mj-cs"/>
                        </a:rPr>
                        <m:t> </m:t>
                      </m:r>
                      <m:r>
                        <a:rPr lang="en-US" sz="1800" b="0" i="1" kern="1200">
                          <a:solidFill>
                            <a:schemeClr val="tx1"/>
                          </a:solidFill>
                          <a:latin typeface="Cambria Math" panose="02040503050406030204" pitchFamily="18" charset="0"/>
                          <a:ea typeface="+mj-ea"/>
                          <a:cs typeface="+mj-cs"/>
                        </a:rPr>
                        <m:t>𝐿𝐼𝑀𝐼𝑇𝑆</m:t>
                      </m:r>
                    </m:oMath>
                  </m:oMathPara>
                </a14:m>
                <a:endParaRPr lang="en-US" sz="1800" kern="1200" dirty="0">
                  <a:solidFill>
                    <a:schemeClr val="tx1"/>
                  </a:solidFill>
                  <a:ea typeface="+mj-ea"/>
                  <a:cs typeface="+mj-cs"/>
                </a:endParaRPr>
              </a:p>
            </p:txBody>
          </p:sp>
        </mc:Choice>
        <mc:Fallback xmlns="">
          <p:sp>
            <p:nvSpPr>
              <p:cNvPr id="2" name="Title 1">
                <a:extLst>
                  <a:ext uri="{FF2B5EF4-FFF2-40B4-BE49-F238E27FC236}">
                    <a16:creationId xmlns:a16="http://schemas.microsoft.com/office/drawing/2014/main" id="{D20CF147-F7A9-40D1-A566-71BC1817C076}"/>
                  </a:ext>
                </a:extLst>
              </p:cNvPr>
              <p:cNvSpPr>
                <a:spLocks noGrp="1" noRot="1" noChangeAspect="1" noMove="1" noResize="1" noEditPoints="1" noAdjustHandles="1" noChangeArrowheads="1" noChangeShapeType="1" noTextEdit="1"/>
              </p:cNvSpPr>
              <p:nvPr>
                <p:ph type="title"/>
              </p:nvPr>
            </p:nvSpPr>
            <p:spPr>
              <a:xfrm>
                <a:off x="350865" y="610993"/>
                <a:ext cx="3505495" cy="1622321"/>
              </a:xfrm>
              <a:blipFill>
                <a:blip r:embed="rId2"/>
                <a:stretch>
                  <a:fillRect r="-13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EA80BC8-8EE3-4CD3-829D-13D1DC295BAE}"/>
                  </a:ext>
                </a:extLst>
              </p:cNvPr>
              <p:cNvSpPr txBox="1"/>
              <p:nvPr/>
            </p:nvSpPr>
            <p:spPr>
              <a:xfrm>
                <a:off x="648931" y="2438400"/>
                <a:ext cx="3505494" cy="3785419"/>
              </a:xfrm>
              <a:prstGeom prst="rect">
                <a:avLst/>
              </a:prstGeom>
            </p:spPr>
            <p:txBody>
              <a:bodyPr vert="horz" lIns="91440" tIns="45720" rIns="91440" bIns="45720" rtlCol="0">
                <a:normAutofit/>
              </a:bodyPr>
              <a:lstStyle/>
              <a:p>
                <a:pPr>
                  <a:lnSpc>
                    <a:spcPct val="90000"/>
                  </a:lnSpc>
                  <a:spcAft>
                    <a:spcPts val="600"/>
                  </a:spcAft>
                </a:pPr>
                <a14:m>
                  <m:oMathPara xmlns:m="http://schemas.openxmlformats.org/officeDocument/2006/math">
                    <m:oMathParaPr>
                      <m:jc m:val="centerGroup"/>
                    </m:oMathParaPr>
                    <m:oMath xmlns:m="http://schemas.openxmlformats.org/officeDocument/2006/math">
                      <m:f>
                        <m:fPr>
                          <m:ctrlPr>
                            <a:rPr lang="en-US" sz="2000" i="1" smtClean="0">
                              <a:latin typeface="Cambria Math" panose="02040503050406030204" pitchFamily="18" charset="0"/>
                            </a:rPr>
                          </m:ctrlPr>
                        </m:fPr>
                        <m:num>
                          <m:r>
                            <a:rPr lang="en-US" sz="2000" b="0" i="1">
                              <a:latin typeface="Cambria Math" panose="02040503050406030204" pitchFamily="18" charset="0"/>
                            </a:rPr>
                            <m:t>𝑃𝑎𝑟𝑡𝑖𝑐𝑙𝑒𝑠</m:t>
                          </m:r>
                        </m:num>
                        <m:den>
                          <m:sSup>
                            <m:sSupPr>
                              <m:ctrlPr>
                                <a:rPr lang="en-US" sz="2000" i="1">
                                  <a:latin typeface="Cambria Math" panose="02040503050406030204" pitchFamily="18" charset="0"/>
                                </a:rPr>
                              </m:ctrlPr>
                            </m:sSupPr>
                            <m:e>
                              <m:r>
                                <a:rPr lang="en-US" sz="2000" b="0" i="1">
                                  <a:latin typeface="Cambria Math" panose="02040503050406030204" pitchFamily="18" charset="0"/>
                                </a:rPr>
                                <m:t>𝑚</m:t>
                              </m:r>
                            </m:e>
                            <m:sup>
                              <m:r>
                                <a:rPr lang="en-US" sz="2000" b="0" i="1">
                                  <a:latin typeface="Cambria Math" panose="02040503050406030204" pitchFamily="18" charset="0"/>
                                </a:rPr>
                                <m:t>3</m:t>
                              </m:r>
                            </m:sup>
                          </m:sSup>
                        </m:den>
                      </m:f>
                      <m:r>
                        <a:rPr lang="en-US" sz="2000" b="0" i="1">
                          <a:latin typeface="Cambria Math" panose="02040503050406030204" pitchFamily="18" charset="0"/>
                        </a:rPr>
                        <m:t>= </m:t>
                      </m:r>
                      <m:sSup>
                        <m:sSupPr>
                          <m:ctrlPr>
                            <a:rPr lang="en-US" sz="2000" b="0" i="1">
                              <a:latin typeface="Cambria Math" panose="02040503050406030204" pitchFamily="18" charset="0"/>
                            </a:rPr>
                          </m:ctrlPr>
                        </m:sSupPr>
                        <m:e>
                          <m:r>
                            <a:rPr lang="en-US" sz="2000" b="0" i="1">
                              <a:latin typeface="Cambria Math" panose="02040503050406030204" pitchFamily="18" charset="0"/>
                            </a:rPr>
                            <m:t>10</m:t>
                          </m:r>
                        </m:e>
                        <m:sup>
                          <m:r>
                            <a:rPr lang="en-US" sz="2000" b="0" i="1">
                              <a:latin typeface="Cambria Math" panose="02040503050406030204" pitchFamily="18" charset="0"/>
                            </a:rPr>
                            <m:t>𝑀</m:t>
                          </m:r>
                        </m:sup>
                      </m:sSup>
                      <m:sSup>
                        <m:sSupPr>
                          <m:ctrlPr>
                            <a:rPr lang="en-US" sz="2000" b="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0.</m:t>
                                  </m:r>
                                  <m:r>
                                    <a:rPr lang="en-US" sz="2000" b="0" i="1" smtClean="0">
                                      <a:latin typeface="Cambria Math" panose="02040503050406030204" pitchFamily="18" charset="0"/>
                                    </a:rPr>
                                    <m:t>1</m:t>
                                  </m:r>
                                  <m:r>
                                    <a:rPr lang="en-US" sz="2000" i="1">
                                      <a:latin typeface="Cambria Math" panose="02040503050406030204" pitchFamily="18" charset="0"/>
                                    </a:rPr>
                                    <m:t>𝜇</m:t>
                                  </m:r>
                                  <m:r>
                                    <a:rPr lang="en-US" sz="2000" i="1">
                                      <a:latin typeface="Cambria Math" panose="02040503050406030204" pitchFamily="18" charset="0"/>
                                    </a:rPr>
                                    <m:t>𝑚</m:t>
                                  </m:r>
                                </m:num>
                                <m:den>
                                  <m:r>
                                    <a:rPr lang="en-US" sz="2000" i="1">
                                      <a:latin typeface="Cambria Math" panose="02040503050406030204" pitchFamily="18" charset="0"/>
                                    </a:rPr>
                                    <m:t>𝑑</m:t>
                                  </m:r>
                                </m:den>
                              </m:f>
                            </m:e>
                          </m:d>
                        </m:e>
                        <m:sup>
                          <m:r>
                            <a:rPr lang="en-US" sz="2000" b="0" i="1">
                              <a:latin typeface="Cambria Math" panose="02040503050406030204" pitchFamily="18" charset="0"/>
                            </a:rPr>
                            <m:t>2.</m:t>
                          </m:r>
                          <m:r>
                            <a:rPr lang="en-US" sz="2000" b="0" i="1" smtClean="0">
                              <a:latin typeface="Cambria Math" panose="02040503050406030204" pitchFamily="18" charset="0"/>
                            </a:rPr>
                            <m:t>08</m:t>
                          </m:r>
                        </m:sup>
                      </m:sSup>
                    </m:oMath>
                  </m:oMathPara>
                </a14:m>
                <a:endParaRPr lang="en-US" sz="2000" dirty="0"/>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r>
                  <a:rPr lang="en-US" sz="2000" dirty="0"/>
                  <a:t>Where:</a:t>
                </a:r>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r>
                  <a:rPr lang="en-US" sz="2000" dirty="0"/>
                  <a:t>M = numerical designation of the class (SI units)</a:t>
                </a:r>
              </a:p>
              <a:p>
                <a:pPr indent="-228600">
                  <a:lnSpc>
                    <a:spcPct val="90000"/>
                  </a:lnSpc>
                  <a:spcAft>
                    <a:spcPts val="600"/>
                  </a:spcAft>
                  <a:buFont typeface="Arial" panose="020B0604020202020204" pitchFamily="34" charset="0"/>
                  <a:buChar char="•"/>
                </a:pPr>
                <a:r>
                  <a:rPr lang="en-US" sz="2000" dirty="0"/>
                  <a:t>d (</a:t>
                </a:r>
                <a:r>
                  <a:rPr lang="en-US" sz="2000" dirty="0" err="1"/>
                  <a:t>μm</a:t>
                </a:r>
                <a:r>
                  <a:rPr lang="en-US" sz="2000" dirty="0"/>
                  <a:t>) = particle size</a:t>
                </a:r>
              </a:p>
            </p:txBody>
          </p:sp>
        </mc:Choice>
        <mc:Fallback xmlns="">
          <p:sp>
            <p:nvSpPr>
              <p:cNvPr id="4" name="TextBox 3">
                <a:extLst>
                  <a:ext uri="{FF2B5EF4-FFF2-40B4-BE49-F238E27FC236}">
                    <a16:creationId xmlns:a16="http://schemas.microsoft.com/office/drawing/2014/main" id="{BEA80BC8-8EE3-4CD3-829D-13D1DC295BAE}"/>
                  </a:ext>
                </a:extLst>
              </p:cNvPr>
              <p:cNvSpPr txBox="1">
                <a:spLocks noRot="1" noChangeAspect="1" noMove="1" noResize="1" noEditPoints="1" noAdjustHandles="1" noChangeArrowheads="1" noChangeShapeType="1" noTextEdit="1"/>
              </p:cNvSpPr>
              <p:nvPr/>
            </p:nvSpPr>
            <p:spPr>
              <a:xfrm>
                <a:off x="648931" y="2438400"/>
                <a:ext cx="3505494" cy="3785419"/>
              </a:xfrm>
              <a:prstGeom prst="rect">
                <a:avLst/>
              </a:prstGeom>
              <a:blipFill>
                <a:blip r:embed="rId3"/>
                <a:stretch>
                  <a:fillRect l="-1736" r="-1215"/>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BB41C7B9-DA01-4709-BCDD-3D333C99FAFA}"/>
              </a:ext>
            </a:extLst>
          </p:cNvPr>
          <p:cNvPicPr>
            <a:picLocks noChangeAspect="1"/>
          </p:cNvPicPr>
          <p:nvPr/>
        </p:nvPicPr>
        <p:blipFill>
          <a:blip r:embed="rId4"/>
          <a:stretch>
            <a:fillRect/>
          </a:stretch>
        </p:blipFill>
        <p:spPr>
          <a:xfrm>
            <a:off x="5405862" y="1222797"/>
            <a:ext cx="6019331" cy="4409160"/>
          </a:xfrm>
          <a:prstGeom prst="rect">
            <a:avLst/>
          </a:prstGeom>
          <a:effectLst/>
        </p:spPr>
      </p:pic>
      <mc:AlternateContent xmlns:mc="http://schemas.openxmlformats.org/markup-compatibility/2006" xmlns:a14="http://schemas.microsoft.com/office/drawing/2010/main">
        <mc:Choice Requires="a14">
          <p:sp>
            <p:nvSpPr>
              <p:cNvPr id="7" name="Title 1">
                <a:extLst>
                  <a:ext uri="{FF2B5EF4-FFF2-40B4-BE49-F238E27FC236}">
                    <a16:creationId xmlns:a16="http://schemas.microsoft.com/office/drawing/2014/main" id="{D4728F04-FB72-4589-BF25-70FACECCDAAF}"/>
                  </a:ext>
                </a:extLst>
              </p:cNvPr>
              <p:cNvSpPr txBox="1">
                <a:spLocks/>
              </p:cNvSpPr>
              <p:nvPr/>
            </p:nvSpPr>
            <p:spPr>
              <a:xfrm>
                <a:off x="350864" y="5052485"/>
                <a:ext cx="3505495" cy="162232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rPr>
                        <m:t>𝑰𝑺𝑶</m:t>
                      </m:r>
                      <m:r>
                        <a:rPr lang="en-US" sz="1800" b="1" i="1" smtClean="0">
                          <a:latin typeface="Cambria Math" panose="02040503050406030204" pitchFamily="18" charset="0"/>
                        </a:rPr>
                        <m:t> </m:t>
                      </m:r>
                      <m:r>
                        <a:rPr lang="en-US" sz="1800" b="1" i="1" smtClean="0">
                          <a:latin typeface="Cambria Math" panose="02040503050406030204" pitchFamily="18" charset="0"/>
                        </a:rPr>
                        <m:t>𝟏𝟒𝟔𝟒𝟒</m:t>
                      </m:r>
                      <m:r>
                        <a:rPr lang="en-US" sz="1800" b="1" i="1" smtClean="0">
                          <a:latin typeface="Cambria Math" panose="02040503050406030204" pitchFamily="18" charset="0"/>
                        </a:rPr>
                        <m:t>−</m:t>
                      </m:r>
                      <m:r>
                        <a:rPr lang="en-US" sz="1800" b="1" i="1" smtClean="0">
                          <a:latin typeface="Cambria Math" panose="02040503050406030204" pitchFamily="18" charset="0"/>
                        </a:rPr>
                        <m:t>𝟏</m:t>
                      </m:r>
                      <m:r>
                        <a:rPr lang="en-US" sz="1800" b="1" i="1" smtClean="0">
                          <a:latin typeface="Cambria Math" panose="02040503050406030204" pitchFamily="18" charset="0"/>
                        </a:rPr>
                        <m:t> </m:t>
                      </m:r>
                    </m:oMath>
                  </m:oMathPara>
                </a14:m>
                <a:endParaRPr lang="en-US" sz="1800" b="1"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rPr>
                        <m:t>𝑪𝒍𝒆𝒂𝒏𝒓𝒐𝒐𝒎</m:t>
                      </m:r>
                      <m:r>
                        <a:rPr lang="en-US" sz="1800" b="1" i="1" smtClean="0">
                          <a:latin typeface="Cambria Math" panose="02040503050406030204" pitchFamily="18" charset="0"/>
                        </a:rPr>
                        <m:t> </m:t>
                      </m:r>
                      <m:r>
                        <a:rPr lang="en-US" sz="1800" b="1" i="1" smtClean="0">
                          <a:latin typeface="Cambria Math" panose="02040503050406030204" pitchFamily="18" charset="0"/>
                        </a:rPr>
                        <m:t>𝒂𝒏𝒅</m:t>
                      </m:r>
                      <m:r>
                        <a:rPr lang="en-US" sz="1800" b="1" i="1" smtClean="0">
                          <a:latin typeface="Cambria Math" panose="02040503050406030204" pitchFamily="18" charset="0"/>
                        </a:rPr>
                        <m:t> </m:t>
                      </m:r>
                      <m:r>
                        <a:rPr lang="en-US" sz="1800" b="1" i="1" smtClean="0">
                          <a:latin typeface="Cambria Math" panose="02040503050406030204" pitchFamily="18" charset="0"/>
                        </a:rPr>
                        <m:t>𝑨𝒔𝒔𝒐𝒄𝒊𝒂𝒕𝒆𝒅</m:t>
                      </m:r>
                      <m:r>
                        <a:rPr lang="en-US" sz="1800" b="1" i="1" smtClean="0">
                          <a:latin typeface="Cambria Math" panose="02040503050406030204" pitchFamily="18" charset="0"/>
                        </a:rPr>
                        <m:t> </m:t>
                      </m:r>
                    </m:oMath>
                  </m:oMathPara>
                </a14:m>
                <a:endParaRPr lang="en-US" sz="1800" b="1"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rPr>
                        <m:t>𝑪𝒐𝒏𝒕𝒓𝒐𝒍𝒍𝒆𝒅</m:t>
                      </m:r>
                      <m:r>
                        <a:rPr lang="en-US" sz="1800" b="1" i="1" smtClean="0">
                          <a:latin typeface="Cambria Math" panose="02040503050406030204" pitchFamily="18" charset="0"/>
                        </a:rPr>
                        <m:t> </m:t>
                      </m:r>
                      <m:r>
                        <a:rPr lang="en-US" sz="1800" b="1" i="1" smtClean="0">
                          <a:latin typeface="Cambria Math" panose="02040503050406030204" pitchFamily="18" charset="0"/>
                        </a:rPr>
                        <m:t>𝑬𝒏𝒗𝒊𝒓𝒐𝒏𝒎𝒆𝒏𝒕𝒔</m:t>
                      </m:r>
                    </m:oMath>
                  </m:oMathPara>
                </a14:m>
                <a:endParaRPr lang="en-US" sz="1800" b="1" dirty="0"/>
              </a:p>
            </p:txBody>
          </p:sp>
        </mc:Choice>
        <mc:Fallback xmlns="">
          <p:sp>
            <p:nvSpPr>
              <p:cNvPr id="7" name="Title 1">
                <a:extLst>
                  <a:ext uri="{FF2B5EF4-FFF2-40B4-BE49-F238E27FC236}">
                    <a16:creationId xmlns:a16="http://schemas.microsoft.com/office/drawing/2014/main" id="{D4728F04-FB72-4589-BF25-70FACECCDAAF}"/>
                  </a:ext>
                </a:extLst>
              </p:cNvPr>
              <p:cNvSpPr txBox="1">
                <a:spLocks noRot="1" noChangeAspect="1" noMove="1" noResize="1" noEditPoints="1" noAdjustHandles="1" noChangeArrowheads="1" noChangeShapeType="1" noTextEdit="1"/>
              </p:cNvSpPr>
              <p:nvPr/>
            </p:nvSpPr>
            <p:spPr>
              <a:xfrm>
                <a:off x="350864" y="5052485"/>
                <a:ext cx="3505495" cy="1622321"/>
              </a:xfrm>
              <a:prstGeom prst="rect">
                <a:avLst/>
              </a:prstGeom>
              <a:blipFill>
                <a:blip r:embed="rId5"/>
                <a:stretch>
                  <a:fillRect/>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B312A5CC-D1D6-B6C6-4E46-DB8D6E4C30D5}"/>
              </a:ext>
            </a:extLst>
          </p:cNvPr>
          <p:cNvSpPr>
            <a:spLocks noGrp="1"/>
          </p:cNvSpPr>
          <p:nvPr>
            <p:ph type="sldNum" sz="quarter" idx="12"/>
          </p:nvPr>
        </p:nvSpPr>
        <p:spPr/>
        <p:txBody>
          <a:bodyPr/>
          <a:lstStyle/>
          <a:p>
            <a:fld id="{1EFA36A4-E408-49BC-BEE1-EC0DE8FF41C4}" type="slidenum">
              <a:rPr lang="en-US" smtClean="0"/>
              <a:t>29</a:t>
            </a:fld>
            <a:endParaRPr lang="en-US"/>
          </a:p>
        </p:txBody>
      </p:sp>
    </p:spTree>
    <p:extLst>
      <p:ext uri="{BB962C8B-B14F-4D97-AF65-F5344CB8AC3E}">
        <p14:creationId xmlns:p14="http://schemas.microsoft.com/office/powerpoint/2010/main" val="32796573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A1C2D-92D0-4BBF-BB19-0BDD21B800CD}"/>
              </a:ext>
            </a:extLst>
          </p:cNvPr>
          <p:cNvSpPr>
            <a:spLocks noGrp="1"/>
          </p:cNvSpPr>
          <p:nvPr>
            <p:ph type="title"/>
          </p:nvPr>
        </p:nvSpPr>
        <p:spPr/>
        <p:txBody>
          <a:bodyPr/>
          <a:lstStyle/>
          <a:p>
            <a:pPr algn="ctr"/>
            <a:r>
              <a:rPr lang="en-US"/>
              <a:t>EXAMPLE </a:t>
            </a:r>
            <a:endParaRPr lang="en-US" dirty="0"/>
          </a:p>
        </p:txBody>
      </p:sp>
      <p:sp>
        <p:nvSpPr>
          <p:cNvPr id="3" name="TextBox 2">
            <a:extLst>
              <a:ext uri="{FF2B5EF4-FFF2-40B4-BE49-F238E27FC236}">
                <a16:creationId xmlns:a16="http://schemas.microsoft.com/office/drawing/2014/main" id="{41D1B556-B42A-4A1B-A60C-656087A16AD3}"/>
              </a:ext>
            </a:extLst>
          </p:cNvPr>
          <p:cNvSpPr txBox="1"/>
          <p:nvPr/>
        </p:nvSpPr>
        <p:spPr>
          <a:xfrm>
            <a:off x="1193120" y="1442503"/>
            <a:ext cx="10454477" cy="2862322"/>
          </a:xfrm>
          <a:prstGeom prst="rect">
            <a:avLst/>
          </a:prstGeom>
          <a:noFill/>
        </p:spPr>
        <p:txBody>
          <a:bodyPr wrap="square" rtlCol="0">
            <a:spAutoFit/>
          </a:bodyPr>
          <a:lstStyle/>
          <a:p>
            <a:r>
              <a:rPr lang="en-US" dirty="0"/>
              <a:t>For ISO Class 7 (Fed Std 209 class 10000), how many particles are allowable per cubic meter  &gt; 0.5 </a:t>
            </a:r>
            <a:r>
              <a:rPr lang="el-GR" dirty="0"/>
              <a:t>μ</a:t>
            </a:r>
            <a:r>
              <a:rPr lang="en-US" dirty="0"/>
              <a:t>m?</a:t>
            </a:r>
          </a:p>
          <a:p>
            <a:endParaRPr lang="en-US" dirty="0"/>
          </a:p>
          <a:p>
            <a:endParaRPr lang="en-US" dirty="0"/>
          </a:p>
          <a:p>
            <a:endParaRPr lang="en-US" dirty="0"/>
          </a:p>
          <a:p>
            <a:endParaRPr lang="en-US" dirty="0"/>
          </a:p>
          <a:p>
            <a:endParaRPr lang="en-US" dirty="0"/>
          </a:p>
          <a:p>
            <a:r>
              <a:rPr lang="en-US" dirty="0"/>
              <a:t>For ISO Class 3 (Fed Std 209 class 10), how many particles are allowable per cubic meter  &gt; 0.2 </a:t>
            </a:r>
            <a:r>
              <a:rPr lang="el-GR" dirty="0"/>
              <a:t>μ</a:t>
            </a:r>
            <a:r>
              <a:rPr lang="en-US" dirty="0"/>
              <a:t>m?</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DF87577D-E0EF-CC87-5836-A5F3531EFE8A}"/>
              </a:ext>
            </a:extLst>
          </p:cNvPr>
          <p:cNvSpPr>
            <a:spLocks noGrp="1"/>
          </p:cNvSpPr>
          <p:nvPr>
            <p:ph type="sldNum" sz="quarter" idx="12"/>
          </p:nvPr>
        </p:nvSpPr>
        <p:spPr/>
        <p:txBody>
          <a:bodyPr/>
          <a:lstStyle/>
          <a:p>
            <a:fld id="{1EFA36A4-E408-49BC-BEE1-EC0DE8FF41C4}" type="slidenum">
              <a:rPr lang="en-US" smtClean="0"/>
              <a:t>30</a:t>
            </a:fld>
            <a:endParaRPr lang="en-US"/>
          </a:p>
        </p:txBody>
      </p:sp>
    </p:spTree>
    <p:extLst>
      <p:ext uri="{BB962C8B-B14F-4D97-AF65-F5344CB8AC3E}">
        <p14:creationId xmlns:p14="http://schemas.microsoft.com/office/powerpoint/2010/main" val="31178871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F2C23-3908-0B73-5266-CBE8D95D51D3}"/>
              </a:ext>
            </a:extLst>
          </p:cNvPr>
          <p:cNvSpPr>
            <a:spLocks noGrp="1"/>
          </p:cNvSpPr>
          <p:nvPr>
            <p:ph type="title"/>
          </p:nvPr>
        </p:nvSpPr>
        <p:spPr/>
        <p:txBody>
          <a:bodyPr/>
          <a:lstStyle/>
          <a:p>
            <a:pPr algn="ctr"/>
            <a:r>
              <a:rPr lang="en-US" dirty="0"/>
              <a:t>CONTAMINATION CONTROL PROGRAM</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1A07EA4-F5A8-0DC7-2107-35B3A8391229}"/>
                  </a:ext>
                </a:extLst>
              </p:cNvPr>
              <p:cNvSpPr txBox="1"/>
              <p:nvPr/>
            </p:nvSpPr>
            <p:spPr>
              <a:xfrm>
                <a:off x="543070" y="1690688"/>
                <a:ext cx="10884609" cy="3693319"/>
              </a:xfrm>
              <a:prstGeom prst="rect">
                <a:avLst/>
              </a:prstGeom>
              <a:noFill/>
            </p:spPr>
            <p:txBody>
              <a:bodyPr wrap="square" rtlCol="0">
                <a:spAutoFit/>
              </a:bodyPr>
              <a:lstStyle/>
              <a:p>
                <a:pPr marL="342900" indent="-342900">
                  <a:buAutoNum type="arabicPeriod"/>
                </a:pPr>
                <a:r>
                  <a:rPr lang="en-US" dirty="0"/>
                  <a:t>Establish Cleanliness specifications</a:t>
                </a:r>
              </a:p>
              <a:p>
                <a:endParaRPr lang="en-US" dirty="0"/>
              </a:p>
              <a:p>
                <a:pPr marL="342900" indent="-342900">
                  <a:buAutoNum type="arabicPeriod" startAt="2"/>
                </a:pPr>
                <a:r>
                  <a:rPr lang="en-US" dirty="0"/>
                  <a:t>Select and test materials carefully</a:t>
                </a:r>
              </a:p>
              <a:p>
                <a:pPr lvl="1"/>
                <a:r>
                  <a:rPr lang="en-US" dirty="0"/>
                  <a:t>- Thermal bakeout for </a:t>
                </a:r>
                <a14:m>
                  <m:oMath xmlns:m="http://schemas.openxmlformats.org/officeDocument/2006/math">
                    <m:r>
                      <a:rPr lang="en-US" i="1">
                        <a:latin typeface="Cambria Math" panose="02040503050406030204" pitchFamily="18" charset="0"/>
                        <a:ea typeface="Cambria Math" panose="02040503050406030204" pitchFamily="18" charset="0"/>
                      </a:rPr>
                      <m:t>≥72 </m:t>
                    </m:r>
                  </m:oMath>
                </a14:m>
                <a:r>
                  <a:rPr lang="en-US" dirty="0"/>
                  <a:t>hours</a:t>
                </a:r>
              </a:p>
              <a:p>
                <a:pPr marL="742950" lvl="1" indent="-285750">
                  <a:buFontTx/>
                  <a:buChar char="-"/>
                </a:pPr>
                <a:r>
                  <a:rPr lang="en-US" dirty="0"/>
                  <a:t>Monitor</a:t>
                </a:r>
              </a:p>
              <a:p>
                <a:endParaRPr lang="en-US" dirty="0"/>
              </a:p>
              <a:p>
                <a:r>
                  <a:rPr lang="en-US" dirty="0"/>
                  <a:t>3.   Establish and maintain clean surfaces – class 10000 (N7) or higher</a:t>
                </a:r>
              </a:p>
              <a:p>
                <a:pPr lvl="1"/>
                <a:endParaRPr lang="en-US" dirty="0"/>
              </a:p>
              <a:p>
                <a:pPr marL="342900" indent="-342900">
                  <a:buAutoNum type="arabicPeriod" startAt="4"/>
                </a:pPr>
                <a:r>
                  <a:rPr lang="en-US" dirty="0"/>
                  <a:t>Follow strict contamination control procedures</a:t>
                </a:r>
              </a:p>
              <a:p>
                <a:endParaRPr lang="en-US" dirty="0"/>
              </a:p>
              <a:p>
                <a:r>
                  <a:rPr lang="en-US" dirty="0"/>
                  <a:t>5.   Contamination control during transport</a:t>
                </a:r>
              </a:p>
              <a:p>
                <a:endParaRPr lang="en-US" dirty="0"/>
              </a:p>
              <a:p>
                <a:r>
                  <a:rPr lang="en-US" dirty="0"/>
                  <a:t>6.   Launch vehicle class 100 to 1000</a:t>
                </a:r>
              </a:p>
            </p:txBody>
          </p:sp>
        </mc:Choice>
        <mc:Fallback xmlns="">
          <p:sp>
            <p:nvSpPr>
              <p:cNvPr id="3" name="TextBox 2">
                <a:extLst>
                  <a:ext uri="{FF2B5EF4-FFF2-40B4-BE49-F238E27FC236}">
                    <a16:creationId xmlns:a16="http://schemas.microsoft.com/office/drawing/2014/main" id="{51A07EA4-F5A8-0DC7-2107-35B3A8391229}"/>
                  </a:ext>
                </a:extLst>
              </p:cNvPr>
              <p:cNvSpPr txBox="1">
                <a:spLocks noRot="1" noChangeAspect="1" noMove="1" noResize="1" noEditPoints="1" noAdjustHandles="1" noChangeArrowheads="1" noChangeShapeType="1" noTextEdit="1"/>
              </p:cNvSpPr>
              <p:nvPr/>
            </p:nvSpPr>
            <p:spPr>
              <a:xfrm>
                <a:off x="543070" y="1690688"/>
                <a:ext cx="10884609" cy="3693319"/>
              </a:xfrm>
              <a:prstGeom prst="rect">
                <a:avLst/>
              </a:prstGeom>
              <a:blipFill>
                <a:blip r:embed="rId2"/>
                <a:stretch>
                  <a:fillRect l="-504" t="-825" b="-1815"/>
                </a:stretch>
              </a:blipFill>
            </p:spPr>
            <p:txBody>
              <a:bodyPr/>
              <a:lstStyle/>
              <a:p>
                <a:r>
                  <a:rPr lang="en-US">
                    <a:noFill/>
                  </a:rPr>
                  <a:t> </a:t>
                </a:r>
              </a:p>
            </p:txBody>
          </p:sp>
        </mc:Fallback>
      </mc:AlternateContent>
      <p:pic>
        <p:nvPicPr>
          <p:cNvPr id="1026" name="Picture 2" descr="See the source image">
            <a:extLst>
              <a:ext uri="{FF2B5EF4-FFF2-40B4-BE49-F238E27FC236}">
                <a16:creationId xmlns:a16="http://schemas.microsoft.com/office/drawing/2014/main" id="{B5FD1844-A49D-A609-4FB3-0BDC851378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64094" y="2002632"/>
            <a:ext cx="4514850" cy="3381375"/>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3D2CD594-529C-734D-CF77-55DC835B402A}"/>
              </a:ext>
            </a:extLst>
          </p:cNvPr>
          <p:cNvSpPr>
            <a:spLocks noGrp="1"/>
          </p:cNvSpPr>
          <p:nvPr>
            <p:ph type="sldNum" sz="quarter" idx="12"/>
          </p:nvPr>
        </p:nvSpPr>
        <p:spPr/>
        <p:txBody>
          <a:bodyPr/>
          <a:lstStyle/>
          <a:p>
            <a:fld id="{1EFA36A4-E408-49BC-BEE1-EC0DE8FF41C4}" type="slidenum">
              <a:rPr lang="en-US" smtClean="0"/>
              <a:t>31</a:t>
            </a:fld>
            <a:endParaRPr lang="en-US"/>
          </a:p>
        </p:txBody>
      </p:sp>
    </p:spTree>
    <p:extLst>
      <p:ext uri="{BB962C8B-B14F-4D97-AF65-F5344CB8AC3E}">
        <p14:creationId xmlns:p14="http://schemas.microsoft.com/office/powerpoint/2010/main" val="36385948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B8774-A8CD-F70D-A86B-62DD733BCEF7}"/>
              </a:ext>
            </a:extLst>
          </p:cNvPr>
          <p:cNvSpPr>
            <a:spLocks noGrp="1"/>
          </p:cNvSpPr>
          <p:nvPr>
            <p:ph type="title"/>
          </p:nvPr>
        </p:nvSpPr>
        <p:spPr/>
        <p:txBody>
          <a:bodyPr/>
          <a:lstStyle/>
          <a:p>
            <a:pPr algn="ctr"/>
            <a:r>
              <a:rPr lang="en-US" dirty="0"/>
              <a:t>BIOLOGICAL CONTAMINATION</a:t>
            </a:r>
          </a:p>
        </p:txBody>
      </p:sp>
      <p:pic>
        <p:nvPicPr>
          <p:cNvPr id="2050" name="Picture 2" descr="See the source image">
            <a:extLst>
              <a:ext uri="{FF2B5EF4-FFF2-40B4-BE49-F238E27FC236}">
                <a16:creationId xmlns:a16="http://schemas.microsoft.com/office/drawing/2014/main" id="{EC7F8352-0CD5-3551-FDD9-F0A65D938E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4217" y="1533912"/>
            <a:ext cx="9753600" cy="485775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3B67C5BC-27C2-B7A5-8DFA-86D8D1EBBB8A}"/>
              </a:ext>
            </a:extLst>
          </p:cNvPr>
          <p:cNvSpPr>
            <a:spLocks noGrp="1"/>
          </p:cNvSpPr>
          <p:nvPr>
            <p:ph type="sldNum" sz="quarter" idx="12"/>
          </p:nvPr>
        </p:nvSpPr>
        <p:spPr/>
        <p:txBody>
          <a:bodyPr/>
          <a:lstStyle/>
          <a:p>
            <a:fld id="{1EFA36A4-E408-49BC-BEE1-EC0DE8FF41C4}" type="slidenum">
              <a:rPr lang="en-US" smtClean="0"/>
              <a:t>32</a:t>
            </a:fld>
            <a:endParaRPr lang="en-US"/>
          </a:p>
        </p:txBody>
      </p:sp>
    </p:spTree>
    <p:extLst>
      <p:ext uri="{BB962C8B-B14F-4D97-AF65-F5344CB8AC3E}">
        <p14:creationId xmlns:p14="http://schemas.microsoft.com/office/powerpoint/2010/main" val="4350876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76E895-84BA-497E-98C1-A37CF9A65C14}"/>
              </a:ext>
            </a:extLst>
          </p:cNvPr>
          <p:cNvSpPr>
            <a:spLocks noGrp="1"/>
          </p:cNvSpPr>
          <p:nvPr>
            <p:ph type="title"/>
          </p:nvPr>
        </p:nvSpPr>
        <p:spPr>
          <a:xfrm>
            <a:off x="643467" y="321734"/>
            <a:ext cx="10905066" cy="1135737"/>
          </a:xfrm>
        </p:spPr>
        <p:txBody>
          <a:bodyPr vert="horz" lIns="91440" tIns="45720" rIns="91440" bIns="45720" rtlCol="0" anchor="ctr">
            <a:normAutofit/>
          </a:bodyPr>
          <a:lstStyle/>
          <a:p>
            <a:pPr algn="ctr"/>
            <a:r>
              <a:rPr lang="en-US" sz="3600" kern="1200" dirty="0">
                <a:solidFill>
                  <a:schemeClr val="tx1"/>
                </a:solidFill>
                <a:latin typeface="+mj-lt"/>
                <a:ea typeface="+mj-ea"/>
                <a:cs typeface="+mj-cs"/>
              </a:rPr>
              <a:t>HOMEWORK PROBLEM </a:t>
            </a:r>
            <a:r>
              <a:rPr lang="en-US" sz="3600" dirty="0"/>
              <a:t>7</a:t>
            </a:r>
            <a:endParaRPr lang="en-US" sz="3600" kern="1200" dirty="0">
              <a:solidFill>
                <a:schemeClr val="tx1"/>
              </a:solidFill>
              <a:latin typeface="+mj-lt"/>
              <a:ea typeface="+mj-ea"/>
              <a:cs typeface="+mj-cs"/>
            </a:endParaRPr>
          </a:p>
        </p:txBody>
      </p:sp>
      <p:sp>
        <p:nvSpPr>
          <p:cNvPr id="2" name="Slide Number Placeholder 1">
            <a:extLst>
              <a:ext uri="{FF2B5EF4-FFF2-40B4-BE49-F238E27FC236}">
                <a16:creationId xmlns:a16="http://schemas.microsoft.com/office/drawing/2014/main" id="{2E7A7A75-16A6-D877-A949-64B89DDE34DF}"/>
              </a:ext>
            </a:extLst>
          </p:cNvPr>
          <p:cNvSpPr>
            <a:spLocks noGrp="1"/>
          </p:cNvSpPr>
          <p:nvPr>
            <p:ph type="sldNum" sz="quarter" idx="12"/>
          </p:nvPr>
        </p:nvSpPr>
        <p:spPr/>
        <p:txBody>
          <a:bodyPr/>
          <a:lstStyle/>
          <a:p>
            <a:fld id="{1EFA36A4-E408-49BC-BEE1-EC0DE8FF41C4}" type="slidenum">
              <a:rPr lang="en-US" smtClean="0"/>
              <a:t>33</a:t>
            </a:fld>
            <a:endParaRPr lang="en-US"/>
          </a:p>
        </p:txBody>
      </p:sp>
      <p:pic>
        <p:nvPicPr>
          <p:cNvPr id="5" name="Picture 4">
            <a:extLst>
              <a:ext uri="{FF2B5EF4-FFF2-40B4-BE49-F238E27FC236}">
                <a16:creationId xmlns:a16="http://schemas.microsoft.com/office/drawing/2014/main" id="{22440D8B-5476-DAE4-841A-770765AF7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6286" y="1316426"/>
            <a:ext cx="10009650" cy="4414903"/>
          </a:xfrm>
          <a:prstGeom prst="rect">
            <a:avLst/>
          </a:prstGeom>
        </p:spPr>
      </p:pic>
    </p:spTree>
    <p:extLst>
      <p:ext uri="{BB962C8B-B14F-4D97-AF65-F5344CB8AC3E}">
        <p14:creationId xmlns:p14="http://schemas.microsoft.com/office/powerpoint/2010/main" val="12300970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3B5BA-8A4C-40A4-A4F5-E26F59EBD5AD}"/>
              </a:ext>
            </a:extLst>
          </p:cNvPr>
          <p:cNvSpPr>
            <a:spLocks noGrp="1"/>
          </p:cNvSpPr>
          <p:nvPr>
            <p:ph type="title"/>
          </p:nvPr>
        </p:nvSpPr>
        <p:spPr/>
        <p:txBody>
          <a:bodyPr/>
          <a:lstStyle/>
          <a:p>
            <a:pPr algn="ctr"/>
            <a:r>
              <a:rPr lang="en-US" dirty="0"/>
              <a:t>REFERENCES</a:t>
            </a:r>
          </a:p>
        </p:txBody>
      </p:sp>
      <p:sp>
        <p:nvSpPr>
          <p:cNvPr id="3" name="Content Placeholder 2">
            <a:extLst>
              <a:ext uri="{FF2B5EF4-FFF2-40B4-BE49-F238E27FC236}">
                <a16:creationId xmlns:a16="http://schemas.microsoft.com/office/drawing/2014/main" id="{4FD3B9FB-3C8D-481B-9F89-A75EE15A21FF}"/>
              </a:ext>
            </a:extLst>
          </p:cNvPr>
          <p:cNvSpPr>
            <a:spLocks noGrp="1"/>
          </p:cNvSpPr>
          <p:nvPr>
            <p:ph sz="quarter" idx="13"/>
          </p:nvPr>
        </p:nvSpPr>
        <p:spPr>
          <a:xfrm>
            <a:off x="516584" y="1833762"/>
            <a:ext cx="10363826" cy="3424107"/>
          </a:xfrm>
        </p:spPr>
        <p:txBody>
          <a:bodyPr>
            <a:normAutofit fontScale="47500" lnSpcReduction="20000"/>
          </a:bodyPr>
          <a:lstStyle/>
          <a:p>
            <a:r>
              <a:rPr lang="en-US" i="1" dirty="0">
                <a:effectLst/>
              </a:rPr>
              <a:t>Decomposition Reaction: Definition, Examples, &amp; Applications</a:t>
            </a:r>
            <a:r>
              <a:rPr lang="en-US" dirty="0">
                <a:effectLst/>
              </a:rPr>
              <a:t>. Chemistry Learner. (2021, June 7). </a:t>
            </a:r>
            <a:r>
              <a:rPr lang="en-US" dirty="0">
                <a:effectLst/>
                <a:hlinkClick r:id="rId2"/>
              </a:rPr>
              <a:t>https://www.chemistrylearner.com/chemical-reactions/decomposition-reaction</a:t>
            </a:r>
            <a:endParaRPr lang="en-US" dirty="0"/>
          </a:p>
          <a:p>
            <a:r>
              <a:rPr lang="en-US" dirty="0">
                <a:effectLst/>
              </a:rPr>
              <a:t>Hannifin, P. (n.d.). </a:t>
            </a:r>
            <a:r>
              <a:rPr lang="en-US" i="1" dirty="0">
                <a:effectLst/>
              </a:rPr>
              <a:t>Why is Outgassing Critical in Optics and Electronics Applications?</a:t>
            </a:r>
            <a:r>
              <a:rPr lang="en-US" dirty="0">
                <a:effectLst/>
              </a:rPr>
              <a:t> Motion &amp; Control Technology Blogs. </a:t>
            </a:r>
            <a:r>
              <a:rPr lang="en-US" dirty="0">
                <a:effectLst/>
                <a:hlinkClick r:id="rId3"/>
              </a:rPr>
              <a:t>http://blog.parker.com/why-is-outgassing-critical-in-optics-and-electronics-applications#:~:text=Weight%20loss%20of%20compounds%20in%20a%20vacuum%20,Report%20%20%200.39%20%20%200.17%20</a:t>
            </a:r>
            <a:r>
              <a:rPr lang="en-US" dirty="0">
                <a:effectLst/>
              </a:rPr>
              <a:t>.</a:t>
            </a:r>
          </a:p>
          <a:p>
            <a:r>
              <a:rPr lang="en-US" sz="2500" i="1" dirty="0">
                <a:effectLst/>
              </a:rPr>
              <a:t>𝑰𝑺𝑶 𝟏𝟒𝟔𝟒𝟒−𝟏 𝑪𝒍𝒆𝒂𝒏𝒓𝒐𝒐𝒎 𝒂𝒏𝒅 𝑨𝒔𝒔𝒐𝒄𝒊𝒂𝒕𝒆𝒅 𝑪𝒐𝒏𝒕𝒓𝒐𝒍𝒍𝒆𝒅 𝑬𝒏𝒗𝒊𝒓𝒐𝒏𝒎𝒆𝒏𝒕𝒔</a:t>
            </a:r>
            <a:r>
              <a:rPr lang="en-US" sz="2500" dirty="0">
                <a:effectLst/>
              </a:rPr>
              <a:t>. (2015).</a:t>
            </a:r>
          </a:p>
          <a:p>
            <a:r>
              <a:rPr lang="en-US" sz="2400" dirty="0"/>
              <a:t>Loff, S. (2017, July 4). </a:t>
            </a:r>
            <a:r>
              <a:rPr lang="en-US" sz="2400" i="1" dirty="0"/>
              <a:t>New Horizons Spacecraft in the Clean Room at NASA Kennedy</a:t>
            </a:r>
            <a:r>
              <a:rPr lang="en-US" sz="2400" dirty="0"/>
              <a:t>. NASA. https://www.nasa.gov/image-feature/new-horizons-spacecraft-in-the-clean-room-at-nasas-kennedy-space-center. </a:t>
            </a:r>
          </a:p>
          <a:p>
            <a:r>
              <a:rPr lang="en-US"/>
              <a:t>NASA</a:t>
            </a:r>
            <a:r>
              <a:rPr lang="en-US" dirty="0"/>
              <a:t>. (2025, May 28). </a:t>
            </a:r>
            <a:r>
              <a:rPr lang="en-US" i="1" dirty="0"/>
              <a:t>Vacuum outgassing database</a:t>
            </a:r>
            <a:r>
              <a:rPr lang="en-US" dirty="0"/>
              <a:t>. NASA. https://etd.gsfc.nasa.gov/capabilities/capabilities-listing/vacuum-outgassing-database </a:t>
            </a:r>
          </a:p>
          <a:p>
            <a:r>
              <a:rPr lang="en-US" dirty="0"/>
              <a:t>NASA. (2009, January 6). </a:t>
            </a:r>
            <a:r>
              <a:rPr lang="en-US" i="1" dirty="0"/>
              <a:t>Contamination examples and lessons from low Earth orbit experiments and operational hardware - NASA technical reports server (NTRS)</a:t>
            </a:r>
            <a:r>
              <a:rPr lang="en-US" dirty="0"/>
              <a:t>. NASA. https://ntrs.nasa.gov/citations/20090028697 </a:t>
            </a:r>
          </a:p>
          <a:p>
            <a:r>
              <a:rPr lang="en-US" dirty="0">
                <a:effectLst/>
              </a:rPr>
              <a:t>Pisacane, V. L. (2016). </a:t>
            </a:r>
            <a:r>
              <a:rPr lang="en-US" i="1" dirty="0">
                <a:effectLst/>
              </a:rPr>
              <a:t>The space environment and its effects on space systems</a:t>
            </a:r>
            <a:r>
              <a:rPr lang="en-US" dirty="0">
                <a:effectLst/>
              </a:rPr>
              <a:t>. American Institute of Aeronautics and Astronautics. </a:t>
            </a:r>
          </a:p>
          <a:p>
            <a:r>
              <a:rPr lang="en-US" dirty="0" err="1">
                <a:effectLst/>
              </a:rPr>
              <a:t>Rocheleau</a:t>
            </a:r>
            <a:r>
              <a:rPr lang="en-US" dirty="0">
                <a:effectLst/>
              </a:rPr>
              <a:t>, J. (2014, June 20). </a:t>
            </a:r>
            <a:r>
              <a:rPr lang="en-US" i="1" dirty="0">
                <a:effectLst/>
              </a:rPr>
              <a:t>What is Outgassing – Release of Gas from Trapped &amp; Frozen Material</a:t>
            </a:r>
            <a:r>
              <a:rPr lang="en-US" dirty="0">
                <a:effectLst/>
              </a:rPr>
              <a:t>. Planet Facts. </a:t>
            </a:r>
            <a:r>
              <a:rPr lang="en-US" dirty="0">
                <a:effectLst/>
                <a:hlinkClick r:id="rId4"/>
              </a:rPr>
              <a:t>https://planetfacts.org/outgassing/</a:t>
            </a:r>
            <a:r>
              <a:rPr lang="en-US" dirty="0">
                <a:effectLst/>
              </a:rPr>
              <a:t>. </a:t>
            </a:r>
          </a:p>
          <a:p>
            <a:r>
              <a:rPr lang="en-US" dirty="0"/>
              <a:t>Solar Power Engineering (2011, June 7). </a:t>
            </a:r>
            <a:r>
              <a:rPr lang="en-US" i="1" dirty="0"/>
              <a:t>How fused quartz improves solar panels</a:t>
            </a:r>
            <a:r>
              <a:rPr lang="en-US" dirty="0"/>
              <a:t>. Solar Power World. </a:t>
            </a:r>
            <a:r>
              <a:rPr lang="en-US" dirty="0">
                <a:hlinkClick r:id="rId5"/>
              </a:rPr>
              <a:t>https://www.solarpowerworldonline.com/2010/08/fused-quartz-a-critical-component-of-the-solar-power-industry/</a:t>
            </a:r>
            <a:endParaRPr lang="en-US" dirty="0"/>
          </a:p>
          <a:p>
            <a:endParaRPr lang="en-US" dirty="0">
              <a:effectLst/>
            </a:endParaRPr>
          </a:p>
          <a:p>
            <a:endParaRPr lang="en-US" dirty="0"/>
          </a:p>
        </p:txBody>
      </p:sp>
      <p:sp>
        <p:nvSpPr>
          <p:cNvPr id="4" name="Slide Number Placeholder 3">
            <a:extLst>
              <a:ext uri="{FF2B5EF4-FFF2-40B4-BE49-F238E27FC236}">
                <a16:creationId xmlns:a16="http://schemas.microsoft.com/office/drawing/2014/main" id="{2AF64FC2-658C-094D-C29D-3701637FCA1A}"/>
              </a:ext>
            </a:extLst>
          </p:cNvPr>
          <p:cNvSpPr>
            <a:spLocks noGrp="1"/>
          </p:cNvSpPr>
          <p:nvPr>
            <p:ph type="sldNum" sz="quarter" idx="12"/>
          </p:nvPr>
        </p:nvSpPr>
        <p:spPr/>
        <p:txBody>
          <a:bodyPr/>
          <a:lstStyle/>
          <a:p>
            <a:fld id="{C83C362F-97FB-4C1E-B0F0-C3069DD0CDD1}" type="slidenum">
              <a:rPr lang="en-US" smtClean="0"/>
              <a:t>34</a:t>
            </a:fld>
            <a:endParaRPr lang="en-US"/>
          </a:p>
        </p:txBody>
      </p:sp>
    </p:spTree>
    <p:extLst>
      <p:ext uri="{BB962C8B-B14F-4D97-AF65-F5344CB8AC3E}">
        <p14:creationId xmlns:p14="http://schemas.microsoft.com/office/powerpoint/2010/main" val="4498339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1323</TotalTime>
  <Words>1491</Words>
  <Application>Microsoft Office PowerPoint</Application>
  <PresentationFormat>Widescreen</PresentationFormat>
  <Paragraphs>254</Paragraphs>
  <Slides>34</Slides>
  <Notes>2</Notes>
  <HiddenSlides>0</HiddenSlides>
  <MMClips>2</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2" baseType="lpstr">
      <vt:lpstr>Arial</vt:lpstr>
      <vt:lpstr>Calibri</vt:lpstr>
      <vt:lpstr>Calibri Light</vt:lpstr>
      <vt:lpstr>Cambria Math</vt:lpstr>
      <vt:lpstr>Symbol</vt:lpstr>
      <vt:lpstr>Times New Roman</vt:lpstr>
      <vt:lpstr>Office Theme</vt:lpstr>
      <vt:lpstr>Bitmap Image</vt:lpstr>
      <vt:lpstr>SPCE 5065 VACUUM ENVIRONMENT</vt:lpstr>
      <vt:lpstr>CONTAMINATION</vt:lpstr>
      <vt:lpstr>CONTAMINATION EXAMPLE</vt:lpstr>
      <vt:lpstr>CONTAMINATION EXAMPLE</vt:lpstr>
      <vt:lpstr>TYPES OF CONTAMINATION</vt:lpstr>
      <vt:lpstr>Vacuum Environment: MOLECULAR CONTAMINATION</vt:lpstr>
      <vt:lpstr>How does outgassing vary? </vt:lpstr>
      <vt:lpstr>OUTGASSING</vt:lpstr>
      <vt:lpstr>CHARACTISTICS OF OUTGASSING MECHANISMS</vt:lpstr>
      <vt:lpstr>CASSINI NAC CONTAMINATION</vt:lpstr>
      <vt:lpstr>NASA OUTGASSING DATABASE</vt:lpstr>
      <vt:lpstr>MEASURING OUTGASSING RATES</vt:lpstr>
      <vt:lpstr>NOTES ON MODELING</vt:lpstr>
      <vt:lpstr>DESORPTION</vt:lpstr>
      <vt:lpstr>DIFFUSION</vt:lpstr>
      <vt:lpstr>HOMEWORK PROBLEM 6</vt:lpstr>
      <vt:lpstr>PARTICULATE CONTAMINATION</vt:lpstr>
      <vt:lpstr>PowerPoint Presentation</vt:lpstr>
      <vt:lpstr>SOLAR UV DEGRADATION</vt:lpstr>
      <vt:lpstr>USEFUL USES</vt:lpstr>
      <vt:lpstr>MITIGATING UV DEGRADATION  KAPTON POLYIMIDE FILM AND TAPE</vt:lpstr>
      <vt:lpstr>MITIGATING UV DEGRADATION  MYLAR POLYESTER FILM</vt:lpstr>
      <vt:lpstr>MITIGATING UV DEGRADATION  TEFLON</vt:lpstr>
      <vt:lpstr>MITIGATING UV DEGRADATION  UV BLOCKERS, ABSORBERS &amp; STABILIZERS</vt:lpstr>
      <vt:lpstr>COLD WELDING</vt:lpstr>
      <vt:lpstr>COLD WELDING</vt:lpstr>
      <vt:lpstr>METHODS TO PREVENT COLD WELDING</vt:lpstr>
      <vt:lpstr>CONTAMINATION CONTROL</vt:lpstr>
      <vt:lpstr>PARTICLE CONCENTRATION LIMITS</vt:lpstr>
      <vt:lpstr>EXAMPLE </vt:lpstr>
      <vt:lpstr>CONTAMINATION CONTROL PROGRAM</vt:lpstr>
      <vt:lpstr>BIOLOGICAL CONTAMINATION</vt:lpstr>
      <vt:lpstr>HOMEWORK PROBLEM 7</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MAE 4425 VACUUM ENVIRONMENT</dc:title>
  <dc:creator>Lynnane George</dc:creator>
  <cp:lastModifiedBy>Lynnane George</cp:lastModifiedBy>
  <cp:revision>8</cp:revision>
  <dcterms:created xsi:type="dcterms:W3CDTF">2021-06-08T02:18:49Z</dcterms:created>
  <dcterms:modified xsi:type="dcterms:W3CDTF">2026-07-22T01:35:29Z</dcterms:modified>
</cp:coreProperties>
</file>