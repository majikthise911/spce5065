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8"/>
  </p:notesMasterIdLst>
  <p:sldIdLst>
    <p:sldId id="256" r:id="rId2"/>
    <p:sldId id="258" r:id="rId3"/>
    <p:sldId id="317" r:id="rId4"/>
    <p:sldId id="322" r:id="rId5"/>
    <p:sldId id="333" r:id="rId6"/>
    <p:sldId id="323" r:id="rId7"/>
    <p:sldId id="324" r:id="rId8"/>
    <p:sldId id="326" r:id="rId9"/>
    <p:sldId id="332" r:id="rId10"/>
    <p:sldId id="328" r:id="rId11"/>
    <p:sldId id="327" r:id="rId12"/>
    <p:sldId id="329" r:id="rId13"/>
    <p:sldId id="330" r:id="rId14"/>
    <p:sldId id="316" r:id="rId15"/>
    <p:sldId id="282" r:id="rId16"/>
    <p:sldId id="32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92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ynnane George" userId="065056628ae16e64" providerId="LiveId" clId="{1E9AE552-6B83-46CE-A2DC-1FB506DB1638}"/>
    <pc:docChg chg="undo custSel delSld modSld">
      <pc:chgData name="Lynnane George" userId="065056628ae16e64" providerId="LiveId" clId="{1E9AE552-6B83-46CE-A2DC-1FB506DB1638}" dt="2026-07-08T21:28:44.779" v="255" actId="2696"/>
      <pc:docMkLst>
        <pc:docMk/>
      </pc:docMkLst>
      <pc:sldChg chg="modSp mod">
        <pc:chgData name="Lynnane George" userId="065056628ae16e64" providerId="LiveId" clId="{1E9AE552-6B83-46CE-A2DC-1FB506DB1638}" dt="2026-07-08T21:27:39.763" v="247" actId="20577"/>
        <pc:sldMkLst>
          <pc:docMk/>
          <pc:sldMk cId="4050040273" sldId="256"/>
        </pc:sldMkLst>
        <pc:spChg chg="mod">
          <ac:chgData name="Lynnane George" userId="065056628ae16e64" providerId="LiveId" clId="{1E9AE552-6B83-46CE-A2DC-1FB506DB1638}" dt="2026-07-08T21:27:39.763" v="247" actId="20577"/>
          <ac:spMkLst>
            <pc:docMk/>
            <pc:sldMk cId="4050040273" sldId="256"/>
            <ac:spMk id="4111" creationId="{32B7A1C4-0D67-41EC-82EA-924449B77866}"/>
          </ac:spMkLst>
        </pc:spChg>
      </pc:sldChg>
      <pc:sldChg chg="addSp delSp mod">
        <pc:chgData name="Lynnane George" userId="065056628ae16e64" providerId="LiveId" clId="{1E9AE552-6B83-46CE-A2DC-1FB506DB1638}" dt="2026-07-08T21:28:37.779" v="254" actId="478"/>
        <pc:sldMkLst>
          <pc:docMk/>
          <pc:sldMk cId="3014734970" sldId="282"/>
        </pc:sldMkLst>
        <pc:inkChg chg="add del">
          <ac:chgData name="Lynnane George" userId="065056628ae16e64" providerId="LiveId" clId="{1E9AE552-6B83-46CE-A2DC-1FB506DB1638}" dt="2026-07-08T21:28:37.779" v="254" actId="478"/>
          <ac:inkMkLst>
            <pc:docMk/>
            <pc:sldMk cId="3014734970" sldId="282"/>
            <ac:inkMk id="3" creationId="{646D4AAD-5AB8-9301-20F0-373ACCEE5F51}"/>
          </ac:inkMkLst>
        </pc:inkChg>
      </pc:sldChg>
      <pc:sldChg chg="addSp delSp mod">
        <pc:chgData name="Lynnane George" userId="065056628ae16e64" providerId="LiveId" clId="{1E9AE552-6B83-46CE-A2DC-1FB506DB1638}" dt="2026-07-08T21:27:44.680" v="248" actId="478"/>
        <pc:sldMkLst>
          <pc:docMk/>
          <pc:sldMk cId="866434733" sldId="317"/>
        </pc:sldMkLst>
        <pc:inkChg chg="add del">
          <ac:chgData name="Lynnane George" userId="065056628ae16e64" providerId="LiveId" clId="{1E9AE552-6B83-46CE-A2DC-1FB506DB1638}" dt="2026-07-08T21:27:44.680" v="248" actId="478"/>
          <ac:inkMkLst>
            <pc:docMk/>
            <pc:sldMk cId="866434733" sldId="317"/>
            <ac:inkMk id="3" creationId="{54399644-B965-658C-E77A-C2E20CC30D93}"/>
          </ac:inkMkLst>
        </pc:inkChg>
      </pc:sldChg>
      <pc:sldChg chg="addSp delSp mod">
        <pc:chgData name="Lynnane George" userId="065056628ae16e64" providerId="LiveId" clId="{1E9AE552-6B83-46CE-A2DC-1FB506DB1638}" dt="2026-07-08T21:27:49.865" v="249" actId="478"/>
        <pc:sldMkLst>
          <pc:docMk/>
          <pc:sldMk cId="1668322046" sldId="322"/>
        </pc:sldMkLst>
        <pc:inkChg chg="add del">
          <ac:chgData name="Lynnane George" userId="065056628ae16e64" providerId="LiveId" clId="{1E9AE552-6B83-46CE-A2DC-1FB506DB1638}" dt="2026-07-08T21:27:49.865" v="249" actId="478"/>
          <ac:inkMkLst>
            <pc:docMk/>
            <pc:sldMk cId="1668322046" sldId="322"/>
            <ac:inkMk id="3" creationId="{B338F49F-329C-854F-D94C-A659A9524710}"/>
          </ac:inkMkLst>
        </pc:inkChg>
      </pc:sldChg>
      <pc:sldChg chg="addSp delSp modSp mod">
        <pc:chgData name="Lynnane George" userId="065056628ae16e64" providerId="LiveId" clId="{1E9AE552-6B83-46CE-A2DC-1FB506DB1638}" dt="2026-07-08T21:28:04.307" v="251" actId="478"/>
        <pc:sldMkLst>
          <pc:docMk/>
          <pc:sldMk cId="1701537878" sldId="323"/>
        </pc:sldMkLst>
        <pc:spChg chg="mod">
          <ac:chgData name="Lynnane George" userId="065056628ae16e64" providerId="LiveId" clId="{1E9AE552-6B83-46CE-A2DC-1FB506DB1638}" dt="2026-07-05T14:04:35.038" v="1" actId="14100"/>
          <ac:spMkLst>
            <pc:docMk/>
            <pc:sldMk cId="1701537878" sldId="323"/>
            <ac:spMk id="6" creationId="{CC78ED21-FD10-4797-A369-41FF6B190771}"/>
          </ac:spMkLst>
        </pc:spChg>
        <pc:inkChg chg="add del">
          <ac:chgData name="Lynnane George" userId="065056628ae16e64" providerId="LiveId" clId="{1E9AE552-6B83-46CE-A2DC-1FB506DB1638}" dt="2026-07-08T21:28:04.307" v="251" actId="478"/>
          <ac:inkMkLst>
            <pc:docMk/>
            <pc:sldMk cId="1701537878" sldId="323"/>
            <ac:inkMk id="7" creationId="{E080ECB1-54C2-CCAE-9178-2A558515B765}"/>
          </ac:inkMkLst>
        </pc:inkChg>
      </pc:sldChg>
      <pc:sldChg chg="addSp delSp modSp mod">
        <pc:chgData name="Lynnane George" userId="065056628ae16e64" providerId="LiveId" clId="{1E9AE552-6B83-46CE-A2DC-1FB506DB1638}" dt="2026-07-08T21:28:10.600" v="252" actId="478"/>
        <pc:sldMkLst>
          <pc:docMk/>
          <pc:sldMk cId="4119161509" sldId="324"/>
        </pc:sldMkLst>
        <pc:spChg chg="mod">
          <ac:chgData name="Lynnane George" userId="065056628ae16e64" providerId="LiveId" clId="{1E9AE552-6B83-46CE-A2DC-1FB506DB1638}" dt="2026-07-05T14:07:14.548" v="2" actId="1076"/>
          <ac:spMkLst>
            <pc:docMk/>
            <pc:sldMk cId="4119161509" sldId="324"/>
            <ac:spMk id="2" creationId="{B9FE0C67-AE7C-4375-A13E-0A03836D528A}"/>
          </ac:spMkLst>
        </pc:spChg>
        <pc:spChg chg="mod">
          <ac:chgData name="Lynnane George" userId="065056628ae16e64" providerId="LiveId" clId="{1E9AE552-6B83-46CE-A2DC-1FB506DB1638}" dt="2026-07-05T14:08:57.396" v="13" actId="20577"/>
          <ac:spMkLst>
            <pc:docMk/>
            <pc:sldMk cId="4119161509" sldId="324"/>
            <ac:spMk id="3" creationId="{5E95EF46-77D5-464B-B63B-51DF2045F480}"/>
          </ac:spMkLst>
        </pc:spChg>
        <pc:spChg chg="mod">
          <ac:chgData name="Lynnane George" userId="065056628ae16e64" providerId="LiveId" clId="{1E9AE552-6B83-46CE-A2DC-1FB506DB1638}" dt="2026-07-05T14:07:22.985" v="4" actId="1076"/>
          <ac:spMkLst>
            <pc:docMk/>
            <pc:sldMk cId="4119161509" sldId="324"/>
            <ac:spMk id="6" creationId="{19AEFD4B-B714-00AC-2441-4B782231447E}"/>
          </ac:spMkLst>
        </pc:spChg>
        <pc:inkChg chg="add del">
          <ac:chgData name="Lynnane George" userId="065056628ae16e64" providerId="LiveId" clId="{1E9AE552-6B83-46CE-A2DC-1FB506DB1638}" dt="2026-07-08T21:28:10.600" v="252" actId="478"/>
          <ac:inkMkLst>
            <pc:docMk/>
            <pc:sldMk cId="4119161509" sldId="324"/>
            <ac:inkMk id="5" creationId="{B35BF9F8-AC43-E3E1-1E45-14CFFB339FD2}"/>
          </ac:inkMkLst>
        </pc:inkChg>
      </pc:sldChg>
      <pc:sldChg chg="addSp delSp mod">
        <pc:chgData name="Lynnane George" userId="065056628ae16e64" providerId="LiveId" clId="{1E9AE552-6B83-46CE-A2DC-1FB506DB1638}" dt="2026-07-08T21:28:20.139" v="253" actId="478"/>
        <pc:sldMkLst>
          <pc:docMk/>
          <pc:sldMk cId="3209278809" sldId="326"/>
        </pc:sldMkLst>
        <pc:inkChg chg="add del">
          <ac:chgData name="Lynnane George" userId="065056628ae16e64" providerId="LiveId" clId="{1E9AE552-6B83-46CE-A2DC-1FB506DB1638}" dt="2026-07-08T21:28:20.139" v="253" actId="478"/>
          <ac:inkMkLst>
            <pc:docMk/>
            <pc:sldMk cId="3209278809" sldId="326"/>
            <ac:inkMk id="3" creationId="{97A97003-B01E-9640-5CFB-983DF2C31596}"/>
          </ac:inkMkLst>
        </pc:inkChg>
      </pc:sldChg>
      <pc:sldChg chg="modSp">
        <pc:chgData name="Lynnane George" userId="065056628ae16e64" providerId="LiveId" clId="{1E9AE552-6B83-46CE-A2DC-1FB506DB1638}" dt="2026-07-07T01:15:23.718" v="245" actId="20577"/>
        <pc:sldMkLst>
          <pc:docMk/>
          <pc:sldMk cId="3062673454" sldId="332"/>
        </pc:sldMkLst>
        <pc:spChg chg="mod">
          <ac:chgData name="Lynnane George" userId="065056628ae16e64" providerId="LiveId" clId="{1E9AE552-6B83-46CE-A2DC-1FB506DB1638}" dt="2026-07-07T01:15:23.718" v="245" actId="20577"/>
          <ac:spMkLst>
            <pc:docMk/>
            <pc:sldMk cId="3062673454" sldId="332"/>
            <ac:spMk id="17" creationId="{D9234E3D-EC45-4DD5-BFCD-86325FCFD917}"/>
          </ac:spMkLst>
        </pc:spChg>
      </pc:sldChg>
      <pc:sldChg chg="addSp delSp modSp mod">
        <pc:chgData name="Lynnane George" userId="065056628ae16e64" providerId="LiveId" clId="{1E9AE552-6B83-46CE-A2DC-1FB506DB1638}" dt="2026-07-08T21:27:54.462" v="250" actId="478"/>
        <pc:sldMkLst>
          <pc:docMk/>
          <pc:sldMk cId="175801294" sldId="333"/>
        </pc:sldMkLst>
        <pc:spChg chg="mod">
          <ac:chgData name="Lynnane George" userId="065056628ae16e64" providerId="LiveId" clId="{1E9AE552-6B83-46CE-A2DC-1FB506DB1638}" dt="2026-07-05T13:59:40.892" v="0" actId="1076"/>
          <ac:spMkLst>
            <pc:docMk/>
            <pc:sldMk cId="175801294" sldId="333"/>
            <ac:spMk id="3" creationId="{49702C42-D72B-4FC1-90D1-247A453ABF62}"/>
          </ac:spMkLst>
        </pc:spChg>
        <pc:inkChg chg="add del">
          <ac:chgData name="Lynnane George" userId="065056628ae16e64" providerId="LiveId" clId="{1E9AE552-6B83-46CE-A2DC-1FB506DB1638}" dt="2026-07-08T21:27:54.462" v="250" actId="478"/>
          <ac:inkMkLst>
            <pc:docMk/>
            <pc:sldMk cId="175801294" sldId="333"/>
            <ac:inkMk id="5" creationId="{30CB224E-D660-0259-C385-6E1AF25D27A7}"/>
          </ac:inkMkLst>
        </pc:inkChg>
      </pc:sldChg>
      <pc:sldChg chg="addSp modSp del mod">
        <pc:chgData name="Lynnane George" userId="065056628ae16e64" providerId="LiveId" clId="{1E9AE552-6B83-46CE-A2DC-1FB506DB1638}" dt="2026-07-08T21:28:44.779" v="255" actId="2696"/>
        <pc:sldMkLst>
          <pc:docMk/>
          <pc:sldMk cId="4062352406" sldId="334"/>
        </pc:sldMkLst>
        <pc:spChg chg="mod">
          <ac:chgData name="Lynnane George" userId="065056628ae16e64" providerId="LiveId" clId="{1E9AE552-6B83-46CE-A2DC-1FB506DB1638}" dt="2026-07-05T15:10:04.328" v="242" actId="20577"/>
          <ac:spMkLst>
            <pc:docMk/>
            <pc:sldMk cId="4062352406" sldId="334"/>
            <ac:spMk id="2" creationId="{4EF43F26-9AA0-E48E-88CB-24CA7414A1A1}"/>
          </ac:spMkLst>
        </pc:spChg>
        <pc:spChg chg="mod">
          <ac:chgData name="Lynnane George" userId="065056628ae16e64" providerId="LiveId" clId="{1E9AE552-6B83-46CE-A2DC-1FB506DB1638}" dt="2026-07-05T15:07:33.487" v="127" actId="20577"/>
          <ac:spMkLst>
            <pc:docMk/>
            <pc:sldMk cId="4062352406" sldId="334"/>
            <ac:spMk id="3" creationId="{E164C7BF-C1F8-5F74-20D4-B3BBB17B8B79}"/>
          </ac:spMkLst>
        </pc:spChg>
        <pc:spChg chg="mod">
          <ac:chgData name="Lynnane George" userId="065056628ae16e64" providerId="LiveId" clId="{1E9AE552-6B83-46CE-A2DC-1FB506DB1638}" dt="2026-07-05T14:59:36.011" v="87" actId="20577"/>
          <ac:spMkLst>
            <pc:docMk/>
            <pc:sldMk cId="4062352406" sldId="334"/>
            <ac:spMk id="5" creationId="{27378FB8-E391-D8C7-425B-0932B5980042}"/>
          </ac:spMkLst>
        </pc:spChg>
        <pc:spChg chg="mod">
          <ac:chgData name="Lynnane George" userId="065056628ae16e64" providerId="LiveId" clId="{1E9AE552-6B83-46CE-A2DC-1FB506DB1638}" dt="2026-07-05T15:00:00.961" v="89" actId="21"/>
          <ac:spMkLst>
            <pc:docMk/>
            <pc:sldMk cId="4062352406" sldId="334"/>
            <ac:spMk id="6" creationId="{539B9D95-FD55-1B66-6D66-969A41AD050B}"/>
          </ac:spMkLst>
        </pc:spChg>
        <pc:spChg chg="add mod">
          <ac:chgData name="Lynnane George" userId="065056628ae16e64" providerId="LiveId" clId="{1E9AE552-6B83-46CE-A2DC-1FB506DB1638}" dt="2026-07-05T15:08:08.652" v="207" actId="20577"/>
          <ac:spMkLst>
            <pc:docMk/>
            <pc:sldMk cId="4062352406" sldId="334"/>
            <ac:spMk id="7" creationId="{4BF14F86-A560-6857-BE44-6308C3ECE013}"/>
          </ac:spMkLst>
        </pc:spChg>
        <pc:inkChg chg="add">
          <ac:chgData name="Lynnane George" userId="065056628ae16e64" providerId="LiveId" clId="{1E9AE552-6B83-46CE-A2DC-1FB506DB1638}" dt="2026-07-06T19:08:31.712" v="243"/>
          <ac:inkMkLst>
            <pc:docMk/>
            <pc:sldMk cId="4062352406" sldId="334"/>
            <ac:inkMk id="8" creationId="{EAC609D4-5101-F51D-6A26-2EAADD04ACE9}"/>
          </ac:inkMkLst>
        </pc:ink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326BDA-DC63-4F1E-89FF-0162DDA85E0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E1DA9-70CD-4924-8F6B-D46BA6EEA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5349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Electron" TargetMode="External"/><Relationship Id="rId13" Type="http://schemas.openxmlformats.org/officeDocument/2006/relationships/hyperlink" Target="https://en.wikipedia.org/wiki/Electronvolt#cite_note-physconst-e-3" TargetMode="External"/><Relationship Id="rId3" Type="http://schemas.openxmlformats.org/officeDocument/2006/relationships/hyperlink" Target="https://en.wikipedia.org/wiki/Physics" TargetMode="External"/><Relationship Id="rId7" Type="http://schemas.openxmlformats.org/officeDocument/2006/relationships/hyperlink" Target="https://en.wikipedia.org/wiki/Joule" TargetMode="External"/><Relationship Id="rId12" Type="http://schemas.openxmlformats.org/officeDocument/2006/relationships/hyperlink" Target="https://en.wikipedia.org/wiki/Elementary_charge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Units_of_energy" TargetMode="External"/><Relationship Id="rId11" Type="http://schemas.openxmlformats.org/officeDocument/2006/relationships/hyperlink" Target="https://en.wikipedia.org/wiki/Coulomb" TargetMode="External"/><Relationship Id="rId5" Type="http://schemas.openxmlformats.org/officeDocument/2006/relationships/hyperlink" Target="https://en.wikipedia.org/wiki/Electronvolt#cite_note-2" TargetMode="External"/><Relationship Id="rId10" Type="http://schemas.openxmlformats.org/officeDocument/2006/relationships/hyperlink" Target="https://en.wikipedia.org/wiki/Volt" TargetMode="External"/><Relationship Id="rId4" Type="http://schemas.openxmlformats.org/officeDocument/2006/relationships/hyperlink" Target="https://en.wikipedia.org/wiki/Electronvolt#cite_note-1" TargetMode="External"/><Relationship Id="rId9" Type="http://schemas.openxmlformats.org/officeDocument/2006/relationships/hyperlink" Target="https://en.wikipedia.org/wiki/Voltage" TargetMode="External"/><Relationship Id="rId14" Type="http://schemas.openxmlformats.org/officeDocument/2006/relationships/hyperlink" Target="https://en.wikipedia.org/wiki/Electronvolt#cite_note-physconst-eV-4" TargetMode="Externa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>
            <a:extLst>
              <a:ext uri="{FF2B5EF4-FFF2-40B4-BE49-F238E27FC236}">
                <a16:creationId xmlns:a16="http://schemas.microsoft.com/office/drawing/2014/main" id="{028BD7AB-1398-40B5-8AE6-F386DA96E3D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2590800"/>
            <a:ext cx="6124575" cy="3446463"/>
          </a:xfrm>
          <a:ln/>
        </p:spPr>
      </p:sp>
      <p:sp>
        <p:nvSpPr>
          <p:cNvPr id="87044" name="Oval 4">
            <a:extLst>
              <a:ext uri="{FF2B5EF4-FFF2-40B4-BE49-F238E27FC236}">
                <a16:creationId xmlns:a16="http://schemas.microsoft.com/office/drawing/2014/main" id="{D4F9039F-6558-46D9-9B0A-1BAC63A27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3238" y="4381500"/>
            <a:ext cx="606425" cy="180975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87045" name="Oval 5">
            <a:extLst>
              <a:ext uri="{FF2B5EF4-FFF2-40B4-BE49-F238E27FC236}">
                <a16:creationId xmlns:a16="http://schemas.microsoft.com/office/drawing/2014/main" id="{F53D9A16-F4E0-4C0F-B358-AAF0283B4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62375" y="5222875"/>
            <a:ext cx="606425" cy="180975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87046" name="Oval 6">
            <a:extLst>
              <a:ext uri="{FF2B5EF4-FFF2-40B4-BE49-F238E27FC236}">
                <a16:creationId xmlns:a16="http://schemas.microsoft.com/office/drawing/2014/main" id="{44C6B91B-2DBC-485C-81AB-83EB693842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4275" y="5013325"/>
            <a:ext cx="606425" cy="180975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87047" name="Oval 7">
            <a:extLst>
              <a:ext uri="{FF2B5EF4-FFF2-40B4-BE49-F238E27FC236}">
                <a16:creationId xmlns:a16="http://schemas.microsoft.com/office/drawing/2014/main" id="{88627244-4E34-47AB-93D4-42DAE34B5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7288" y="4816475"/>
            <a:ext cx="606425" cy="179388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87048" name="Oval 8">
            <a:extLst>
              <a:ext uri="{FF2B5EF4-FFF2-40B4-BE49-F238E27FC236}">
                <a16:creationId xmlns:a16="http://schemas.microsoft.com/office/drawing/2014/main" id="{63ECD872-F8C8-4F9D-8CFD-21FC36997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863" y="4579938"/>
            <a:ext cx="828675" cy="190500"/>
          </a:xfrm>
          <a:prstGeom prst="ellipse">
            <a:avLst/>
          </a:prstGeom>
          <a:noFill/>
          <a:ln w="28575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87049" name="Text Box 9">
            <a:extLst>
              <a:ext uri="{FF2B5EF4-FFF2-40B4-BE49-F238E27FC236}">
                <a16:creationId xmlns:a16="http://schemas.microsoft.com/office/drawing/2014/main" id="{9945CD99-1C10-49AC-A876-8E578A0A22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3013" y="4654550"/>
            <a:ext cx="666750" cy="209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5 key areas</a:t>
            </a:r>
          </a:p>
        </p:txBody>
      </p:sp>
      <p:sp>
        <p:nvSpPr>
          <p:cNvPr id="87050" name="Text Box 10">
            <a:extLst>
              <a:ext uri="{FF2B5EF4-FFF2-40B4-BE49-F238E27FC236}">
                <a16:creationId xmlns:a16="http://schemas.microsoft.com/office/drawing/2014/main" id="{457BAB65-215B-4468-B05D-B75BB76BE7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6100" y="1143000"/>
            <a:ext cx="31734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i="1"/>
              <a:t>Before moving into the details of designing space missions, it’s important to take a look at the constraints we’ll be operating under</a:t>
            </a:r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F8C1989A-E83B-4ADD-9BA1-ABB97083B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Atmospheric neutrals – uncharged particles that cause drag and atomic oxygen effects</a:t>
            </a:r>
          </a:p>
          <a:p>
            <a:r>
              <a:rPr lang="en-US" dirty="0"/>
              <a:t>Expedition 47 from the ISS</a:t>
            </a:r>
          </a:p>
        </p:txBody>
      </p:sp>
    </p:spTree>
    <p:extLst>
      <p:ext uri="{BB962C8B-B14F-4D97-AF65-F5344CB8AC3E}">
        <p14:creationId xmlns:p14="http://schemas.microsoft.com/office/powerpoint/2010/main" val="31762034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>
            <a:extLst>
              <a:ext uri="{FF2B5EF4-FFF2-40B4-BE49-F238E27FC236}">
                <a16:creationId xmlns:a16="http://schemas.microsoft.com/office/drawing/2014/main" id="{369080C2-6FCB-4017-ADFB-9AF863EB71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2590800"/>
            <a:ext cx="6124575" cy="3446463"/>
          </a:xfrm>
          <a:ln/>
        </p:spPr>
      </p:sp>
      <p:sp>
        <p:nvSpPr>
          <p:cNvPr id="95236" name="Text Box 4">
            <a:extLst>
              <a:ext uri="{FF2B5EF4-FFF2-40B4-BE49-F238E27FC236}">
                <a16:creationId xmlns:a16="http://schemas.microsoft.com/office/drawing/2014/main" id="{C8F38A5C-4EC2-4306-87E2-2EA0AB16D9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113" y="1846263"/>
            <a:ext cx="3416300" cy="33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A variety of environmental effects have a direct impact on the ability of spacecraft subsystems to execute their design objectives</a:t>
            </a:r>
          </a:p>
        </p:txBody>
      </p:sp>
      <p:sp>
        <p:nvSpPr>
          <p:cNvPr id="95237" name="Line 5">
            <a:extLst>
              <a:ext uri="{FF2B5EF4-FFF2-40B4-BE49-F238E27FC236}">
                <a16:creationId xmlns:a16="http://schemas.microsoft.com/office/drawing/2014/main" id="{097650BB-0663-4562-9113-C41D5E5A08D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7225" y="2200275"/>
            <a:ext cx="666750" cy="1123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95238" name="Text Box 6">
            <a:extLst>
              <a:ext uri="{FF2B5EF4-FFF2-40B4-BE49-F238E27FC236}">
                <a16:creationId xmlns:a16="http://schemas.microsoft.com/office/drawing/2014/main" id="{EA69EE6C-C9C1-45B7-BEED-60CD34341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35150" y="7469188"/>
            <a:ext cx="3417888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This chart provides a good summary of the impacts of the space environment on these subsystems</a:t>
            </a:r>
          </a:p>
          <a:p>
            <a:pPr>
              <a:defRPr/>
            </a:pPr>
            <a:endParaRPr lang="en-US" altLang="en-US" sz="900" i="1"/>
          </a:p>
          <a:p>
            <a:pPr>
              <a:defRPr/>
            </a:pPr>
            <a:r>
              <a:rPr lang="en-US" altLang="en-US" sz="900" i="1">
                <a:sym typeface="Symbol" charset="2"/>
              </a:rPr>
              <a:t>     we’ll walk through each of these areas in the next several slides</a:t>
            </a:r>
            <a:endParaRPr lang="en-US" altLang="en-US" sz="900" i="1"/>
          </a:p>
        </p:txBody>
      </p:sp>
      <p:sp>
        <p:nvSpPr>
          <p:cNvPr id="95239" name="Text Box 7">
            <a:extLst>
              <a:ext uri="{FF2B5EF4-FFF2-40B4-BE49-F238E27FC236}">
                <a16:creationId xmlns:a16="http://schemas.microsoft.com/office/drawing/2014/main" id="{8CC6C045-5E15-4322-8738-58B3445445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62213" y="6184900"/>
            <a:ext cx="341630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Must recognize that extra margin must be designed into spacecraft subsystems to handle these impacts</a:t>
            </a:r>
          </a:p>
        </p:txBody>
      </p:sp>
      <p:sp>
        <p:nvSpPr>
          <p:cNvPr id="95240" name="Line 8">
            <a:extLst>
              <a:ext uri="{FF2B5EF4-FFF2-40B4-BE49-F238E27FC236}">
                <a16:creationId xmlns:a16="http://schemas.microsoft.com/office/drawing/2014/main" id="{A1934AB7-F442-4324-827B-9792A680AE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55875" y="5726113"/>
            <a:ext cx="342900" cy="4810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95241" name="Line 9">
            <a:extLst>
              <a:ext uri="{FF2B5EF4-FFF2-40B4-BE49-F238E27FC236}">
                <a16:creationId xmlns:a16="http://schemas.microsoft.com/office/drawing/2014/main" id="{EAAD7E58-E024-402C-9109-48B783EAFE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00625" y="5684838"/>
            <a:ext cx="363538" cy="5032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D38C454D-CE4E-4CF7-81B9-BC627D5ED6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538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67F630BD-6AFD-485A-AF1E-DA1FBB5D3B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2590800"/>
            <a:ext cx="6124575" cy="3446463"/>
          </a:xfrm>
          <a:ln/>
        </p:spPr>
      </p:sp>
      <p:sp>
        <p:nvSpPr>
          <p:cNvPr id="107524" name="Text Box 4">
            <a:extLst>
              <a:ext uri="{FF2B5EF4-FFF2-40B4-BE49-F238E27FC236}">
                <a16:creationId xmlns:a16="http://schemas.microsoft.com/office/drawing/2014/main" id="{99700C0A-DC45-454B-A22A-50F6F2846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2097088"/>
            <a:ext cx="1962150" cy="47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“gas” of electrically charged particles with kinetic energy greater than the potential energy of attraction</a:t>
            </a:r>
          </a:p>
        </p:txBody>
      </p:sp>
      <p:sp>
        <p:nvSpPr>
          <p:cNvPr id="107525" name="Line 5">
            <a:extLst>
              <a:ext uri="{FF2B5EF4-FFF2-40B4-BE49-F238E27FC236}">
                <a16:creationId xmlns:a16="http://schemas.microsoft.com/office/drawing/2014/main" id="{52090D57-36B0-4015-8B18-D3F8F58D63F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188" y="2571750"/>
            <a:ext cx="706437" cy="622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7528" name="Text Box 8">
            <a:extLst>
              <a:ext uri="{FF2B5EF4-FFF2-40B4-BE49-F238E27FC236}">
                <a16:creationId xmlns:a16="http://schemas.microsoft.com/office/drawing/2014/main" id="{45A4BD66-48F9-4E34-911D-7DB9172E2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2338" y="3573463"/>
            <a:ext cx="2365375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(absolute value is rarely of concern)</a:t>
            </a:r>
          </a:p>
        </p:txBody>
      </p:sp>
      <p:sp>
        <p:nvSpPr>
          <p:cNvPr id="107529" name="Text Box 9">
            <a:extLst>
              <a:ext uri="{FF2B5EF4-FFF2-40B4-BE49-F238E27FC236}">
                <a16:creationId xmlns:a16="http://schemas.microsoft.com/office/drawing/2014/main" id="{2EF3110E-A6CD-4BBE-A2A6-7EC436C37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8" y="6054725"/>
            <a:ext cx="1871662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Closely spaced surfaces create equilibrium by forming a current path</a:t>
            </a:r>
          </a:p>
        </p:txBody>
      </p:sp>
      <p:sp>
        <p:nvSpPr>
          <p:cNvPr id="107530" name="Line 10">
            <a:extLst>
              <a:ext uri="{FF2B5EF4-FFF2-40B4-BE49-F238E27FC236}">
                <a16:creationId xmlns:a16="http://schemas.microsoft.com/office/drawing/2014/main" id="{2CE1C358-A138-43F9-B3A8-6C7CC74648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6113" y="4691063"/>
            <a:ext cx="1090612" cy="1365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7531" name="Text Box 11">
            <a:extLst>
              <a:ext uri="{FF2B5EF4-FFF2-40B4-BE49-F238E27FC236}">
                <a16:creationId xmlns:a16="http://schemas.microsoft.com/office/drawing/2014/main" id="{E1B8C89E-1778-47A2-A526-BB15A5F3E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4216400"/>
            <a:ext cx="12954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EMI is a problem for sensitive electronics</a:t>
            </a:r>
          </a:p>
        </p:txBody>
      </p:sp>
      <p:sp>
        <p:nvSpPr>
          <p:cNvPr id="107532" name="Line 12">
            <a:extLst>
              <a:ext uri="{FF2B5EF4-FFF2-40B4-BE49-F238E27FC236}">
                <a16:creationId xmlns:a16="http://schemas.microsoft.com/office/drawing/2014/main" id="{79465302-446A-4917-B029-488F85F8E0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35613" y="4570413"/>
            <a:ext cx="595312" cy="452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7533" name="Arc 13">
            <a:extLst>
              <a:ext uri="{FF2B5EF4-FFF2-40B4-BE49-F238E27FC236}">
                <a16:creationId xmlns:a16="http://schemas.microsoft.com/office/drawing/2014/main" id="{5A994B2F-CF06-4862-BF27-AFAE68405B3A}"/>
              </a:ext>
            </a:extLst>
          </p:cNvPr>
          <p:cNvSpPr>
            <a:spLocks/>
          </p:cNvSpPr>
          <p:nvPr/>
        </p:nvSpPr>
        <p:spPr bwMode="auto">
          <a:xfrm>
            <a:off x="4000500" y="5413375"/>
            <a:ext cx="150813" cy="279400"/>
          </a:xfrm>
          <a:custGeom>
            <a:avLst/>
            <a:gdLst>
              <a:gd name="T0" fmla="*/ 0 w 21600"/>
              <a:gd name="T1" fmla="*/ 0 h 42082"/>
              <a:gd name="T2" fmla="*/ 47883 w 21600"/>
              <a:gd name="T3" fmla="*/ 279400 h 42082"/>
              <a:gd name="T4" fmla="*/ 0 w 21600"/>
              <a:gd name="T5" fmla="*/ 143411 h 4208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42082" fill="none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0886"/>
                  <a:pt x="15664" y="39133"/>
                  <a:pt x="6858" y="42082"/>
                </a:cubicBezTo>
              </a:path>
              <a:path w="21600" h="42082" stroke="0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0886"/>
                  <a:pt x="15664" y="39133"/>
                  <a:pt x="6858" y="42082"/>
                </a:cubicBezTo>
                <a:lnTo>
                  <a:pt x="0" y="21600"/>
                </a:lnTo>
                <a:lnTo>
                  <a:pt x="0" y="-1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34" name="Text Box 14">
            <a:extLst>
              <a:ext uri="{FF2B5EF4-FFF2-40B4-BE49-F238E27FC236}">
                <a16:creationId xmlns:a16="http://schemas.microsoft.com/office/drawing/2014/main" id="{A8CBF543-A51E-4781-975C-15964E54D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050" y="5381625"/>
            <a:ext cx="14462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Effects are similar to the neutral environment</a:t>
            </a:r>
          </a:p>
        </p:txBody>
      </p:sp>
      <p:sp>
        <p:nvSpPr>
          <p:cNvPr id="107535" name="Text Box 15">
            <a:extLst>
              <a:ext uri="{FF2B5EF4-FFF2-40B4-BE49-F238E27FC236}">
                <a16:creationId xmlns:a16="http://schemas.microsoft.com/office/drawing/2014/main" id="{45577A33-FDC0-421A-8982-48F7229D1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8450" y="6224588"/>
            <a:ext cx="23669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Outgassed materials ionized by solar UV are reattracted to the negatively charged spacecraft (particularly significant in GEO orbits)</a:t>
            </a:r>
          </a:p>
        </p:txBody>
      </p:sp>
      <p:sp>
        <p:nvSpPr>
          <p:cNvPr id="107536" name="Line 16">
            <a:extLst>
              <a:ext uri="{FF2B5EF4-FFF2-40B4-BE49-F238E27FC236}">
                <a16:creationId xmlns:a16="http://schemas.microsoft.com/office/drawing/2014/main" id="{385E3AD9-155F-4331-8964-222C5DEC88C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51313" y="5845175"/>
            <a:ext cx="838200" cy="382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7537" name="Oval 17">
            <a:extLst>
              <a:ext uri="{FF2B5EF4-FFF2-40B4-BE49-F238E27FC236}">
                <a16:creationId xmlns:a16="http://schemas.microsoft.com/office/drawing/2014/main" id="{A4CAF6F4-42C3-4065-9719-CECCDDCDC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9088" y="4579938"/>
            <a:ext cx="919162" cy="171450"/>
          </a:xfrm>
          <a:prstGeom prst="ellips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7538" name="Oval 18">
            <a:extLst>
              <a:ext uri="{FF2B5EF4-FFF2-40B4-BE49-F238E27FC236}">
                <a16:creationId xmlns:a16="http://schemas.microsoft.com/office/drawing/2014/main" id="{7EBE9F30-8BB3-44E1-9CCA-CFBC7C704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25" y="4811713"/>
            <a:ext cx="1150938" cy="169862"/>
          </a:xfrm>
          <a:prstGeom prst="ellips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82D97571-8FBE-41B3-9891-792D43D38F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Physics"/>
              </a:rPr>
              <a:t>physics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 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electronvolt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[1]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[2]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(symbol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also written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electron-volt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electron volt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is a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Units of energy"/>
              </a:rPr>
              <a:t>unit of energy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equal to approximately 1.6×10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−19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Joule"/>
              </a:rPr>
              <a:t>joules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(symbol J). By definition, it is the amount of energy gained (or lost) by the charge of a single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8" tooltip="Electron"/>
              </a:rPr>
              <a:t>electron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moving across an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9" tooltip="Voltage"/>
              </a:rPr>
              <a:t>electric potential difference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of one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Volt"/>
              </a:rPr>
              <a:t>volt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Thus it is 1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0" tooltip="Volt"/>
              </a:rPr>
              <a:t>volt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(1 joule per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1" tooltip="Coulomb"/>
              </a:rPr>
              <a:t>coulomb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 1 J/C) multiplied by the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2" tooltip="Elementary charge"/>
              </a:rPr>
              <a:t>elementary charge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</a:t>
            </a:r>
            <a:r>
              <a:rPr lang="en-US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 1.6021766208(98)×10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−19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3"/>
              </a:rPr>
              <a:t>[3]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 Therefore, one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electronvolt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equal to 1.6021766208(98)×10</a:t>
            </a:r>
            <a:r>
              <a:rPr lang="en-US" sz="1200" b="0" i="0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−19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J.</a:t>
            </a:r>
            <a:r>
              <a:rPr lang="en-US" sz="1200" b="0" i="0" u="none" strike="noStrike" kern="1200" baseline="300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4"/>
              </a:rPr>
              <a:t>[4]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3907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67F630BD-6AFD-485A-AF1E-DA1FBB5D3B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2590800"/>
            <a:ext cx="6124575" cy="3446463"/>
          </a:xfrm>
          <a:ln/>
        </p:spPr>
      </p:sp>
      <p:sp>
        <p:nvSpPr>
          <p:cNvPr id="107524" name="Text Box 4">
            <a:extLst>
              <a:ext uri="{FF2B5EF4-FFF2-40B4-BE49-F238E27FC236}">
                <a16:creationId xmlns:a16="http://schemas.microsoft.com/office/drawing/2014/main" id="{99700C0A-DC45-454B-A22A-50F6F28465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275" y="2097088"/>
            <a:ext cx="1962150" cy="471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“gas” of electrically charged particles with kinetic energy greater than the potential energy of attraction</a:t>
            </a:r>
          </a:p>
        </p:txBody>
      </p:sp>
      <p:sp>
        <p:nvSpPr>
          <p:cNvPr id="107525" name="Line 5">
            <a:extLst>
              <a:ext uri="{FF2B5EF4-FFF2-40B4-BE49-F238E27FC236}">
                <a16:creationId xmlns:a16="http://schemas.microsoft.com/office/drawing/2014/main" id="{52090D57-36B0-4015-8B18-D3F8F58D63F4}"/>
              </a:ext>
            </a:extLst>
          </p:cNvPr>
          <p:cNvSpPr>
            <a:spLocks noChangeShapeType="1"/>
          </p:cNvSpPr>
          <p:nvPr/>
        </p:nvSpPr>
        <p:spPr bwMode="auto">
          <a:xfrm>
            <a:off x="738188" y="2571750"/>
            <a:ext cx="706437" cy="6223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7528" name="Text Box 8">
            <a:extLst>
              <a:ext uri="{FF2B5EF4-FFF2-40B4-BE49-F238E27FC236}">
                <a16:creationId xmlns:a16="http://schemas.microsoft.com/office/drawing/2014/main" id="{45A4BD66-48F9-4E34-911D-7DB9172E2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2338" y="3573463"/>
            <a:ext cx="2365375" cy="20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(absolute value is rarely of concern)</a:t>
            </a:r>
          </a:p>
        </p:txBody>
      </p:sp>
      <p:sp>
        <p:nvSpPr>
          <p:cNvPr id="107529" name="Text Box 9">
            <a:extLst>
              <a:ext uri="{FF2B5EF4-FFF2-40B4-BE49-F238E27FC236}">
                <a16:creationId xmlns:a16="http://schemas.microsoft.com/office/drawing/2014/main" id="{2EF3110E-A6CD-4BBE-A2A6-7EC436C377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8" y="6054725"/>
            <a:ext cx="1871662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Closely spaced surfaces create equilibrium by forming a current path</a:t>
            </a:r>
          </a:p>
        </p:txBody>
      </p:sp>
      <p:sp>
        <p:nvSpPr>
          <p:cNvPr id="107530" name="Line 10">
            <a:extLst>
              <a:ext uri="{FF2B5EF4-FFF2-40B4-BE49-F238E27FC236}">
                <a16:creationId xmlns:a16="http://schemas.microsoft.com/office/drawing/2014/main" id="{2CE1C358-A138-43F9-B3A8-6C7CC746480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6113" y="4691063"/>
            <a:ext cx="1090612" cy="13652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7531" name="Text Box 11">
            <a:extLst>
              <a:ext uri="{FF2B5EF4-FFF2-40B4-BE49-F238E27FC236}">
                <a16:creationId xmlns:a16="http://schemas.microsoft.com/office/drawing/2014/main" id="{E1B8C89E-1778-47A2-A526-BB15A5F3E9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3075" y="4216400"/>
            <a:ext cx="1295400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EMI is a problem for sensitive electronics</a:t>
            </a:r>
          </a:p>
        </p:txBody>
      </p:sp>
      <p:sp>
        <p:nvSpPr>
          <p:cNvPr id="107532" name="Line 12">
            <a:extLst>
              <a:ext uri="{FF2B5EF4-FFF2-40B4-BE49-F238E27FC236}">
                <a16:creationId xmlns:a16="http://schemas.microsoft.com/office/drawing/2014/main" id="{79465302-446A-4917-B029-488F85F8E0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35613" y="4570413"/>
            <a:ext cx="595312" cy="4524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7533" name="Arc 13">
            <a:extLst>
              <a:ext uri="{FF2B5EF4-FFF2-40B4-BE49-F238E27FC236}">
                <a16:creationId xmlns:a16="http://schemas.microsoft.com/office/drawing/2014/main" id="{5A994B2F-CF06-4862-BF27-AFAE68405B3A}"/>
              </a:ext>
            </a:extLst>
          </p:cNvPr>
          <p:cNvSpPr>
            <a:spLocks/>
          </p:cNvSpPr>
          <p:nvPr/>
        </p:nvSpPr>
        <p:spPr bwMode="auto">
          <a:xfrm>
            <a:off x="4000500" y="5413375"/>
            <a:ext cx="150813" cy="279400"/>
          </a:xfrm>
          <a:custGeom>
            <a:avLst/>
            <a:gdLst>
              <a:gd name="T0" fmla="*/ 0 w 21600"/>
              <a:gd name="T1" fmla="*/ 0 h 42082"/>
              <a:gd name="T2" fmla="*/ 47883 w 21600"/>
              <a:gd name="T3" fmla="*/ 279400 h 42082"/>
              <a:gd name="T4" fmla="*/ 0 w 21600"/>
              <a:gd name="T5" fmla="*/ 143411 h 4208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42082" fill="none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0886"/>
                  <a:pt x="15664" y="39133"/>
                  <a:pt x="6858" y="42082"/>
                </a:cubicBezTo>
              </a:path>
              <a:path w="21600" h="42082" stroke="0" extrusionOk="0">
                <a:moveTo>
                  <a:pt x="0" y="-1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0886"/>
                  <a:pt x="15664" y="39133"/>
                  <a:pt x="6858" y="42082"/>
                </a:cubicBezTo>
                <a:lnTo>
                  <a:pt x="0" y="21600"/>
                </a:lnTo>
                <a:lnTo>
                  <a:pt x="0" y="-1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7534" name="Text Box 14">
            <a:extLst>
              <a:ext uri="{FF2B5EF4-FFF2-40B4-BE49-F238E27FC236}">
                <a16:creationId xmlns:a16="http://schemas.microsoft.com/office/drawing/2014/main" id="{A8CBF543-A51E-4781-975C-15964E54D3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0050" y="5381625"/>
            <a:ext cx="1446213" cy="338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Effects are similar to the neutral environment</a:t>
            </a:r>
          </a:p>
        </p:txBody>
      </p:sp>
      <p:sp>
        <p:nvSpPr>
          <p:cNvPr id="107535" name="Text Box 15">
            <a:extLst>
              <a:ext uri="{FF2B5EF4-FFF2-40B4-BE49-F238E27FC236}">
                <a16:creationId xmlns:a16="http://schemas.microsoft.com/office/drawing/2014/main" id="{45577A33-FDC0-421A-8982-48F7229D10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08450" y="6224588"/>
            <a:ext cx="2366963" cy="473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900" i="1"/>
              <a:t>Outgassed materials ionized by solar UV are reattracted to the negatively charged spacecraft (particularly significant in GEO orbits)</a:t>
            </a:r>
          </a:p>
        </p:txBody>
      </p:sp>
      <p:sp>
        <p:nvSpPr>
          <p:cNvPr id="107536" name="Line 16">
            <a:extLst>
              <a:ext uri="{FF2B5EF4-FFF2-40B4-BE49-F238E27FC236}">
                <a16:creationId xmlns:a16="http://schemas.microsoft.com/office/drawing/2014/main" id="{385E3AD9-155F-4331-8964-222C5DEC88C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51313" y="5845175"/>
            <a:ext cx="838200" cy="382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7537" name="Oval 17">
            <a:extLst>
              <a:ext uri="{FF2B5EF4-FFF2-40B4-BE49-F238E27FC236}">
                <a16:creationId xmlns:a16="http://schemas.microsoft.com/office/drawing/2014/main" id="{A4CAF6F4-42C3-4065-9719-CECCDDCDC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9088" y="4579938"/>
            <a:ext cx="919162" cy="171450"/>
          </a:xfrm>
          <a:prstGeom prst="ellips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  <p:sp>
        <p:nvSpPr>
          <p:cNvPr id="107538" name="Oval 18">
            <a:extLst>
              <a:ext uri="{FF2B5EF4-FFF2-40B4-BE49-F238E27FC236}">
                <a16:creationId xmlns:a16="http://schemas.microsoft.com/office/drawing/2014/main" id="{7EBE9F30-8BB3-44E1-9CCA-CFBC7C7048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25" y="4811713"/>
            <a:ext cx="1150938" cy="169862"/>
          </a:xfrm>
          <a:prstGeom prst="ellips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latin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4463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2">
            <a:extLst>
              <a:ext uri="{FF2B5EF4-FFF2-40B4-BE49-F238E27FC236}">
                <a16:creationId xmlns:a16="http://schemas.microsoft.com/office/drawing/2014/main" id="{2AA27312-55A5-4D5F-9900-50F36A85AC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460375" y="2590800"/>
            <a:ext cx="6124575" cy="3446463"/>
          </a:xfrm>
          <a:ln/>
        </p:spPr>
      </p:sp>
      <p:sp>
        <p:nvSpPr>
          <p:cNvPr id="119812" name="Text Box 4">
            <a:extLst>
              <a:ext uri="{FF2B5EF4-FFF2-40B4-BE49-F238E27FC236}">
                <a16:creationId xmlns:a16="http://schemas.microsoft.com/office/drawing/2014/main" id="{5399FF19-803C-4A94-A63E-A093B138B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8188" y="1092200"/>
            <a:ext cx="2851150" cy="33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72494" tIns="36247" rIns="72494" bIns="36247">
            <a:spAutoFit/>
          </a:bodyPr>
          <a:lstStyle>
            <a:lvl1pPr defTabSz="725488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361950" defTabSz="725488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725488" defTabSz="725488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087438" defTabSz="725488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449388" defTabSz="725488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19065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3637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8209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278188" defTabSz="7254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defRPr/>
            </a:pPr>
            <a:r>
              <a:rPr lang="en-US" altLang="en-US" sz="900" i="1"/>
              <a:t>To summarize, here are the environmental effects you have to consider as you investigate spacecraft orbits</a:t>
            </a:r>
          </a:p>
        </p:txBody>
      </p:sp>
    </p:spTree>
    <p:extLst>
      <p:ext uri="{BB962C8B-B14F-4D97-AF65-F5344CB8AC3E}">
        <p14:creationId xmlns:p14="http://schemas.microsoft.com/office/powerpoint/2010/main" val="3145070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553CF-3753-4030-B956-0E17717FFA8A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286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916AB-E2CE-4F53-9A4E-2FBC689DE670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007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22EF1A-AA66-4B8F-8BD3-1CFEF4BAF018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9254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FFFF-B27D-42C0-8942-B1D7D407A10C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272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26D884-C82E-4F76-B303-A920A9522777}" type="datetime1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72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7E249-A449-44AB-95FB-8B2CAC08AF17}" type="datetime1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66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F8C6F-32A6-4D20-87C5-EC8EE6115D51}" type="datetime1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0301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69C19E-A33C-4CFB-9944-D9A62AD8258A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106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58399-CFD0-4FDB-84EC-CBF8080F49A9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087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FAB3A-94A8-416C-A72C-78EA7864A8CA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2788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325F2-1029-4032-926D-3E79E61F9142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609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B6D1-E356-4A33-BBD2-A8FC683A867D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24326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412EB-DAA5-4A4C-BC3E-ED7A0C4FEC6D}" type="datetime1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0023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28B22-4ADF-4D89-BD90-CE9C8E4CCFAE}" type="datetime1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538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2E7B1-1D42-4426-A172-3464B0125CD7}" type="datetime1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7495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A3ED9-03AD-425C-BFA7-71C22636FC11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144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10CF1-5857-4740-8E6E-5A3A3A9C71E7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134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046AF7F7-8276-44CF-B778-9475BB1EDC85}" type="datetime1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83C362F-97FB-4C1E-B0F0-C3069DD0C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590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.png"/><Relationship Id="rId7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20.png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w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1" name="Rectangle 15">
            <a:extLst>
              <a:ext uri="{FF2B5EF4-FFF2-40B4-BE49-F238E27FC236}">
                <a16:creationId xmlns:a16="http://schemas.microsoft.com/office/drawing/2014/main" id="{32B7A1C4-0D67-41EC-82EA-924449B77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3462" y="1085942"/>
            <a:ext cx="7610475" cy="12009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>
              <a:defRPr/>
            </a:pPr>
            <a:r>
              <a:rPr lang="en-US" altLang="en-US" sz="3600" dirty="0">
                <a:solidFill>
                  <a:schemeClr val="accent2"/>
                </a:solidFill>
                <a:latin typeface="Arial Black" charset="0"/>
              </a:rPr>
              <a:t>The Space Environment </a:t>
            </a:r>
            <a:br>
              <a:rPr lang="en-US" altLang="en-US" sz="3600" dirty="0">
                <a:solidFill>
                  <a:schemeClr val="accent2"/>
                </a:solidFill>
                <a:latin typeface="Arial Black" charset="0"/>
              </a:rPr>
            </a:br>
            <a:r>
              <a:rPr lang="en-US" altLang="en-US" sz="3600" dirty="0">
                <a:solidFill>
                  <a:schemeClr val="accent2"/>
                </a:solidFill>
                <a:latin typeface="Arial Black" charset="0"/>
              </a:rPr>
              <a:t>Lesson 4 – Plasma Part 2</a:t>
            </a:r>
            <a:endParaRPr lang="en-US" altLang="en-US" sz="2800" dirty="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4112" name="Rectangle 16">
            <a:extLst>
              <a:ext uri="{FF2B5EF4-FFF2-40B4-BE49-F238E27FC236}">
                <a16:creationId xmlns:a16="http://schemas.microsoft.com/office/drawing/2014/main" id="{A6A8C858-878A-4E23-854E-FE0671A74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1081088"/>
            <a:ext cx="7874000" cy="1636712"/>
          </a:xfrm>
          <a:prstGeom prst="rect">
            <a:avLst/>
          </a:prstGeom>
          <a:noFill/>
          <a:ln w="50800">
            <a:solidFill>
              <a:srgbClr val="CC0000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pPr algn="ctr">
              <a:defRPr/>
            </a:pPr>
            <a:endParaRPr lang="en-US" altLang="en-US">
              <a:solidFill>
                <a:schemeClr val="accent2"/>
              </a:solidFill>
              <a:latin typeface="Times New Roman" charset="0"/>
            </a:endParaRPr>
          </a:p>
        </p:txBody>
      </p:sp>
      <p:sp>
        <p:nvSpPr>
          <p:cNvPr id="4113" name="Rectangle 17">
            <a:extLst>
              <a:ext uri="{FF2B5EF4-FFF2-40B4-BE49-F238E27FC236}">
                <a16:creationId xmlns:a16="http://schemas.microsoft.com/office/drawing/2014/main" id="{10C628A5-F103-4E8B-9B3A-D5847D775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5166" y="3972014"/>
            <a:ext cx="3903924" cy="1185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285750" indent="-28575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628650" indent="-22860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97155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257300" indent="-17145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1543050" indent="-17145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000250" indent="-171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457450" indent="-171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371850" indent="-1714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marL="400050" lvl="1" indent="0" algn="ctr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en-US" sz="2000" dirty="0">
                <a:latin typeface="Arial" charset="0"/>
              </a:rPr>
              <a:t>The </a:t>
            </a:r>
            <a:r>
              <a:rPr lang="en-US" altLang="en-US" sz="2000" dirty="0">
                <a:solidFill>
                  <a:schemeClr val="accent2"/>
                </a:solidFill>
                <a:latin typeface="Arial" charset="0"/>
              </a:rPr>
              <a:t>plasma</a:t>
            </a:r>
            <a:r>
              <a:rPr lang="en-US" altLang="en-US" sz="2000" dirty="0">
                <a:latin typeface="Arial" charset="0"/>
              </a:rPr>
              <a:t> environment:</a:t>
            </a:r>
          </a:p>
          <a:p>
            <a:pPr marL="400050" lvl="1" indent="0" algn="ctr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en-US" sz="2000" dirty="0">
                <a:latin typeface="Arial" charset="0"/>
              </a:rPr>
              <a:t>Spacecraft Charging</a:t>
            </a:r>
          </a:p>
          <a:p>
            <a:pPr marL="57150" indent="0" algn="ctr">
              <a:lnSpc>
                <a:spcPct val="120000"/>
              </a:lnSpc>
              <a:spcBef>
                <a:spcPct val="20000"/>
              </a:spcBef>
              <a:defRPr/>
            </a:pPr>
            <a:endParaRPr lang="en-US" altLang="en-US" sz="2000" dirty="0">
              <a:solidFill>
                <a:schemeClr val="accent2"/>
              </a:solidFill>
              <a:latin typeface="Arial" charset="0"/>
            </a:endParaRPr>
          </a:p>
        </p:txBody>
      </p:sp>
      <p:sp>
        <p:nvSpPr>
          <p:cNvPr id="4114" name="Text Box 18">
            <a:extLst>
              <a:ext uri="{FF2B5EF4-FFF2-40B4-BE49-F238E27FC236}">
                <a16:creationId xmlns:a16="http://schemas.microsoft.com/office/drawing/2014/main" id="{CF21CB76-BE2F-4041-8580-36B68AC18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5956301"/>
            <a:ext cx="44958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17780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defRPr/>
            </a:pPr>
            <a:r>
              <a:rPr lang="en-US" altLang="en-US" sz="1000" dirty="0">
                <a:latin typeface="Arial" charset="0"/>
              </a:rPr>
              <a:t>Adapted from information in:</a:t>
            </a:r>
          </a:p>
          <a:p>
            <a:pPr lvl="1">
              <a:defRPr/>
            </a:pPr>
            <a:r>
              <a:rPr lang="en-US" altLang="en-US" sz="1000" dirty="0">
                <a:latin typeface="Arial" charset="0"/>
              </a:rPr>
              <a:t>The Space Environment (TSE), by Tribble</a:t>
            </a:r>
          </a:p>
          <a:p>
            <a:pPr lvl="1">
              <a:defRPr/>
            </a:pPr>
            <a:r>
              <a:rPr lang="en-US" altLang="en-US" sz="1000" dirty="0">
                <a:latin typeface="Arial" charset="0"/>
              </a:rPr>
              <a:t>Space Mission Analysis and Design (SMAD), Edited by Wertz and Larson</a:t>
            </a:r>
          </a:p>
        </p:txBody>
      </p:sp>
      <p:pic>
        <p:nvPicPr>
          <p:cNvPr id="7170" name="Picture 2" descr="https://cdn.theatlantic.com/assets/media/img/photo/2016/06/earth-from-above-expedition-47-aboa/e01_ISS047E133215/main_900.jpg?1465317882">
            <a:extLst>
              <a:ext uri="{FF2B5EF4-FFF2-40B4-BE49-F238E27FC236}">
                <a16:creationId xmlns:a16="http://schemas.microsoft.com/office/drawing/2014/main" id="{176D832F-5707-49F1-9858-1C5DE8230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400" y="3090864"/>
            <a:ext cx="5354832" cy="3563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350949-662E-4581-9650-9F6ABC33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40273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21B57E8-902A-4C03-97BD-A7A6B2AC05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19300" y="0"/>
            <a:ext cx="8483600" cy="7620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2400"/>
              <a:t>Impact of the Space Environment on Spacecraft Systems</a:t>
            </a:r>
          </a:p>
        </p:txBody>
      </p:sp>
      <p:graphicFrame>
        <p:nvGraphicFramePr>
          <p:cNvPr id="8198" name="Group 6">
            <a:extLst>
              <a:ext uri="{FF2B5EF4-FFF2-40B4-BE49-F238E27FC236}">
                <a16:creationId xmlns:a16="http://schemas.microsoft.com/office/drawing/2014/main" id="{49530EF0-FDCA-491E-8C4B-13CF6B56CDE0}"/>
              </a:ext>
            </a:extLst>
          </p:cNvPr>
          <p:cNvGraphicFramePr>
            <a:graphicFrameLocks noGrp="1"/>
          </p:cNvGraphicFramePr>
          <p:nvPr/>
        </p:nvGraphicFramePr>
        <p:xfrm>
          <a:off x="2565400" y="1308100"/>
          <a:ext cx="8051800" cy="368300"/>
        </p:xfrm>
        <a:graphic>
          <a:graphicData uri="http://schemas.openxmlformats.org/drawingml/2006/table">
            <a:tbl>
              <a:tblPr/>
              <a:tblGrid>
                <a:gridCol w="805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83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Space Environments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204" name="Group 12">
            <a:extLst>
              <a:ext uri="{FF2B5EF4-FFF2-40B4-BE49-F238E27FC236}">
                <a16:creationId xmlns:a16="http://schemas.microsoft.com/office/drawing/2014/main" id="{54669313-A1E6-4B94-B2BD-2C0670E5E4BE}"/>
              </a:ext>
            </a:extLst>
          </p:cNvPr>
          <p:cNvGraphicFramePr>
            <a:graphicFrameLocks noGrp="1"/>
          </p:cNvGraphicFramePr>
          <p:nvPr/>
        </p:nvGraphicFramePr>
        <p:xfrm>
          <a:off x="2565400" y="1676400"/>
          <a:ext cx="8051800" cy="304800"/>
        </p:xfrm>
        <a:graphic>
          <a:graphicData uri="http://schemas.openxmlformats.org/drawingml/2006/table">
            <a:tbl>
              <a:tblPr/>
              <a:tblGrid>
                <a:gridCol w="143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3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1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38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Vacuum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Neutral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Plasma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Radiation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MM/OD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406" name="Group 214">
            <a:extLst>
              <a:ext uri="{FF2B5EF4-FFF2-40B4-BE49-F238E27FC236}">
                <a16:creationId xmlns:a16="http://schemas.microsoft.com/office/drawing/2014/main" id="{164A7846-F587-4F91-91F6-31E02662EFB3}"/>
              </a:ext>
            </a:extLst>
          </p:cNvPr>
          <p:cNvGraphicFramePr>
            <a:graphicFrameLocks noGrp="1"/>
          </p:cNvGraphicFramePr>
          <p:nvPr/>
        </p:nvGraphicFramePr>
        <p:xfrm>
          <a:off x="1574800" y="1981200"/>
          <a:ext cx="9042400" cy="4019630"/>
        </p:xfrm>
        <a:graphic>
          <a:graphicData uri="http://schemas.openxmlformats.org/drawingml/2006/table">
            <a:tbl>
              <a:tblPr/>
              <a:tblGrid>
                <a:gridCol w="990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953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58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533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Spacecraft Subsystems</a:t>
                      </a:r>
                    </a:p>
                  </a:txBody>
                  <a:tcPr marL="18288" marR="18288" marT="18287" marB="182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Solar UV</a:t>
                      </a:r>
                    </a:p>
                  </a:txBody>
                  <a:tcPr marL="18288" marR="18288" marT="18287" marB="182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Outgassing/</a:t>
                      </a:r>
                      <a:b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Contamination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Aerodynamic Drag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Sputtering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Atomic Oxygen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Spacecraft Glow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Spacecraft Charging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Van Allen Belts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Galactic Cosmic Rays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Solar Proton Events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7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Impacts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37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Attitude Determination &amp; Control</a:t>
                      </a:r>
                    </a:p>
                  </a:txBody>
                  <a:tcPr marL="18288" marR="18288" marT="18287" marB="182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Degradation of sensors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Induced torques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Interference with sensors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Torques due to induced potentials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98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Avionics</a:t>
                      </a:r>
                    </a:p>
                  </a:txBody>
                  <a:tcPr marL="18288" marR="18288" marT="18287" marB="182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Upsets due to EMI from arcing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EMI due to impacts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14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Electrical Power</a:t>
                      </a:r>
                    </a:p>
                  </a:txBody>
                  <a:tcPr marL="18288" marR="18288" marT="18287" marB="182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Shift in floating potential, reattraction of contaminants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Destruction/</a:t>
                      </a:r>
                      <a:b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obscuration </a:t>
                      </a:r>
                      <a:b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</a:b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of solar cells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14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Propulsion</a:t>
                      </a:r>
                    </a:p>
                  </a:txBody>
                  <a:tcPr marL="18288" marR="18288" marT="18287" marB="182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Thruster plumes may be a contaminant source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Drag makeup fuel requirement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Shift in floating potential due to thruster firings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Rupture of pressurized tanks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8114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Structures</a:t>
                      </a:r>
                    </a:p>
                  </a:txBody>
                  <a:tcPr marL="18288" marR="18288" marT="18287" marB="182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Penetration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5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Telemetry, Tracking &amp; Communications</a:t>
                      </a:r>
                    </a:p>
                  </a:txBody>
                  <a:tcPr marL="18288" marR="18288" marT="18287" marB="182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Degradation of sensors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Interference with sensors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EMI due to arcing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EMI due to impacts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766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75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Thermal Control</a:t>
                      </a:r>
                    </a:p>
                  </a:txBody>
                  <a:tcPr marL="18288" marR="18288" marT="18287" marB="182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Reattraction of comtaminants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18288" marR="18288" marT="18287" marB="18287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200"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Degradation of alpha/epsilon</a:t>
                      </a:r>
                    </a:p>
                  </a:txBody>
                  <a:tcPr marL="18288" marR="18288" marT="18287" marB="1828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pSp>
        <p:nvGrpSpPr>
          <p:cNvPr id="8340" name="Group 202">
            <a:extLst>
              <a:ext uri="{FF2B5EF4-FFF2-40B4-BE49-F238E27FC236}">
                <a16:creationId xmlns:a16="http://schemas.microsoft.com/office/drawing/2014/main" id="{F9A4584C-06A3-429E-96E4-87241A38447E}"/>
              </a:ext>
            </a:extLst>
          </p:cNvPr>
          <p:cNvGrpSpPr>
            <a:grpSpLocks/>
          </p:cNvGrpSpPr>
          <p:nvPr/>
        </p:nvGrpSpPr>
        <p:grpSpPr bwMode="auto">
          <a:xfrm>
            <a:off x="2530475" y="2586039"/>
            <a:ext cx="7164388" cy="3317875"/>
            <a:chOff x="634" y="1629"/>
            <a:chExt cx="4513" cy="2090"/>
          </a:xfrm>
        </p:grpSpPr>
        <p:sp>
          <p:nvSpPr>
            <p:cNvPr id="8395" name="Text Box 203">
              <a:extLst>
                <a:ext uri="{FF2B5EF4-FFF2-40B4-BE49-F238E27FC236}">
                  <a16:creationId xmlns:a16="http://schemas.microsoft.com/office/drawing/2014/main" id="{08BAFD15-534E-498B-A3A7-34420FBD61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0" y="1629"/>
              <a:ext cx="72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en-US" sz="1000">
                  <a:latin typeface="Arial" charset="0"/>
                </a:rPr>
                <a:t>Change in sensor coatings</a:t>
              </a:r>
            </a:p>
          </p:txBody>
        </p:sp>
        <p:sp>
          <p:nvSpPr>
            <p:cNvPr id="8396" name="Text Box 204">
              <a:extLst>
                <a:ext uri="{FF2B5EF4-FFF2-40B4-BE49-F238E27FC236}">
                  <a16:creationId xmlns:a16="http://schemas.microsoft.com/office/drawing/2014/main" id="{26E4E614-DE64-4225-8213-079A61C44C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" y="2245"/>
              <a:ext cx="94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en-US" sz="1000">
                  <a:latin typeface="Arial" charset="0"/>
                </a:rPr>
                <a:t>Change in coverslide transmittance</a:t>
              </a:r>
            </a:p>
          </p:txBody>
        </p:sp>
        <p:sp>
          <p:nvSpPr>
            <p:cNvPr id="8397" name="Text Box 205">
              <a:extLst>
                <a:ext uri="{FF2B5EF4-FFF2-40B4-BE49-F238E27FC236}">
                  <a16:creationId xmlns:a16="http://schemas.microsoft.com/office/drawing/2014/main" id="{639DEF82-250A-4310-919C-CA5E64794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4" y="2237"/>
              <a:ext cx="94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en-US" sz="1000">
                  <a:latin typeface="Arial" charset="0"/>
                </a:rPr>
                <a:t>Change in coverslide transmittance</a:t>
              </a:r>
            </a:p>
          </p:txBody>
        </p:sp>
        <p:sp>
          <p:nvSpPr>
            <p:cNvPr id="8398" name="Text Box 206">
              <a:extLst>
                <a:ext uri="{FF2B5EF4-FFF2-40B4-BE49-F238E27FC236}">
                  <a16:creationId xmlns:a16="http://schemas.microsoft.com/office/drawing/2014/main" id="{F4741016-A9C6-4531-AC30-4DA5B1AD37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2237"/>
              <a:ext cx="94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en-US" sz="1000">
                  <a:latin typeface="Arial" charset="0"/>
                </a:rPr>
                <a:t>Degradation of solar cell output</a:t>
              </a:r>
            </a:p>
          </p:txBody>
        </p:sp>
        <p:sp>
          <p:nvSpPr>
            <p:cNvPr id="8399" name="Text Box 207">
              <a:extLst>
                <a:ext uri="{FF2B5EF4-FFF2-40B4-BE49-F238E27FC236}">
                  <a16:creationId xmlns:a16="http://schemas.microsoft.com/office/drawing/2014/main" id="{3010EF75-8B73-40E3-91C0-51B2EA12BB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1917"/>
              <a:ext cx="94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en-US" sz="1000">
                  <a:latin typeface="Arial" charset="0"/>
                </a:rPr>
                <a:t>Degradation:  SEUs, bit errors, …</a:t>
              </a:r>
            </a:p>
          </p:txBody>
        </p:sp>
        <p:sp>
          <p:nvSpPr>
            <p:cNvPr id="8400" name="Text Box 208">
              <a:extLst>
                <a:ext uri="{FF2B5EF4-FFF2-40B4-BE49-F238E27FC236}">
                  <a16:creationId xmlns:a16="http://schemas.microsoft.com/office/drawing/2014/main" id="{FE2EF1F1-652C-42E5-8765-E205D5A83D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2" y="3173"/>
              <a:ext cx="729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en-US" sz="1000">
                  <a:latin typeface="Arial" charset="0"/>
                </a:rPr>
                <a:t>Change in sensor coatings</a:t>
              </a:r>
            </a:p>
          </p:txBody>
        </p:sp>
        <p:sp>
          <p:nvSpPr>
            <p:cNvPr id="8401" name="Text Box 209">
              <a:extLst>
                <a:ext uri="{FF2B5EF4-FFF2-40B4-BE49-F238E27FC236}">
                  <a16:creationId xmlns:a16="http://schemas.microsoft.com/office/drawing/2014/main" id="{6F941F3D-4E36-4E05-823A-F68E25BCD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3173"/>
              <a:ext cx="94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en-US" sz="1000">
                  <a:latin typeface="Arial" charset="0"/>
                </a:rPr>
                <a:t>Degradation of electronics</a:t>
              </a:r>
            </a:p>
          </p:txBody>
        </p:sp>
        <p:sp>
          <p:nvSpPr>
            <p:cNvPr id="8402" name="Text Box 210">
              <a:extLst>
                <a:ext uri="{FF2B5EF4-FFF2-40B4-BE49-F238E27FC236}">
                  <a16:creationId xmlns:a16="http://schemas.microsoft.com/office/drawing/2014/main" id="{B10C158C-D535-465F-921A-A51B7254CE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" y="3469"/>
              <a:ext cx="94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en-US" sz="1000">
                  <a:latin typeface="Arial" charset="0"/>
                </a:rPr>
                <a:t>Change in surface alpha/epsilon ratio</a:t>
              </a:r>
            </a:p>
          </p:txBody>
        </p:sp>
        <p:sp>
          <p:nvSpPr>
            <p:cNvPr id="8403" name="Text Box 211">
              <a:extLst>
                <a:ext uri="{FF2B5EF4-FFF2-40B4-BE49-F238E27FC236}">
                  <a16:creationId xmlns:a16="http://schemas.microsoft.com/office/drawing/2014/main" id="{E22870DD-8BE7-49E8-9327-26236FD2C3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4" y="3469"/>
              <a:ext cx="94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en-US" sz="1000">
                  <a:latin typeface="Arial" charset="0"/>
                </a:rPr>
                <a:t>Change in surface alpha/epsilon ratio</a:t>
              </a:r>
            </a:p>
          </p:txBody>
        </p:sp>
        <p:sp>
          <p:nvSpPr>
            <p:cNvPr id="8404" name="Text Box 212">
              <a:extLst>
                <a:ext uri="{FF2B5EF4-FFF2-40B4-BE49-F238E27FC236}">
                  <a16:creationId xmlns:a16="http://schemas.microsoft.com/office/drawing/2014/main" id="{49FC661D-D6B6-4F8A-A0A5-3E6DB1639B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3469"/>
              <a:ext cx="94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en-US" altLang="en-US" sz="1000">
                  <a:latin typeface="Arial" charset="0"/>
                </a:rPr>
                <a:t>Cold surfaces may experience heating</a:t>
              </a:r>
            </a:p>
          </p:txBody>
        </p:sp>
      </p:grpSp>
      <p:sp>
        <p:nvSpPr>
          <p:cNvPr id="8405" name="Rectangle 213">
            <a:extLst>
              <a:ext uri="{FF2B5EF4-FFF2-40B4-BE49-F238E27FC236}">
                <a16:creationId xmlns:a16="http://schemas.microsoft.com/office/drawing/2014/main" id="{311AA753-1161-43D0-9AF8-A52DC424F8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42488" y="6253164"/>
            <a:ext cx="925512" cy="24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altLang="en-US" sz="1000">
                <a:latin typeface="Arial" charset="0"/>
              </a:rPr>
              <a:t>TSE, Fig 7.1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06F7035-5831-46D1-8F51-4D6752CAE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23007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4">
            <a:extLst>
              <a:ext uri="{FF2B5EF4-FFF2-40B4-BE49-F238E27FC236}">
                <a16:creationId xmlns:a16="http://schemas.microsoft.com/office/drawing/2014/main" id="{FC7BE635-EE15-4976-AFF3-E41FE830E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66911" y="1106762"/>
            <a:ext cx="8547100" cy="762000"/>
          </a:xfrm>
        </p:spPr>
        <p:txBody>
          <a:bodyPr/>
          <a:lstStyle/>
          <a:p>
            <a:pPr>
              <a:defRPr/>
            </a:pPr>
            <a:r>
              <a:rPr lang="en-US" altLang="en-US" sz="2600" dirty="0"/>
              <a:t>The Plasma Environment and Potential Effects</a:t>
            </a:r>
          </a:p>
        </p:txBody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7834E1E3-BE43-4A3C-872B-1C232E7ACA2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725611" y="1868762"/>
            <a:ext cx="8788400" cy="5799137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1800" dirty="0"/>
              <a:t>Charged particles – electrons and ions with energies between 5 and 50 </a:t>
            </a:r>
            <a:r>
              <a:rPr lang="en-US" altLang="en-US" sz="1800" dirty="0" err="1"/>
              <a:t>keV</a:t>
            </a:r>
            <a:endParaRPr lang="en-US" altLang="en-US" sz="1800" dirty="0"/>
          </a:p>
          <a:p>
            <a:pPr lvl="1">
              <a:spcBef>
                <a:spcPct val="15000"/>
              </a:spcBef>
              <a:defRPr/>
            </a:pPr>
            <a:r>
              <a:rPr lang="en-US" altLang="en-US" sz="1600" dirty="0"/>
              <a:t>Magnetic storms that dissipate stored magnetic energy in the Earth’s magnetotail are the primary source of this energized plasma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7D4545-D910-4580-8990-593CE1CD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677174-1E1F-4792-A6D8-B7BC32DA6B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619" y="2971482"/>
            <a:ext cx="5752381" cy="4095238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4C78917F-3791-4E57-958D-1E2CF6E08E16}"/>
              </a:ext>
            </a:extLst>
          </p:cNvPr>
          <p:cNvSpPr txBox="1">
            <a:spLocks noChangeArrowheads="1"/>
          </p:cNvSpPr>
          <p:nvPr/>
        </p:nvSpPr>
        <p:spPr>
          <a:xfrm>
            <a:off x="47622" y="3348831"/>
            <a:ext cx="5895978" cy="57991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40000"/>
              </a:spcBef>
              <a:defRPr/>
            </a:pPr>
            <a:r>
              <a:rPr lang="en-US" altLang="en-US" sz="1800" dirty="0"/>
              <a:t>A high-velocity spacecraft moving through the plasma causes charging of the spacecraft’s surfaces to high potentials</a:t>
            </a:r>
          </a:p>
          <a:p>
            <a:pPr lvl="1">
              <a:spcBef>
                <a:spcPct val="15000"/>
              </a:spcBef>
              <a:defRPr/>
            </a:pPr>
            <a:r>
              <a:rPr lang="en-US" altLang="en-US" sz="1600" dirty="0"/>
              <a:t>In </a:t>
            </a:r>
            <a:r>
              <a:rPr lang="en-US" altLang="en-US" sz="1600" dirty="0">
                <a:solidFill>
                  <a:srgbClr val="FF0000"/>
                </a:solidFill>
              </a:rPr>
              <a:t>LEO</a:t>
            </a:r>
            <a:r>
              <a:rPr lang="en-US" altLang="en-US" sz="1600" dirty="0"/>
              <a:t>, the differential charging that can be detrimental to vehicle operation occurs only at </a:t>
            </a:r>
            <a:r>
              <a:rPr lang="en-US" altLang="en-US" sz="1600" dirty="0">
                <a:solidFill>
                  <a:srgbClr val="FF0000"/>
                </a:solidFill>
              </a:rPr>
              <a:t>high latitudes</a:t>
            </a:r>
          </a:p>
          <a:p>
            <a:pPr lvl="1">
              <a:spcBef>
                <a:spcPct val="15000"/>
              </a:spcBef>
              <a:defRPr/>
            </a:pPr>
            <a:r>
              <a:rPr lang="en-US" altLang="en-US" sz="1600" dirty="0"/>
              <a:t>In </a:t>
            </a:r>
            <a:r>
              <a:rPr lang="en-US" altLang="en-US" sz="1600" dirty="0">
                <a:solidFill>
                  <a:srgbClr val="FF0000"/>
                </a:solidFill>
              </a:rPr>
              <a:t>GEO</a:t>
            </a:r>
            <a:r>
              <a:rPr lang="en-US" altLang="en-US" sz="1600" dirty="0"/>
              <a:t>, surface charging occurs during magnetic </a:t>
            </a:r>
            <a:r>
              <a:rPr lang="en-US" altLang="en-US" sz="1600" dirty="0" err="1"/>
              <a:t>substorms</a:t>
            </a:r>
            <a:r>
              <a:rPr lang="en-US" altLang="en-US" sz="1600" dirty="0"/>
              <a:t> </a:t>
            </a:r>
            <a:r>
              <a:rPr lang="en-US" altLang="en-US" sz="1600" dirty="0">
                <a:solidFill>
                  <a:srgbClr val="FF0000"/>
                </a:solidFill>
              </a:rPr>
              <a:t>between longitudes corresponding to midnight and dawn</a:t>
            </a:r>
          </a:p>
        </p:txBody>
      </p:sp>
    </p:spTree>
    <p:extLst>
      <p:ext uri="{BB962C8B-B14F-4D97-AF65-F5344CB8AC3E}">
        <p14:creationId xmlns:p14="http://schemas.microsoft.com/office/powerpoint/2010/main" val="866434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8EC41B9-2D25-48A6-BC40-DA8F79F3EB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4F6B1E8-1E7A-46F9-817D-8486FC8B96F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4"/>
          <a:stretch>
            <a:fillRect/>
          </a:stretch>
        </p:blipFill>
        <p:spPr>
          <a:xfrm>
            <a:off x="2605452" y="957486"/>
            <a:ext cx="7027442" cy="3285330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F8F21547-A433-450A-B2A3-930DCFABD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324"/>
          <a:stretch/>
        </p:blipFill>
        <p:spPr>
          <a:xfrm>
            <a:off x="0" y="0"/>
            <a:ext cx="349623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6951B3-67A6-47B1-BEC0-606208621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866" y="4979698"/>
            <a:ext cx="10916365" cy="113755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800" dirty="0"/>
              <a:t>Spacecraft charging</a:t>
            </a:r>
            <a:br>
              <a:rPr lang="en-US" sz="4800" dirty="0"/>
            </a:br>
            <a:r>
              <a:rPr lang="en-US" sz="4800" dirty="0"/>
              <a:t>ionosphere plasma characteristics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73B520B-D7E7-436A-B263-0682940B4F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810" r="21258"/>
          <a:stretch/>
        </p:blipFill>
        <p:spPr>
          <a:xfrm>
            <a:off x="0" y="4238951"/>
            <a:ext cx="9600237" cy="261904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00D6F4-09FA-43CF-B7F1-7AD475DE2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54825"/>
            <a:ext cx="7642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83C362F-97FB-4C1E-B0F0-C3069DD0CDD1}" type="slidenum">
              <a:rPr lang="en-US" smtClean="0"/>
              <a:pPr defTabSz="914400"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8322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FC3DD-AB2E-411B-BEE9-F1DA591F9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Mean or average speed of electrons and protons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02C42-D72B-4FC1-90D1-247A453ABF62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234324" y="4075242"/>
                <a:ext cx="10363826" cy="3424107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𝑚𝑒𝑎𝑛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 </m:t>
                    </m:r>
                    <m:rad>
                      <m:radPr>
                        <m:deg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8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den>
                        </m:f>
                      </m:e>
                    </m:rad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Where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𝐵𝑜𝑙𝑡𝑧𝑚𝑎𝑛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𝐶𝑜𝑛𝑠𝑡𝑎𝑛𝑡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=1.3806452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−23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2000" b="0" dirty="0"/>
              </a:p>
              <a:p>
                <a:pPr marL="0" indent="0">
                  <a:buNone/>
                </a:pPr>
                <a:r>
                  <a:rPr lang="en-US" dirty="0"/>
                  <a:t>T = Temperature (k)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000" b="0" dirty="0"/>
                  <a:t> = particle mass (kg)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702C42-D72B-4FC1-90D1-247A453ABF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234324" y="4075242"/>
                <a:ext cx="10363826" cy="3424107"/>
              </a:xfrm>
              <a:blipFill>
                <a:blip r:embed="rId2"/>
                <a:stretch>
                  <a:fillRect l="-5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DD6FB-816A-4F25-880C-4190AD085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5</a:t>
            </a:fld>
            <a:endParaRPr lang="en-US"/>
          </a:p>
        </p:txBody>
      </p:sp>
      <p:pic>
        <p:nvPicPr>
          <p:cNvPr id="3074" name="Picture 2" descr="See the source image">
            <a:extLst>
              <a:ext uri="{FF2B5EF4-FFF2-40B4-BE49-F238E27FC236}">
                <a16:creationId xmlns:a16="http://schemas.microsoft.com/office/drawing/2014/main" id="{E8DF39FE-DD45-41F7-8A94-E0E5C4EE68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0432" y="1957348"/>
            <a:ext cx="4473566" cy="4473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801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9AE6F-093A-4FDB-A702-5FF301CB0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711" y="63769"/>
            <a:ext cx="10364451" cy="1596177"/>
          </a:xfrm>
        </p:spPr>
        <p:txBody>
          <a:bodyPr/>
          <a:lstStyle/>
          <a:p>
            <a:r>
              <a:rPr lang="en-US" dirty="0"/>
              <a:t>Floating potential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94D0-9764-470F-99E4-B78D37307891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0" y="2566560"/>
                <a:ext cx="6627744" cy="3424107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Where: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𝑓𝑙</m:t>
                        </m:r>
                      </m:sub>
                    </m:sSub>
                  </m:oMath>
                </a14:m>
                <a:r>
                  <a:rPr lang="en-US" dirty="0"/>
                  <a:t> = floating potential (volts)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𝐵𝑜𝑙𝑡𝑧𝑚𝑎𝑛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𝐶𝑜𝑛𝑠𝑡𝑎𝑛𝑡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=1.3806452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−23</m:t>
                          </m:r>
                        </m:sup>
                      </m:s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US" sz="2000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= charge (electron = 1.6 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−19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8094D0-9764-470F-99E4-B78D373078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0" y="2566560"/>
                <a:ext cx="6627744" cy="3424107"/>
              </a:xfrm>
              <a:blipFill>
                <a:blip r:embed="rId2"/>
                <a:stretch>
                  <a:fillRect l="-9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3CEE8-8B0E-4977-B70F-6FBF36F8F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E1CDCF-A515-4F5C-B788-1777C87B5915}"/>
                  </a:ext>
                </a:extLst>
              </p:cNvPr>
              <p:cNvSpPr txBox="1"/>
              <p:nvPr/>
            </p:nvSpPr>
            <p:spPr>
              <a:xfrm>
                <a:off x="4052745" y="1478795"/>
                <a:ext cx="3323597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𝑡h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E1CDCF-A515-4F5C-B788-1777C87B59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745" y="1478795"/>
                <a:ext cx="3323597" cy="7146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C78ED21-FD10-4797-A369-41FF6B19077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0" y="4278613"/>
                <a:ext cx="5835650" cy="34241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20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8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6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Clr>
                    <a:schemeClr val="tx1"/>
                  </a:buClr>
                  <a:buFont typeface="Arial" panose="020B0604020202020204" pitchFamily="34" charset="0"/>
                  <a:buChar char="•"/>
                  <a:defRPr sz="1400" kern="1200" cap="all" baseline="0">
                    <a:solidFill>
                      <a:schemeClr val="tx1"/>
                    </a:solidFill>
                    <a:effectLst/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2000" b="0" dirty="0"/>
                  <a:t> = orbital speed (km/s)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= area of spacecraft collecting ions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𝑡h</m:t>
                        </m:r>
                      </m:sub>
                    </m:sSub>
                  </m:oMath>
                </a14:m>
                <a:r>
                  <a:rPr lang="en-US" dirty="0">
                    <a:latin typeface="Cambria Math" panose="02040503050406030204" pitchFamily="18" charset="0"/>
                  </a:rPr>
                  <a:t>= electron thermal speed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/>
                  <a:t> = area of spacecraft collecting electrons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Font typeface="Arial" panose="020B0604020202020204" pitchFamily="34" charset="0"/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CC78ED21-FD10-4797-A369-41FF6B1907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278613"/>
                <a:ext cx="5835650" cy="342410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C2CDFC57-4941-4725-8EEB-B9BFB9B7F5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4712" y="2634876"/>
            <a:ext cx="5957288" cy="3851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537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E0C67-AE7C-4375-A13E-0A03836D5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375" y="-372083"/>
            <a:ext cx="10364451" cy="1596177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5EF46-77D5-464B-B63B-51DF2045F4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843092"/>
            <a:ext cx="10363826" cy="3424107"/>
          </a:xfrm>
        </p:spPr>
        <p:txBody>
          <a:bodyPr/>
          <a:lstStyle/>
          <a:p>
            <a:r>
              <a:rPr lang="en-US" dirty="0"/>
              <a:t>Calculate the approximate floating potential for a spherical conducting object in a 300 km circular orbit under average solar cycle conditions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82C8B-5A29-4078-B7B5-4A09550FB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AEFD4B-B714-00AC-2441-4B782231447E}"/>
                  </a:ext>
                </a:extLst>
              </p:cNvPr>
              <p:cNvSpPr txBox="1"/>
              <p:nvPr/>
            </p:nvSpPr>
            <p:spPr>
              <a:xfrm>
                <a:off x="3652402" y="1924050"/>
                <a:ext cx="3323597" cy="7146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𝑙𝑛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𝑡h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9AEFD4B-B714-00AC-2441-4B78223144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2402" y="1924050"/>
                <a:ext cx="3323597" cy="71468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9161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7E2BA2D5-46A3-46C0-98C9-A072D543B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3573895B-DA42-4260-AE1E-182BA4123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25072193-FF75-4FA2-BF7A-4DB45B6AEB7D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522" y="413085"/>
            <a:ext cx="6002432" cy="4006623"/>
          </a:xfrm>
          <a:prstGeom prst="roundRect">
            <a:avLst>
              <a:gd name="adj" fmla="val 530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8D58E8-0C2B-4AC7-A4E3-F6F7FED4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382" y="201710"/>
            <a:ext cx="3707844" cy="16818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Biased object?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7DD76-4D10-4665-B1E8-88B1993E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26478"/>
            <a:ext cx="7642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83C362F-97FB-4C1E-B0F0-C3069DD0CDD1}" type="slidenum">
              <a:rPr lang="en-US" smtClean="0"/>
              <a:pPr defTabSz="914400">
                <a:spcAft>
                  <a:spcPts val="600"/>
                </a:spcAft>
              </a:pPr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7D4D24-AAA7-4BBF-83AC-672942A61992}"/>
                  </a:ext>
                </a:extLst>
              </p:cNvPr>
              <p:cNvSpPr txBox="1"/>
              <p:nvPr/>
            </p:nvSpPr>
            <p:spPr>
              <a:xfrm>
                <a:off x="7258929" y="3496069"/>
                <a:ext cx="4562807" cy="25975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h𝑒𝑟𝑒</m:t>
                      </m:r>
                    </m:oMath>
                  </m:oMathPara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 = current density /m-3</a:t>
                </a:r>
              </a:p>
              <a:p>
                <a:r>
                  <a:rPr lang="en-US" b="0" i="1" dirty="0">
                    <a:latin typeface="Cambria Math" panose="02040503050406030204" pitchFamily="18" charset="0"/>
                  </a:rPr>
                  <a:t>V </a:t>
                </a:r>
                <a:r>
                  <a:rPr lang="en-US" b="0">
                    <a:latin typeface="Cambria Math" panose="02040503050406030204" pitchFamily="18" charset="0"/>
                  </a:rPr>
                  <a:t>= bias </a:t>
                </a:r>
                <a:r>
                  <a:rPr lang="en-US" b="0" dirty="0">
                    <a:latin typeface="Cambria Math" panose="02040503050406030204" pitchFamily="18" charset="0"/>
                  </a:rPr>
                  <a:t>voltage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= charge (C)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𝐵𝑜𝑙𝑡𝑧𝑚𝑎𝑛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𝐶𝑜𝑛𝑠𝑡𝑎𝑛𝑡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r>
                  <a:rPr lang="en-US" sz="1800" b="0" dirty="0"/>
                  <a:t>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   =1.3806452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−23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8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/>
                  <a:t> = electron temperature (K)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7D4D24-AAA7-4BBF-83AC-672942A61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929" y="3496069"/>
                <a:ext cx="4562807" cy="2597506"/>
              </a:xfrm>
              <a:prstGeom prst="rect">
                <a:avLst/>
              </a:prstGeom>
              <a:blipFill>
                <a:blip r:embed="rId5"/>
                <a:stretch>
                  <a:fillRect l="-1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628DB2-5162-418D-9A2D-280D5A05637A}"/>
                  </a:ext>
                </a:extLst>
              </p:cNvPr>
              <p:cNvSpPr txBox="1"/>
              <p:nvPr/>
            </p:nvSpPr>
            <p:spPr>
              <a:xfrm>
                <a:off x="7734644" y="1813974"/>
                <a:ext cx="4087091" cy="554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𝑒𝑉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dirty="0"/>
                  <a:t> for V&lt;0 (repelled)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628DB2-5162-418D-9A2D-280D5A056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644" y="1813974"/>
                <a:ext cx="4087091" cy="554447"/>
              </a:xfrm>
              <a:prstGeom prst="rect">
                <a:avLst/>
              </a:prstGeom>
              <a:blipFill>
                <a:blip r:embed="rId6"/>
                <a:stretch>
                  <a:fillRect b="-1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9DB1FC8-EC04-4FEF-96B8-0B39217D1CFF}"/>
              </a:ext>
            </a:extLst>
          </p:cNvPr>
          <p:cNvSpPr txBox="1"/>
          <p:nvPr/>
        </p:nvSpPr>
        <p:spPr>
          <a:xfrm>
            <a:off x="7922672" y="1403392"/>
            <a:ext cx="3854639" cy="480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234E3D-EC45-4DD5-BFCD-86325FCFD917}"/>
                  </a:ext>
                </a:extLst>
              </p:cNvPr>
              <p:cNvSpPr txBox="1"/>
              <p:nvPr/>
            </p:nvSpPr>
            <p:spPr>
              <a:xfrm>
                <a:off x="7734643" y="2416397"/>
                <a:ext cx="4087091" cy="585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𝑒𝑉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dirty="0"/>
                  <a:t> for V&gt;0 (attracted)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234E3D-EC45-4DD5-BFCD-86325FCFD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643" y="2416397"/>
                <a:ext cx="4087091" cy="585288"/>
              </a:xfrm>
              <a:prstGeom prst="rect">
                <a:avLst/>
              </a:prstGeom>
              <a:blipFill>
                <a:blip r:embed="rId7"/>
                <a:stretch>
                  <a:fillRect r="-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D2C5F2-3AFE-4F45-AFFB-0942FBDCF55D}"/>
                  </a:ext>
                </a:extLst>
              </p:cNvPr>
              <p:cNvSpPr txBox="1"/>
              <p:nvPr/>
            </p:nvSpPr>
            <p:spPr>
              <a:xfrm>
                <a:off x="1115794" y="4589855"/>
                <a:ext cx="4087091" cy="1441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𝑚𝑒𝑎𝑛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/>
                  <a:t>=electron number density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/>
                  <a:t>= electron speed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D2C5F2-3AFE-4F45-AFFB-0942FBDCF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794" y="4589855"/>
                <a:ext cx="4087091" cy="1441933"/>
              </a:xfrm>
              <a:prstGeom prst="rect">
                <a:avLst/>
              </a:prstGeom>
              <a:blipFill>
                <a:blip r:embed="rId8"/>
                <a:stretch>
                  <a:fillRect l="-1194" b="-6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9278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7E2BA2D5-46A3-46C0-98C9-A072D543B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3573895B-DA42-4260-AE1E-182BA4123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6" name="Picture 2" descr="See the source image">
            <a:extLst>
              <a:ext uri="{FF2B5EF4-FFF2-40B4-BE49-F238E27FC236}">
                <a16:creationId xmlns:a16="http://schemas.microsoft.com/office/drawing/2014/main" id="{25072193-FF75-4FA2-BF7A-4DB45B6AEB7D}"/>
              </a:ext>
            </a:extLst>
          </p:cNvPr>
          <p:cNvPicPr>
            <a:picLocks noGrp="1" noChangeAspect="1" noChangeArrowheads="1"/>
          </p:cNvPicPr>
          <p:nvPr>
            <p:ph sz="quarter" idx="13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72522" y="413085"/>
            <a:ext cx="6002432" cy="4006623"/>
          </a:xfrm>
          <a:prstGeom prst="roundRect">
            <a:avLst>
              <a:gd name="adj" fmla="val 530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48D58E8-0C2B-4AC7-A4E3-F6F7FED4B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382" y="201710"/>
            <a:ext cx="3707844" cy="168180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Biased object?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7DD76-4D10-4665-B1E8-88B1993E5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26478"/>
            <a:ext cx="7642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83C362F-97FB-4C1E-B0F0-C3069DD0CDD1}" type="slidenum">
              <a:rPr lang="en-US" smtClean="0"/>
              <a:pPr defTabSz="914400">
                <a:spcAft>
                  <a:spcPts val="600"/>
                </a:spcAft>
              </a:pPr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7D4D24-AAA7-4BBF-83AC-672942A61992}"/>
                  </a:ext>
                </a:extLst>
              </p:cNvPr>
              <p:cNvSpPr txBox="1"/>
              <p:nvPr/>
            </p:nvSpPr>
            <p:spPr>
              <a:xfrm>
                <a:off x="7258929" y="3496069"/>
                <a:ext cx="4562807" cy="26521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h𝑒𝑟𝑒</m:t>
                      </m:r>
                    </m:oMath>
                  </m:oMathPara>
                </a14:m>
                <a:endParaRPr lang="en-US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 = current density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b="0" i="1" dirty="0">
                    <a:latin typeface="Cambria Math" panose="02040503050406030204" pitchFamily="18" charset="0"/>
                  </a:rPr>
                  <a:t>V </a:t>
                </a:r>
                <a:r>
                  <a:rPr lang="en-US" b="0" dirty="0">
                    <a:latin typeface="Cambria Math" panose="02040503050406030204" pitchFamily="18" charset="0"/>
                  </a:rPr>
                  <a:t>= value of  bias voltage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dirty="0"/>
                  <a:t> = charge (C)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𝐵𝑜𝑙𝑡𝑧𝑚𝑎𝑛</m:t>
                      </m:r>
                      <m:sSup>
                        <m:sSup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𝐶𝑜𝑛𝑠𝑡𝑎𝑛𝑡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800" b="0" i="1" dirty="0">
                  <a:latin typeface="Cambria Math" panose="02040503050406030204" pitchFamily="18" charset="0"/>
                </a:endParaRPr>
              </a:p>
              <a:p>
                <a:r>
                  <a:rPr lang="en-US" sz="1800" b="0" dirty="0"/>
                  <a:t> 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   =1.3806452 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−23</m:t>
                        </m:r>
                      </m:sup>
                    </m:sSup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endParaRPr lang="en-US" sz="18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= ion temperature (K)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47D4D24-AAA7-4BBF-83AC-672942A619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8929" y="3496069"/>
                <a:ext cx="4562807" cy="2652136"/>
              </a:xfrm>
              <a:prstGeom prst="rect">
                <a:avLst/>
              </a:prstGeom>
              <a:blipFill>
                <a:blip r:embed="rId5"/>
                <a:stretch>
                  <a:fillRect l="-12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628DB2-5162-418D-9A2D-280D5A05637A}"/>
                  </a:ext>
                </a:extLst>
              </p:cNvPr>
              <p:cNvSpPr txBox="1"/>
              <p:nvPr/>
            </p:nvSpPr>
            <p:spPr>
              <a:xfrm>
                <a:off x="7734644" y="1813974"/>
                <a:ext cx="4087091" cy="5544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𝑒𝑉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sup>
                    </m:sSup>
                  </m:oMath>
                </a14:m>
                <a:r>
                  <a:rPr lang="en-US" dirty="0"/>
                  <a:t> for V&gt;0 (repelled)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5628DB2-5162-418D-9A2D-280D5A0563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644" y="1813974"/>
                <a:ext cx="4087091" cy="554447"/>
              </a:xfrm>
              <a:prstGeom prst="rect">
                <a:avLst/>
              </a:prstGeom>
              <a:blipFill>
                <a:blip r:embed="rId6"/>
                <a:stretch>
                  <a:fillRect b="-131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C9DB1FC8-EC04-4FEF-96B8-0B39217D1CFF}"/>
              </a:ext>
            </a:extLst>
          </p:cNvPr>
          <p:cNvSpPr txBox="1"/>
          <p:nvPr/>
        </p:nvSpPr>
        <p:spPr>
          <a:xfrm>
            <a:off x="7922672" y="1403392"/>
            <a:ext cx="3854639" cy="480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234E3D-EC45-4DD5-BFCD-86325FCFD917}"/>
                  </a:ext>
                </a:extLst>
              </p:cNvPr>
              <p:cNvSpPr txBox="1"/>
              <p:nvPr/>
            </p:nvSpPr>
            <p:spPr>
              <a:xfrm>
                <a:off x="7734643" y="2416397"/>
                <a:ext cx="4087091" cy="585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1+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𝑒𝑉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lang="en-US" dirty="0"/>
                  <a:t> for V&lt;0 (attracted)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234E3D-EC45-4DD5-BFCD-86325FCFD9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4643" y="2416397"/>
                <a:ext cx="4087091" cy="5852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D2C5F2-3AFE-4F45-AFFB-0942FBDCF55D}"/>
                  </a:ext>
                </a:extLst>
              </p:cNvPr>
              <p:cNvSpPr txBox="1"/>
              <p:nvPr/>
            </p:nvSpPr>
            <p:spPr>
              <a:xfrm>
                <a:off x="1115794" y="4589855"/>
                <a:ext cx="4087091" cy="14419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𝑚𝑒𝑎𝑛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/>
                  <a:t>= ion number density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</m:oMath>
                </a14:m>
                <a:r>
                  <a:rPr lang="en-US" dirty="0"/>
                  <a:t>= ion speed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5D2C5F2-3AFE-4F45-AFFB-0942FBDCF5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5794" y="4589855"/>
                <a:ext cx="4087091" cy="1441933"/>
              </a:xfrm>
              <a:prstGeom prst="rect">
                <a:avLst/>
              </a:prstGeom>
              <a:blipFill>
                <a:blip r:embed="rId8"/>
                <a:stretch>
                  <a:fillRect l="-1194" b="-63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62673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8FE65CB-EFD8-497D-A30A-093E20EACB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265C2A-0A58-43AD-A406-8F4478E28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707D54-7088-45EB-9449-9428191E3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6408" y="150810"/>
            <a:ext cx="3352128" cy="1573863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CHARGING TERMINOLOGY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9CD0EF-D94E-4521-9225-D609339E2C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36" y="1724673"/>
            <a:ext cx="7260732" cy="377558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BE3E0B-C36D-4421-A9C3-3BA1102CF7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96408" y="1944528"/>
            <a:ext cx="3352128" cy="388130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 dirty="0"/>
              <a:t>ABSOLUTE – SPACECRAFT AS A WHOLE ACCUMULATES A NET CHARGE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DIFFERENTIAL – DIFFERENT PORTIONS OF SPACECRAFT CHARGE TO DIFFERENT POTENTIALS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INTERNAL – HIGH ENERGY PARTICLES &gt; 100 KEV</a:t>
            </a:r>
          </a:p>
          <a:p>
            <a:pPr>
              <a:lnSpc>
                <a:spcPct val="110000"/>
              </a:lnSpc>
            </a:pPr>
            <a:r>
              <a:rPr lang="en-US" sz="1700" dirty="0"/>
              <a:t>SURFACE CHARGING – NEARBY SURFACES ARE CHARGED DIFFERENTIALLY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06F763-E439-4D33-96DA-28D4679FA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265130"/>
            <a:ext cx="764215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83C362F-97FB-4C1E-B0F0-C3069DD0CDD1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6901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22790EC5-ACA7-4536-8066-B60199F3C6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AD20AEA-7CAF-4A83-BE2E-EAF010B8B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AE3B58-C445-4CCF-8060-9B533C1C5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593" y="5066661"/>
            <a:ext cx="8689976" cy="134588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/>
              <a:t>SPACECRAFT CHARGING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80FB56C-8385-4FED-9659-FF417CAE46F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-1" b="364"/>
          <a:stretch/>
        </p:blipFill>
        <p:spPr>
          <a:xfrm>
            <a:off x="1396925" y="668419"/>
            <a:ext cx="8679803" cy="4734853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28E75C-D754-4425-9788-331A656D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5883275"/>
            <a:ext cx="7642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C83C362F-97FB-4C1E-B0F0-C3069DD0CDD1}" type="slidenum">
              <a:rPr lang="en-US" smtClean="0"/>
              <a:pPr>
                <a:spcAft>
                  <a:spcPts val="600"/>
                </a:spcAft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097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>
            <a:extLst>
              <a:ext uri="{FF2B5EF4-FFF2-40B4-BE49-F238E27FC236}">
                <a16:creationId xmlns:a16="http://schemas.microsoft.com/office/drawing/2014/main" id="{E1408BAF-1350-4BC5-9C72-82A08BB07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60E67B53-E530-4CC6-B1E7-4CCC1FD6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AE94ADDC-FBCA-4838-8D97-4B0770AFC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7" name="Picture 2">
            <a:extLst>
              <a:ext uri="{FF2B5EF4-FFF2-40B4-BE49-F238E27FC236}">
                <a16:creationId xmlns:a16="http://schemas.microsoft.com/office/drawing/2014/main" id="{EDB06F6B-6027-4B19-829E-EEDE917268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E98034-E44A-4DFE-8C3A-47FA0822CB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528" y="957486"/>
            <a:ext cx="4255205" cy="4031808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2050" name="Picture 2" descr="See the source image">
            <a:extLst>
              <a:ext uri="{FF2B5EF4-FFF2-40B4-BE49-F238E27FC236}">
                <a16:creationId xmlns:a16="http://schemas.microsoft.com/office/drawing/2014/main" id="{6D09B1F1-6228-41FB-B3F4-3A6DEA85C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87213" y="1330725"/>
            <a:ext cx="4996699" cy="3285330"/>
          </a:xfrm>
          <a:prstGeom prst="roundRect">
            <a:avLst>
              <a:gd name="adj" fmla="val 530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F0CA11D6-C4F1-476E-8455-2C26DEDE9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478"/>
          <a:stretch/>
        </p:blipFill>
        <p:spPr>
          <a:xfrm>
            <a:off x="-2607" y="0"/>
            <a:ext cx="12192000" cy="3053351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90717727-6E80-4D56-AF23-9E0AE1D5A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764" t="46543"/>
          <a:stretch/>
        </p:blipFill>
        <p:spPr>
          <a:xfrm>
            <a:off x="8500434" y="3191932"/>
            <a:ext cx="3686351" cy="36660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D920476-DEB1-4386-984B-39A2FA322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7817" y="5127875"/>
            <a:ext cx="10916365" cy="113755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sz="4100" dirty="0"/>
              <a:t>THERMAL ENERGIES for the onset of charging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5D51F-1FB2-48C1-A6D3-28D8D3808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354825"/>
            <a:ext cx="7642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83C362F-97FB-4C1E-B0F0-C3069DD0CDD1}" type="slidenum">
              <a:rPr lang="en-US" smtClean="0"/>
              <a:pPr defTabSz="914400"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546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>
            <a:extLst>
              <a:ext uri="{FF2B5EF4-FFF2-40B4-BE49-F238E27FC236}">
                <a16:creationId xmlns:a16="http://schemas.microsoft.com/office/drawing/2014/main" id="{25496B42-CC46-4183-B481-887CD3E8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2758CE0-F916-4DCE-88D1-71430BE44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E2BA2D5-46A3-46C0-98C9-A072D543B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6314A0-F7F7-4655-A719-8716BE420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4294" y="957486"/>
            <a:ext cx="5614084" cy="4940394"/>
          </a:xfrm>
          <a:prstGeom prst="roundRect">
            <a:avLst>
              <a:gd name="adj" fmla="val 5301"/>
            </a:avLst>
          </a:prstGeom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573895B-DA42-4260-AE1E-182BA41232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679F1A-71FC-4AAA-89EE-597F26D31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0382" y="957486"/>
            <a:ext cx="3707844" cy="31319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/>
              <a:t>Local time occurrences of spacecraft anomalies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1B275-62C0-4745-91D9-613DA78CB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26478"/>
            <a:ext cx="76421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spcAft>
                <a:spcPts val="600"/>
              </a:spcAft>
            </a:pPr>
            <a:fld id="{C83C362F-97FB-4C1E-B0F0-C3069DD0CDD1}" type="slidenum">
              <a:rPr lang="en-US" smtClean="0"/>
              <a:pPr defTabSz="914400"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251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8" name="Rectangle 4">
            <a:extLst>
              <a:ext uri="{FF2B5EF4-FFF2-40B4-BE49-F238E27FC236}">
                <a16:creationId xmlns:a16="http://schemas.microsoft.com/office/drawing/2014/main" id="{FC7BE635-EE15-4976-AFF3-E41FE830E4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55800" y="854513"/>
            <a:ext cx="8547100" cy="762000"/>
          </a:xfrm>
        </p:spPr>
        <p:txBody>
          <a:bodyPr/>
          <a:lstStyle/>
          <a:p>
            <a:pPr>
              <a:defRPr/>
            </a:pPr>
            <a:r>
              <a:rPr lang="en-US" altLang="en-US" sz="2600" dirty="0"/>
              <a:t>The Plasma Environment and Potential Effects</a:t>
            </a:r>
          </a:p>
        </p:txBody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7834E1E3-BE43-4A3C-872B-1C232E7ACA2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714500" y="2009174"/>
            <a:ext cx="8788400" cy="5799137"/>
          </a:xfrm>
        </p:spPr>
        <p:txBody>
          <a:bodyPr>
            <a:normAutofit/>
          </a:bodyPr>
          <a:lstStyle/>
          <a:p>
            <a:pPr>
              <a:spcBef>
                <a:spcPct val="40000"/>
              </a:spcBef>
              <a:defRPr/>
            </a:pPr>
            <a:r>
              <a:rPr lang="en-US" altLang="en-US" sz="1800" dirty="0"/>
              <a:t>Problems include</a:t>
            </a:r>
            <a:endParaRPr lang="en-US" altLang="en-US" sz="2000" dirty="0"/>
          </a:p>
          <a:p>
            <a:pPr lvl="1">
              <a:spcBef>
                <a:spcPct val="15000"/>
              </a:spcBef>
              <a:defRPr/>
            </a:pPr>
            <a:r>
              <a:rPr lang="en-US" altLang="en-US" sz="1600" dirty="0">
                <a:solidFill>
                  <a:schemeClr val="accent2"/>
                </a:solidFill>
              </a:rPr>
              <a:t>Arcing </a:t>
            </a:r>
            <a:r>
              <a:rPr lang="en-US" altLang="en-US" sz="1600" dirty="0"/>
              <a:t>(the dominant concern)</a:t>
            </a:r>
            <a:endParaRPr lang="en-US" altLang="en-US" sz="1800" dirty="0"/>
          </a:p>
          <a:p>
            <a:pPr lvl="2">
              <a:spcBef>
                <a:spcPct val="5000"/>
              </a:spcBef>
              <a:defRPr/>
            </a:pPr>
            <a:r>
              <a:rPr lang="en-US" altLang="en-US" sz="1400" dirty="0"/>
              <a:t>Electrostatic Discharge (point-to-point arcing) – caused by large potential differences between conductors and dielectrics</a:t>
            </a:r>
          </a:p>
          <a:p>
            <a:pPr lvl="2">
              <a:spcBef>
                <a:spcPct val="5000"/>
              </a:spcBef>
              <a:defRPr/>
            </a:pPr>
            <a:r>
              <a:rPr lang="en-US" altLang="en-US" sz="1400" dirty="0"/>
              <a:t>Dielectric Breakdown (arcing through a material) – caused by large potential differences through surfaces</a:t>
            </a:r>
          </a:p>
          <a:p>
            <a:pPr lvl="2">
              <a:spcBef>
                <a:spcPct val="5000"/>
              </a:spcBef>
              <a:defRPr/>
            </a:pPr>
            <a:r>
              <a:rPr lang="en-US" altLang="en-US" sz="1400" dirty="0"/>
              <a:t>Generates electromagnetic interference (EMI) and damages surfaces (damage to solar arrays and electronics of greatest concern)</a:t>
            </a:r>
            <a:endParaRPr lang="en-US" altLang="en-US" sz="1600" dirty="0"/>
          </a:p>
          <a:p>
            <a:pPr lvl="1">
              <a:spcBef>
                <a:spcPct val="15000"/>
              </a:spcBef>
              <a:defRPr/>
            </a:pPr>
            <a:r>
              <a:rPr lang="en-US" altLang="en-US" sz="1600" dirty="0">
                <a:solidFill>
                  <a:schemeClr val="accent2"/>
                </a:solidFill>
              </a:rPr>
              <a:t>Increased currents</a:t>
            </a:r>
            <a:r>
              <a:rPr lang="en-US" altLang="en-US" sz="1600" dirty="0"/>
              <a:t>:  may alter floating potential or drain available power</a:t>
            </a:r>
            <a:endParaRPr lang="en-US" altLang="en-US" sz="1800" dirty="0"/>
          </a:p>
          <a:p>
            <a:pPr lvl="1">
              <a:spcBef>
                <a:spcPct val="15000"/>
              </a:spcBef>
              <a:defRPr/>
            </a:pPr>
            <a:r>
              <a:rPr lang="en-US" altLang="en-US" sz="1600" dirty="0"/>
              <a:t>Ion drag:  may add to orbit decay</a:t>
            </a:r>
            <a:endParaRPr lang="en-US" altLang="en-US" sz="1800" dirty="0"/>
          </a:p>
          <a:p>
            <a:pPr lvl="1">
              <a:spcBef>
                <a:spcPct val="15000"/>
              </a:spcBef>
              <a:defRPr/>
            </a:pPr>
            <a:r>
              <a:rPr lang="en-US" altLang="en-US" sz="1600" dirty="0"/>
              <a:t>Ion sputtering:  may increase erosion of surfaces</a:t>
            </a:r>
            <a:endParaRPr lang="en-US" altLang="en-US" sz="1800" dirty="0"/>
          </a:p>
          <a:p>
            <a:pPr lvl="1">
              <a:spcBef>
                <a:spcPct val="15000"/>
              </a:spcBef>
              <a:defRPr/>
            </a:pPr>
            <a:r>
              <a:rPr lang="en-US" altLang="en-US" sz="1600" dirty="0"/>
              <a:t>Re-attraction of contamination: may be significant in degrading surfaces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7D4545-D910-4580-8990-593CE1CD0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6857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3204ED90-B0B8-4BFA-9A4F-406CF8E034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Summary of Environment Effects</a:t>
            </a:r>
          </a:p>
        </p:txBody>
      </p:sp>
      <p:graphicFrame>
        <p:nvGraphicFramePr>
          <p:cNvPr id="57346" name="Object 5">
            <a:extLst>
              <a:ext uri="{FF2B5EF4-FFF2-40B4-BE49-F238E27FC236}">
                <a16:creationId xmlns:a16="http://schemas.microsoft.com/office/drawing/2014/main" id="{42D8C7D7-46E5-44F4-A0F2-81661BC3E195}"/>
              </a:ext>
            </a:extLst>
          </p:cNvPr>
          <p:cNvGraphicFramePr>
            <a:graphicFrameLocks noGrp="1" noChangeAspect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2002002048"/>
              </p:ext>
            </p:extLst>
          </p:nvPr>
        </p:nvGraphicFramePr>
        <p:xfrm>
          <a:off x="1864386" y="1954924"/>
          <a:ext cx="7545547" cy="47017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9581388" imgH="5972556" progId="Word.Document.8">
                  <p:embed/>
                </p:oleObj>
              </mc:Choice>
              <mc:Fallback>
                <p:oleObj name="Document" r:id="rId3" imgW="9581388" imgH="5972556" progId="Word.Document.8">
                  <p:embed/>
                  <p:pic>
                    <p:nvPicPr>
                      <p:cNvPr id="57346" name="Object 5">
                        <a:extLst>
                          <a:ext uri="{FF2B5EF4-FFF2-40B4-BE49-F238E27FC236}">
                            <a16:creationId xmlns:a16="http://schemas.microsoft.com/office/drawing/2014/main" id="{42D8C7D7-46E5-44F4-A0F2-81661BC3E19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21735" t="3186" r="21022" b="29446"/>
                      <a:stretch>
                        <a:fillRect/>
                      </a:stretch>
                    </p:blipFill>
                    <p:spPr bwMode="auto">
                      <a:xfrm>
                        <a:off x="1864386" y="1954924"/>
                        <a:ext cx="7545547" cy="47017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B80D704-56F9-4376-A5A4-3E2577689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734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7A25D-704E-4CFA-889C-3B06712EE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68D3A9-13D8-47FF-AFC9-3F0636938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C362F-97FB-4C1E-B0F0-C3069DD0CDD1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89A156-60C6-477F-A116-65728221375C}"/>
              </a:ext>
            </a:extLst>
          </p:cNvPr>
          <p:cNvSpPr txBox="1"/>
          <p:nvPr/>
        </p:nvSpPr>
        <p:spPr>
          <a:xfrm>
            <a:off x="498265" y="1891528"/>
            <a:ext cx="115750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endParaRPr lang="en-US" dirty="0"/>
          </a:p>
          <a:p>
            <a:r>
              <a:rPr lang="en-US" dirty="0"/>
              <a:t>Lai, Shu T. and K. </a:t>
            </a:r>
            <a:r>
              <a:rPr lang="en-US" dirty="0" err="1"/>
              <a:t>Cahoy</a:t>
            </a:r>
            <a:r>
              <a:rPr lang="en-US" dirty="0"/>
              <a:t>.  (2017, Feb) </a:t>
            </a:r>
            <a:r>
              <a:rPr lang="en-US" i="1" dirty="0"/>
              <a:t>Spacecraft Charging</a:t>
            </a:r>
            <a:r>
              <a:rPr lang="en-US" dirty="0"/>
              <a:t>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90916861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1332</TotalTime>
  <Words>1213</Words>
  <Application>Microsoft Office PowerPoint</Application>
  <PresentationFormat>Widescreen</PresentationFormat>
  <Paragraphs>204</Paragraphs>
  <Slides>16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Arial Black</vt:lpstr>
      <vt:lpstr>Calibri</vt:lpstr>
      <vt:lpstr>Cambria Math</vt:lpstr>
      <vt:lpstr>Symbol</vt:lpstr>
      <vt:lpstr>Times New Roman</vt:lpstr>
      <vt:lpstr>Tw Cen MT</vt:lpstr>
      <vt:lpstr>Droplet</vt:lpstr>
      <vt:lpstr>Document</vt:lpstr>
      <vt:lpstr>PowerPoint Presentation</vt:lpstr>
      <vt:lpstr>Impact of the Space Environment on Spacecraft Systems</vt:lpstr>
      <vt:lpstr>The Plasma Environment and Potential Effects</vt:lpstr>
      <vt:lpstr>Spacecraft charging ionosphere plasma characteristics</vt:lpstr>
      <vt:lpstr>Mean or average speed of electrons and protons</vt:lpstr>
      <vt:lpstr>Floating potential</vt:lpstr>
      <vt:lpstr>example</vt:lpstr>
      <vt:lpstr>Biased object?</vt:lpstr>
      <vt:lpstr>Biased object?</vt:lpstr>
      <vt:lpstr>CHARGING TERMINOLOGY</vt:lpstr>
      <vt:lpstr>SPACECRAFT CHARGING</vt:lpstr>
      <vt:lpstr>THERMAL ENERGIES for the onset of charging</vt:lpstr>
      <vt:lpstr>Local time occurrences of spacecraft anomalies</vt:lpstr>
      <vt:lpstr>The Plasma Environment and Potential Effects</vt:lpstr>
      <vt:lpstr>Summary of Environment Effects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Lynnane George</dc:creator>
  <cp:lastModifiedBy>Lynnane George</cp:lastModifiedBy>
  <cp:revision>93</cp:revision>
  <dcterms:created xsi:type="dcterms:W3CDTF">2017-06-12T22:04:21Z</dcterms:created>
  <dcterms:modified xsi:type="dcterms:W3CDTF">2026-07-08T21:28:46Z</dcterms:modified>
</cp:coreProperties>
</file>