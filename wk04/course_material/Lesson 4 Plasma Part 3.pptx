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26"/>
  </p:notesMasterIdLst>
  <p:sldIdLst>
    <p:sldId id="525" r:id="rId2"/>
    <p:sldId id="272" r:id="rId3"/>
    <p:sldId id="273" r:id="rId4"/>
    <p:sldId id="275" r:id="rId5"/>
    <p:sldId id="276" r:id="rId6"/>
    <p:sldId id="284" r:id="rId7"/>
    <p:sldId id="285" r:id="rId8"/>
    <p:sldId id="527" r:id="rId9"/>
    <p:sldId id="289" r:id="rId10"/>
    <p:sldId id="530" r:id="rId11"/>
    <p:sldId id="290" r:id="rId12"/>
    <p:sldId id="291" r:id="rId13"/>
    <p:sldId id="292" r:id="rId14"/>
    <p:sldId id="528" r:id="rId15"/>
    <p:sldId id="531" r:id="rId16"/>
    <p:sldId id="533" r:id="rId17"/>
    <p:sldId id="535" r:id="rId18"/>
    <p:sldId id="534" r:id="rId19"/>
    <p:sldId id="296" r:id="rId20"/>
    <p:sldId id="529" r:id="rId21"/>
    <p:sldId id="293" r:id="rId22"/>
    <p:sldId id="271" r:id="rId23"/>
    <p:sldId id="532" r:id="rId24"/>
    <p:sldId id="274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694249-DE08-426D-AEBE-301BDDCA6DE6}" v="9" dt="2026-07-08T18:55:16.763"/>
    <p1510:client id="{613EEC61-5B3F-42C6-8E11-BB3F213C96DC}" v="2" dt="2026-07-08T21:32:51.6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72" y="8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ynnane George" userId="065056628ae16e64" providerId="LiveId" clId="{1E9AE552-6B83-46CE-A2DC-1FB506DB1638}"/>
    <pc:docChg chg="custSel addSld delSld modSld sldOrd">
      <pc:chgData name="Lynnane George" userId="065056628ae16e64" providerId="LiveId" clId="{1E9AE552-6B83-46CE-A2DC-1FB506DB1638}" dt="2026-07-08T21:53:07.395" v="203" actId="14100"/>
      <pc:docMkLst>
        <pc:docMk/>
      </pc:docMkLst>
      <pc:sldChg chg="addSp del mod">
        <pc:chgData name="Lynnane George" userId="065056628ae16e64" providerId="LiveId" clId="{1E9AE552-6B83-46CE-A2DC-1FB506DB1638}" dt="2026-07-08T21:29:22.036" v="88" actId="2696"/>
        <pc:sldMkLst>
          <pc:docMk/>
          <pc:sldMk cId="1838523007" sldId="258"/>
        </pc:sldMkLst>
        <pc:inkChg chg="add">
          <ac:chgData name="Lynnane George" userId="065056628ae16e64" providerId="LiveId" clId="{1E9AE552-6B83-46CE-A2DC-1FB506DB1638}" dt="2026-07-08T18:40:20.799" v="84" actId="9405"/>
          <ac:inkMkLst>
            <pc:docMk/>
            <pc:sldMk cId="1838523007" sldId="258"/>
            <ac:inkMk id="3" creationId="{D016985B-9202-67B0-A428-AD1A66829A48}"/>
          </ac:inkMkLst>
        </pc:inkChg>
      </pc:sldChg>
      <pc:sldChg chg="modSp mod">
        <pc:chgData name="Lynnane George" userId="065056628ae16e64" providerId="LiveId" clId="{1E9AE552-6B83-46CE-A2DC-1FB506DB1638}" dt="2026-07-04T18:21:03.163" v="15" actId="20577"/>
        <pc:sldMkLst>
          <pc:docMk/>
          <pc:sldMk cId="2461249078" sldId="274"/>
        </pc:sldMkLst>
        <pc:spChg chg="mod">
          <ac:chgData name="Lynnane George" userId="065056628ae16e64" providerId="LiveId" clId="{1E9AE552-6B83-46CE-A2DC-1FB506DB1638}" dt="2026-07-04T18:21:03.163" v="15" actId="20577"/>
          <ac:spMkLst>
            <pc:docMk/>
            <pc:sldMk cId="2461249078" sldId="274"/>
            <ac:spMk id="3" creationId="{C4F413E3-459D-49CC-8C77-A326DA7524A0}"/>
          </ac:spMkLst>
        </pc:spChg>
      </pc:sldChg>
      <pc:sldChg chg="addSp modSp mod">
        <pc:chgData name="Lynnane George" userId="065056628ae16e64" providerId="LiveId" clId="{1E9AE552-6B83-46CE-A2DC-1FB506DB1638}" dt="2026-07-06T21:14:34.868" v="83" actId="14100"/>
        <pc:sldMkLst>
          <pc:docMk/>
          <pc:sldMk cId="3795796108" sldId="275"/>
        </pc:sldMkLst>
        <pc:spChg chg="add mod">
          <ac:chgData name="Lynnane George" userId="065056628ae16e64" providerId="LiveId" clId="{1E9AE552-6B83-46CE-A2DC-1FB506DB1638}" dt="2026-07-06T21:14:34.868" v="83" actId="14100"/>
          <ac:spMkLst>
            <pc:docMk/>
            <pc:sldMk cId="3795796108" sldId="275"/>
            <ac:spMk id="3" creationId="{F83786EC-C599-EB29-46A8-18C038566968}"/>
          </ac:spMkLst>
        </pc:spChg>
        <pc:picChg chg="mod">
          <ac:chgData name="Lynnane George" userId="065056628ae16e64" providerId="LiveId" clId="{1E9AE552-6B83-46CE-A2DC-1FB506DB1638}" dt="2026-07-06T21:14:12.007" v="57" actId="1076"/>
          <ac:picMkLst>
            <pc:docMk/>
            <pc:sldMk cId="3795796108" sldId="275"/>
            <ac:picMk id="7" creationId="{07581EAD-3EFD-49C4-9299-43ED928EF9EE}"/>
          </ac:picMkLst>
        </pc:picChg>
      </pc:sldChg>
      <pc:sldChg chg="addSp delSp mod">
        <pc:chgData name="Lynnane George" userId="065056628ae16e64" providerId="LiveId" clId="{1E9AE552-6B83-46CE-A2DC-1FB506DB1638}" dt="2026-07-08T21:29:31.217" v="89" actId="478"/>
        <pc:sldMkLst>
          <pc:docMk/>
          <pc:sldMk cId="3639311355" sldId="284"/>
        </pc:sldMkLst>
        <pc:inkChg chg="add del">
          <ac:chgData name="Lynnane George" userId="065056628ae16e64" providerId="LiveId" clId="{1E9AE552-6B83-46CE-A2DC-1FB506DB1638}" dt="2026-07-08T21:29:31.217" v="89" actId="478"/>
          <ac:inkMkLst>
            <pc:docMk/>
            <pc:sldMk cId="3639311355" sldId="284"/>
            <ac:inkMk id="7" creationId="{D92CAA0E-C2E0-CC22-14FC-E59863C5B6D7}"/>
          </ac:inkMkLst>
        </pc:inkChg>
      </pc:sldChg>
      <pc:sldChg chg="addSp delSp mod">
        <pc:chgData name="Lynnane George" userId="065056628ae16e64" providerId="LiveId" clId="{1E9AE552-6B83-46CE-A2DC-1FB506DB1638}" dt="2026-07-08T21:29:36.905" v="90" actId="478"/>
        <pc:sldMkLst>
          <pc:docMk/>
          <pc:sldMk cId="3786829591" sldId="285"/>
        </pc:sldMkLst>
        <pc:inkChg chg="add del">
          <ac:chgData name="Lynnane George" userId="065056628ae16e64" providerId="LiveId" clId="{1E9AE552-6B83-46CE-A2DC-1FB506DB1638}" dt="2026-07-08T21:29:36.905" v="90" actId="478"/>
          <ac:inkMkLst>
            <pc:docMk/>
            <pc:sldMk cId="3786829591" sldId="285"/>
            <ac:inkMk id="6" creationId="{8CD61512-B6A9-C3B3-9031-4C16A935065F}"/>
          </ac:inkMkLst>
        </pc:inkChg>
      </pc:sldChg>
      <pc:sldChg chg="addSp delSp mod">
        <pc:chgData name="Lynnane George" userId="065056628ae16e64" providerId="LiveId" clId="{1E9AE552-6B83-46CE-A2DC-1FB506DB1638}" dt="2026-07-08T21:29:52.405" v="91" actId="478"/>
        <pc:sldMkLst>
          <pc:docMk/>
          <pc:sldMk cId="895989224" sldId="291"/>
        </pc:sldMkLst>
        <pc:inkChg chg="add del">
          <ac:chgData name="Lynnane George" userId="065056628ae16e64" providerId="LiveId" clId="{1E9AE552-6B83-46CE-A2DC-1FB506DB1638}" dt="2026-07-08T21:29:52.405" v="91" actId="478"/>
          <ac:inkMkLst>
            <pc:docMk/>
            <pc:sldMk cId="895989224" sldId="291"/>
            <ac:inkMk id="7" creationId="{A5176E4B-5BEA-5DA9-192B-FA8E391C5EA6}"/>
          </ac:inkMkLst>
        </pc:inkChg>
      </pc:sldChg>
      <pc:sldChg chg="addSp delSp mod">
        <pc:chgData name="Lynnane George" userId="065056628ae16e64" providerId="LiveId" clId="{1E9AE552-6B83-46CE-A2DC-1FB506DB1638}" dt="2026-07-08T21:30:06.160" v="92" actId="478"/>
        <pc:sldMkLst>
          <pc:docMk/>
          <pc:sldMk cId="3240152168" sldId="292"/>
        </pc:sldMkLst>
        <pc:inkChg chg="add del">
          <ac:chgData name="Lynnane George" userId="065056628ae16e64" providerId="LiveId" clId="{1E9AE552-6B83-46CE-A2DC-1FB506DB1638}" dt="2026-07-08T21:30:06.160" v="92" actId="478"/>
          <ac:inkMkLst>
            <pc:docMk/>
            <pc:sldMk cId="3240152168" sldId="292"/>
            <ac:inkMk id="5" creationId="{C0D4EB16-1A06-6135-50C9-BFE1D166FBB0}"/>
          </ac:inkMkLst>
        </pc:inkChg>
      </pc:sldChg>
      <pc:sldChg chg="modSp del mod">
        <pc:chgData name="Lynnane George" userId="065056628ae16e64" providerId="LiveId" clId="{1E9AE552-6B83-46CE-A2DC-1FB506DB1638}" dt="2026-07-08T21:29:09.392" v="86" actId="2696"/>
        <pc:sldMkLst>
          <pc:docMk/>
          <pc:sldMk cId="1100958776" sldId="521"/>
        </pc:sldMkLst>
      </pc:sldChg>
      <pc:sldChg chg="addSp delSp modSp mod">
        <pc:chgData name="Lynnane George" userId="065056628ae16e64" providerId="LiveId" clId="{1E9AE552-6B83-46CE-A2DC-1FB506DB1638}" dt="2026-07-04T18:19:28.841" v="5" actId="478"/>
        <pc:sldMkLst>
          <pc:docMk/>
          <pc:sldMk cId="2187118027" sldId="525"/>
        </pc:sldMkLst>
      </pc:sldChg>
      <pc:sldChg chg="addSp delSp modSp mod">
        <pc:chgData name="Lynnane George" userId="065056628ae16e64" providerId="LiveId" clId="{1E9AE552-6B83-46CE-A2DC-1FB506DB1638}" dt="2026-07-08T21:51:09.722" v="187"/>
        <pc:sldMkLst>
          <pc:docMk/>
          <pc:sldMk cId="1227442960" sldId="527"/>
        </pc:sldMkLst>
        <pc:picChg chg="add mod">
          <ac:chgData name="Lynnane George" userId="065056628ae16e64" providerId="LiveId" clId="{1E9AE552-6B83-46CE-A2DC-1FB506DB1638}" dt="2026-07-08T21:51:09.722" v="187"/>
          <ac:picMkLst>
            <pc:docMk/>
            <pc:sldMk cId="1227442960" sldId="527"/>
            <ac:picMk id="3" creationId="{9137E5FB-B32C-2ED9-1DAA-F1E45E8CF226}"/>
          </ac:picMkLst>
        </pc:picChg>
        <pc:picChg chg="del">
          <ac:chgData name="Lynnane George" userId="065056628ae16e64" providerId="LiveId" clId="{1E9AE552-6B83-46CE-A2DC-1FB506DB1638}" dt="2026-07-08T21:50:53.220" v="185" actId="478"/>
          <ac:picMkLst>
            <pc:docMk/>
            <pc:sldMk cId="1227442960" sldId="527"/>
            <ac:picMk id="6" creationId="{6E646770-E40D-6A0C-CD70-00F516655E15}"/>
          </ac:picMkLst>
        </pc:picChg>
      </pc:sldChg>
      <pc:sldChg chg="addSp delSp modSp mod">
        <pc:chgData name="Lynnane George" userId="065056628ae16e64" providerId="LiveId" clId="{1E9AE552-6B83-46CE-A2DC-1FB506DB1638}" dt="2026-07-08T21:52:32.735" v="198" actId="1076"/>
        <pc:sldMkLst>
          <pc:docMk/>
          <pc:sldMk cId="799064206" sldId="528"/>
        </pc:sldMkLst>
        <pc:picChg chg="add mod">
          <ac:chgData name="Lynnane George" userId="065056628ae16e64" providerId="LiveId" clId="{1E9AE552-6B83-46CE-A2DC-1FB506DB1638}" dt="2026-07-08T21:52:27.306" v="195" actId="1076"/>
          <ac:picMkLst>
            <pc:docMk/>
            <pc:sldMk cId="799064206" sldId="528"/>
            <ac:picMk id="3" creationId="{A1D3BFAF-6596-5687-6D44-836A5D095BB5}"/>
          </ac:picMkLst>
        </pc:picChg>
        <pc:picChg chg="del">
          <ac:chgData name="Lynnane George" userId="065056628ae16e64" providerId="LiveId" clId="{1E9AE552-6B83-46CE-A2DC-1FB506DB1638}" dt="2026-07-08T21:51:46.673" v="191" actId="478"/>
          <ac:picMkLst>
            <pc:docMk/>
            <pc:sldMk cId="799064206" sldId="528"/>
            <ac:picMk id="6" creationId="{C6459337-28B8-1E81-3ECC-BB7B2BD2C88E}"/>
          </ac:picMkLst>
        </pc:picChg>
        <pc:picChg chg="add mod">
          <ac:chgData name="Lynnane George" userId="065056628ae16e64" providerId="LiveId" clId="{1E9AE552-6B83-46CE-A2DC-1FB506DB1638}" dt="2026-07-08T21:52:32.735" v="198" actId="1076"/>
          <ac:picMkLst>
            <pc:docMk/>
            <pc:sldMk cId="799064206" sldId="528"/>
            <ac:picMk id="7" creationId="{395D6328-2CA8-2D25-A596-CF295E4495E0}"/>
          </ac:picMkLst>
        </pc:picChg>
        <pc:picChg chg="del">
          <ac:chgData name="Lynnane George" userId="065056628ae16e64" providerId="LiveId" clId="{1E9AE552-6B83-46CE-A2DC-1FB506DB1638}" dt="2026-07-08T21:51:47.688" v="192" actId="478"/>
          <ac:picMkLst>
            <pc:docMk/>
            <pc:sldMk cId="799064206" sldId="528"/>
            <ac:picMk id="8" creationId="{6089BDC1-E478-45AB-9DB6-96B3E6789ED8}"/>
          </ac:picMkLst>
        </pc:picChg>
      </pc:sldChg>
      <pc:sldChg chg="addSp delSp modSp mod">
        <pc:chgData name="Lynnane George" userId="065056628ae16e64" providerId="LiveId" clId="{1E9AE552-6B83-46CE-A2DC-1FB506DB1638}" dt="2026-07-08T21:53:07.395" v="203" actId="14100"/>
        <pc:sldMkLst>
          <pc:docMk/>
          <pc:sldMk cId="1042332471" sldId="529"/>
        </pc:sldMkLst>
        <pc:picChg chg="add mod">
          <ac:chgData name="Lynnane George" userId="065056628ae16e64" providerId="LiveId" clId="{1E9AE552-6B83-46CE-A2DC-1FB506DB1638}" dt="2026-07-08T21:53:07.395" v="203" actId="14100"/>
          <ac:picMkLst>
            <pc:docMk/>
            <pc:sldMk cId="1042332471" sldId="529"/>
            <ac:picMk id="3" creationId="{6D563AA5-DB19-C74F-7981-BDA83BD6F289}"/>
          </ac:picMkLst>
        </pc:picChg>
        <pc:picChg chg="del">
          <ac:chgData name="Lynnane George" userId="065056628ae16e64" providerId="LiveId" clId="{1E9AE552-6B83-46CE-A2DC-1FB506DB1638}" dt="2026-07-08T21:52:44.442" v="199" actId="478"/>
          <ac:picMkLst>
            <pc:docMk/>
            <pc:sldMk cId="1042332471" sldId="529"/>
            <ac:picMk id="6" creationId="{BE40BEA4-2B66-E5CD-FA2F-2EB8D5C4A599}"/>
          </ac:picMkLst>
        </pc:picChg>
      </pc:sldChg>
      <pc:sldChg chg="addSp delSp modSp mod">
        <pc:chgData name="Lynnane George" userId="065056628ae16e64" providerId="LiveId" clId="{1E9AE552-6B83-46CE-A2DC-1FB506DB1638}" dt="2026-07-08T21:51:30.311" v="190"/>
        <pc:sldMkLst>
          <pc:docMk/>
          <pc:sldMk cId="518910289" sldId="530"/>
        </pc:sldMkLst>
        <pc:picChg chg="add mod">
          <ac:chgData name="Lynnane George" userId="065056628ae16e64" providerId="LiveId" clId="{1E9AE552-6B83-46CE-A2DC-1FB506DB1638}" dt="2026-07-08T21:51:30.311" v="190"/>
          <ac:picMkLst>
            <pc:docMk/>
            <pc:sldMk cId="518910289" sldId="530"/>
            <ac:picMk id="3" creationId="{3997B298-2AF2-FE67-C917-02827AE23938}"/>
          </ac:picMkLst>
        </pc:picChg>
        <pc:picChg chg="del">
          <ac:chgData name="Lynnane George" userId="065056628ae16e64" providerId="LiveId" clId="{1E9AE552-6B83-46CE-A2DC-1FB506DB1638}" dt="2026-07-08T21:51:16.052" v="188" actId="478"/>
          <ac:picMkLst>
            <pc:docMk/>
            <pc:sldMk cId="518910289" sldId="530"/>
            <ac:picMk id="6" creationId="{A7534CBC-C81A-51E1-43CC-87EBC6CFCD53}"/>
          </ac:picMkLst>
        </pc:picChg>
      </pc:sldChg>
      <pc:sldChg chg="modSp new mod">
        <pc:chgData name="Lynnane George" userId="065056628ae16e64" providerId="LiveId" clId="{1E9AE552-6B83-46CE-A2DC-1FB506DB1638}" dt="2026-07-08T21:33:33.090" v="152" actId="20577"/>
        <pc:sldMkLst>
          <pc:docMk/>
          <pc:sldMk cId="2627498366" sldId="531"/>
        </pc:sldMkLst>
        <pc:spChg chg="mod">
          <ac:chgData name="Lynnane George" userId="065056628ae16e64" providerId="LiveId" clId="{1E9AE552-6B83-46CE-A2DC-1FB506DB1638}" dt="2026-07-08T21:32:18.935" v="125" actId="1076"/>
          <ac:spMkLst>
            <pc:docMk/>
            <pc:sldMk cId="2627498366" sldId="531"/>
            <ac:spMk id="2" creationId="{BD4AAB48-9A67-5C43-04C4-48AB835D19FC}"/>
          </ac:spMkLst>
        </pc:spChg>
        <pc:spChg chg="mod">
          <ac:chgData name="Lynnane George" userId="065056628ae16e64" providerId="LiveId" clId="{1E9AE552-6B83-46CE-A2DC-1FB506DB1638}" dt="2026-07-08T21:33:33.090" v="152" actId="20577"/>
          <ac:spMkLst>
            <pc:docMk/>
            <pc:sldMk cId="2627498366" sldId="531"/>
            <ac:spMk id="3" creationId="{E5974335-1DD3-FA8F-B6EA-747777C210D8}"/>
          </ac:spMkLst>
        </pc:spChg>
      </pc:sldChg>
      <pc:sldChg chg="add">
        <pc:chgData name="Lynnane George" userId="065056628ae16e64" providerId="LiveId" clId="{1E9AE552-6B83-46CE-A2DC-1FB506DB1638}" dt="2026-07-08T21:35:12.237" v="153" actId="2890"/>
        <pc:sldMkLst>
          <pc:docMk/>
          <pc:sldMk cId="1344878731" sldId="532"/>
        </pc:sldMkLst>
      </pc:sldChg>
      <pc:sldChg chg="modSp add del mod">
        <pc:chgData name="Lynnane George" userId="065056628ae16e64" providerId="LiveId" clId="{1E9AE552-6B83-46CE-A2DC-1FB506DB1638}" dt="2026-07-08T21:29:11.829" v="87" actId="2696"/>
        <pc:sldMkLst>
          <pc:docMk/>
          <pc:sldMk cId="2541815817" sldId="532"/>
        </pc:sldMkLst>
      </pc:sldChg>
      <pc:sldChg chg="modSp add mod">
        <pc:chgData name="Lynnane George" userId="065056628ae16e64" providerId="LiveId" clId="{1E9AE552-6B83-46CE-A2DC-1FB506DB1638}" dt="2026-07-08T21:36:14.484" v="161" actId="255"/>
        <pc:sldMkLst>
          <pc:docMk/>
          <pc:sldMk cId="878660022" sldId="533"/>
        </pc:sldMkLst>
        <pc:spChg chg="mod">
          <ac:chgData name="Lynnane George" userId="065056628ae16e64" providerId="LiveId" clId="{1E9AE552-6B83-46CE-A2DC-1FB506DB1638}" dt="2026-07-08T21:36:14.484" v="161" actId="255"/>
          <ac:spMkLst>
            <pc:docMk/>
            <pc:sldMk cId="878660022" sldId="533"/>
            <ac:spMk id="3" creationId="{487B2676-0093-5DBC-244C-1D2DAB297C95}"/>
          </ac:spMkLst>
        </pc:spChg>
      </pc:sldChg>
      <pc:sldChg chg="modSp add mod ord">
        <pc:chgData name="Lynnane George" userId="065056628ae16e64" providerId="LiveId" clId="{1E9AE552-6B83-46CE-A2DC-1FB506DB1638}" dt="2026-07-08T21:37:13.506" v="184" actId="20577"/>
        <pc:sldMkLst>
          <pc:docMk/>
          <pc:sldMk cId="3478788463" sldId="534"/>
        </pc:sldMkLst>
        <pc:spChg chg="mod">
          <ac:chgData name="Lynnane George" userId="065056628ae16e64" providerId="LiveId" clId="{1E9AE552-6B83-46CE-A2DC-1FB506DB1638}" dt="2026-07-08T21:37:13.506" v="184" actId="20577"/>
          <ac:spMkLst>
            <pc:docMk/>
            <pc:sldMk cId="3478788463" sldId="534"/>
            <ac:spMk id="3" creationId="{623246B5-8501-C2C2-2237-E70C457DBBF2}"/>
          </ac:spMkLst>
        </pc:spChg>
      </pc:sldChg>
      <pc:sldChg chg="modSp add mod">
        <pc:chgData name="Lynnane George" userId="065056628ae16e64" providerId="LiveId" clId="{1E9AE552-6B83-46CE-A2DC-1FB506DB1638}" dt="2026-07-08T21:36:24.659" v="162" actId="255"/>
        <pc:sldMkLst>
          <pc:docMk/>
          <pc:sldMk cId="559505963" sldId="535"/>
        </pc:sldMkLst>
        <pc:spChg chg="mod">
          <ac:chgData name="Lynnane George" userId="065056628ae16e64" providerId="LiveId" clId="{1E9AE552-6B83-46CE-A2DC-1FB506DB1638}" dt="2026-07-08T21:36:24.659" v="162" actId="255"/>
          <ac:spMkLst>
            <pc:docMk/>
            <pc:sldMk cId="559505963" sldId="535"/>
            <ac:spMk id="3" creationId="{58CDD037-7E12-E495-13AC-BDCFF950A23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326BDA-DC63-4F1E-89FF-0162DDA85E00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EE1DA9-70CD-4924-8F6B-D46BA6EEA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5349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EE1DA9-70CD-4924-8F6B-D46BA6EEAFB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5792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>
            <a:extLst>
              <a:ext uri="{FF2B5EF4-FFF2-40B4-BE49-F238E27FC236}">
                <a16:creationId xmlns:a16="http://schemas.microsoft.com/office/drawing/2014/main" id="{4D43BB3E-0C54-4140-8A84-2C30886E4B3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0375" y="2590800"/>
            <a:ext cx="6124575" cy="3446463"/>
          </a:xfrm>
          <a:ln/>
        </p:spPr>
      </p:sp>
      <p:sp>
        <p:nvSpPr>
          <p:cNvPr id="109572" name="Text Box 4">
            <a:extLst>
              <a:ext uri="{FF2B5EF4-FFF2-40B4-BE49-F238E27FC236}">
                <a16:creationId xmlns:a16="http://schemas.microsoft.com/office/drawing/2014/main" id="{71B2D11A-93B2-44D1-80B0-CC9EC53DCA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30688" y="2085975"/>
            <a:ext cx="2365375" cy="206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72494" tIns="36247" rIns="72494" bIns="36247">
            <a:spAutoFit/>
          </a:bodyPr>
          <a:lstStyle>
            <a:lvl1pPr defTabSz="725488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361950" defTabSz="725488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725488" defTabSz="725488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087438" defTabSz="725488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1449388" defTabSz="725488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19065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3637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28209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2781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defRPr/>
            </a:pPr>
            <a:r>
              <a:rPr lang="en-US" altLang="en-US" sz="900" i="1"/>
              <a:t>Focus on preventing electrostatic discharges</a:t>
            </a:r>
          </a:p>
        </p:txBody>
      </p:sp>
      <p:sp>
        <p:nvSpPr>
          <p:cNvPr id="109573" name="Line 5">
            <a:extLst>
              <a:ext uri="{FF2B5EF4-FFF2-40B4-BE49-F238E27FC236}">
                <a16:creationId xmlns:a16="http://schemas.microsoft.com/office/drawing/2014/main" id="{9C870E29-2B2C-495F-9D54-625CDECABD8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03600" y="2189163"/>
            <a:ext cx="869950" cy="3825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</a:endParaRPr>
          </a:p>
        </p:txBody>
      </p:sp>
      <p:sp>
        <p:nvSpPr>
          <p:cNvPr id="109574" name="Text Box 6">
            <a:extLst>
              <a:ext uri="{FF2B5EF4-FFF2-40B4-BE49-F238E27FC236}">
                <a16:creationId xmlns:a16="http://schemas.microsoft.com/office/drawing/2014/main" id="{B949761B-9857-4A36-B4F4-8E010F2AD4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688" y="6245225"/>
            <a:ext cx="2365375" cy="206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72494" tIns="36247" rIns="72494" bIns="36247">
            <a:spAutoFit/>
          </a:bodyPr>
          <a:lstStyle>
            <a:lvl1pPr defTabSz="725488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361950" defTabSz="725488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725488" defTabSz="725488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087438" defTabSz="725488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1449388" defTabSz="725488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19065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3637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28209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2781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defRPr/>
            </a:pPr>
            <a:r>
              <a:rPr lang="en-US" altLang="en-US" sz="900" i="1"/>
              <a:t>Several techniques recommended by NASA</a:t>
            </a:r>
          </a:p>
        </p:txBody>
      </p:sp>
      <p:sp>
        <p:nvSpPr>
          <p:cNvPr id="109575" name="Line 7">
            <a:extLst>
              <a:ext uri="{FF2B5EF4-FFF2-40B4-BE49-F238E27FC236}">
                <a16:creationId xmlns:a16="http://schemas.microsoft.com/office/drawing/2014/main" id="{57DF9B31-944D-4514-89E8-A14339BC212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08038" y="4781550"/>
            <a:ext cx="798512" cy="1466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</a:endParaRPr>
          </a:p>
        </p:txBody>
      </p:sp>
      <p:sp>
        <p:nvSpPr>
          <p:cNvPr id="109576" name="Line 8">
            <a:extLst>
              <a:ext uri="{FF2B5EF4-FFF2-40B4-BE49-F238E27FC236}">
                <a16:creationId xmlns:a16="http://schemas.microsoft.com/office/drawing/2014/main" id="{5B9DCE0E-170B-4837-BE85-4527C16890D1}"/>
              </a:ext>
            </a:extLst>
          </p:cNvPr>
          <p:cNvSpPr>
            <a:spLocks noChangeShapeType="1"/>
          </p:cNvSpPr>
          <p:nvPr/>
        </p:nvSpPr>
        <p:spPr bwMode="auto">
          <a:xfrm>
            <a:off x="4222750" y="3797300"/>
            <a:ext cx="54451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</a:endParaRPr>
          </a:p>
        </p:txBody>
      </p:sp>
      <p:sp>
        <p:nvSpPr>
          <p:cNvPr id="109577" name="Text Box 9">
            <a:extLst>
              <a:ext uri="{FF2B5EF4-FFF2-40B4-BE49-F238E27FC236}">
                <a16:creationId xmlns:a16="http://schemas.microsoft.com/office/drawing/2014/main" id="{5ED0CA31-3D17-42FA-B7CE-96875DEE34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8900" y="3854450"/>
            <a:ext cx="1690688" cy="33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72494" tIns="36247" rIns="72494" bIns="36247">
            <a:spAutoFit/>
          </a:bodyPr>
          <a:lstStyle>
            <a:lvl1pPr defTabSz="725488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361950" defTabSz="725488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725488" defTabSz="725488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087438" defTabSz="725488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1449388" defTabSz="725488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19065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3637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28209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2781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defRPr/>
            </a:pPr>
            <a:r>
              <a:rPr lang="en-US" altLang="en-US" sz="900" i="1"/>
              <a:t>Make the exterior surfaces as conductive as possible</a:t>
            </a:r>
          </a:p>
        </p:txBody>
      </p:sp>
      <p:sp>
        <p:nvSpPr>
          <p:cNvPr id="109578" name="Line 10">
            <a:extLst>
              <a:ext uri="{FF2B5EF4-FFF2-40B4-BE49-F238E27FC236}">
                <a16:creationId xmlns:a16="http://schemas.microsoft.com/office/drawing/2014/main" id="{E28B1257-2AAA-4BAA-A82A-FF6AEF86A8A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21025" y="4068763"/>
            <a:ext cx="20716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</a:endParaRPr>
          </a:p>
        </p:txBody>
      </p:sp>
      <p:sp>
        <p:nvSpPr>
          <p:cNvPr id="109579" name="Text Box 11">
            <a:extLst>
              <a:ext uri="{FF2B5EF4-FFF2-40B4-BE49-F238E27FC236}">
                <a16:creationId xmlns:a16="http://schemas.microsoft.com/office/drawing/2014/main" id="{9F4A7897-176E-4D04-A22B-86856F85B5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0350" y="4778375"/>
            <a:ext cx="1568450" cy="206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72494" tIns="36247" rIns="72494" bIns="36247">
            <a:spAutoFit/>
          </a:bodyPr>
          <a:lstStyle>
            <a:lvl1pPr defTabSz="725488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361950" defTabSz="725488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725488" defTabSz="725488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087438" defTabSz="725488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1449388" defTabSz="725488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19065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3637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28209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2781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defRPr/>
            </a:pPr>
            <a:r>
              <a:rPr lang="en-US" altLang="en-US" sz="900" i="1"/>
              <a:t>Minimize potential differences</a:t>
            </a:r>
          </a:p>
        </p:txBody>
      </p:sp>
      <p:sp>
        <p:nvSpPr>
          <p:cNvPr id="109580" name="Line 12">
            <a:extLst>
              <a:ext uri="{FF2B5EF4-FFF2-40B4-BE49-F238E27FC236}">
                <a16:creationId xmlns:a16="http://schemas.microsoft.com/office/drawing/2014/main" id="{782ED419-0A25-4941-A2DB-156537EEA2C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38700" y="4891088"/>
            <a:ext cx="495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</a:endParaRPr>
          </a:p>
        </p:txBody>
      </p:sp>
      <p:sp>
        <p:nvSpPr>
          <p:cNvPr id="109581" name="Text Box 13">
            <a:extLst>
              <a:ext uri="{FF2B5EF4-FFF2-40B4-BE49-F238E27FC236}">
                <a16:creationId xmlns:a16="http://schemas.microsoft.com/office/drawing/2014/main" id="{71382094-A623-4F1E-8BDB-6F957CED3F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35525" y="6154738"/>
            <a:ext cx="1982788" cy="206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72494" tIns="36247" rIns="72494" bIns="36247">
            <a:spAutoFit/>
          </a:bodyPr>
          <a:lstStyle>
            <a:lvl1pPr defTabSz="725488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361950" defTabSz="725488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725488" defTabSz="725488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087438" defTabSz="725488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1449388" defTabSz="725488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19065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3637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28209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2781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defRPr/>
            </a:pPr>
            <a:r>
              <a:rPr lang="en-US" altLang="en-US" sz="900" i="1"/>
              <a:t>Protect from discharge-induced currents</a:t>
            </a:r>
          </a:p>
        </p:txBody>
      </p:sp>
      <p:sp>
        <p:nvSpPr>
          <p:cNvPr id="109582" name="Line 14">
            <a:extLst>
              <a:ext uri="{FF2B5EF4-FFF2-40B4-BE49-F238E27FC236}">
                <a16:creationId xmlns:a16="http://schemas.microsoft.com/office/drawing/2014/main" id="{18D4BC63-78F7-4E58-BE1A-4A76573B9D5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646738" y="5132388"/>
            <a:ext cx="768350" cy="10255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</a:endParaRPr>
          </a:p>
        </p:txBody>
      </p:sp>
      <p:sp>
        <p:nvSpPr>
          <p:cNvPr id="109583" name="Line 15">
            <a:extLst>
              <a:ext uri="{FF2B5EF4-FFF2-40B4-BE49-F238E27FC236}">
                <a16:creationId xmlns:a16="http://schemas.microsoft.com/office/drawing/2014/main" id="{14F1C226-7C1E-4D03-8DCD-DF873CE6784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495925" y="5313363"/>
            <a:ext cx="928688" cy="8445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</a:endParaRPr>
          </a:p>
        </p:txBody>
      </p:sp>
      <p:sp>
        <p:nvSpPr>
          <p:cNvPr id="109584" name="Text Box 16">
            <a:extLst>
              <a:ext uri="{FF2B5EF4-FFF2-40B4-BE49-F238E27FC236}">
                <a16:creationId xmlns:a16="http://schemas.microsoft.com/office/drawing/2014/main" id="{1BF191D4-00A8-432D-9C14-CDAC5C2115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3788" y="4256088"/>
            <a:ext cx="508000" cy="206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72494" tIns="36247" rIns="72494" bIns="36247">
            <a:spAutoFit/>
          </a:bodyPr>
          <a:lstStyle>
            <a:lvl1pPr defTabSz="725488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361950" defTabSz="725488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725488" defTabSz="725488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087438" defTabSz="725488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1449388" defTabSz="725488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19065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3637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28209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2781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defRPr/>
            </a:pPr>
            <a:r>
              <a:rPr lang="en-US" altLang="en-US" sz="900" i="1"/>
              <a:t>(ion)</a:t>
            </a:r>
          </a:p>
        </p:txBody>
      </p:sp>
      <p:sp>
        <p:nvSpPr>
          <p:cNvPr id="109585" name="Line 17">
            <a:extLst>
              <a:ext uri="{FF2B5EF4-FFF2-40B4-BE49-F238E27FC236}">
                <a16:creationId xmlns:a16="http://schemas.microsoft.com/office/drawing/2014/main" id="{42372D26-AFC0-4409-8358-F53492E0FE97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5075" y="3486150"/>
            <a:ext cx="13843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</a:endParaRPr>
          </a:p>
        </p:txBody>
      </p:sp>
      <p:sp>
        <p:nvSpPr>
          <p:cNvPr id="109586" name="Text Box 18">
            <a:extLst>
              <a:ext uri="{FF2B5EF4-FFF2-40B4-BE49-F238E27FC236}">
                <a16:creationId xmlns:a16="http://schemas.microsoft.com/office/drawing/2014/main" id="{1E84CC37-42B4-4568-91CC-ADD6A54981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855788"/>
            <a:ext cx="2366963" cy="738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72494" tIns="36247" rIns="72494" bIns="36247">
            <a:spAutoFit/>
          </a:bodyPr>
          <a:lstStyle>
            <a:lvl1pPr defTabSz="725488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361950" defTabSz="725488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725488" defTabSz="725488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087438" defTabSz="725488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1449388" defTabSz="725488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19065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3637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28209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2781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defRPr/>
            </a:pPr>
            <a:r>
              <a:rPr lang="en-US" altLang="en-US" sz="900" i="1"/>
              <a:t>Plasma generating device to “ground” the spacecraft to the plasma</a:t>
            </a:r>
          </a:p>
          <a:p>
            <a:pPr>
              <a:defRPr/>
            </a:pPr>
            <a:endParaRPr lang="en-US" altLang="en-US" sz="900" i="1"/>
          </a:p>
          <a:p>
            <a:pPr>
              <a:defRPr/>
            </a:pPr>
            <a:r>
              <a:rPr lang="en-US" altLang="en-US" sz="900" i="1">
                <a:sym typeface="Symbol" charset="2"/>
              </a:rPr>
              <a:t>   used on space station (because arcing is expected due to thin thermal control coating)</a:t>
            </a:r>
            <a:endParaRPr lang="en-US" altLang="en-US" sz="900" i="1"/>
          </a:p>
        </p:txBody>
      </p:sp>
      <p:sp>
        <p:nvSpPr>
          <p:cNvPr id="109587" name="Line 19">
            <a:extLst>
              <a:ext uri="{FF2B5EF4-FFF2-40B4-BE49-F238E27FC236}">
                <a16:creationId xmlns:a16="http://schemas.microsoft.com/office/drawing/2014/main" id="{EBA26A3E-3064-4E75-B792-B2532408AC4C}"/>
              </a:ext>
            </a:extLst>
          </p:cNvPr>
          <p:cNvSpPr>
            <a:spLocks noChangeShapeType="1"/>
          </p:cNvSpPr>
          <p:nvPr/>
        </p:nvSpPr>
        <p:spPr bwMode="auto">
          <a:xfrm>
            <a:off x="646113" y="2590800"/>
            <a:ext cx="1979612" cy="16271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82678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7FC69-1006-BD94-3CEB-1422F9202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>
            <a:extLst>
              <a:ext uri="{FF2B5EF4-FFF2-40B4-BE49-F238E27FC236}">
                <a16:creationId xmlns:a16="http://schemas.microsoft.com/office/drawing/2014/main" id="{FCE1BD8C-AE34-42D1-D0CB-EEBA4FEC322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0375" y="2590800"/>
            <a:ext cx="6124575" cy="3446463"/>
          </a:xfrm>
          <a:ln/>
        </p:spPr>
      </p:sp>
      <p:sp>
        <p:nvSpPr>
          <p:cNvPr id="109572" name="Text Box 4">
            <a:extLst>
              <a:ext uri="{FF2B5EF4-FFF2-40B4-BE49-F238E27FC236}">
                <a16:creationId xmlns:a16="http://schemas.microsoft.com/office/drawing/2014/main" id="{42193AF1-3DAC-D7DF-35FF-2DD4FF454C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30688" y="2085975"/>
            <a:ext cx="2365375" cy="206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72494" tIns="36247" rIns="72494" bIns="36247">
            <a:spAutoFit/>
          </a:bodyPr>
          <a:lstStyle>
            <a:lvl1pPr defTabSz="725488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361950" defTabSz="725488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725488" defTabSz="725488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087438" defTabSz="725488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1449388" defTabSz="725488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19065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3637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28209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2781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defRPr/>
            </a:pPr>
            <a:r>
              <a:rPr lang="en-US" altLang="en-US" sz="900" i="1"/>
              <a:t>Focus on preventing electrostatic discharges</a:t>
            </a:r>
          </a:p>
        </p:txBody>
      </p:sp>
      <p:sp>
        <p:nvSpPr>
          <p:cNvPr id="109573" name="Line 5">
            <a:extLst>
              <a:ext uri="{FF2B5EF4-FFF2-40B4-BE49-F238E27FC236}">
                <a16:creationId xmlns:a16="http://schemas.microsoft.com/office/drawing/2014/main" id="{D028786B-3ADC-71E0-7CA7-F5248B2273B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03600" y="2189163"/>
            <a:ext cx="869950" cy="3825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</a:endParaRPr>
          </a:p>
        </p:txBody>
      </p:sp>
      <p:sp>
        <p:nvSpPr>
          <p:cNvPr id="109574" name="Text Box 6">
            <a:extLst>
              <a:ext uri="{FF2B5EF4-FFF2-40B4-BE49-F238E27FC236}">
                <a16:creationId xmlns:a16="http://schemas.microsoft.com/office/drawing/2014/main" id="{FF90FC03-4A2E-FEA4-508D-C6ED50D766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688" y="6245225"/>
            <a:ext cx="2365375" cy="206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72494" tIns="36247" rIns="72494" bIns="36247">
            <a:spAutoFit/>
          </a:bodyPr>
          <a:lstStyle>
            <a:lvl1pPr defTabSz="725488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361950" defTabSz="725488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725488" defTabSz="725488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087438" defTabSz="725488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1449388" defTabSz="725488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19065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3637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28209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2781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defRPr/>
            </a:pPr>
            <a:r>
              <a:rPr lang="en-US" altLang="en-US" sz="900" i="1"/>
              <a:t>Several techniques recommended by NASA</a:t>
            </a:r>
          </a:p>
        </p:txBody>
      </p:sp>
      <p:sp>
        <p:nvSpPr>
          <p:cNvPr id="109575" name="Line 7">
            <a:extLst>
              <a:ext uri="{FF2B5EF4-FFF2-40B4-BE49-F238E27FC236}">
                <a16:creationId xmlns:a16="http://schemas.microsoft.com/office/drawing/2014/main" id="{BF05E59C-9335-8A8A-ABFF-5D2FC16CE26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08038" y="4781550"/>
            <a:ext cx="798512" cy="1466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</a:endParaRPr>
          </a:p>
        </p:txBody>
      </p:sp>
      <p:sp>
        <p:nvSpPr>
          <p:cNvPr id="109576" name="Line 8">
            <a:extLst>
              <a:ext uri="{FF2B5EF4-FFF2-40B4-BE49-F238E27FC236}">
                <a16:creationId xmlns:a16="http://schemas.microsoft.com/office/drawing/2014/main" id="{51842C6B-6548-1939-8E45-358F6E6EFE4E}"/>
              </a:ext>
            </a:extLst>
          </p:cNvPr>
          <p:cNvSpPr>
            <a:spLocks noChangeShapeType="1"/>
          </p:cNvSpPr>
          <p:nvPr/>
        </p:nvSpPr>
        <p:spPr bwMode="auto">
          <a:xfrm>
            <a:off x="4222750" y="3797300"/>
            <a:ext cx="54451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</a:endParaRPr>
          </a:p>
        </p:txBody>
      </p:sp>
      <p:sp>
        <p:nvSpPr>
          <p:cNvPr id="109577" name="Text Box 9">
            <a:extLst>
              <a:ext uri="{FF2B5EF4-FFF2-40B4-BE49-F238E27FC236}">
                <a16:creationId xmlns:a16="http://schemas.microsoft.com/office/drawing/2014/main" id="{D36F45E4-1BFF-3B3C-CDB9-5FA58628DE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8900" y="3854450"/>
            <a:ext cx="1690688" cy="33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72494" tIns="36247" rIns="72494" bIns="36247">
            <a:spAutoFit/>
          </a:bodyPr>
          <a:lstStyle>
            <a:lvl1pPr defTabSz="725488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361950" defTabSz="725488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725488" defTabSz="725488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087438" defTabSz="725488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1449388" defTabSz="725488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19065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3637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28209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2781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defRPr/>
            </a:pPr>
            <a:r>
              <a:rPr lang="en-US" altLang="en-US" sz="900" i="1"/>
              <a:t>Make the exterior surfaces as conductive as possible</a:t>
            </a:r>
          </a:p>
        </p:txBody>
      </p:sp>
      <p:sp>
        <p:nvSpPr>
          <p:cNvPr id="109578" name="Line 10">
            <a:extLst>
              <a:ext uri="{FF2B5EF4-FFF2-40B4-BE49-F238E27FC236}">
                <a16:creationId xmlns:a16="http://schemas.microsoft.com/office/drawing/2014/main" id="{09F35825-4EC6-4537-1D55-E9289ACDF27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21025" y="4068763"/>
            <a:ext cx="20716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</a:endParaRPr>
          </a:p>
        </p:txBody>
      </p:sp>
      <p:sp>
        <p:nvSpPr>
          <p:cNvPr id="109579" name="Text Box 11">
            <a:extLst>
              <a:ext uri="{FF2B5EF4-FFF2-40B4-BE49-F238E27FC236}">
                <a16:creationId xmlns:a16="http://schemas.microsoft.com/office/drawing/2014/main" id="{7D9AEFC2-0581-C6A1-1B9F-48A76A0922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0350" y="4778375"/>
            <a:ext cx="1568450" cy="206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72494" tIns="36247" rIns="72494" bIns="36247">
            <a:spAutoFit/>
          </a:bodyPr>
          <a:lstStyle>
            <a:lvl1pPr defTabSz="725488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361950" defTabSz="725488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725488" defTabSz="725488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087438" defTabSz="725488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1449388" defTabSz="725488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19065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3637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28209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2781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defRPr/>
            </a:pPr>
            <a:r>
              <a:rPr lang="en-US" altLang="en-US" sz="900" i="1"/>
              <a:t>Minimize potential differences</a:t>
            </a:r>
          </a:p>
        </p:txBody>
      </p:sp>
      <p:sp>
        <p:nvSpPr>
          <p:cNvPr id="109580" name="Line 12">
            <a:extLst>
              <a:ext uri="{FF2B5EF4-FFF2-40B4-BE49-F238E27FC236}">
                <a16:creationId xmlns:a16="http://schemas.microsoft.com/office/drawing/2014/main" id="{5BA12863-2277-26EC-7633-BC928338661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38700" y="4891088"/>
            <a:ext cx="495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</a:endParaRPr>
          </a:p>
        </p:txBody>
      </p:sp>
      <p:sp>
        <p:nvSpPr>
          <p:cNvPr id="109581" name="Text Box 13">
            <a:extLst>
              <a:ext uri="{FF2B5EF4-FFF2-40B4-BE49-F238E27FC236}">
                <a16:creationId xmlns:a16="http://schemas.microsoft.com/office/drawing/2014/main" id="{6F62BB7D-8DF1-6215-D5B4-10A3C4EA7E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35525" y="6154738"/>
            <a:ext cx="1982788" cy="206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72494" tIns="36247" rIns="72494" bIns="36247">
            <a:spAutoFit/>
          </a:bodyPr>
          <a:lstStyle>
            <a:lvl1pPr defTabSz="725488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361950" defTabSz="725488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725488" defTabSz="725488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087438" defTabSz="725488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1449388" defTabSz="725488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19065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3637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28209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2781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defRPr/>
            </a:pPr>
            <a:r>
              <a:rPr lang="en-US" altLang="en-US" sz="900" i="1"/>
              <a:t>Protect from discharge-induced currents</a:t>
            </a:r>
          </a:p>
        </p:txBody>
      </p:sp>
      <p:sp>
        <p:nvSpPr>
          <p:cNvPr id="109582" name="Line 14">
            <a:extLst>
              <a:ext uri="{FF2B5EF4-FFF2-40B4-BE49-F238E27FC236}">
                <a16:creationId xmlns:a16="http://schemas.microsoft.com/office/drawing/2014/main" id="{46A35EE9-35C0-6BA4-ECBD-FB4B37444E6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646738" y="5132388"/>
            <a:ext cx="768350" cy="10255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</a:endParaRPr>
          </a:p>
        </p:txBody>
      </p:sp>
      <p:sp>
        <p:nvSpPr>
          <p:cNvPr id="109583" name="Line 15">
            <a:extLst>
              <a:ext uri="{FF2B5EF4-FFF2-40B4-BE49-F238E27FC236}">
                <a16:creationId xmlns:a16="http://schemas.microsoft.com/office/drawing/2014/main" id="{C59DC150-8DFF-CC97-CF14-CC100EC7721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495925" y="5313363"/>
            <a:ext cx="928688" cy="8445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</a:endParaRPr>
          </a:p>
        </p:txBody>
      </p:sp>
      <p:sp>
        <p:nvSpPr>
          <p:cNvPr id="109584" name="Text Box 16">
            <a:extLst>
              <a:ext uri="{FF2B5EF4-FFF2-40B4-BE49-F238E27FC236}">
                <a16:creationId xmlns:a16="http://schemas.microsoft.com/office/drawing/2014/main" id="{F4729F7B-B518-53A5-C0F4-8381FFD75B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3788" y="4256088"/>
            <a:ext cx="508000" cy="206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72494" tIns="36247" rIns="72494" bIns="36247">
            <a:spAutoFit/>
          </a:bodyPr>
          <a:lstStyle>
            <a:lvl1pPr defTabSz="725488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361950" defTabSz="725488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725488" defTabSz="725488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087438" defTabSz="725488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1449388" defTabSz="725488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19065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3637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28209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2781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defRPr/>
            </a:pPr>
            <a:r>
              <a:rPr lang="en-US" altLang="en-US" sz="900" i="1"/>
              <a:t>(ion)</a:t>
            </a:r>
          </a:p>
        </p:txBody>
      </p:sp>
      <p:sp>
        <p:nvSpPr>
          <p:cNvPr id="109585" name="Line 17">
            <a:extLst>
              <a:ext uri="{FF2B5EF4-FFF2-40B4-BE49-F238E27FC236}">
                <a16:creationId xmlns:a16="http://schemas.microsoft.com/office/drawing/2014/main" id="{E8ED344F-D4C2-5B07-B706-14A2E5E245CD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5075" y="3486150"/>
            <a:ext cx="13843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</a:endParaRPr>
          </a:p>
        </p:txBody>
      </p:sp>
      <p:sp>
        <p:nvSpPr>
          <p:cNvPr id="109586" name="Text Box 18">
            <a:extLst>
              <a:ext uri="{FF2B5EF4-FFF2-40B4-BE49-F238E27FC236}">
                <a16:creationId xmlns:a16="http://schemas.microsoft.com/office/drawing/2014/main" id="{9EA27213-9BDB-2D00-845A-24DC239864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855788"/>
            <a:ext cx="2366963" cy="738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72494" tIns="36247" rIns="72494" bIns="36247">
            <a:spAutoFit/>
          </a:bodyPr>
          <a:lstStyle>
            <a:lvl1pPr defTabSz="725488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361950" defTabSz="725488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725488" defTabSz="725488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087438" defTabSz="725488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1449388" defTabSz="725488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19065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3637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28209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2781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defRPr/>
            </a:pPr>
            <a:r>
              <a:rPr lang="en-US" altLang="en-US" sz="900" i="1"/>
              <a:t>Plasma generating device to “ground” the spacecraft to the plasma</a:t>
            </a:r>
          </a:p>
          <a:p>
            <a:pPr>
              <a:defRPr/>
            </a:pPr>
            <a:endParaRPr lang="en-US" altLang="en-US" sz="900" i="1"/>
          </a:p>
          <a:p>
            <a:pPr>
              <a:defRPr/>
            </a:pPr>
            <a:r>
              <a:rPr lang="en-US" altLang="en-US" sz="900" i="1">
                <a:sym typeface="Symbol" charset="2"/>
              </a:rPr>
              <a:t>   used on space station (because arcing is expected due to thin thermal control coating)</a:t>
            </a:r>
            <a:endParaRPr lang="en-US" altLang="en-US" sz="900" i="1"/>
          </a:p>
        </p:txBody>
      </p:sp>
      <p:sp>
        <p:nvSpPr>
          <p:cNvPr id="109587" name="Line 19">
            <a:extLst>
              <a:ext uri="{FF2B5EF4-FFF2-40B4-BE49-F238E27FC236}">
                <a16:creationId xmlns:a16="http://schemas.microsoft.com/office/drawing/2014/main" id="{E6A297E6-C7D5-27C6-3E51-4BA191A2D0B4}"/>
              </a:ext>
            </a:extLst>
          </p:cNvPr>
          <p:cNvSpPr>
            <a:spLocks noChangeShapeType="1"/>
          </p:cNvSpPr>
          <p:nvPr/>
        </p:nvSpPr>
        <p:spPr bwMode="auto">
          <a:xfrm>
            <a:off x="646113" y="2590800"/>
            <a:ext cx="1979612" cy="16271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26121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632D2-CABE-403C-8964-BDD5DC51356E}" type="datetime1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C362F-97FB-4C1E-B0F0-C3069DD0CD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2866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4D122-EE04-4CC6-B163-D12A561A66D2}" type="datetime1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C362F-97FB-4C1E-B0F0-C3069DD0CD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0073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4EA24-0F3B-447C-A963-07721E74BCCE}" type="datetime1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C362F-97FB-4C1E-B0F0-C3069DD0CD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9254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BA083-6928-4621-8631-866E1342E35D}" type="datetime1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C362F-97FB-4C1E-B0F0-C3069DD0CD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4272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FA8ED-6739-453E-B492-2BAF172FEBDD}" type="datetime1">
              <a:rPr lang="en-US" smtClean="0"/>
              <a:t>7/8/2026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C362F-97FB-4C1E-B0F0-C3069DD0CD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7216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56359-1728-4CB8-9200-31DC70A2375F}" type="datetime1">
              <a:rPr lang="en-US" smtClean="0"/>
              <a:t>7/8/2026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C362F-97FB-4C1E-B0F0-C3069DD0CD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666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B362F-B24F-406F-B93B-16DAB642A26B}" type="datetime1">
              <a:rPr lang="en-US" smtClean="0"/>
              <a:t>7/8/2026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C362F-97FB-4C1E-B0F0-C3069DD0CD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0301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A5C46-60B8-4C69-95BA-2DD31C7431E4}" type="datetime1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C362F-97FB-4C1E-B0F0-C3069DD0CD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31067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118A3-7CA4-4E35-B110-11CFDC1D0DD9}" type="datetime1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C362F-97FB-4C1E-B0F0-C3069DD0CD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087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C460D-BE79-4F0A-8BB8-56C84054B2D7}" type="datetime1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C362F-97FB-4C1E-B0F0-C3069DD0CD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278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0D692-B4A8-4EEA-A2A9-9AF603255A52}" type="datetime1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C362F-97FB-4C1E-B0F0-C3069DD0CD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6096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C205D-CBDC-4D0E-876F-3F93E475F326}" type="datetime1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C362F-97FB-4C1E-B0F0-C3069DD0CDD1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224326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2FCC8-6C3E-4761-BFE9-751570E4AEFD}" type="datetime1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C362F-97FB-4C1E-B0F0-C3069DD0CD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0023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A5845-DDF3-43B8-BBD6-5B279FC24954}" type="datetime1">
              <a:rPr lang="en-US" smtClean="0"/>
              <a:t>7/8/2026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C362F-97FB-4C1E-B0F0-C3069DD0CD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6538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8F0F0-D78E-4574-81D0-4C365511F5B4}" type="datetime1">
              <a:rPr lang="en-US" smtClean="0"/>
              <a:t>7/8/2026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C362F-97FB-4C1E-B0F0-C3069DD0CD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7495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872A3-784E-48C3-BFDF-B093A9C88AC2}" type="datetime1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C362F-97FB-4C1E-B0F0-C3069DD0CD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4144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1C470-28B2-4459-AEAC-8B77F377EB85}" type="datetime1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C362F-97FB-4C1E-B0F0-C3069DD0CD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13459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44188-2292-4F65-8F6F-761BFFEA56B8}" type="datetime1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20853-C384-4919-8F9A-9CB57A0B2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338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9C4230E7-F8BD-4A12-9D12-35F57016E1D6}" type="datetime1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C83C362F-97FB-4C1E-B0F0-C3069DD0CD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5906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  <p:sldLayoutId id="2147483750" r:id="rId18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hyperlink" Target="https://www.spaceweather.gov/products/glotec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1.jpeg"/><Relationship Id="rId4" Type="http://schemas.openxmlformats.org/officeDocument/2006/relationships/image" Target="../media/image20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3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0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4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hyperlink" Target="https://physicsinmyview.com/2020/08/model-of-aristotelian-universe.html" TargetMode="External"/><Relationship Id="rId3" Type="http://schemas.openxmlformats.org/officeDocument/2006/relationships/hyperlink" Target="https://sidstation.loudet.org/ionosphere-en.xhtml#:~:text=A%20Sudden%20Ionospheric%20Disturbance%20results%20from%20an%20increased,increase%20the%20ionisation%20process%20and%20the%20electron%20density" TargetMode="External"/><Relationship Id="rId7" Type="http://schemas.openxmlformats.org/officeDocument/2006/relationships/hyperlink" Target="https://www.electronics-notes.com/articles/antennas-propagation/ionospheric/sporadic-e-es.php#:~:text=Sporadic%20E%20basics%20Sporadic%20E%2C%20Es%2C%20arises%20when,when%20they%20would%20normally%20be%20at%20their%20highest" TargetMode="External"/><Relationship Id="rId2" Type="http://schemas.openxmlformats.org/officeDocument/2006/relationships/hyperlink" Target="https://www.britannica.com/biography/Aristotle/Physics-and-metaphysics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olarsystem.nasa.gov/news/1127/10-things-to-know-about-the-ionosphere/" TargetMode="External"/><Relationship Id="rId5" Type="http://schemas.openxmlformats.org/officeDocument/2006/relationships/hyperlink" Target="https://science.nasa.gov/science-news/science-at-nasa/2014/23jul_superstorm/" TargetMode="External"/><Relationship Id="rId4" Type="http://schemas.openxmlformats.org/officeDocument/2006/relationships/hyperlink" Target="https://iono.jpl.nasa.gov/latest_rti_global.html" TargetMode="External"/><Relationship Id="rId9" Type="http://schemas.openxmlformats.org/officeDocument/2006/relationships/hyperlink" Target="https://www.researchgate.net/publication/224186897_Space_solar_cell_edge_interconnect_and_coverglass_designs_and_their_effect_on_spacecraft_charging_and_plasma_interaction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ee the source image">
            <a:extLst>
              <a:ext uri="{FF2B5EF4-FFF2-40B4-BE49-F238E27FC236}">
                <a16:creationId xmlns:a16="http://schemas.microsoft.com/office/drawing/2014/main" id="{0F8B0BB9-D1FC-416E-9757-EE9EB172E1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987" y="0"/>
            <a:ext cx="457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ee the source image">
            <a:extLst>
              <a:ext uri="{FF2B5EF4-FFF2-40B4-BE49-F238E27FC236}">
                <a16:creationId xmlns:a16="http://schemas.microsoft.com/office/drawing/2014/main" id="{65C5B11D-45AE-4E42-BB5D-6DF6D62B56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4735" y="-5030"/>
            <a:ext cx="7207659" cy="6863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A1E751D-39C1-4D6E-82CB-23AF9E5F929C}"/>
              </a:ext>
            </a:extLst>
          </p:cNvPr>
          <p:cNvSpPr txBox="1"/>
          <p:nvPr/>
        </p:nvSpPr>
        <p:spPr>
          <a:xfrm>
            <a:off x="5349989" y="3512019"/>
            <a:ext cx="629817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</a:rPr>
              <a:t>THE PLASMA ENVIRONMENT PART 2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4194090-8B3B-1C96-5ADD-EC6A3F57B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C362F-97FB-4C1E-B0F0-C3069DD0CDD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118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C12F1-A240-4D1A-AE9F-4EC80AE67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5000"/>
              <a:t>IONOSPHERIC DISTURBANCES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5A779F-0CFA-44D9-A5B2-2C3983CE9C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200"/>
              <a:t>IONOSPHERIC STORMS</a:t>
            </a:r>
          </a:p>
          <a:p>
            <a:pPr>
              <a:buFontTx/>
              <a:buChar char="-"/>
            </a:pPr>
            <a:r>
              <a:rPr lang="en-US" sz="2200"/>
              <a:t>SUDDEN IONOSPHERIC DISTURBANCES</a:t>
            </a:r>
          </a:p>
          <a:p>
            <a:pPr>
              <a:buFontTx/>
              <a:buChar char="-"/>
            </a:pPr>
            <a:r>
              <a:rPr lang="en-US" sz="2200"/>
              <a:t>TRAVELING IONOSPHERIC DISTURBANCES</a:t>
            </a:r>
          </a:p>
          <a:p>
            <a:pPr>
              <a:buFontTx/>
              <a:buChar char="-"/>
            </a:pPr>
            <a:r>
              <a:rPr lang="en-US" sz="2200"/>
              <a:t>SPORADIC E REGION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A6646F-8E5F-4AB3-947F-229D0C0B1A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8" y="1095291"/>
            <a:ext cx="5458968" cy="466741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DBA74A-C6AD-2085-3CD4-1319DE779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20853-C384-4919-8F9A-9CB57A0B2B6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0533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Measurement chart for a quiet day">
            <a:extLst>
              <a:ext uri="{FF2B5EF4-FFF2-40B4-BE49-F238E27FC236}">
                <a16:creationId xmlns:a16="http://schemas.microsoft.com/office/drawing/2014/main" id="{86812BBF-449C-4DA5-948D-420BAE1F06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1082675"/>
            <a:ext cx="7186613" cy="23431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Measurement chart for a day with SID Events">
            <a:extLst>
              <a:ext uri="{FF2B5EF4-FFF2-40B4-BE49-F238E27FC236}">
                <a16:creationId xmlns:a16="http://schemas.microsoft.com/office/drawing/2014/main" id="{A4044C05-8EFB-4371-BAD9-A345BC18CD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3482975"/>
            <a:ext cx="7186613" cy="228758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0B2742-6F70-4CF5-B30B-80AF29B45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069" y="2074363"/>
            <a:ext cx="2978366" cy="2923207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 w="174625" cmpd="thinThick">
            <a:solidFill>
              <a:schemeClr val="tx1">
                <a:lumMod val="85000"/>
                <a:lumOff val="15000"/>
              </a:schemeClr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4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IONOSPHERIC </a:t>
            </a:r>
            <a:r>
              <a:rPr lang="en-US" sz="2400" dirty="0">
                <a:solidFill>
                  <a:schemeClr val="bg1"/>
                </a:solidFill>
              </a:rPr>
              <a:t>DISTURBANCES</a:t>
            </a:r>
            <a:endParaRPr lang="en-US" sz="24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905721-3AED-483C-B9D7-530FB5A78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20853-C384-4919-8F9A-9CB57A0B2B6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0049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E6BF6-860E-4B24-BED1-5D3302276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1"/>
            <a:ext cx="10909640" cy="1832654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5600" b="0" i="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Medium-scale </a:t>
            </a:r>
            <a:r>
              <a:rPr lang="en-US" sz="5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</a:t>
            </a:r>
            <a:r>
              <a:rPr lang="en-US" sz="5600" b="0" i="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raveling </a:t>
            </a:r>
            <a:r>
              <a:rPr lang="en-US" sz="5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</a:t>
            </a:r>
            <a:r>
              <a:rPr lang="en-US" sz="5600" b="0" i="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onospheric </a:t>
            </a:r>
            <a:r>
              <a:rPr lang="en-US" sz="5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</a:t>
            </a:r>
            <a:r>
              <a:rPr lang="en-US" sz="5600" b="0" i="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isturbances (MSTIDs) </a:t>
            </a:r>
            <a:endParaRPr lang="en-US" sz="56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7" name="Picture 6" descr="A screenshot of a map&#10;&#10;Description automatically generated with low confidence">
            <a:extLst>
              <a:ext uri="{FF2B5EF4-FFF2-40B4-BE49-F238E27FC236}">
                <a16:creationId xmlns:a16="http://schemas.microsoft.com/office/drawing/2014/main" id="{07581EAD-3EFD-49C4-9299-43ED928EF9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258" y="2289855"/>
            <a:ext cx="10707093" cy="339950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83786EC-C599-EB29-46A8-18C038566968}"/>
              </a:ext>
            </a:extLst>
          </p:cNvPr>
          <p:cNvSpPr txBox="1"/>
          <p:nvPr/>
        </p:nvSpPr>
        <p:spPr>
          <a:xfrm>
            <a:off x="309092" y="5988676"/>
            <a:ext cx="11352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See </a:t>
            </a:r>
            <a:r>
              <a:rPr lang="en-US" dirty="0" err="1">
                <a:hlinkClick r:id="rId4"/>
              </a:rPr>
              <a:t>GloTEC</a:t>
            </a:r>
            <a:r>
              <a:rPr lang="en-US" dirty="0">
                <a:hlinkClick r:id="rId4"/>
              </a:rPr>
              <a:t> | NOAA / NWS Space Weather Prediction Center</a:t>
            </a:r>
            <a:r>
              <a:rPr lang="en-US" dirty="0"/>
              <a:t> for more examples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9C38BE-BB81-0DE5-F28E-902A4CBA8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20853-C384-4919-8F9A-9CB57A0B2B6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7961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98D48-BA5A-49D5-AEFC-64AB6E517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AutoShape 2" descr="Overview of sporadic E radio propagation">
            <a:extLst>
              <a:ext uri="{FF2B5EF4-FFF2-40B4-BE49-F238E27FC236}">
                <a16:creationId xmlns:a16="http://schemas.microsoft.com/office/drawing/2014/main" id="{326B737B-069C-431F-88C5-841E69C4F55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Overview of sporadic E radio propagation">
            <a:extLst>
              <a:ext uri="{FF2B5EF4-FFF2-40B4-BE49-F238E27FC236}">
                <a16:creationId xmlns:a16="http://schemas.microsoft.com/office/drawing/2014/main" id="{BFA8570C-DD26-435A-9D65-E3627A28087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6" descr="Visual search query image">
            <a:extLst>
              <a:ext uri="{FF2B5EF4-FFF2-40B4-BE49-F238E27FC236}">
                <a16:creationId xmlns:a16="http://schemas.microsoft.com/office/drawing/2014/main" id="{69EE0869-0E97-440E-BBF1-DD549DD3610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7319DD7-CEA4-4003-BF51-954E423190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0950"/>
            <a:ext cx="12192000" cy="6056099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232A191-4698-3C3C-37E1-0738E5275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20853-C384-4919-8F9A-9CB57A0B2B6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9290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CE27-DC0C-46F9-9FF3-D08CB9958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OTHER EFFECTS – Ionospheric Time Delay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6551E87-213C-4FC6-A00C-BBC2DDD40751}"/>
                  </a:ext>
                </a:extLst>
              </p:cNvPr>
              <p:cNvSpPr txBox="1"/>
              <p:nvPr/>
            </p:nvSpPr>
            <p:spPr>
              <a:xfrm>
                <a:off x="1038046" y="1772802"/>
                <a:ext cx="2404376" cy="13031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𝑔</m:t>
                                  </m:r>
                                </m:sub>
                              </m:sSub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nary>
                            <m:naryPr>
                              <m:limLoc m:val="undOvr"/>
                              <m:subHide m:val="on"/>
                              <m:supHide m:val="on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den>
                              </m:f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𝑑𝑠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r>
                  <a:rPr lang="en-US" dirty="0"/>
                  <a:t>Where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𝑔𝑟𝑜𝑢𝑝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𝑠𝑝𝑒𝑒𝑑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6551E87-213C-4FC6-A00C-BBC2DDD407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046" y="1772802"/>
                <a:ext cx="2404376" cy="1303114"/>
              </a:xfrm>
              <a:prstGeom prst="rect">
                <a:avLst/>
              </a:prstGeom>
              <a:blipFill>
                <a:blip r:embed="rId2"/>
                <a:stretch>
                  <a:fillRect l="-5823" b="-51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79614BE-A691-4AB3-A7EA-9E636150961E}"/>
                  </a:ext>
                </a:extLst>
              </p:cNvPr>
              <p:cNvSpPr txBox="1"/>
              <p:nvPr/>
            </p:nvSpPr>
            <p:spPr>
              <a:xfrm>
                <a:off x="790754" y="3988616"/>
                <a:ext cx="4635260" cy="23171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𝑝𝑒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num>
                            <m:den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rad>
                    </m:oMath>
                  </m:oMathPara>
                </a14:m>
                <a:endParaRPr lang="en-US" b="0" dirty="0"/>
              </a:p>
              <a:p>
                <a:r>
                  <a:rPr lang="en-US" dirty="0"/>
                  <a:t>Where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𝑝𝑒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𝑃𝑙𝑎𝑠𝑚𝑎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𝐸𝑙𝑒𝑐𝑡𝑟𝑜𝑛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𝐹𝑟𝑒𝑞𝑢𝑒𝑛𝑐𝑦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𝐻𝑧</m:t>
                          </m:r>
                        </m:e>
                      </m:d>
                    </m:oMath>
                  </m:oMathPara>
                </a14:m>
                <a:endParaRPr lang="en-US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𝑓𝑟𝑒𝑞𝑢𝑒𝑛𝑐𝑦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𝑠𝑖𝑔𝑛𝑎𝑙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𝐻𝑧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0" dirty="0"/>
              </a:p>
              <a:p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79614BE-A691-4AB3-A7EA-9E63615096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754" y="3988616"/>
                <a:ext cx="4635260" cy="2317109"/>
              </a:xfrm>
              <a:prstGeom prst="rect">
                <a:avLst/>
              </a:prstGeom>
              <a:blipFill>
                <a:blip r:embed="rId3"/>
                <a:stretch>
                  <a:fillRect l="-11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BACACF6-ACB0-4EF5-A22B-646F3DBB8631}"/>
                  </a:ext>
                </a:extLst>
              </p:cNvPr>
              <p:cNvSpPr txBox="1"/>
              <p:nvPr/>
            </p:nvSpPr>
            <p:spPr>
              <a:xfrm>
                <a:off x="4551872" y="1772802"/>
                <a:ext cx="3352800" cy="23530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40.31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𝑇𝐸𝐶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dirty="0"/>
                  <a:t> in seconds</a:t>
                </a:r>
              </a:p>
              <a:p>
                <a:endParaRPr lang="en-US" dirty="0"/>
              </a:p>
              <a:p>
                <a:r>
                  <a:rPr lang="en-US" dirty="0"/>
                  <a:t>Where:</a:t>
                </a:r>
              </a:p>
              <a:p>
                <a:r>
                  <a:rPr lang="en-US" dirty="0"/>
                  <a:t> </a:t>
                </a:r>
              </a:p>
              <a:p>
                <a:r>
                  <a:rPr lang="en-US" dirty="0"/>
                  <a:t>TEC = total electron content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𝑇𝐸𝐶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𝑑𝑠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BACACF6-ACB0-4EF5-A22B-646F3DBB86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1872" y="1772802"/>
                <a:ext cx="3352800" cy="2353080"/>
              </a:xfrm>
              <a:prstGeom prst="rect">
                <a:avLst/>
              </a:prstGeom>
              <a:blipFill>
                <a:blip r:embed="rId4"/>
                <a:stretch>
                  <a:fillRect l="-1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4" name="Picture 2" descr="See the source image">
            <a:extLst>
              <a:ext uri="{FF2B5EF4-FFF2-40B4-BE49-F238E27FC236}">
                <a16:creationId xmlns:a16="http://schemas.microsoft.com/office/drawing/2014/main" id="{28D16DF2-9B85-4533-B312-E8A3E9488A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3540" y="2714625"/>
            <a:ext cx="4457700" cy="4143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002CF8F-19C1-EC99-6122-9CD69BE77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20853-C384-4919-8F9A-9CB57A0B2B6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3113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FEBC6-DB4C-46CD-8F9D-9C911C0E8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OTHER EFFECTS – EXCESS RANGE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1C9B245-29AB-436E-BD34-63BC1D3FBFB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07089"/>
                <a:ext cx="10515600" cy="4351338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𝑚𝑒𝑡𝑒𝑟𝑠</m:t>
                          </m:r>
                        </m:e>
                      </m:d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𝑟𝑎𝑛𝑔𝑒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𝑒𝑟𝑟𝑜𝑟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1C9B245-29AB-436E-BD34-63BC1D3FBF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07089"/>
                <a:ext cx="10515600" cy="435133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29587386-C744-418C-AF24-DDF9917254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926" y="2626134"/>
            <a:ext cx="5248275" cy="3714750"/>
          </a:xfrm>
          <a:prstGeom prst="rect">
            <a:avLst/>
          </a:prstGeom>
        </p:spPr>
      </p:pic>
      <p:pic>
        <p:nvPicPr>
          <p:cNvPr id="4098" name="Picture 2" descr="Image result for elevation angle image">
            <a:extLst>
              <a:ext uri="{FF2B5EF4-FFF2-40B4-BE49-F238E27FC236}">
                <a16:creationId xmlns:a16="http://schemas.microsoft.com/office/drawing/2014/main" id="{E10C1838-C59C-47E7-9AA6-3C673166BA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0556" y="2996152"/>
            <a:ext cx="4200525" cy="2962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6C8EA8-7203-D135-6D94-C13A90CE9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20853-C384-4919-8F9A-9CB57A0B2B6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8295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6730A1-7F84-D64B-EAFC-7AE39AAA6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20853-C384-4919-8F9A-9CB57A0B2B64}" type="slidenum">
              <a:rPr lang="en-US" smtClean="0"/>
              <a:t>8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137E5FB-B32C-2ED9-1DAA-F1E45E8CF2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611" y="1755689"/>
            <a:ext cx="11252778" cy="3346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4429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CA7FF-6462-4858-AF48-2AF96FD4E8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3" y="-92683"/>
            <a:ext cx="10364451" cy="1596177"/>
          </a:xfrm>
        </p:spPr>
        <p:txBody>
          <a:bodyPr/>
          <a:lstStyle/>
          <a:p>
            <a:pPr algn="ctr"/>
            <a:r>
              <a:rPr lang="en-US" dirty="0"/>
              <a:t>OTHER EFFECTS:  SCINTILLATION</a:t>
            </a:r>
          </a:p>
        </p:txBody>
      </p:sp>
      <p:pic>
        <p:nvPicPr>
          <p:cNvPr id="7170" name="Picture 2" descr="See the source image">
            <a:extLst>
              <a:ext uri="{FF2B5EF4-FFF2-40B4-BE49-F238E27FC236}">
                <a16:creationId xmlns:a16="http://schemas.microsoft.com/office/drawing/2014/main" id="{29BB6B3A-8813-4803-B1C3-E2DA3B7BAA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37" y="1817154"/>
            <a:ext cx="11896725" cy="5429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922DB50-557B-4EFA-B220-ACF2865703AB}"/>
                  </a:ext>
                </a:extLst>
              </p:cNvPr>
              <p:cNvSpPr txBox="1"/>
              <p:nvPr/>
            </p:nvSpPr>
            <p:spPr>
              <a:xfrm>
                <a:off x="656303" y="1371600"/>
                <a:ext cx="49451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𝑎𝑚𝑝𝑙𝑖𝑡𝑢𝑑𝑒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𝑠𝑐𝑖𝑛𝑡𝑖𝑙𝑙𝑎𝑡𝑖𝑜𝑛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𝑖𝑛𝑑𝑒𝑥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922DB50-557B-4EFA-B220-ACF2865703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303" y="1371600"/>
                <a:ext cx="4945116" cy="369332"/>
              </a:xfrm>
              <a:prstGeom prst="rect">
                <a:avLst/>
              </a:prstGeom>
              <a:blipFill>
                <a:blip r:embed="rId3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0E9C00F-F1EA-4EC4-9A50-758FAB789A35}"/>
                  </a:ext>
                </a:extLst>
              </p:cNvPr>
              <p:cNvSpPr txBox="1"/>
              <p:nvPr/>
            </p:nvSpPr>
            <p:spPr>
              <a:xfrm>
                <a:off x="6450378" y="1423135"/>
                <a:ext cx="4945116" cy="3940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𝑝h𝑎𝑠𝑒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𝑠𝑐𝑖𝑛𝑡𝑖𝑙𝑙𝑎𝑡𝑖𝑜𝑛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𝑖𝑛𝑑𝑒𝑥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0E9C00F-F1EA-4EC4-9A50-758FAB789A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0378" y="1423135"/>
                <a:ext cx="4945116" cy="394019"/>
              </a:xfrm>
              <a:prstGeom prst="rect">
                <a:avLst/>
              </a:prstGeom>
              <a:blipFill>
                <a:blip r:embed="rId4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91E1B06-D1EF-F1EE-8477-ACE258948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20853-C384-4919-8F9A-9CB57A0B2B6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2843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9015F2-9910-2114-3127-64E215877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20853-C384-4919-8F9A-9CB57A0B2B64}" type="slidenum">
              <a:rPr lang="en-US" smtClean="0"/>
              <a:t>10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997B298-2AF2-FE67-C917-02827AE239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699" y="2711413"/>
            <a:ext cx="11684601" cy="1435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9102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83F24-A0E1-42BA-B7A1-ACE1852D3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SPACECRAFT CHARGING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3F2DBA-469F-4ED2-93B7-CAB6895CAC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6525" y="2917005"/>
            <a:ext cx="3992592" cy="113142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DARK = HIGH HAZARD</a:t>
            </a:r>
          </a:p>
          <a:p>
            <a:pPr marL="0" indent="0">
              <a:buNone/>
            </a:pPr>
            <a:r>
              <a:rPr lang="en-US" dirty="0"/>
              <a:t>WHITE = LOW HAZARD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CA975F-C902-4309-A3E3-69D559C666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" y="1777940"/>
            <a:ext cx="4953000" cy="409575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09F8B6-C2C8-3CE5-205F-A266219FD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20853-C384-4919-8F9A-9CB57A0B2B6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2803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CC562-3E1B-4885-A221-A1F63154D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HIGH ALTITUDE SPACECRAFT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EA481B-DA0D-4091-8F0E-B7F34DB345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937075" cy="4351338"/>
              </a:xfrm>
            </p:spPr>
            <p:txBody>
              <a:bodyPr/>
              <a:lstStyle/>
              <a:p>
                <a:r>
                  <a:rPr lang="en-US" dirty="0"/>
                  <a:t>Spacecraft velocities relatively slow (3 km/s)</a:t>
                </a:r>
              </a:p>
              <a:p>
                <a:endParaRPr lang="en-US" dirty="0"/>
              </a:p>
              <a:p>
                <a:r>
                  <a:rPr lang="en-US" dirty="0"/>
                  <a:t>Electron and ion speeds high</a:t>
                </a:r>
              </a:p>
              <a:p>
                <a:pPr marL="0" indent="0">
                  <a:buNone/>
                </a:pPr>
                <a:r>
                  <a:rPr lang="en-US" dirty="0"/>
                  <a:t>Ions 459 km/s!</a:t>
                </a:r>
              </a:p>
              <a:p>
                <a:pPr marL="0" indent="0">
                  <a:buNone/>
                </a:pPr>
                <a:r>
                  <a:rPr lang="en-US" dirty="0"/>
                  <a:t>Electrons 20,000 km/s!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𝑚𝑒𝑎𝑛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EA481B-DA0D-4091-8F0E-B7F34DB345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937075" cy="4351338"/>
              </a:xfrm>
              <a:blipFill>
                <a:blip r:embed="rId2"/>
                <a:stretch>
                  <a:fillRect l="-9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CC776F1-4540-45AF-B4FD-A3AC97699969}"/>
                  </a:ext>
                </a:extLst>
              </p:cNvPr>
              <p:cNvSpPr txBox="1"/>
              <p:nvPr/>
            </p:nvSpPr>
            <p:spPr>
              <a:xfrm>
                <a:off x="8160589" y="1834551"/>
                <a:ext cx="3548332" cy="9106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𝑚𝑒𝑎𝑛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8 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CC776F1-4540-45AF-B4FD-A3AC976999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0589" y="1834551"/>
                <a:ext cx="3548332" cy="9106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A1B9956-1062-4CA5-92DC-7883FBD2B80A}"/>
                  </a:ext>
                </a:extLst>
              </p:cNvPr>
              <p:cNvSpPr txBox="1"/>
              <p:nvPr/>
            </p:nvSpPr>
            <p:spPr>
              <a:xfrm>
                <a:off x="3278037" y="4955290"/>
                <a:ext cx="6096000" cy="13798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sSup>
                      <m:sSup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f>
                          <m:f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𝑒𝑉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sub>
                            </m:sSub>
                          </m:den>
                        </m:f>
                      </m:sup>
                    </m:sSup>
                  </m:oMath>
                </a14:m>
                <a:r>
                  <a:rPr lang="en-US" sz="3200" dirty="0"/>
                  <a:t> for V&lt;0 (repelled)</a:t>
                </a:r>
              </a:p>
              <a:p>
                <a:r>
                  <a:rPr lang="en-US" sz="3200" dirty="0"/>
                  <a:t>*** be sure to include neg sign for V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A1B9956-1062-4CA5-92DC-7883FBD2B8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8037" y="4955290"/>
                <a:ext cx="6096000" cy="1379801"/>
              </a:xfrm>
              <a:prstGeom prst="rect">
                <a:avLst/>
              </a:prstGeom>
              <a:blipFill>
                <a:blip r:embed="rId4"/>
                <a:stretch>
                  <a:fillRect l="-2600" r="-2400" b="-141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A02BF9-08B3-C3F5-36E8-2027C241E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20853-C384-4919-8F9A-9CB57A0B2B6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9892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CC562-3E1B-4885-A221-A1F63154D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5000"/>
              <a:t>HIGH ALTITUDE SPACECRAFT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EA481B-DA0D-4091-8F0E-B7F34DB345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0080" y="2282210"/>
                <a:ext cx="4243589" cy="3911357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sz="1900" dirty="0"/>
                  <a:t>Electron and ion speeds high</a:t>
                </a:r>
              </a:p>
              <a:p>
                <a:pPr marL="0" indent="0">
                  <a:buNone/>
                </a:pPr>
                <a:r>
                  <a:rPr lang="en-US" sz="1900" dirty="0"/>
                  <a:t>Ions 459 km/s!</a:t>
                </a:r>
              </a:p>
              <a:p>
                <a:pPr marL="0" indent="0">
                  <a:buNone/>
                </a:pPr>
                <a:r>
                  <a:rPr lang="en-US" sz="1900" dirty="0"/>
                  <a:t>Electrons 20,000 km/s!</a:t>
                </a:r>
              </a:p>
              <a:p>
                <a:pPr marL="0" indent="0">
                  <a:buNone/>
                </a:pPr>
                <a:endParaRPr lang="en-US" sz="19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900" b="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1900" b="0" i="1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en-US" sz="19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sSup>
                        <m:sSupPr>
                          <m:ctrlPr>
                            <a:rPr lang="en-US" sz="19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9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sz="19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</m:t>
                          </m:r>
                        </m:sup>
                      </m:sSup>
                      <m:r>
                        <a:rPr lang="en-US" sz="19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9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en-US" sz="1900" dirty="0"/>
              </a:p>
              <a:p>
                <a:pPr marL="0" indent="0">
                  <a:buNone/>
                </a:pPr>
                <a:endParaRPr lang="en-US" sz="1900" dirty="0"/>
              </a:p>
              <a:p>
                <a:pPr marL="0" indent="0">
                  <a:buNone/>
                </a:pPr>
                <a:endParaRPr lang="en-US" sz="1900" dirty="0"/>
              </a:p>
              <a:p>
                <a:pPr marL="0" indent="0">
                  <a:buNone/>
                </a:pPr>
                <a:r>
                  <a:rPr lang="en-US" sz="1900" dirty="0"/>
                  <a:t>An approximation:   V </a:t>
                </a:r>
                <a14:m>
                  <m:oMath xmlns:m="http://schemas.openxmlformats.org/officeDocument/2006/math">
                    <m:r>
                      <a:rPr lang="en-US" sz="19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sz="19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−2.5 </m:t>
                    </m:r>
                    <m:f>
                      <m:fPr>
                        <m:ctrlPr>
                          <a:rPr lang="en-US" sz="19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9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9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sz="19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sSub>
                          <m:sSubPr>
                            <m:ctrlPr>
                              <a:rPr lang="en-US" sz="19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9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19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</m:num>
                      <m:den>
                        <m:r>
                          <a:rPr lang="en-US" sz="19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endParaRPr lang="en-US" sz="1900" dirty="0"/>
              </a:p>
              <a:p>
                <a:pPr marL="0" indent="0">
                  <a:buNone/>
                </a:pPr>
                <a:r>
                  <a:rPr lang="en-US" sz="1900" dirty="0"/>
                  <a:t>   V  </a:t>
                </a:r>
                <a14:m>
                  <m:oMath xmlns:m="http://schemas.openxmlformats.org/officeDocument/2006/math">
                    <m:r>
                      <a:rPr lang="en-US" sz="1900" b="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900" b="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900" i="1">
                            <a:latin typeface="Cambria Math" panose="02040503050406030204" pitchFamily="18" charset="0"/>
                          </a:rPr>
                          <m:t>−2.5∗1.38 </m:t>
                        </m:r>
                        <m:r>
                          <a:rPr lang="en-US" sz="1900" i="1">
                            <a:latin typeface="Cambria Math" panose="02040503050406030204" pitchFamily="18" charset="0"/>
                          </a:rPr>
                          <m:t>𝑥</m:t>
                        </m:r>
                        <m:f>
                          <m:fPr>
                            <m:ctrlPr>
                              <a:rPr lang="en-US" sz="19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19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900" i="1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  <m:sup>
                                <m:r>
                                  <a:rPr lang="en-US" sz="1900" i="1">
                                    <a:latin typeface="Cambria Math" panose="02040503050406030204" pitchFamily="18" charset="0"/>
                                  </a:rPr>
                                  <m:t>−23 </m:t>
                                </m:r>
                              </m:sup>
                            </m:sSup>
                            <m:r>
                              <a:rPr lang="en-US" sz="1900" i="1">
                                <a:latin typeface="Cambria Math" panose="02040503050406030204" pitchFamily="18" charset="0"/>
                              </a:rPr>
                              <m:t>𝐽</m:t>
                            </m:r>
                          </m:num>
                          <m:den>
                            <m:r>
                              <a:rPr lang="en-US" sz="1900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den>
                        </m:f>
                        <m:r>
                          <a:rPr lang="en-US" sz="19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900" i="1"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sz="19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900" i="1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1900" i="1">
                                <a:latin typeface="Cambria Math" panose="02040503050406030204" pitchFamily="18" charset="0"/>
                              </a:rPr>
                              <m:t>7</m:t>
                            </m:r>
                          </m:sup>
                        </m:sSup>
                        <m:r>
                          <a:rPr lang="en-US" sz="1900" b="0" i="1">
                            <a:latin typeface="Cambria Math" panose="02040503050406030204" pitchFamily="18" charset="0"/>
                          </a:rPr>
                          <m:t>𝐾</m:t>
                        </m:r>
                      </m:num>
                      <m:den>
                        <m:r>
                          <a:rPr lang="en-US" sz="1900" b="0" i="1">
                            <a:latin typeface="Cambria Math" panose="02040503050406030204" pitchFamily="18" charset="0"/>
                          </a:rPr>
                          <m:t>1.6 </m:t>
                        </m:r>
                        <m:r>
                          <a:rPr lang="en-US" sz="1900" b="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900" b="0" i="1"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sz="1900" b="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900" b="0" i="1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1900" b="0" i="1">
                                <a:latin typeface="Cambria Math" panose="02040503050406030204" pitchFamily="18" charset="0"/>
                              </a:rPr>
                              <m:t>−19</m:t>
                            </m:r>
                          </m:sup>
                        </m:sSup>
                        <m:r>
                          <a:rPr lang="en-US" sz="1900" b="0" i="1">
                            <a:latin typeface="Cambria Math" panose="02040503050406030204" pitchFamily="18" charset="0"/>
                          </a:rPr>
                          <m:t>𝐶</m:t>
                        </m:r>
                      </m:den>
                    </m:f>
                  </m:oMath>
                </a14:m>
                <a:r>
                  <a:rPr lang="en-US" sz="1900" dirty="0"/>
                  <a:t> = ?</a:t>
                </a:r>
              </a:p>
              <a:p>
                <a:endParaRPr lang="en-US" sz="19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EA481B-DA0D-4091-8F0E-B7F34DB345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0080" y="2282210"/>
                <a:ext cx="4243589" cy="3911357"/>
              </a:xfrm>
              <a:blipFill>
                <a:blip r:embed="rId2"/>
                <a:stretch>
                  <a:fillRect l="-1149" t="-779" b="-7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194" name="Picture 2" descr="See the source image">
            <a:extLst>
              <a:ext uri="{FF2B5EF4-FFF2-40B4-BE49-F238E27FC236}">
                <a16:creationId xmlns:a16="http://schemas.microsoft.com/office/drawing/2014/main" id="{2B7ADF2C-622D-4F6C-8CA3-E97AC5A628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28" r="27737" b="1"/>
          <a:stretch/>
        </p:blipFill>
        <p:spPr bwMode="auto">
          <a:xfrm>
            <a:off x="5606370" y="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A1B9956-1062-4CA5-92DC-7883FBD2B80A}"/>
                  </a:ext>
                </a:extLst>
              </p:cNvPr>
              <p:cNvSpPr txBox="1"/>
              <p:nvPr/>
            </p:nvSpPr>
            <p:spPr>
              <a:xfrm>
                <a:off x="640080" y="4310120"/>
                <a:ext cx="6096000" cy="589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f>
                          <m:f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𝑒𝑉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sub>
                            </m:sSub>
                          </m:den>
                        </m:f>
                      </m:sup>
                    </m:sSup>
                  </m:oMath>
                </a14:m>
                <a:r>
                  <a:rPr lang="en-US" sz="2000" dirty="0"/>
                  <a:t> for V&lt;0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A1B9956-1062-4CA5-92DC-7883FBD2B8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" y="4310120"/>
                <a:ext cx="6096000" cy="589329"/>
              </a:xfrm>
              <a:prstGeom prst="rect">
                <a:avLst/>
              </a:prstGeom>
              <a:blipFill>
                <a:blip r:embed="rId4"/>
                <a:stretch>
                  <a:fillRect b="-154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B81B9C-850D-723B-7D78-25CE6DF3C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20853-C384-4919-8F9A-9CB57A0B2B6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1521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A5055D-CC2E-2CB2-E667-DFAD22FB8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20853-C384-4919-8F9A-9CB57A0B2B64}" type="slidenum">
              <a:rPr lang="en-US" smtClean="0"/>
              <a:t>14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1D3BFAF-6596-5687-6D44-836A5D095B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822" y="393544"/>
            <a:ext cx="4972306" cy="60709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95D6328-2CA8-2D25-A596-CF295E4495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716131"/>
            <a:ext cx="5004057" cy="3924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0642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AAB48-9A67-5C43-04C4-48AB835D1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682" y="-334520"/>
            <a:ext cx="10364451" cy="1596177"/>
          </a:xfrm>
        </p:spPr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974335-1DD3-FA8F-B6EA-747777C210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5290" y="782991"/>
            <a:ext cx="10364452" cy="59719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 spherical spacecraft with a radius of 1 m is in the eclipse at an altitude of 1000 km. It has a bias voltage of -1.7625 V. The plasma temperature is a uniform 5000K and the plasma number density is 1.6 x 1011 m-3.  Assume the resistivity of Kapton is 1526 Ω/cm. Also assume the density of electrons and protons is equal to the plasma number density.</a:t>
            </a:r>
          </a:p>
          <a:p>
            <a:pPr marL="457200" indent="-457200">
              <a:buAutoNum type="alphaLcPeriod"/>
            </a:pPr>
            <a:r>
              <a:rPr lang="en-US" dirty="0"/>
              <a:t>Estimate the ion (hint O+ is the major component in that region) and electron currents.</a:t>
            </a:r>
          </a:p>
          <a:p>
            <a:pPr marL="457200" indent="-457200">
              <a:buAutoNum type="alphaLcPeriod"/>
            </a:pPr>
            <a:r>
              <a:rPr lang="en-US" dirty="0"/>
              <a:t>How would you expect the voltage to change (worst case; i.e. pick whichever current is largest)?</a:t>
            </a:r>
          </a:p>
          <a:p>
            <a:pPr marL="457200" indent="-457200">
              <a:buAutoNum type="alphaLcPeriod"/>
            </a:pPr>
            <a:r>
              <a:rPr lang="en-US" dirty="0"/>
              <a:t>Now the bias voltage is -1 V. Estimate the ion and electron currents (worst case; i.e. pick whichever current is largest)?</a:t>
            </a:r>
          </a:p>
          <a:p>
            <a:pPr marL="457200" indent="-457200">
              <a:buAutoNum type="alphaLcPeriod"/>
            </a:pPr>
            <a:r>
              <a:rPr lang="en-US" dirty="0"/>
              <a:t>How would you expect the voltage to change? Is this more or less risky to the spacecraft?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57B62D-0D1F-E880-2AB1-1A6EC78B5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20853-C384-4919-8F9A-9CB57A0B2B6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4983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E71AB8-12C2-6D9A-AE53-21AB724F3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E8F24-079A-7F26-3812-B4A13B700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682" y="-334520"/>
            <a:ext cx="10364451" cy="1596177"/>
          </a:xfrm>
        </p:spPr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7B2676-0093-5DBC-244C-1D2DAB297C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5290" y="782991"/>
            <a:ext cx="10364452" cy="59719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dirty="0"/>
              <a:t>A spherical spacecraft with a radius of 1 m is in the eclipse at an altitude of 1000 km. It has a bias voltage of -1.7625 V. The plasma temperature is a uniform 5000K and the plasma number density is 1.6 x 1011 m-3.  Assume the resistivity of Kapton is 1526 Ω/cm. Also assume the density of electrons and protons is equal to the plasma number density.</a:t>
            </a:r>
          </a:p>
          <a:p>
            <a:pPr marL="457200" indent="-457200">
              <a:buAutoNum type="alphaLcPeriod"/>
            </a:pPr>
            <a:r>
              <a:rPr lang="en-US" sz="1400" dirty="0"/>
              <a:t>Estimate the ion (hint O+ is the major component in that region) and electron currents.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3F7FF1-CEEF-C3E6-58C9-594121C4D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20853-C384-4919-8F9A-9CB57A0B2B6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6600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A416B-A219-556E-B153-EA0883EDD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5D797-0A69-C9C9-84BF-52B1560B3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682" y="-334520"/>
            <a:ext cx="10364451" cy="1596177"/>
          </a:xfrm>
        </p:spPr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CDD037-7E12-E495-13AC-BDCFF950A2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5290" y="782991"/>
            <a:ext cx="10364452" cy="59719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dirty="0"/>
              <a:t>A spherical spacecraft with a radius of 1 m is in the eclipse at an altitude of 1000 km. It has a bias voltage of -1.7625 V. The plasma temperature is a uniform 5000K and the plasma number density is 1.6 x 1011 m-3.  Assume the resistivity of Kapton is 1526 Ω/cm. Also assume the density of electrons and protons is equal to the plasma number density.</a:t>
            </a:r>
          </a:p>
          <a:p>
            <a:pPr marL="457200" indent="-457200">
              <a:buAutoNum type="alphaLcPeriod"/>
            </a:pPr>
            <a:r>
              <a:rPr lang="en-US" sz="1400" dirty="0"/>
              <a:t>Estimate the ion (hint O+ is the major component in that region) and electron currents.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88E634-A6C8-0CC7-D1D6-AC6878423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20853-C384-4919-8F9A-9CB57A0B2B6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5059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B4502-6FE9-CCAD-4C6F-F96D85813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FAD8F-CE79-4F8E-4ABF-C127AC8F9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682" y="-334520"/>
            <a:ext cx="10364451" cy="1596177"/>
          </a:xfrm>
        </p:spPr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246B5-8501-C2C2-2237-E70C457DBB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695" y="770112"/>
            <a:ext cx="10364452" cy="59719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b. How would you expect the voltage to change (worst case; i.e. pick whichever current is largest)?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c.  Now the bias voltage is -1 V. Estimate the ion and electron currents (worst case; i.e. pick whichever current is largest)?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D.  How would you expect the voltage to change? Is this more or less risky to the spacecraft?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6F4446-F5B4-500A-EED1-EB98866B9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20853-C384-4919-8F9A-9CB57A0B2B6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7884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8DB44-7B4E-4538-9675-E901432A4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91090"/>
            <a:ext cx="10515599" cy="932688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SPACECRAFT GROUNDING OPTIONS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A2E249-D11F-49C9-8264-59065EFBC8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3875626" y="-145108"/>
            <a:ext cx="4440746" cy="8458565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08EC66A-E15A-D38B-9056-D539671A9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20853-C384-4919-8F9A-9CB57A0B2B64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7253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4B002E-A923-1782-0A24-6567FC5A6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20853-C384-4919-8F9A-9CB57A0B2B64}" type="slidenum">
              <a:rPr lang="en-US" smtClean="0"/>
              <a:t>20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D563AA5-DB19-C74F-7981-BDA83BD6F2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696" y="1637607"/>
            <a:ext cx="10260860" cy="3358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3324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84554-BC3D-49EA-93A2-CDFE860B7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291090"/>
            <a:ext cx="12025222" cy="93268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LOW AND HIGH ALTITUTE COMPARISON</a:t>
            </a:r>
            <a:br>
              <a:rPr lang="en-US" sz="3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3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KAPTON PATCH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F6E7D4-5A8F-492A-8078-F1F249BCA4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65" y="1406727"/>
            <a:ext cx="9643253" cy="5303788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BCE7979-A7AA-2BBB-62D6-1EEC8BE37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20853-C384-4919-8F9A-9CB57A0B2B64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3359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1026">
            <a:extLst>
              <a:ext uri="{FF2B5EF4-FFF2-40B4-BE49-F238E27FC236}">
                <a16:creationId xmlns:a16="http://schemas.microsoft.com/office/drawing/2014/main" id="{0EC21D68-6B53-41F1-B6B2-979C3A536F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173413" y="0"/>
            <a:ext cx="5859462" cy="762000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en-US" altLang="en-US" sz="2400" dirty="0"/>
              <a:t>Guidelines to Minimize Degradation due to Plasma Effects</a:t>
            </a:r>
            <a:endParaRPr lang="en-US" altLang="en-US" dirty="0"/>
          </a:p>
        </p:txBody>
      </p:sp>
      <p:sp>
        <p:nvSpPr>
          <p:cNvPr id="74755" name="Rectangle 1027">
            <a:extLst>
              <a:ext uri="{FF2B5EF4-FFF2-40B4-BE49-F238E27FC236}">
                <a16:creationId xmlns:a16="http://schemas.microsoft.com/office/drawing/2014/main" id="{9855FBB3-01D6-4FB2-9A4D-286F86F8F982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1943100" y="914400"/>
            <a:ext cx="8445500" cy="5486400"/>
          </a:xfrm>
        </p:spPr>
        <p:txBody>
          <a:bodyPr>
            <a:normAutofit lnSpcReduction="10000"/>
          </a:bodyPr>
          <a:lstStyle/>
          <a:p>
            <a:pPr>
              <a:lnSpc>
                <a:spcPct val="110000"/>
              </a:lnSpc>
              <a:defRPr/>
            </a:pPr>
            <a:r>
              <a:rPr lang="en-US" altLang="en-US" dirty="0"/>
              <a:t>Prevent differential charging of surfaces by ensuring entire surface is of </a:t>
            </a:r>
            <a:r>
              <a:rPr lang="en-US" altLang="en-US" dirty="0">
                <a:solidFill>
                  <a:schemeClr val="accent2"/>
                </a:solidFill>
              </a:rPr>
              <a:t>uniform conductivity</a:t>
            </a:r>
            <a:endParaRPr lang="en-US" altLang="en-US" dirty="0"/>
          </a:p>
          <a:p>
            <a:pPr>
              <a:spcBef>
                <a:spcPct val="60000"/>
              </a:spcBef>
              <a:defRPr/>
            </a:pPr>
            <a:r>
              <a:rPr lang="en-US" altLang="en-US" dirty="0"/>
              <a:t>Prevent buildup of large potentials by </a:t>
            </a:r>
            <a:r>
              <a:rPr lang="en-US" altLang="en-US" dirty="0">
                <a:solidFill>
                  <a:schemeClr val="accent2"/>
                </a:solidFill>
              </a:rPr>
              <a:t>actively balancing currents</a:t>
            </a:r>
            <a:r>
              <a:rPr lang="en-US" altLang="en-US" dirty="0"/>
              <a:t> on spacecraft surfaces </a:t>
            </a:r>
          </a:p>
          <a:p>
            <a:pPr lvl="1">
              <a:lnSpc>
                <a:spcPct val="110000"/>
              </a:lnSpc>
              <a:spcBef>
                <a:spcPct val="10000"/>
              </a:spcBef>
              <a:defRPr/>
            </a:pPr>
            <a:r>
              <a:rPr lang="en-US" altLang="en-US" dirty="0"/>
              <a:t>Use surface coatings </a:t>
            </a:r>
          </a:p>
          <a:p>
            <a:pPr lvl="1">
              <a:lnSpc>
                <a:spcPct val="110000"/>
              </a:lnSpc>
              <a:spcBef>
                <a:spcPct val="10000"/>
              </a:spcBef>
              <a:defRPr/>
            </a:pPr>
            <a:r>
              <a:rPr lang="en-US" altLang="en-US" dirty="0"/>
              <a:t>Consider </a:t>
            </a:r>
            <a:r>
              <a:rPr lang="en-US" altLang="en-US" dirty="0">
                <a:solidFill>
                  <a:schemeClr val="accent2"/>
                </a:solidFill>
              </a:rPr>
              <a:t>plasma contactors</a:t>
            </a:r>
            <a:r>
              <a:rPr lang="en-US" altLang="en-US" dirty="0"/>
              <a:t> or plasma thrusters if problems are foreseen</a:t>
            </a:r>
          </a:p>
          <a:p>
            <a:pPr>
              <a:spcBef>
                <a:spcPct val="60000"/>
              </a:spcBef>
              <a:defRPr/>
            </a:pPr>
            <a:r>
              <a:rPr lang="en-US" altLang="en-US" dirty="0"/>
              <a:t>Other preventive measures include:</a:t>
            </a:r>
          </a:p>
          <a:p>
            <a:pPr lvl="1">
              <a:spcBef>
                <a:spcPct val="10000"/>
              </a:spcBef>
              <a:defRPr/>
            </a:pPr>
            <a:r>
              <a:rPr lang="en-US" altLang="en-US" dirty="0"/>
              <a:t>Tying all conductive elements to a </a:t>
            </a:r>
            <a:r>
              <a:rPr lang="en-US" altLang="en-US" dirty="0">
                <a:solidFill>
                  <a:schemeClr val="accent2"/>
                </a:solidFill>
              </a:rPr>
              <a:t>common ground</a:t>
            </a:r>
            <a:endParaRPr lang="en-US" altLang="en-US" dirty="0"/>
          </a:p>
          <a:p>
            <a:pPr lvl="1">
              <a:spcBef>
                <a:spcPct val="10000"/>
              </a:spcBef>
              <a:defRPr/>
            </a:pPr>
            <a:r>
              <a:rPr lang="en-US" altLang="en-US" dirty="0">
                <a:solidFill>
                  <a:schemeClr val="accent2"/>
                </a:solidFill>
              </a:rPr>
              <a:t>Shielding</a:t>
            </a:r>
            <a:r>
              <a:rPr lang="en-US" altLang="en-US" dirty="0"/>
              <a:t> all electronics and wiring both physically and electrically</a:t>
            </a:r>
          </a:p>
          <a:p>
            <a:pPr lvl="1">
              <a:spcBef>
                <a:spcPct val="10000"/>
              </a:spcBef>
              <a:defRPr/>
            </a:pPr>
            <a:r>
              <a:rPr lang="en-US" altLang="en-US" dirty="0"/>
              <a:t>Using electric </a:t>
            </a:r>
            <a:r>
              <a:rPr lang="en-US" altLang="en-US" dirty="0">
                <a:solidFill>
                  <a:schemeClr val="accent2"/>
                </a:solidFill>
              </a:rPr>
              <a:t>filtering</a:t>
            </a:r>
            <a:r>
              <a:rPr lang="en-US" altLang="en-US" dirty="0"/>
              <a:t> to protect circuits from </a:t>
            </a:r>
            <a:r>
              <a:rPr lang="en-US" altLang="en-US"/>
              <a:t>discharge of induced </a:t>
            </a:r>
            <a:r>
              <a:rPr lang="en-US" altLang="en-US" dirty="0"/>
              <a:t>currents</a:t>
            </a:r>
          </a:p>
          <a:p>
            <a:pPr lvl="1">
              <a:spcBef>
                <a:spcPct val="10000"/>
              </a:spcBef>
              <a:defRPr/>
            </a:pPr>
            <a:r>
              <a:rPr lang="en-US" altLang="en-US" dirty="0"/>
              <a:t>Making all exterior surfaces at least partially conductive and thick enough to withstand dielectric breakdown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1FF3B7-6767-4FB3-86D2-7FA87EDFB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C362F-97FB-4C1E-B0F0-C3069DD0CDD1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8668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3C508-FCBB-49FD-9963-3AEDCA729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1026">
            <a:extLst>
              <a:ext uri="{FF2B5EF4-FFF2-40B4-BE49-F238E27FC236}">
                <a16:creationId xmlns:a16="http://schemas.microsoft.com/office/drawing/2014/main" id="{26651F37-9BD9-70BC-294E-37A2A26E40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173413" y="0"/>
            <a:ext cx="5859462" cy="762000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en-US" altLang="en-US" sz="2400" dirty="0"/>
              <a:t>Guidelines to Minimize Degradation due to Plasma Effects</a:t>
            </a:r>
            <a:endParaRPr lang="en-US" altLang="en-US" dirty="0"/>
          </a:p>
        </p:txBody>
      </p:sp>
      <p:sp>
        <p:nvSpPr>
          <p:cNvPr id="74755" name="Rectangle 1027">
            <a:extLst>
              <a:ext uri="{FF2B5EF4-FFF2-40B4-BE49-F238E27FC236}">
                <a16:creationId xmlns:a16="http://schemas.microsoft.com/office/drawing/2014/main" id="{449A7E05-62AA-92B0-4C70-3AB513970D2C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1943100" y="914400"/>
            <a:ext cx="8445500" cy="5486400"/>
          </a:xfrm>
        </p:spPr>
        <p:txBody>
          <a:bodyPr>
            <a:normAutofit lnSpcReduction="10000"/>
          </a:bodyPr>
          <a:lstStyle/>
          <a:p>
            <a:pPr>
              <a:lnSpc>
                <a:spcPct val="110000"/>
              </a:lnSpc>
              <a:defRPr/>
            </a:pPr>
            <a:r>
              <a:rPr lang="en-US" altLang="en-US" dirty="0"/>
              <a:t>Prevent differential charging of surfaces by ensuring entire surface is of </a:t>
            </a:r>
            <a:r>
              <a:rPr lang="en-US" altLang="en-US" dirty="0">
                <a:solidFill>
                  <a:schemeClr val="accent2"/>
                </a:solidFill>
              </a:rPr>
              <a:t>uniform conductivity</a:t>
            </a:r>
            <a:endParaRPr lang="en-US" altLang="en-US" dirty="0"/>
          </a:p>
          <a:p>
            <a:pPr>
              <a:spcBef>
                <a:spcPct val="60000"/>
              </a:spcBef>
              <a:defRPr/>
            </a:pPr>
            <a:r>
              <a:rPr lang="en-US" altLang="en-US" dirty="0"/>
              <a:t>Prevent buildup of large potentials by </a:t>
            </a:r>
            <a:r>
              <a:rPr lang="en-US" altLang="en-US" dirty="0">
                <a:solidFill>
                  <a:schemeClr val="accent2"/>
                </a:solidFill>
              </a:rPr>
              <a:t>actively balancing currents</a:t>
            </a:r>
            <a:r>
              <a:rPr lang="en-US" altLang="en-US" dirty="0"/>
              <a:t> on spacecraft surfaces </a:t>
            </a:r>
          </a:p>
          <a:p>
            <a:pPr lvl="1">
              <a:lnSpc>
                <a:spcPct val="110000"/>
              </a:lnSpc>
              <a:spcBef>
                <a:spcPct val="10000"/>
              </a:spcBef>
              <a:defRPr/>
            </a:pPr>
            <a:r>
              <a:rPr lang="en-US" altLang="en-US" dirty="0"/>
              <a:t>Use surface coatings </a:t>
            </a:r>
          </a:p>
          <a:p>
            <a:pPr lvl="1">
              <a:lnSpc>
                <a:spcPct val="110000"/>
              </a:lnSpc>
              <a:spcBef>
                <a:spcPct val="10000"/>
              </a:spcBef>
              <a:defRPr/>
            </a:pPr>
            <a:r>
              <a:rPr lang="en-US" altLang="en-US" dirty="0"/>
              <a:t>Consider </a:t>
            </a:r>
            <a:r>
              <a:rPr lang="en-US" altLang="en-US" dirty="0">
                <a:solidFill>
                  <a:schemeClr val="accent2"/>
                </a:solidFill>
              </a:rPr>
              <a:t>plasma contactors</a:t>
            </a:r>
            <a:r>
              <a:rPr lang="en-US" altLang="en-US" dirty="0"/>
              <a:t> or plasma thrusters if problems are foreseen</a:t>
            </a:r>
          </a:p>
          <a:p>
            <a:pPr>
              <a:spcBef>
                <a:spcPct val="60000"/>
              </a:spcBef>
              <a:defRPr/>
            </a:pPr>
            <a:r>
              <a:rPr lang="en-US" altLang="en-US" dirty="0"/>
              <a:t>Other preventive measures include:</a:t>
            </a:r>
          </a:p>
          <a:p>
            <a:pPr lvl="1">
              <a:spcBef>
                <a:spcPct val="10000"/>
              </a:spcBef>
              <a:defRPr/>
            </a:pPr>
            <a:r>
              <a:rPr lang="en-US" altLang="en-US" dirty="0"/>
              <a:t>Tying all conductive elements to a </a:t>
            </a:r>
            <a:r>
              <a:rPr lang="en-US" altLang="en-US" dirty="0">
                <a:solidFill>
                  <a:schemeClr val="accent2"/>
                </a:solidFill>
              </a:rPr>
              <a:t>common ground</a:t>
            </a:r>
            <a:endParaRPr lang="en-US" altLang="en-US" dirty="0"/>
          </a:p>
          <a:p>
            <a:pPr lvl="1">
              <a:spcBef>
                <a:spcPct val="10000"/>
              </a:spcBef>
              <a:defRPr/>
            </a:pPr>
            <a:r>
              <a:rPr lang="en-US" altLang="en-US" dirty="0">
                <a:solidFill>
                  <a:schemeClr val="accent2"/>
                </a:solidFill>
              </a:rPr>
              <a:t>Shielding</a:t>
            </a:r>
            <a:r>
              <a:rPr lang="en-US" altLang="en-US" dirty="0"/>
              <a:t> all electronics and wiring both physically and electrically</a:t>
            </a:r>
          </a:p>
          <a:p>
            <a:pPr lvl="1">
              <a:spcBef>
                <a:spcPct val="10000"/>
              </a:spcBef>
              <a:defRPr/>
            </a:pPr>
            <a:r>
              <a:rPr lang="en-US" altLang="en-US" dirty="0"/>
              <a:t>Using electric </a:t>
            </a:r>
            <a:r>
              <a:rPr lang="en-US" altLang="en-US" dirty="0">
                <a:solidFill>
                  <a:schemeClr val="accent2"/>
                </a:solidFill>
              </a:rPr>
              <a:t>filtering</a:t>
            </a:r>
            <a:r>
              <a:rPr lang="en-US" altLang="en-US" dirty="0"/>
              <a:t> to protect circuits from </a:t>
            </a:r>
            <a:r>
              <a:rPr lang="en-US" altLang="en-US"/>
              <a:t>discharge of induced </a:t>
            </a:r>
            <a:r>
              <a:rPr lang="en-US" altLang="en-US" dirty="0"/>
              <a:t>currents</a:t>
            </a:r>
          </a:p>
          <a:p>
            <a:pPr lvl="1">
              <a:spcBef>
                <a:spcPct val="10000"/>
              </a:spcBef>
              <a:defRPr/>
            </a:pPr>
            <a:r>
              <a:rPr lang="en-US" altLang="en-US" dirty="0"/>
              <a:t>Making all exterior surfaces at least partially conductive and thick enough to withstand dielectric breakdown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E0E0B65-0ECF-57F5-1B79-10E71B827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C362F-97FB-4C1E-B0F0-C3069DD0CDD1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8787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C1E9C-BD8A-4202-965C-A5AC5A39A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0"/>
            <a:ext cx="10364451" cy="1596177"/>
          </a:xfrm>
        </p:spPr>
        <p:txBody>
          <a:bodyPr/>
          <a:lstStyle/>
          <a:p>
            <a:pPr algn="ctr"/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F413E3-459D-49CC-8C77-A326DA7524A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62974" y="1116142"/>
            <a:ext cx="10363826" cy="5741858"/>
          </a:xfrm>
        </p:spPr>
        <p:txBody>
          <a:bodyPr>
            <a:normAutofit fontScale="55000" lnSpcReduction="20000"/>
          </a:bodyPr>
          <a:lstStyle/>
          <a:p>
            <a:r>
              <a:rPr lang="en-US" dirty="0" err="1">
                <a:effectLst/>
              </a:rPr>
              <a:t>Encyclopædia</a:t>
            </a:r>
            <a:r>
              <a:rPr lang="en-US" dirty="0">
                <a:effectLst/>
              </a:rPr>
              <a:t> Britannica, inc. (n.d.). </a:t>
            </a:r>
            <a:r>
              <a:rPr lang="en-US" i="1" dirty="0">
                <a:effectLst/>
              </a:rPr>
              <a:t>Physics and metaphysics of Aristotle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Encyclopædia</a:t>
            </a:r>
            <a:r>
              <a:rPr lang="en-US" dirty="0">
                <a:effectLst/>
              </a:rPr>
              <a:t> Britannica. </a:t>
            </a:r>
            <a:r>
              <a:rPr lang="en-US" dirty="0">
                <a:effectLst/>
                <a:hlinkClick r:id="rId2"/>
              </a:rPr>
              <a:t>https://www.britannica.com/biography/Aristotle/Physics-and-metaphysics</a:t>
            </a:r>
            <a:r>
              <a:rPr lang="en-US" dirty="0">
                <a:effectLst/>
              </a:rPr>
              <a:t>.</a:t>
            </a:r>
          </a:p>
          <a:p>
            <a:r>
              <a:rPr lang="en-US" i="1"/>
              <a:t>Illustration </a:t>
            </a:r>
            <a:r>
              <a:rPr lang="en-US" i="1" dirty="0"/>
              <a:t>of the spacecraft charging process responsible for GOES-R operational anomalies.</a:t>
            </a:r>
            <a:r>
              <a:rPr lang="en-US" dirty="0"/>
              <a:t> </a:t>
            </a:r>
            <a:r>
              <a:rPr lang="en-US" b="1" dirty="0"/>
              <a:t>Graphic created by the author using ChatGPT (OpenAI), based on Rodriguez et al. (2024) and Horne et al. (2025).</a:t>
            </a:r>
            <a:endParaRPr lang="en-US" dirty="0">
              <a:effectLst/>
            </a:endParaRPr>
          </a:p>
          <a:p>
            <a:r>
              <a:rPr lang="en-US" dirty="0" err="1">
                <a:effectLst/>
              </a:rPr>
              <a:t>Loudet</a:t>
            </a:r>
            <a:r>
              <a:rPr lang="en-US" dirty="0">
                <a:effectLst/>
              </a:rPr>
              <a:t>, L. (11 June 2013). </a:t>
            </a:r>
            <a:r>
              <a:rPr lang="en-US" i="1" dirty="0">
                <a:effectLst/>
              </a:rPr>
              <a:t>Ionosphere</a:t>
            </a:r>
            <a:r>
              <a:rPr lang="en-US" dirty="0">
                <a:effectLst/>
              </a:rPr>
              <a:t>. Ionosphere and Sudden Ionospheric Disturbances. </a:t>
            </a:r>
            <a:r>
              <a:rPr lang="en-US" dirty="0">
                <a:effectLst/>
                <a:hlinkClick r:id="rId3"/>
              </a:rPr>
              <a:t>https://sidstation.loudet.org/ionosphere-en.xhtml#:~:text=A%20Sudden%20Ionospheric%20Disturbance%20results%20from%20an%20increased,increase%20the%20ionisation%20process%20and%20the%20electron%20density</a:t>
            </a:r>
            <a:r>
              <a:rPr lang="en-US" dirty="0">
                <a:effectLst/>
              </a:rPr>
              <a:t> </a:t>
            </a:r>
          </a:p>
          <a:p>
            <a:r>
              <a:rPr lang="en-US" dirty="0">
                <a:effectLst/>
              </a:rPr>
              <a:t>NASA. (2021). </a:t>
            </a:r>
            <a:r>
              <a:rPr lang="en-US" i="1" dirty="0">
                <a:effectLst/>
              </a:rPr>
              <a:t>NASA Jet Propulsion Laboratory California Institute of Technology</a:t>
            </a:r>
            <a:r>
              <a:rPr lang="en-US" dirty="0">
                <a:effectLst/>
              </a:rPr>
              <a:t>. NASA. </a:t>
            </a:r>
            <a:r>
              <a:rPr lang="en-US" dirty="0">
                <a:effectLst/>
                <a:hlinkClick r:id="rId4"/>
              </a:rPr>
              <a:t>https://iono.jpl.nasa.gov/latest_rti_global.html</a:t>
            </a:r>
            <a:endParaRPr lang="en-US" dirty="0">
              <a:effectLst/>
            </a:endParaRPr>
          </a:p>
          <a:p>
            <a:r>
              <a:rPr lang="en-US" dirty="0">
                <a:effectLst/>
              </a:rPr>
              <a:t>NASA. (2014). </a:t>
            </a:r>
            <a:r>
              <a:rPr lang="en-US" i="1" dirty="0">
                <a:effectLst/>
              </a:rPr>
              <a:t>Near Miss: The Solar Superstorm of July 2012</a:t>
            </a:r>
            <a:r>
              <a:rPr lang="en-US" dirty="0">
                <a:effectLst/>
              </a:rPr>
              <a:t>. NASA. </a:t>
            </a:r>
            <a:r>
              <a:rPr lang="en-US" dirty="0">
                <a:effectLst/>
                <a:hlinkClick r:id="rId5"/>
              </a:rPr>
              <a:t>https://science.nasa.gov/science-news/science-at-nasa/2014/23jul_superstorm/</a:t>
            </a:r>
            <a:r>
              <a:rPr lang="en-US" dirty="0">
                <a:effectLst/>
              </a:rPr>
              <a:t> </a:t>
            </a:r>
          </a:p>
          <a:p>
            <a:r>
              <a:rPr lang="en-US" dirty="0">
                <a:effectLst/>
              </a:rPr>
              <a:t>NASA. (2019, December 10). </a:t>
            </a:r>
            <a:r>
              <a:rPr lang="en-US" i="1" dirty="0">
                <a:effectLst/>
              </a:rPr>
              <a:t>10 Things to Know About the Ionosphere – NASA Solar System Exploration</a:t>
            </a:r>
            <a:r>
              <a:rPr lang="en-US" dirty="0">
                <a:effectLst/>
              </a:rPr>
              <a:t>. NASA. </a:t>
            </a:r>
            <a:r>
              <a:rPr lang="en-US" dirty="0">
                <a:effectLst/>
                <a:hlinkClick r:id="rId6"/>
              </a:rPr>
              <a:t>https://solarsystem.nasa.gov/news/1127/10-things-to-know-about-the-ionosphere/</a:t>
            </a:r>
            <a:endParaRPr lang="en-US" dirty="0"/>
          </a:p>
          <a:p>
            <a:r>
              <a:rPr lang="en-US" dirty="0">
                <a:effectLst/>
              </a:rPr>
              <a:t>Notes, E. (2021). </a:t>
            </a:r>
            <a:r>
              <a:rPr lang="en-US" i="1" dirty="0">
                <a:effectLst/>
              </a:rPr>
              <a:t>Sporadic E, Es Propagation</a:t>
            </a:r>
            <a:r>
              <a:rPr lang="en-US" dirty="0">
                <a:effectLst/>
              </a:rPr>
              <a:t>. Electronics Notes. </a:t>
            </a:r>
            <a:r>
              <a:rPr lang="en-US" dirty="0">
                <a:effectLst/>
                <a:hlinkClick r:id="rId7"/>
              </a:rPr>
              <a:t>https://www.electronics-notes.com/articles/antennas-propagation/ionospheric/sporadic-e-es.php#:~:text=Sporadic%20E%20basics%20Sporadic%20E%2C%20Es%2C%20arises%20when,when%20they%20would%20normally%20be%20at%20their%20highest</a:t>
            </a:r>
            <a:endParaRPr lang="en-US" dirty="0">
              <a:effectLst/>
            </a:endParaRPr>
          </a:p>
          <a:p>
            <a:r>
              <a:rPr lang="en-US" dirty="0">
                <a:effectLst/>
              </a:rPr>
              <a:t>Sinha, A. (2020, December 3). </a:t>
            </a:r>
            <a:r>
              <a:rPr lang="en-US" i="1" dirty="0">
                <a:effectLst/>
              </a:rPr>
              <a:t>Aristotelian Universe: the Earth-Centered Universe</a:t>
            </a:r>
            <a:r>
              <a:rPr lang="en-US" dirty="0">
                <a:effectLst/>
              </a:rPr>
              <a:t>. Physics In My View. </a:t>
            </a:r>
            <a:r>
              <a:rPr lang="en-US" dirty="0">
                <a:effectLst/>
                <a:hlinkClick r:id="rId8"/>
              </a:rPr>
              <a:t>https://physicsinmyview.com/2020/08/model-of-aristotelian-universe.html</a:t>
            </a:r>
            <a:r>
              <a:rPr lang="en-US" dirty="0">
                <a:effectLst/>
              </a:rPr>
              <a:t>.</a:t>
            </a:r>
          </a:p>
          <a:p>
            <a:r>
              <a:rPr lang="en-US" i="1" dirty="0">
                <a:effectLst/>
              </a:rPr>
              <a:t>Space solar cell edge, interconnect, and </a:t>
            </a:r>
            <a:r>
              <a:rPr lang="en-US" i="1" dirty="0" err="1">
                <a:effectLst/>
              </a:rPr>
              <a:t>coverglass</a:t>
            </a:r>
            <a:r>
              <a:rPr lang="en-US" i="1" dirty="0">
                <a:effectLst/>
              </a:rPr>
              <a:t> ...</a:t>
            </a:r>
            <a:r>
              <a:rPr lang="en-US" dirty="0">
                <a:effectLst/>
              </a:rPr>
              <a:t> (n.d.).</a:t>
            </a:r>
          </a:p>
          <a:p>
            <a:r>
              <a:rPr lang="en-US" dirty="0">
                <a:effectLst/>
                <a:hlinkClick r:id="rId9"/>
              </a:rPr>
              <a:t>https://www.researchgate.net/publication/224186897_Space_solar_cell_edge_interconnect_and_coverglass_designs_and_their_effect_on_spacecraft_charging_and_plasma_interactions</a:t>
            </a:r>
            <a:r>
              <a:rPr lang="en-US" dirty="0">
                <a:effectLst/>
              </a:rPr>
              <a:t>.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DC68B7-ACBE-6C12-15F4-5F596B2BB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C362F-97FB-4C1E-B0F0-C3069DD0CDD1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249078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1573</TotalTime>
  <Words>1415</Words>
  <Application>Microsoft Office PowerPoint</Application>
  <PresentationFormat>Widescreen</PresentationFormat>
  <Paragraphs>150</Paragraphs>
  <Slides>24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Arial</vt:lpstr>
      <vt:lpstr>Calibri</vt:lpstr>
      <vt:lpstr>Cambria Math</vt:lpstr>
      <vt:lpstr>Symbol</vt:lpstr>
      <vt:lpstr>Times New Roman</vt:lpstr>
      <vt:lpstr>Tw Cen MT</vt:lpstr>
      <vt:lpstr>Droplet</vt:lpstr>
      <vt:lpstr>PowerPoint Presentation</vt:lpstr>
      <vt:lpstr>IONOSPHERIC DISTURBANCES</vt:lpstr>
      <vt:lpstr>IONOSPHERIC DISTURBANCES</vt:lpstr>
      <vt:lpstr>Medium-scale Traveling Ionospheric Disturbances (MSTIDs) </vt:lpstr>
      <vt:lpstr>PowerPoint Presentation</vt:lpstr>
      <vt:lpstr>OTHER EFFECTS – Ionospheric Time Delay</vt:lpstr>
      <vt:lpstr>OTHER EFFECTS – EXCESS RANGE</vt:lpstr>
      <vt:lpstr>PowerPoint Presentation</vt:lpstr>
      <vt:lpstr>OTHER EFFECTS:  SCINTILLATION</vt:lpstr>
      <vt:lpstr>PowerPoint Presentation</vt:lpstr>
      <vt:lpstr>SPACECRAFT CHARGING</vt:lpstr>
      <vt:lpstr>HIGH ALTITUDE SPACECRAFT</vt:lpstr>
      <vt:lpstr>HIGH ALTITUDE SPACECRAFT</vt:lpstr>
      <vt:lpstr>PowerPoint Presentation</vt:lpstr>
      <vt:lpstr>Example</vt:lpstr>
      <vt:lpstr>Example</vt:lpstr>
      <vt:lpstr>Example</vt:lpstr>
      <vt:lpstr>Example</vt:lpstr>
      <vt:lpstr>SPACECRAFT GROUNDING OPTIONS</vt:lpstr>
      <vt:lpstr>PowerPoint Presentation</vt:lpstr>
      <vt:lpstr>LOW AND HIGH ALTITUTE COMPARISON KAPTON PATCH</vt:lpstr>
      <vt:lpstr>Guidelines to Minimize Degradation due to Plasma Effects</vt:lpstr>
      <vt:lpstr>Guidelines to Minimize Degradation due to Plasma Effects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Lynnane George</dc:creator>
  <cp:lastModifiedBy>Lynnane George</cp:lastModifiedBy>
  <cp:revision>72</cp:revision>
  <dcterms:created xsi:type="dcterms:W3CDTF">2017-06-12T22:04:21Z</dcterms:created>
  <dcterms:modified xsi:type="dcterms:W3CDTF">2026-07-08T21:53:13Z</dcterms:modified>
</cp:coreProperties>
</file>