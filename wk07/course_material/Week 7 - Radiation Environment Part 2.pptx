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7"/>
  </p:notesMasterIdLst>
  <p:sldIdLst>
    <p:sldId id="326" r:id="rId2"/>
    <p:sldId id="405" r:id="rId3"/>
    <p:sldId id="524" r:id="rId4"/>
    <p:sldId id="407" r:id="rId5"/>
    <p:sldId id="525" r:id="rId6"/>
    <p:sldId id="408" r:id="rId7"/>
    <p:sldId id="411" r:id="rId8"/>
    <p:sldId id="526" r:id="rId9"/>
    <p:sldId id="352" r:id="rId10"/>
    <p:sldId id="286" r:id="rId11"/>
    <p:sldId id="308" r:id="rId12"/>
    <p:sldId id="258" r:id="rId13"/>
    <p:sldId id="522" r:id="rId14"/>
    <p:sldId id="528" r:id="rId15"/>
    <p:sldId id="52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0044"/>
    <a:srgbClr val="6927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416" autoAdjust="0"/>
  </p:normalViewPr>
  <p:slideViewPr>
    <p:cSldViewPr snapToGrid="0">
      <p:cViewPr varScale="1">
        <p:scale>
          <a:sx n="77" d="100"/>
          <a:sy n="77" d="100"/>
        </p:scale>
        <p:origin x="64" y="20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ane George" userId="065056628ae16e64" providerId="LiveId" clId="{1E9AE552-6B83-46CE-A2DC-1FB506DB1638}"/>
    <pc:docChg chg="undo custSel addSld delSld modSld sldOrd">
      <pc:chgData name="Lynnane George" userId="065056628ae16e64" providerId="LiveId" clId="{1E9AE552-6B83-46CE-A2DC-1FB506DB1638}" dt="2026-07-29T21:53:17.746" v="521" actId="478"/>
      <pc:docMkLst>
        <pc:docMk/>
      </pc:docMkLst>
      <pc:sldChg chg="modSp mod">
        <pc:chgData name="Lynnane George" userId="065056628ae16e64" providerId="LiveId" clId="{1E9AE552-6B83-46CE-A2DC-1FB506DB1638}" dt="2026-07-25T18:47:58.588" v="28" actId="13238"/>
        <pc:sldMkLst>
          <pc:docMk/>
          <pc:sldMk cId="1838523007" sldId="258"/>
        </pc:sldMkLst>
        <pc:grpChg chg="mod">
          <ac:chgData name="Lynnane George" userId="065056628ae16e64" providerId="LiveId" clId="{1E9AE552-6B83-46CE-A2DC-1FB506DB1638}" dt="2026-07-25T18:47:35.989" v="23" actId="962"/>
          <ac:grpSpMkLst>
            <pc:docMk/>
            <pc:sldMk cId="1838523007" sldId="258"/>
            <ac:grpSpMk id="8340" creationId="{F9A4584C-06A3-429E-96E4-87241A38447E}"/>
          </ac:grpSpMkLst>
        </pc:grpChg>
        <pc:graphicFrameChg chg="modGraphic">
          <ac:chgData name="Lynnane George" userId="065056628ae16e64" providerId="LiveId" clId="{1E9AE552-6B83-46CE-A2DC-1FB506DB1638}" dt="2026-07-25T18:47:43.592" v="24" actId="13238"/>
          <ac:graphicFrameMkLst>
            <pc:docMk/>
            <pc:sldMk cId="1838523007" sldId="258"/>
            <ac:graphicFrameMk id="8198" creationId="{49530EF0-FDCA-491E-8C4B-13CF6B56CDE0}"/>
          </ac:graphicFrameMkLst>
        </pc:graphicFrameChg>
        <pc:graphicFrameChg chg="modGraphic">
          <ac:chgData name="Lynnane George" userId="065056628ae16e64" providerId="LiveId" clId="{1E9AE552-6B83-46CE-A2DC-1FB506DB1638}" dt="2026-07-25T18:47:57.666" v="27" actId="13238"/>
          <ac:graphicFrameMkLst>
            <pc:docMk/>
            <pc:sldMk cId="1838523007" sldId="258"/>
            <ac:graphicFrameMk id="8204" creationId="{54669313-A1E6-4B94-B2BD-2C0670E5E4BE}"/>
          </ac:graphicFrameMkLst>
        </pc:graphicFrameChg>
        <pc:graphicFrameChg chg="modGraphic">
          <ac:chgData name="Lynnane George" userId="065056628ae16e64" providerId="LiveId" clId="{1E9AE552-6B83-46CE-A2DC-1FB506DB1638}" dt="2026-07-25T18:47:58.588" v="28" actId="13238"/>
          <ac:graphicFrameMkLst>
            <pc:docMk/>
            <pc:sldMk cId="1838523007" sldId="258"/>
            <ac:graphicFrameMk id="8406" creationId="{164A7846-F587-4F91-91F6-31E02662EFB3}"/>
          </ac:graphicFrameMkLst>
        </pc:graphicFrameChg>
      </pc:sldChg>
      <pc:sldChg chg="modSp mod">
        <pc:chgData name="Lynnane George" userId="065056628ae16e64" providerId="LiveId" clId="{1E9AE552-6B83-46CE-A2DC-1FB506DB1638}" dt="2026-07-25T18:45:17.810" v="19" actId="962"/>
        <pc:sldMkLst>
          <pc:docMk/>
          <pc:sldMk cId="148390169" sldId="286"/>
        </pc:sldMkLst>
        <pc:picChg chg="mod">
          <ac:chgData name="Lynnane George" userId="065056628ae16e64" providerId="LiveId" clId="{1E9AE552-6B83-46CE-A2DC-1FB506DB1638}" dt="2026-07-25T18:44:39.019" v="17" actId="962"/>
          <ac:picMkLst>
            <pc:docMk/>
            <pc:sldMk cId="148390169" sldId="286"/>
            <ac:picMk id="4" creationId="{6733D960-4FC2-4E76-AFA0-4E750F68E188}"/>
          </ac:picMkLst>
        </pc:picChg>
        <pc:picChg chg="mod">
          <ac:chgData name="Lynnane George" userId="065056628ae16e64" providerId="LiveId" clId="{1E9AE552-6B83-46CE-A2DC-1FB506DB1638}" dt="2026-07-25T18:45:17.810" v="19" actId="962"/>
          <ac:picMkLst>
            <pc:docMk/>
            <pc:sldMk cId="148390169" sldId="286"/>
            <ac:picMk id="12290" creationId="{8684412E-008D-4E35-8531-DA0EF53051ED}"/>
          </ac:picMkLst>
        </pc:picChg>
      </pc:sldChg>
      <pc:sldChg chg="addSp modSp mod">
        <pc:chgData name="Lynnane George" userId="065056628ae16e64" providerId="LiveId" clId="{1E9AE552-6B83-46CE-A2DC-1FB506DB1638}" dt="2026-07-26T17:55:58.721" v="374" actId="1076"/>
        <pc:sldMkLst>
          <pc:docMk/>
          <pc:sldMk cId="247926386" sldId="308"/>
        </pc:sldMkLst>
        <pc:graphicFrameChg chg="modGraphic">
          <ac:chgData name="Lynnane George" userId="065056628ae16e64" providerId="LiveId" clId="{1E9AE552-6B83-46CE-A2DC-1FB506DB1638}" dt="2026-07-25T18:42:28.296" v="3" actId="207"/>
          <ac:graphicFrameMkLst>
            <pc:docMk/>
            <pc:sldMk cId="247926386" sldId="308"/>
            <ac:graphicFrameMk id="7" creationId="{F0036569-6C88-DF54-AC51-D9DBC344107C}"/>
          </ac:graphicFrameMkLst>
        </pc:graphicFrameChg>
        <pc:picChg chg="add mod">
          <ac:chgData name="Lynnane George" userId="065056628ae16e64" providerId="LiveId" clId="{1E9AE552-6B83-46CE-A2DC-1FB506DB1638}" dt="2026-07-26T17:55:58.721" v="374" actId="1076"/>
          <ac:picMkLst>
            <pc:docMk/>
            <pc:sldMk cId="247926386" sldId="308"/>
            <ac:picMk id="4" creationId="{728C3725-847F-F579-1081-913A0F0F272C}"/>
          </ac:picMkLst>
        </pc:picChg>
      </pc:sldChg>
      <pc:sldChg chg="addSp delSp mod">
        <pc:chgData name="Lynnane George" userId="065056628ae16e64" providerId="LiveId" clId="{1E9AE552-6B83-46CE-A2DC-1FB506DB1638}" dt="2026-07-29T21:52:24.328" v="515" actId="478"/>
        <pc:sldMkLst>
          <pc:docMk/>
          <pc:sldMk cId="3619411020" sldId="326"/>
        </pc:sldMkLst>
        <pc:inkChg chg="add del">
          <ac:chgData name="Lynnane George" userId="065056628ae16e64" providerId="LiveId" clId="{1E9AE552-6B83-46CE-A2DC-1FB506DB1638}" dt="2026-07-29T21:52:24.328" v="515" actId="478"/>
          <ac:inkMkLst>
            <pc:docMk/>
            <pc:sldMk cId="3619411020" sldId="326"/>
            <ac:inkMk id="3" creationId="{F9BAC313-A816-F812-E408-7C807ACA5185}"/>
          </ac:inkMkLst>
        </pc:inkChg>
      </pc:sldChg>
      <pc:sldChg chg="addSp modSp mod">
        <pc:chgData name="Lynnane George" userId="065056628ae16e64" providerId="LiveId" clId="{1E9AE552-6B83-46CE-A2DC-1FB506DB1638}" dt="2026-07-25T18:49:01.588" v="141" actId="20577"/>
        <pc:sldMkLst>
          <pc:docMk/>
          <pc:sldMk cId="3413800495" sldId="352"/>
        </pc:sldMkLst>
        <pc:spChg chg="add mod">
          <ac:chgData name="Lynnane George" userId="065056628ae16e64" providerId="LiveId" clId="{1E9AE552-6B83-46CE-A2DC-1FB506DB1638}" dt="2026-07-25T18:49:01.588" v="141" actId="20577"/>
          <ac:spMkLst>
            <pc:docMk/>
            <pc:sldMk cId="3413800495" sldId="352"/>
            <ac:spMk id="2" creationId="{EC4D6DCC-554A-5016-68A2-FD3042783857}"/>
          </ac:spMkLst>
        </pc:spChg>
        <pc:graphicFrameChg chg="mod">
          <ac:chgData name="Lynnane George" userId="065056628ae16e64" providerId="LiveId" clId="{1E9AE552-6B83-46CE-A2DC-1FB506DB1638}" dt="2026-07-25T18:44:10.502" v="15" actId="962"/>
          <ac:graphicFrameMkLst>
            <pc:docMk/>
            <pc:sldMk cId="3413800495" sldId="352"/>
            <ac:graphicFrameMk id="4" creationId="{CD5DC874-1AB3-4373-AE76-FE2FF6DD61C0}"/>
          </ac:graphicFrameMkLst>
        </pc:graphicFrameChg>
      </pc:sldChg>
      <pc:sldChg chg="addSp delSp modSp mod">
        <pc:chgData name="Lynnane George" userId="065056628ae16e64" providerId="LiveId" clId="{1E9AE552-6B83-46CE-A2DC-1FB506DB1638}" dt="2026-07-29T21:50:43.485" v="512" actId="478"/>
        <pc:sldMkLst>
          <pc:docMk/>
          <pc:sldMk cId="248975046" sldId="405"/>
        </pc:sldMkLst>
        <pc:spChg chg="mod">
          <ac:chgData name="Lynnane George" userId="065056628ae16e64" providerId="LiveId" clId="{1E9AE552-6B83-46CE-A2DC-1FB506DB1638}" dt="2026-07-26T16:31:45.464" v="224" actId="20577"/>
          <ac:spMkLst>
            <pc:docMk/>
            <pc:sldMk cId="248975046" sldId="405"/>
            <ac:spMk id="4" creationId="{D7F2839D-FE2A-4A1B-A310-3F83F020E36D}"/>
          </ac:spMkLst>
        </pc:spChg>
        <pc:picChg chg="add mod">
          <ac:chgData name="Lynnane George" userId="065056628ae16e64" providerId="LiveId" clId="{1E9AE552-6B83-46CE-A2DC-1FB506DB1638}" dt="2026-07-26T16:25:08.488" v="206" actId="1076"/>
          <ac:picMkLst>
            <pc:docMk/>
            <pc:sldMk cId="248975046" sldId="405"/>
            <ac:picMk id="6" creationId="{E087BB3C-BC5F-A0CE-D757-B6BD18BF5261}"/>
          </ac:picMkLst>
        </pc:picChg>
        <pc:inkChg chg="add del">
          <ac:chgData name="Lynnane George" userId="065056628ae16e64" providerId="LiveId" clId="{1E9AE552-6B83-46CE-A2DC-1FB506DB1638}" dt="2026-07-29T21:50:43.485" v="512" actId="478"/>
          <ac:inkMkLst>
            <pc:docMk/>
            <pc:sldMk cId="248975046" sldId="405"/>
            <ac:inkMk id="5" creationId="{BAB558C9-E6F0-823B-A8A4-92518514B78B}"/>
          </ac:inkMkLst>
        </pc:inkChg>
      </pc:sldChg>
      <pc:sldChg chg="addSp delSp modSp mod">
        <pc:chgData name="Lynnane George" userId="065056628ae16e64" providerId="LiveId" clId="{1E9AE552-6B83-46CE-A2DC-1FB506DB1638}" dt="2026-07-26T16:36:36.116" v="249" actId="20577"/>
        <pc:sldMkLst>
          <pc:docMk/>
          <pc:sldMk cId="1108900672" sldId="407"/>
        </pc:sldMkLst>
        <pc:spChg chg="add mod">
          <ac:chgData name="Lynnane George" userId="065056628ae16e64" providerId="LiveId" clId="{1E9AE552-6B83-46CE-A2DC-1FB506DB1638}" dt="2026-07-26T16:36:36.116" v="249" actId="20577"/>
          <ac:spMkLst>
            <pc:docMk/>
            <pc:sldMk cId="1108900672" sldId="407"/>
            <ac:spMk id="7" creationId="{4464CCD0-1E90-08EF-49D3-B44E4352D74E}"/>
          </ac:spMkLst>
        </pc:spChg>
        <pc:picChg chg="add mod">
          <ac:chgData name="Lynnane George" userId="065056628ae16e64" providerId="LiveId" clId="{1E9AE552-6B83-46CE-A2DC-1FB506DB1638}" dt="2026-07-26T16:36:23.584" v="227"/>
          <ac:picMkLst>
            <pc:docMk/>
            <pc:sldMk cId="1108900672" sldId="407"/>
            <ac:picMk id="4" creationId="{753968C6-7594-7AEF-3AD3-AF69DA0860F5}"/>
          </ac:picMkLst>
        </pc:picChg>
      </pc:sldChg>
      <pc:sldChg chg="modSp mod">
        <pc:chgData name="Lynnane George" userId="065056628ae16e64" providerId="LiveId" clId="{1E9AE552-6B83-46CE-A2DC-1FB506DB1638}" dt="2026-07-26T17:00:35.602" v="289" actId="20577"/>
        <pc:sldMkLst>
          <pc:docMk/>
          <pc:sldMk cId="2204902841" sldId="408"/>
        </pc:sldMkLst>
        <pc:spChg chg="mod">
          <ac:chgData name="Lynnane George" userId="065056628ae16e64" providerId="LiveId" clId="{1E9AE552-6B83-46CE-A2DC-1FB506DB1638}" dt="2026-07-26T17:00:35.602" v="289" actId="20577"/>
          <ac:spMkLst>
            <pc:docMk/>
            <pc:sldMk cId="2204902841" sldId="408"/>
            <ac:spMk id="4" creationId="{337AE9F2-82AD-4787-9480-D5C5D3FCCB11}"/>
          </ac:spMkLst>
        </pc:spChg>
      </pc:sldChg>
      <pc:sldChg chg="addSp modSp mod">
        <pc:chgData name="Lynnane George" userId="065056628ae16e64" providerId="LiveId" clId="{1E9AE552-6B83-46CE-A2DC-1FB506DB1638}" dt="2026-07-26T17:01:10.001" v="291" actId="20577"/>
        <pc:sldMkLst>
          <pc:docMk/>
          <pc:sldMk cId="2033917534" sldId="411"/>
        </pc:sldMkLst>
        <pc:spChg chg="add mod">
          <ac:chgData name="Lynnane George" userId="065056628ae16e64" providerId="LiveId" clId="{1E9AE552-6B83-46CE-A2DC-1FB506DB1638}" dt="2026-07-26T17:01:10.001" v="291" actId="20577"/>
          <ac:spMkLst>
            <pc:docMk/>
            <pc:sldMk cId="2033917534" sldId="411"/>
            <ac:spMk id="2" creationId="{620D3C66-B30A-6224-4BD9-08445EB24954}"/>
          </ac:spMkLst>
        </pc:spChg>
        <pc:picChg chg="mod">
          <ac:chgData name="Lynnane George" userId="065056628ae16e64" providerId="LiveId" clId="{1E9AE552-6B83-46CE-A2DC-1FB506DB1638}" dt="2026-07-25T18:43:46.024" v="13" actId="962"/>
          <ac:picMkLst>
            <pc:docMk/>
            <pc:sldMk cId="2033917534" sldId="411"/>
            <ac:picMk id="5" creationId="{40B24BED-0D1F-49AB-A5EB-53DCD237608E}"/>
          </ac:picMkLst>
        </pc:picChg>
      </pc:sldChg>
      <pc:sldChg chg="addSp delSp modSp mod ord">
        <pc:chgData name="Lynnane George" userId="065056628ae16e64" providerId="LiveId" clId="{1E9AE552-6B83-46CE-A2DC-1FB506DB1638}" dt="2026-07-29T21:51:19.463" v="514" actId="20577"/>
        <pc:sldMkLst>
          <pc:docMk/>
          <pc:sldMk cId="856295898" sldId="522"/>
        </pc:sldMkLst>
        <pc:spChg chg="add mod">
          <ac:chgData name="Lynnane George" userId="065056628ae16e64" providerId="LiveId" clId="{1E9AE552-6B83-46CE-A2DC-1FB506DB1638}" dt="2026-07-29T21:51:19.463" v="514" actId="20577"/>
          <ac:spMkLst>
            <pc:docMk/>
            <pc:sldMk cId="856295898" sldId="522"/>
            <ac:spMk id="12" creationId="{BAD761EE-F067-6226-D0E6-AB9032260116}"/>
          </ac:spMkLst>
        </pc:spChg>
        <pc:spChg chg="add mod">
          <ac:chgData name="Lynnane George" userId="065056628ae16e64" providerId="LiveId" clId="{1E9AE552-6B83-46CE-A2DC-1FB506DB1638}" dt="2026-07-26T18:11:50.721" v="497" actId="255"/>
          <ac:spMkLst>
            <pc:docMk/>
            <pc:sldMk cId="856295898" sldId="522"/>
            <ac:spMk id="14" creationId="{CB6884DD-185B-9E69-5AAD-F3C55C9F1DEA}"/>
          </ac:spMkLst>
        </pc:spChg>
        <pc:spChg chg="add mod">
          <ac:chgData name="Lynnane George" userId="065056628ae16e64" providerId="LiveId" clId="{1E9AE552-6B83-46CE-A2DC-1FB506DB1638}" dt="2026-07-26T18:12:31.912" v="505" actId="1076"/>
          <ac:spMkLst>
            <pc:docMk/>
            <pc:sldMk cId="856295898" sldId="522"/>
            <ac:spMk id="17" creationId="{27692C87-253F-BC2C-8ABD-7CB6A48F34D6}"/>
          </ac:spMkLst>
        </pc:spChg>
        <pc:spChg chg="add mod">
          <ac:chgData name="Lynnane George" userId="065056628ae16e64" providerId="LiveId" clId="{1E9AE552-6B83-46CE-A2DC-1FB506DB1638}" dt="2026-07-26T18:12:48.088" v="509" actId="1076"/>
          <ac:spMkLst>
            <pc:docMk/>
            <pc:sldMk cId="856295898" sldId="522"/>
            <ac:spMk id="19" creationId="{D942E80E-DD9B-BC66-27D0-B9C990182FA0}"/>
          </ac:spMkLst>
        </pc:spChg>
        <pc:picChg chg="add mod">
          <ac:chgData name="Lynnane George" userId="065056628ae16e64" providerId="LiveId" clId="{1E9AE552-6B83-46CE-A2DC-1FB506DB1638}" dt="2026-07-26T18:12:27.345" v="504" actId="1076"/>
          <ac:picMkLst>
            <pc:docMk/>
            <pc:sldMk cId="856295898" sldId="522"/>
            <ac:picMk id="15" creationId="{1910464E-C4F8-401B-A8C4-03A0507920A8}"/>
          </ac:picMkLst>
        </pc:picChg>
      </pc:sldChg>
      <pc:sldChg chg="addSp delSp modSp add mod">
        <pc:chgData name="Lynnane George" userId="065056628ae16e64" providerId="LiveId" clId="{1E9AE552-6B83-46CE-A2DC-1FB506DB1638}" dt="2026-07-29T21:52:36.924" v="516" actId="478"/>
        <pc:sldMkLst>
          <pc:docMk/>
          <pc:sldMk cId="437384947" sldId="524"/>
        </pc:sldMkLst>
        <pc:spChg chg="mod">
          <ac:chgData name="Lynnane George" userId="065056628ae16e64" providerId="LiveId" clId="{1E9AE552-6B83-46CE-A2DC-1FB506DB1638}" dt="2026-07-26T16:31:13.840" v="217" actId="20577"/>
          <ac:spMkLst>
            <pc:docMk/>
            <pc:sldMk cId="437384947" sldId="524"/>
            <ac:spMk id="4" creationId="{9591E8CC-FC2E-9CAE-E311-0AAA1D90ABA1}"/>
          </ac:spMkLst>
        </pc:spChg>
        <pc:inkChg chg="add del">
          <ac:chgData name="Lynnane George" userId="065056628ae16e64" providerId="LiveId" clId="{1E9AE552-6B83-46CE-A2DC-1FB506DB1638}" dt="2026-07-29T21:52:36.924" v="516" actId="478"/>
          <ac:inkMkLst>
            <pc:docMk/>
            <pc:sldMk cId="437384947" sldId="524"/>
            <ac:inkMk id="5" creationId="{43552FD4-03B2-711D-472D-7FE83B7C18EA}"/>
          </ac:inkMkLst>
        </pc:inkChg>
      </pc:sldChg>
      <pc:sldChg chg="addSp modSp new mod">
        <pc:chgData name="Lynnane George" userId="065056628ae16e64" providerId="LiveId" clId="{1E9AE552-6B83-46CE-A2DC-1FB506DB1638}" dt="2026-07-26T16:43:42.077" v="253" actId="1076"/>
        <pc:sldMkLst>
          <pc:docMk/>
          <pc:sldMk cId="2336229842" sldId="525"/>
        </pc:sldMkLst>
        <pc:picChg chg="add mod">
          <ac:chgData name="Lynnane George" userId="065056628ae16e64" providerId="LiveId" clId="{1E9AE552-6B83-46CE-A2DC-1FB506DB1638}" dt="2026-07-26T16:43:42.077" v="253" actId="1076"/>
          <ac:picMkLst>
            <pc:docMk/>
            <pc:sldMk cId="2336229842" sldId="525"/>
            <ac:picMk id="5" creationId="{BB477967-ED2D-59B9-2C01-6A125ED2FFE0}"/>
          </ac:picMkLst>
        </pc:picChg>
      </pc:sldChg>
      <pc:sldChg chg="addSp modSp new mod">
        <pc:chgData name="Lynnane George" userId="065056628ae16e64" providerId="LiveId" clId="{1E9AE552-6B83-46CE-A2DC-1FB506DB1638}" dt="2026-07-26T17:21:53.567" v="358" actId="20577"/>
        <pc:sldMkLst>
          <pc:docMk/>
          <pc:sldMk cId="3753334545" sldId="526"/>
        </pc:sldMkLst>
        <pc:spChg chg="mod">
          <ac:chgData name="Lynnane George" userId="065056628ae16e64" providerId="LiveId" clId="{1E9AE552-6B83-46CE-A2DC-1FB506DB1638}" dt="2026-07-26T17:21:53.567" v="358" actId="20577"/>
          <ac:spMkLst>
            <pc:docMk/>
            <pc:sldMk cId="3753334545" sldId="526"/>
            <ac:spMk id="2" creationId="{5FA7091E-B70E-8D6B-4CB8-DC123D9049CD}"/>
          </ac:spMkLst>
        </pc:spChg>
        <pc:picChg chg="add mod">
          <ac:chgData name="Lynnane George" userId="065056628ae16e64" providerId="LiveId" clId="{1E9AE552-6B83-46CE-A2DC-1FB506DB1638}" dt="2026-07-26T17:21:26.366" v="296" actId="14100"/>
          <ac:picMkLst>
            <pc:docMk/>
            <pc:sldMk cId="3753334545" sldId="526"/>
            <ac:picMk id="5" creationId="{028FA676-E196-87FE-314F-8D554B46D426}"/>
          </ac:picMkLst>
        </pc:picChg>
      </pc:sldChg>
      <pc:sldChg chg="addSp modSp new mod">
        <pc:chgData name="Lynnane George" userId="065056628ae16e64" providerId="LiveId" clId="{1E9AE552-6B83-46CE-A2DC-1FB506DB1638}" dt="2026-07-26T18:01:44.030" v="439" actId="20577"/>
        <pc:sldMkLst>
          <pc:docMk/>
          <pc:sldMk cId="1715386996" sldId="527"/>
        </pc:sldMkLst>
        <pc:spChg chg="mod">
          <ac:chgData name="Lynnane George" userId="065056628ae16e64" providerId="LiveId" clId="{1E9AE552-6B83-46CE-A2DC-1FB506DB1638}" dt="2026-07-26T18:00:13.725" v="385" actId="20577"/>
          <ac:spMkLst>
            <pc:docMk/>
            <pc:sldMk cId="1715386996" sldId="527"/>
            <ac:spMk id="2" creationId="{99FD0FFA-098A-AC46-7868-4899722B92D8}"/>
          </ac:spMkLst>
        </pc:spChg>
        <pc:spChg chg="add mod">
          <ac:chgData name="Lynnane George" userId="065056628ae16e64" providerId="LiveId" clId="{1E9AE552-6B83-46CE-A2DC-1FB506DB1638}" dt="2026-07-26T18:01:44.030" v="439" actId="20577"/>
          <ac:spMkLst>
            <pc:docMk/>
            <pc:sldMk cId="1715386996" sldId="527"/>
            <ac:spMk id="5" creationId="{E7E60385-CB03-DC4B-EDB3-A8BAD1C887F7}"/>
          </ac:spMkLst>
        </pc:spChg>
      </pc:sldChg>
      <pc:sldChg chg="delSp add mod">
        <pc:chgData name="Lynnane George" userId="065056628ae16e64" providerId="LiveId" clId="{1E9AE552-6B83-46CE-A2DC-1FB506DB1638}" dt="2026-07-29T21:53:17.746" v="521" actId="478"/>
        <pc:sldMkLst>
          <pc:docMk/>
          <pc:sldMk cId="108317356" sldId="528"/>
        </pc:sldMkLst>
        <pc:spChg chg="del">
          <ac:chgData name="Lynnane George" userId="065056628ae16e64" providerId="LiveId" clId="{1E9AE552-6B83-46CE-A2DC-1FB506DB1638}" dt="2026-07-29T21:53:17.746" v="521" actId="478"/>
          <ac:spMkLst>
            <pc:docMk/>
            <pc:sldMk cId="108317356" sldId="528"/>
            <ac:spMk id="17" creationId="{16F0A41B-D7CA-BBE5-EA47-8F80EBFA9795}"/>
          </ac:spMkLst>
        </pc:spChg>
        <pc:picChg chg="del">
          <ac:chgData name="Lynnane George" userId="065056628ae16e64" providerId="LiveId" clId="{1E9AE552-6B83-46CE-A2DC-1FB506DB1638}" dt="2026-07-29T21:53:15.519" v="520" actId="478"/>
          <ac:picMkLst>
            <pc:docMk/>
            <pc:sldMk cId="108317356" sldId="528"/>
            <ac:picMk id="15" creationId="{26F46C9E-87FE-A9CE-2E9B-F78D435B9CA2}"/>
          </ac:picMkLst>
        </pc:picChg>
      </pc:sldChg>
      <pc:sldChg chg="new del">
        <pc:chgData name="Lynnane George" userId="065056628ae16e64" providerId="LiveId" clId="{1E9AE552-6B83-46CE-A2DC-1FB506DB1638}" dt="2026-07-29T21:53:07.496" v="518" actId="2696"/>
        <pc:sldMkLst>
          <pc:docMk/>
          <pc:sldMk cId="647329506" sldId="52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326BDA-DC63-4F1E-89FF-0162DDA85E00}" type="datetimeFigureOut">
              <a:rPr lang="en-US" smtClean="0"/>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EE1DA9-70CD-4924-8F6B-D46BA6EEAFB6}" type="slidenum">
              <a:rPr lang="en-US" smtClean="0"/>
              <a:t>‹#›</a:t>
            </a:fld>
            <a:endParaRPr lang="en-US"/>
          </a:p>
        </p:txBody>
      </p:sp>
    </p:spTree>
    <p:extLst>
      <p:ext uri="{BB962C8B-B14F-4D97-AF65-F5344CB8AC3E}">
        <p14:creationId xmlns:p14="http://schemas.microsoft.com/office/powerpoint/2010/main" val="2460534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40663C8-5A64-4F20-89B9-6BD9033744B8}" type="slidenum">
              <a:rPr lang="en-US" smtClean="0"/>
              <a:t>1</a:t>
            </a:fld>
            <a:endParaRPr lang="en-US"/>
          </a:p>
        </p:txBody>
      </p:sp>
    </p:spTree>
    <p:extLst>
      <p:ext uri="{BB962C8B-B14F-4D97-AF65-F5344CB8AC3E}">
        <p14:creationId xmlns:p14="http://schemas.microsoft.com/office/powerpoint/2010/main" val="1307497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369080C2-6FCB-4017-ADFB-9AF863EB7125}"/>
              </a:ext>
            </a:extLst>
          </p:cNvPr>
          <p:cNvSpPr>
            <a:spLocks noGrp="1" noRot="1" noChangeAspect="1" noChangeArrowheads="1" noTextEdit="1"/>
          </p:cNvSpPr>
          <p:nvPr>
            <p:ph type="sldImg"/>
          </p:nvPr>
        </p:nvSpPr>
        <p:spPr>
          <a:xfrm>
            <a:off x="460375" y="2590800"/>
            <a:ext cx="6124575" cy="3446463"/>
          </a:xfrm>
          <a:ln/>
        </p:spPr>
      </p:sp>
      <p:sp>
        <p:nvSpPr>
          <p:cNvPr id="95236" name="Text Box 4">
            <a:extLst>
              <a:ext uri="{FF2B5EF4-FFF2-40B4-BE49-F238E27FC236}">
                <a16:creationId xmlns:a16="http://schemas.microsoft.com/office/drawing/2014/main" id="{C8F38A5C-4EC2-4306-87E2-2EA0AB16D95A}"/>
              </a:ext>
            </a:extLst>
          </p:cNvPr>
          <p:cNvSpPr txBox="1">
            <a:spLocks noChangeArrowheads="1"/>
          </p:cNvSpPr>
          <p:nvPr/>
        </p:nvSpPr>
        <p:spPr bwMode="auto">
          <a:xfrm>
            <a:off x="392113" y="1846263"/>
            <a:ext cx="34163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 variety of environmental effects have a direct impact on the ability of spacecraft subsystems to execute their design objectives</a:t>
            </a:r>
          </a:p>
        </p:txBody>
      </p:sp>
      <p:sp>
        <p:nvSpPr>
          <p:cNvPr id="95237" name="Line 5">
            <a:extLst>
              <a:ext uri="{FF2B5EF4-FFF2-40B4-BE49-F238E27FC236}">
                <a16:creationId xmlns:a16="http://schemas.microsoft.com/office/drawing/2014/main" id="{097650BB-0663-4562-9113-C41D5E5A08DD}"/>
              </a:ext>
            </a:extLst>
          </p:cNvPr>
          <p:cNvSpPr>
            <a:spLocks noChangeShapeType="1"/>
          </p:cNvSpPr>
          <p:nvPr/>
        </p:nvSpPr>
        <p:spPr bwMode="auto">
          <a:xfrm>
            <a:off x="657225" y="2200275"/>
            <a:ext cx="666750" cy="11239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5238" name="Text Box 6">
            <a:extLst>
              <a:ext uri="{FF2B5EF4-FFF2-40B4-BE49-F238E27FC236}">
                <a16:creationId xmlns:a16="http://schemas.microsoft.com/office/drawing/2014/main" id="{EA69EE6C-C9C1-45B7-BEED-60CD343413AE}"/>
              </a:ext>
            </a:extLst>
          </p:cNvPr>
          <p:cNvSpPr txBox="1">
            <a:spLocks noChangeArrowheads="1"/>
          </p:cNvSpPr>
          <p:nvPr/>
        </p:nvSpPr>
        <p:spPr bwMode="auto">
          <a:xfrm>
            <a:off x="1835150" y="7469188"/>
            <a:ext cx="3417888"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This chart provides a good summary of the impacts of the space environment on these subsystems</a:t>
            </a:r>
          </a:p>
          <a:p>
            <a:pPr>
              <a:defRPr/>
            </a:pPr>
            <a:endParaRPr lang="en-US" altLang="en-US" sz="900" i="1"/>
          </a:p>
          <a:p>
            <a:pPr>
              <a:defRPr/>
            </a:pPr>
            <a:r>
              <a:rPr lang="en-US" altLang="en-US" sz="900" i="1">
                <a:sym typeface="Symbol" charset="2"/>
              </a:rPr>
              <a:t>     we’ll walk through each of these areas in the next several slides</a:t>
            </a:r>
            <a:endParaRPr lang="en-US" altLang="en-US" sz="900" i="1"/>
          </a:p>
        </p:txBody>
      </p:sp>
      <p:sp>
        <p:nvSpPr>
          <p:cNvPr id="95239" name="Text Box 7">
            <a:extLst>
              <a:ext uri="{FF2B5EF4-FFF2-40B4-BE49-F238E27FC236}">
                <a16:creationId xmlns:a16="http://schemas.microsoft.com/office/drawing/2014/main" id="{8CC6C045-5E15-4322-8738-58B34454455F}"/>
              </a:ext>
            </a:extLst>
          </p:cNvPr>
          <p:cNvSpPr txBox="1">
            <a:spLocks noChangeArrowheads="1"/>
          </p:cNvSpPr>
          <p:nvPr/>
        </p:nvSpPr>
        <p:spPr bwMode="auto">
          <a:xfrm>
            <a:off x="2462213" y="6184900"/>
            <a:ext cx="34163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Must recognize that extra margin must be designed into spacecraft subsystems to handle these impacts</a:t>
            </a:r>
          </a:p>
        </p:txBody>
      </p:sp>
      <p:sp>
        <p:nvSpPr>
          <p:cNvPr id="95240" name="Line 8">
            <a:extLst>
              <a:ext uri="{FF2B5EF4-FFF2-40B4-BE49-F238E27FC236}">
                <a16:creationId xmlns:a16="http://schemas.microsoft.com/office/drawing/2014/main" id="{A1934AB7-F442-4324-827B-9792A680AEB9}"/>
              </a:ext>
            </a:extLst>
          </p:cNvPr>
          <p:cNvSpPr>
            <a:spLocks noChangeShapeType="1"/>
          </p:cNvSpPr>
          <p:nvPr/>
        </p:nvSpPr>
        <p:spPr bwMode="auto">
          <a:xfrm flipV="1">
            <a:off x="2555875" y="5726113"/>
            <a:ext cx="342900" cy="4810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5241" name="Line 9">
            <a:extLst>
              <a:ext uri="{FF2B5EF4-FFF2-40B4-BE49-F238E27FC236}">
                <a16:creationId xmlns:a16="http://schemas.microsoft.com/office/drawing/2014/main" id="{EAAD7E58-E024-402C-9109-48B783EAFEDE}"/>
              </a:ext>
            </a:extLst>
          </p:cNvPr>
          <p:cNvSpPr>
            <a:spLocks noChangeShapeType="1"/>
          </p:cNvSpPr>
          <p:nvPr/>
        </p:nvSpPr>
        <p:spPr bwMode="auto">
          <a:xfrm flipH="1" flipV="1">
            <a:off x="5000625" y="5684838"/>
            <a:ext cx="363538" cy="503237"/>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 name="Notes Placeholder 1">
            <a:extLst>
              <a:ext uri="{FF2B5EF4-FFF2-40B4-BE49-F238E27FC236}">
                <a16:creationId xmlns:a16="http://schemas.microsoft.com/office/drawing/2014/main" id="{D38C454D-CE4E-4CF7-81B9-BC627D5ED66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295381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2553CF-3753-4030-B956-0E17717FFA8A}" type="datetime1">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7392866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E916AB-E2CE-4F53-9A4E-2FBC689DE670}" type="datetime1">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941007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822EF1A-AA66-4B8F-8BD3-1CFEF4BAF018}" type="datetime1">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935925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7BFFFF-B27D-42C0-8942-B1D7D407A10C}" type="datetime1">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4121427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26D884-C82E-4F76-B303-A920A9522777}" type="datetime1">
              <a:rPr lang="en-US" smtClean="0"/>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037721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07E249-A449-44AB-95FB-8B2CAC08AF17}" type="datetime1">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377666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553F8C6F-32A6-4D20-87C5-EC8EE6115D51}" type="datetime1">
              <a:rPr lang="en-US" smtClean="0"/>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36403012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69C19E-A33C-4CFB-9944-D9A62AD8258A}" type="datetime1">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78231067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B358399-CFD0-4FDB-84EC-CBF8080F49A9}" type="datetime1">
              <a:rPr lang="en-US" smtClean="0"/>
              <a:t>7/29/2026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707087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60FAB3A-94A8-416C-A72C-78EA7864A8CA}" type="datetime1">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065278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4325F2-1029-4032-926D-3E79E61F9142}" type="datetime1">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0716096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00B6D1-E356-4A33-BBD2-A8FC683A867D}" type="datetime1">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22432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A8412EB-DAA5-4A4C-BC3E-ED7A0C4FEC6D}" type="datetime1">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5810023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8D128B22-4ADF-4D89-BD90-CE9C8E4CCFAE}" type="datetime1">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4237653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0A2E7B1-1D42-4426-A172-3464B0125CD7}" type="datetime1">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780749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5A3ED9-03AD-425C-BFA7-71C22636FC11}" type="datetime1">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753414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610CF1-5857-4740-8E6E-5A3A3A9C71E7}" type="datetime1">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198134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A80C47-B259-427A-A753-926FB38AD6FE}" type="datetime1">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520853-C384-4919-8F9A-9CB57A0B2B64}" type="slidenum">
              <a:rPr lang="en-US" smtClean="0"/>
              <a:t>‹#›</a:t>
            </a:fld>
            <a:endParaRPr lang="en-US"/>
          </a:p>
        </p:txBody>
      </p:sp>
    </p:spTree>
    <p:extLst>
      <p:ext uri="{BB962C8B-B14F-4D97-AF65-F5344CB8AC3E}">
        <p14:creationId xmlns:p14="http://schemas.microsoft.com/office/powerpoint/2010/main" val="235457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046AF7F7-8276-44CF-B778-9475BB1EDC85}" type="datetime1">
              <a:rPr lang="en-US" smtClean="0"/>
              <a:t>7/29/2026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C83C362F-97FB-4C1E-B0F0-C3069DD0CDD1}" type="slidenum">
              <a:rPr lang="en-US" smtClean="0"/>
              <a:t>‹#›</a:t>
            </a:fld>
            <a:endParaRPr lang="en-US"/>
          </a:p>
        </p:txBody>
      </p:sp>
    </p:spTree>
    <p:extLst>
      <p:ext uri="{BB962C8B-B14F-4D97-AF65-F5344CB8AC3E}">
        <p14:creationId xmlns:p14="http://schemas.microsoft.com/office/powerpoint/2010/main" val="167759062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Lst>
  <p:hf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4810.png"/></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hyperlink" Target="https://www.spacex.com/updates/"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4D4DD4CF-9732-4771-98FE-77886DC91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See the source image">
            <a:extLst>
              <a:ext uri="{FF2B5EF4-FFF2-40B4-BE49-F238E27FC236}">
                <a16:creationId xmlns:a16="http://schemas.microsoft.com/office/drawing/2014/main" id="{05401413-7E9D-4E8A-8A4E-E3B3D468F0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20" r="34136"/>
          <a:stretch/>
        </p:blipFill>
        <p:spPr bwMode="auto">
          <a:xfrm>
            <a:off x="1" y="10"/>
            <a:ext cx="7479157"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A2861A9C-C970-4FFE-B67C-222B6F573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791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D2FDF82E-EBD8-4EC5-AD10-CD9E70EE8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196408" y="640831"/>
            <a:ext cx="3352128" cy="1573863"/>
          </a:xfrm>
        </p:spPr>
        <p:txBody>
          <a:bodyPr vert="horz" lIns="91440" tIns="45720" rIns="91440" bIns="45720" rtlCol="0" anchor="ctr">
            <a:normAutofit/>
          </a:bodyPr>
          <a:lstStyle/>
          <a:p>
            <a:pPr algn="l"/>
            <a:r>
              <a:rPr lang="en-US" sz="3300" dirty="0"/>
              <a:t>SPSM 5065</a:t>
            </a:r>
            <a:br>
              <a:rPr lang="en-US" sz="3300" dirty="0"/>
            </a:br>
            <a:r>
              <a:rPr lang="en-US" sz="3300" dirty="0"/>
              <a:t>RADIATION ENVIRONMENT</a:t>
            </a:r>
          </a:p>
        </p:txBody>
      </p:sp>
      <p:sp>
        <p:nvSpPr>
          <p:cNvPr id="4" name="Slide Number Placeholder 3"/>
          <p:cNvSpPr>
            <a:spLocks noGrp="1"/>
          </p:cNvSpPr>
          <p:nvPr>
            <p:ph type="sldNum" sz="quarter" idx="12"/>
          </p:nvPr>
        </p:nvSpPr>
        <p:spPr>
          <a:xfrm>
            <a:off x="10514011" y="6265130"/>
            <a:ext cx="764215" cy="365125"/>
          </a:xfrm>
        </p:spPr>
        <p:txBody>
          <a:bodyPr vert="horz" lIns="91440" tIns="45720" rIns="91440" bIns="45720" rtlCol="0" anchor="ctr">
            <a:normAutofit/>
          </a:bodyPr>
          <a:lstStyle/>
          <a:p>
            <a:pPr>
              <a:spcAft>
                <a:spcPts val="600"/>
              </a:spcAft>
            </a:pPr>
            <a:fld id="{ED1AABF0-59A5-4037-929A-6287642C3B54}" type="slidenum">
              <a:rPr lang="en-US" smtClean="0"/>
              <a:pPr>
                <a:spcAft>
                  <a:spcPts val="600"/>
                </a:spcAft>
              </a:pPr>
              <a:t>1</a:t>
            </a:fld>
            <a:endParaRPr lang="en-US"/>
          </a:p>
        </p:txBody>
      </p:sp>
      <p:sp>
        <p:nvSpPr>
          <p:cNvPr id="13" name="TextBox 12">
            <a:extLst>
              <a:ext uri="{FF2B5EF4-FFF2-40B4-BE49-F238E27FC236}">
                <a16:creationId xmlns:a16="http://schemas.microsoft.com/office/drawing/2014/main" id="{94F2496D-CA76-403E-AA25-751D054DE999}"/>
              </a:ext>
            </a:extLst>
          </p:cNvPr>
          <p:cNvSpPr txBox="1"/>
          <p:nvPr/>
        </p:nvSpPr>
        <p:spPr>
          <a:xfrm>
            <a:off x="543951" y="5153464"/>
            <a:ext cx="4567311" cy="923330"/>
          </a:xfrm>
          <a:prstGeom prst="rect">
            <a:avLst/>
          </a:prstGeom>
          <a:noFill/>
        </p:spPr>
        <p:txBody>
          <a:bodyPr wrap="square" rtlCol="0">
            <a:spAutoFit/>
          </a:bodyPr>
          <a:lstStyle/>
          <a:p>
            <a:r>
              <a:rPr lang="en-US" b="1" dirty="0">
                <a:solidFill>
                  <a:schemeClr val="bg1"/>
                </a:solidFill>
              </a:rPr>
              <a:t>Single Event Phenomena</a:t>
            </a:r>
          </a:p>
          <a:p>
            <a:r>
              <a:rPr lang="en-US" b="1" dirty="0">
                <a:solidFill>
                  <a:schemeClr val="bg1"/>
                </a:solidFill>
              </a:rPr>
              <a:t>Solar Radiation Pressure</a:t>
            </a:r>
          </a:p>
          <a:p>
            <a:endParaRPr lang="en-US" b="1" dirty="0">
              <a:solidFill>
                <a:schemeClr val="bg1"/>
              </a:solidFill>
            </a:endParaRPr>
          </a:p>
        </p:txBody>
      </p:sp>
    </p:spTree>
    <p:extLst>
      <p:ext uri="{BB962C8B-B14F-4D97-AF65-F5344CB8AC3E}">
        <p14:creationId xmlns:p14="http://schemas.microsoft.com/office/powerpoint/2010/main" val="3619411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D57C2-2462-462E-B770-1D0E5F73959D}"/>
              </a:ext>
            </a:extLst>
          </p:cNvPr>
          <p:cNvSpPr>
            <a:spLocks noGrp="1"/>
          </p:cNvSpPr>
          <p:nvPr>
            <p:ph type="title"/>
          </p:nvPr>
        </p:nvSpPr>
        <p:spPr>
          <a:xfrm>
            <a:off x="1059247" y="153144"/>
            <a:ext cx="10364451" cy="1596177"/>
          </a:xfrm>
        </p:spPr>
        <p:txBody>
          <a:bodyPr/>
          <a:lstStyle/>
          <a:p>
            <a:r>
              <a:rPr lang="en-US" dirty="0"/>
              <a:t>SINGLE EVENT PHENOMENA</a:t>
            </a:r>
          </a:p>
        </p:txBody>
      </p:sp>
      <p:sp>
        <p:nvSpPr>
          <p:cNvPr id="3" name="Slide Number Placeholder 2">
            <a:extLst>
              <a:ext uri="{FF2B5EF4-FFF2-40B4-BE49-F238E27FC236}">
                <a16:creationId xmlns:a16="http://schemas.microsoft.com/office/drawing/2014/main" id="{915D6B37-6100-4D03-A516-D95C6DE7B7DD}"/>
              </a:ext>
            </a:extLst>
          </p:cNvPr>
          <p:cNvSpPr>
            <a:spLocks noGrp="1"/>
          </p:cNvSpPr>
          <p:nvPr>
            <p:ph type="sldNum" sz="quarter" idx="12"/>
          </p:nvPr>
        </p:nvSpPr>
        <p:spPr/>
        <p:txBody>
          <a:bodyPr/>
          <a:lstStyle/>
          <a:p>
            <a:fld id="{C83C362F-97FB-4C1E-B0F0-C3069DD0CDD1}" type="slidenum">
              <a:rPr lang="en-US" smtClean="0"/>
              <a:t>2</a:t>
            </a:fld>
            <a:endParaRPr lang="en-US"/>
          </a:p>
        </p:txBody>
      </p:sp>
      <p:sp>
        <p:nvSpPr>
          <p:cNvPr id="4" name="TextBox 3">
            <a:extLst>
              <a:ext uri="{FF2B5EF4-FFF2-40B4-BE49-F238E27FC236}">
                <a16:creationId xmlns:a16="http://schemas.microsoft.com/office/drawing/2014/main" id="{D7F2839D-FE2A-4A1B-A310-3F83F020E36D}"/>
              </a:ext>
            </a:extLst>
          </p:cNvPr>
          <p:cNvSpPr txBox="1"/>
          <p:nvPr/>
        </p:nvSpPr>
        <p:spPr>
          <a:xfrm>
            <a:off x="558496" y="2214694"/>
            <a:ext cx="4761649" cy="2831544"/>
          </a:xfrm>
          <a:prstGeom prst="rect">
            <a:avLst/>
          </a:prstGeom>
          <a:noFill/>
        </p:spPr>
        <p:txBody>
          <a:bodyPr wrap="square" rtlCol="0">
            <a:spAutoFit/>
          </a:bodyPr>
          <a:lstStyle/>
          <a:p>
            <a:r>
              <a:rPr lang="en-US" sz="2000" dirty="0"/>
              <a:t>SEU – upset, reversible</a:t>
            </a:r>
          </a:p>
          <a:p>
            <a:endParaRPr lang="en-US" sz="2000" dirty="0"/>
          </a:p>
          <a:p>
            <a:endParaRPr lang="en-US" sz="2000" dirty="0"/>
          </a:p>
          <a:p>
            <a:endParaRPr lang="en-US" sz="2000" dirty="0"/>
          </a:p>
          <a:p>
            <a:endParaRPr lang="en-US" sz="2000" dirty="0"/>
          </a:p>
          <a:p>
            <a:endParaRPr lang="en-US" sz="2000" dirty="0"/>
          </a:p>
          <a:p>
            <a:r>
              <a:rPr lang="en-US" sz="2000" dirty="0"/>
              <a:t>Burnout – permanent damage</a:t>
            </a:r>
          </a:p>
          <a:p>
            <a:endParaRPr lang="en-US" sz="2000" dirty="0"/>
          </a:p>
          <a:p>
            <a:r>
              <a:rPr lang="en-US" dirty="0"/>
              <a:t>	</a:t>
            </a:r>
          </a:p>
        </p:txBody>
      </p:sp>
      <p:pic>
        <p:nvPicPr>
          <p:cNvPr id="6" name="Picture 5">
            <a:extLst>
              <a:ext uri="{FF2B5EF4-FFF2-40B4-BE49-F238E27FC236}">
                <a16:creationId xmlns:a16="http://schemas.microsoft.com/office/drawing/2014/main" id="{E087BB3C-BC5F-A0CE-D757-B6BD18BF52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2698" y="2553634"/>
            <a:ext cx="6877651" cy="3076994"/>
          </a:xfrm>
          <a:prstGeom prst="rect">
            <a:avLst/>
          </a:prstGeom>
        </p:spPr>
      </p:pic>
    </p:spTree>
    <p:extLst>
      <p:ext uri="{BB962C8B-B14F-4D97-AF65-F5344CB8AC3E}">
        <p14:creationId xmlns:p14="http://schemas.microsoft.com/office/powerpoint/2010/main" val="248975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16882-818F-9062-EA7F-6AFDDBBC6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B99B7-3A36-7740-1A32-9E39B2DB9847}"/>
              </a:ext>
            </a:extLst>
          </p:cNvPr>
          <p:cNvSpPr>
            <a:spLocks noGrp="1"/>
          </p:cNvSpPr>
          <p:nvPr>
            <p:ph type="title"/>
          </p:nvPr>
        </p:nvSpPr>
        <p:spPr>
          <a:xfrm>
            <a:off x="1059247" y="153144"/>
            <a:ext cx="10364451" cy="1596177"/>
          </a:xfrm>
        </p:spPr>
        <p:txBody>
          <a:bodyPr/>
          <a:lstStyle/>
          <a:p>
            <a:r>
              <a:rPr lang="en-US" dirty="0"/>
              <a:t>SINGLE EVENT PHENOMENA</a:t>
            </a:r>
          </a:p>
        </p:txBody>
      </p:sp>
      <p:sp>
        <p:nvSpPr>
          <p:cNvPr id="3" name="Slide Number Placeholder 2">
            <a:extLst>
              <a:ext uri="{FF2B5EF4-FFF2-40B4-BE49-F238E27FC236}">
                <a16:creationId xmlns:a16="http://schemas.microsoft.com/office/drawing/2014/main" id="{B8908C18-A969-0E8B-6BEF-DA08B30F77F2}"/>
              </a:ext>
            </a:extLst>
          </p:cNvPr>
          <p:cNvSpPr>
            <a:spLocks noGrp="1"/>
          </p:cNvSpPr>
          <p:nvPr>
            <p:ph type="sldNum" sz="quarter" idx="12"/>
          </p:nvPr>
        </p:nvSpPr>
        <p:spPr/>
        <p:txBody>
          <a:bodyPr/>
          <a:lstStyle/>
          <a:p>
            <a:fld id="{C83C362F-97FB-4C1E-B0F0-C3069DD0CDD1}" type="slidenum">
              <a:rPr lang="en-US" smtClean="0"/>
              <a:t>3</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591E8CC-FC2E-9CAE-E311-0AAA1D90ABA1}"/>
                  </a:ext>
                </a:extLst>
              </p:cNvPr>
              <p:cNvSpPr txBox="1"/>
              <p:nvPr/>
            </p:nvSpPr>
            <p:spPr>
              <a:xfrm>
                <a:off x="558496" y="2214694"/>
                <a:ext cx="4761649" cy="2967031"/>
              </a:xfrm>
              <a:prstGeom prst="rect">
                <a:avLst/>
              </a:prstGeom>
              <a:noFill/>
            </p:spPr>
            <p:txBody>
              <a:bodyPr wrap="square" rtlCol="0">
                <a:spAutoFit/>
              </a:bodyPr>
              <a:lstStyle/>
              <a:p>
                <a:endParaRPr lang="en-US" sz="2000" dirty="0"/>
              </a:p>
              <a:p>
                <a:r>
                  <a:rPr lang="en-US" sz="2000" dirty="0" err="1"/>
                  <a:t>Latchup</a:t>
                </a:r>
                <a:r>
                  <a:rPr lang="en-US" sz="2000" dirty="0"/>
                  <a:t> – usually ~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8</m:t>
                        </m:r>
                      </m:sup>
                    </m:sSup>
                    <m:r>
                      <a:rPr lang="en-US" sz="2000" b="0" i="1" smtClean="0">
                        <a:latin typeface="Cambria Math" panose="02040503050406030204" pitchFamily="18" charset="0"/>
                      </a:rPr>
                      <m:t> </m:t>
                    </m:r>
                    <m:r>
                      <a:rPr lang="en-US" sz="2000" b="0" i="1" smtClean="0">
                        <a:latin typeface="Cambria Math" panose="02040503050406030204" pitchFamily="18" charset="0"/>
                      </a:rPr>
                      <m:t>𝑟𝑎𝑑</m:t>
                    </m:r>
                    <m:r>
                      <a:rPr lang="en-US" sz="2000" b="0" i="1" smtClean="0">
                        <a:latin typeface="Cambria Math" panose="02040503050406030204" pitchFamily="18" charset="0"/>
                      </a:rPr>
                      <m:t>/</m:t>
                    </m:r>
                    <m:r>
                      <a:rPr lang="en-US" sz="2000" b="0" i="1" smtClean="0">
                        <a:latin typeface="Cambria Math" panose="02040503050406030204" pitchFamily="18" charset="0"/>
                      </a:rPr>
                      <m:t>𝑠</m:t>
                    </m:r>
                  </m:oMath>
                </a14:m>
                <a:endParaRPr lang="en-US" sz="2000" dirty="0"/>
              </a:p>
              <a:p>
                <a:endParaRPr lang="en-US" sz="2000" dirty="0"/>
              </a:p>
              <a:p>
                <a:endParaRPr lang="en-US" sz="2000" dirty="0"/>
              </a:p>
              <a:p>
                <a:endParaRPr lang="en-US" sz="2000" dirty="0"/>
              </a:p>
              <a:p>
                <a:r>
                  <a:rPr lang="en-US" sz="2000" dirty="0"/>
                  <a:t>Upset – functions in a manner other than expected design characteristics ~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7</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12</m:t>
                        </m:r>
                      </m:sup>
                    </m:sSup>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𝑟𝑎𝑑</m:t>
                        </m:r>
                      </m:num>
                      <m:den>
                        <m:r>
                          <a:rPr lang="en-US" sz="2000" b="0" i="1" smtClean="0">
                            <a:latin typeface="Cambria Math" panose="02040503050406030204" pitchFamily="18" charset="0"/>
                          </a:rPr>
                          <m:t>𝑠</m:t>
                        </m:r>
                      </m:den>
                    </m:f>
                  </m:oMath>
                </a14:m>
                <a:endParaRPr lang="en-US" sz="2000" b="0" dirty="0"/>
              </a:p>
              <a:p>
                <a:r>
                  <a:rPr lang="en-US" dirty="0"/>
                  <a:t>	</a:t>
                </a:r>
              </a:p>
            </p:txBody>
          </p:sp>
        </mc:Choice>
        <mc:Fallback xmlns="">
          <p:sp>
            <p:nvSpPr>
              <p:cNvPr id="4" name="TextBox 3">
                <a:extLst>
                  <a:ext uri="{FF2B5EF4-FFF2-40B4-BE49-F238E27FC236}">
                    <a16:creationId xmlns:a16="http://schemas.microsoft.com/office/drawing/2014/main" id="{9591E8CC-FC2E-9CAE-E311-0AAA1D90ABA1}"/>
                  </a:ext>
                </a:extLst>
              </p:cNvPr>
              <p:cNvSpPr txBox="1">
                <a:spLocks noRot="1" noChangeAspect="1" noMove="1" noResize="1" noEditPoints="1" noAdjustHandles="1" noChangeArrowheads="1" noChangeShapeType="1" noTextEdit="1"/>
              </p:cNvSpPr>
              <p:nvPr/>
            </p:nvSpPr>
            <p:spPr>
              <a:xfrm>
                <a:off x="558496" y="2214694"/>
                <a:ext cx="4761649" cy="2967031"/>
              </a:xfrm>
              <a:prstGeom prst="rect">
                <a:avLst/>
              </a:prstGeom>
              <a:blipFill>
                <a:blip r:embed="rId2"/>
                <a:stretch>
                  <a:fillRect l="-1408"/>
                </a:stretch>
              </a:blipFill>
            </p:spPr>
            <p:txBody>
              <a:bodyPr/>
              <a:lstStyle/>
              <a:p>
                <a:r>
                  <a:rPr lang="en-US">
                    <a:noFill/>
                  </a:rPr>
                  <a:t> </a:t>
                </a:r>
              </a:p>
            </p:txBody>
          </p:sp>
        </mc:Fallback>
      </mc:AlternateContent>
      <p:pic>
        <p:nvPicPr>
          <p:cNvPr id="1028" name="Picture 4" descr="See the source image">
            <a:extLst>
              <a:ext uri="{FF2B5EF4-FFF2-40B4-BE49-F238E27FC236}">
                <a16:creationId xmlns:a16="http://schemas.microsoft.com/office/drawing/2014/main" id="{9B6476C2-6352-08C5-BF70-85C0D1FFE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1902" y="1510145"/>
            <a:ext cx="6477785" cy="4862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7384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15D6B37-6100-4D03-A516-D95C6DE7B7DD}"/>
              </a:ext>
            </a:extLst>
          </p:cNvPr>
          <p:cNvSpPr>
            <a:spLocks noGrp="1"/>
          </p:cNvSpPr>
          <p:nvPr>
            <p:ph type="sldNum" sz="quarter" idx="12"/>
          </p:nvPr>
        </p:nvSpPr>
        <p:spPr/>
        <p:txBody>
          <a:bodyPr/>
          <a:lstStyle/>
          <a:p>
            <a:fld id="{C83C362F-97FB-4C1E-B0F0-C3069DD0CDD1}" type="slidenum">
              <a:rPr lang="en-US" smtClean="0"/>
              <a:t>4</a:t>
            </a:fld>
            <a:endParaRPr lang="en-US"/>
          </a:p>
        </p:txBody>
      </p:sp>
      <p:sp>
        <p:nvSpPr>
          <p:cNvPr id="7" name="Title 6">
            <a:extLst>
              <a:ext uri="{FF2B5EF4-FFF2-40B4-BE49-F238E27FC236}">
                <a16:creationId xmlns:a16="http://schemas.microsoft.com/office/drawing/2014/main" id="{4464CCD0-1E90-08EF-49D3-B44E4352D74E}"/>
              </a:ext>
            </a:extLst>
          </p:cNvPr>
          <p:cNvSpPr>
            <a:spLocks noGrp="1"/>
          </p:cNvSpPr>
          <p:nvPr>
            <p:ph type="title"/>
          </p:nvPr>
        </p:nvSpPr>
        <p:spPr>
          <a:xfrm>
            <a:off x="913775" y="82489"/>
            <a:ext cx="10364451" cy="1596177"/>
          </a:xfrm>
        </p:spPr>
        <p:txBody>
          <a:bodyPr/>
          <a:lstStyle/>
          <a:p>
            <a:r>
              <a:rPr lang="en-US" dirty="0"/>
              <a:t>SINGLE EVENT PHENOMENA mitigation strategies</a:t>
            </a:r>
          </a:p>
        </p:txBody>
      </p:sp>
      <p:pic>
        <p:nvPicPr>
          <p:cNvPr id="4" name="Picture 3">
            <a:extLst>
              <a:ext uri="{FF2B5EF4-FFF2-40B4-BE49-F238E27FC236}">
                <a16:creationId xmlns:a16="http://schemas.microsoft.com/office/drawing/2014/main" id="{753968C6-7594-7AEF-3AD3-AF69DA0860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69" y="1542953"/>
            <a:ext cx="9938261" cy="3772094"/>
          </a:xfrm>
          <a:prstGeom prst="rect">
            <a:avLst/>
          </a:prstGeom>
        </p:spPr>
      </p:pic>
    </p:spTree>
    <p:extLst>
      <p:ext uri="{BB962C8B-B14F-4D97-AF65-F5344CB8AC3E}">
        <p14:creationId xmlns:p14="http://schemas.microsoft.com/office/powerpoint/2010/main" val="1108900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3A075-0CC6-F9E9-67F1-E490CB399D82}"/>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AD06516B-B161-6B8E-4704-9C6CE3D3C86A}"/>
              </a:ext>
            </a:extLst>
          </p:cNvPr>
          <p:cNvSpPr>
            <a:spLocks noGrp="1"/>
          </p:cNvSpPr>
          <p:nvPr>
            <p:ph type="sldNum" sz="quarter" idx="12"/>
          </p:nvPr>
        </p:nvSpPr>
        <p:spPr/>
        <p:txBody>
          <a:bodyPr/>
          <a:lstStyle/>
          <a:p>
            <a:fld id="{C83C362F-97FB-4C1E-B0F0-C3069DD0CDD1}" type="slidenum">
              <a:rPr lang="en-US" smtClean="0"/>
              <a:t>5</a:t>
            </a:fld>
            <a:endParaRPr lang="en-US"/>
          </a:p>
        </p:txBody>
      </p:sp>
      <p:pic>
        <p:nvPicPr>
          <p:cNvPr id="5" name="Picture 4">
            <a:extLst>
              <a:ext uri="{FF2B5EF4-FFF2-40B4-BE49-F238E27FC236}">
                <a16:creationId xmlns:a16="http://schemas.microsoft.com/office/drawing/2014/main" id="{BB477967-ED2D-59B9-2C01-6A125ED2FF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1732" y="2214694"/>
            <a:ext cx="9322279" cy="4273770"/>
          </a:xfrm>
          <a:prstGeom prst="rect">
            <a:avLst/>
          </a:prstGeom>
        </p:spPr>
      </p:pic>
    </p:spTree>
    <p:extLst>
      <p:ext uri="{BB962C8B-B14F-4D97-AF65-F5344CB8AC3E}">
        <p14:creationId xmlns:p14="http://schemas.microsoft.com/office/powerpoint/2010/main" val="2336229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6F49E-36B7-4AAC-933D-7E6656484241}"/>
              </a:ext>
            </a:extLst>
          </p:cNvPr>
          <p:cNvSpPr>
            <a:spLocks noGrp="1"/>
          </p:cNvSpPr>
          <p:nvPr>
            <p:ph type="title"/>
          </p:nvPr>
        </p:nvSpPr>
        <p:spPr/>
        <p:txBody>
          <a:bodyPr/>
          <a:lstStyle/>
          <a:p>
            <a:r>
              <a:rPr lang="en-US" dirty="0"/>
              <a:t>Other single event phenomena</a:t>
            </a:r>
          </a:p>
        </p:txBody>
      </p:sp>
      <p:sp>
        <p:nvSpPr>
          <p:cNvPr id="3" name="Slide Number Placeholder 2">
            <a:extLst>
              <a:ext uri="{FF2B5EF4-FFF2-40B4-BE49-F238E27FC236}">
                <a16:creationId xmlns:a16="http://schemas.microsoft.com/office/drawing/2014/main" id="{99172668-A02D-4777-8E50-31FA966796A8}"/>
              </a:ext>
            </a:extLst>
          </p:cNvPr>
          <p:cNvSpPr>
            <a:spLocks noGrp="1"/>
          </p:cNvSpPr>
          <p:nvPr>
            <p:ph type="sldNum" sz="quarter" idx="12"/>
          </p:nvPr>
        </p:nvSpPr>
        <p:spPr/>
        <p:txBody>
          <a:bodyPr/>
          <a:lstStyle/>
          <a:p>
            <a:fld id="{C83C362F-97FB-4C1E-B0F0-C3069DD0CDD1}" type="slidenum">
              <a:rPr lang="en-US" smtClean="0"/>
              <a:t>6</a:t>
            </a:fld>
            <a:endParaRPr lang="en-US"/>
          </a:p>
        </p:txBody>
      </p:sp>
      <p:sp>
        <p:nvSpPr>
          <p:cNvPr id="4" name="TextBox 3">
            <a:extLst>
              <a:ext uri="{FF2B5EF4-FFF2-40B4-BE49-F238E27FC236}">
                <a16:creationId xmlns:a16="http://schemas.microsoft.com/office/drawing/2014/main" id="{337AE9F2-82AD-4787-9480-D5C5D3FCCB11}"/>
              </a:ext>
            </a:extLst>
          </p:cNvPr>
          <p:cNvSpPr txBox="1"/>
          <p:nvPr/>
        </p:nvSpPr>
        <p:spPr>
          <a:xfrm>
            <a:off x="382037" y="2149280"/>
            <a:ext cx="7687531" cy="1938992"/>
          </a:xfrm>
          <a:prstGeom prst="rect">
            <a:avLst/>
          </a:prstGeom>
          <a:noFill/>
        </p:spPr>
        <p:txBody>
          <a:bodyPr wrap="square" rtlCol="0">
            <a:spAutoFit/>
          </a:bodyPr>
          <a:lstStyle/>
          <a:p>
            <a:r>
              <a:rPr lang="en-US" sz="2400" dirty="0"/>
              <a:t>SET – Single event transient</a:t>
            </a:r>
          </a:p>
          <a:p>
            <a:endParaRPr lang="en-US" sz="2400" dirty="0"/>
          </a:p>
          <a:p>
            <a:r>
              <a:rPr lang="en-US" sz="2400" dirty="0"/>
              <a:t>SEFI – Single Effect Functional Interrupt</a:t>
            </a:r>
          </a:p>
          <a:p>
            <a:endParaRPr lang="en-US" sz="2400" dirty="0"/>
          </a:p>
          <a:p>
            <a:r>
              <a:rPr lang="en-US" sz="2400" dirty="0"/>
              <a:t>SEGR – Single event gate rupture</a:t>
            </a:r>
          </a:p>
        </p:txBody>
      </p:sp>
      <p:pic>
        <p:nvPicPr>
          <p:cNvPr id="2050" name="Picture 2" descr="Image result for sppace electronics destruction">
            <a:extLst>
              <a:ext uri="{FF2B5EF4-FFF2-40B4-BE49-F238E27FC236}">
                <a16:creationId xmlns:a16="http://schemas.microsoft.com/office/drawing/2014/main" id="{156364AF-04BB-4E19-A006-C1CB254BC8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5125" y="1878819"/>
            <a:ext cx="6472361" cy="4640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4902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ummary of the susceptibility of common spacecraft electronic components to single-event effects. Rows list component technologies and functions, while columns list nondestructive effects (SEU, SET, SEBE, SEFI, SEHE) and destructive effects (SEL, SEB, SEGR). Check marks identify which effects are associated with each component type. Overall, digital memories and processors are most vulnerable to SEUs and SEFIs, whereas power MOS devices are primarily susceptible to destructive burnout and gate rupture.">
            <a:extLst>
              <a:ext uri="{FF2B5EF4-FFF2-40B4-BE49-F238E27FC236}">
                <a16:creationId xmlns:a16="http://schemas.microsoft.com/office/drawing/2014/main" id="{40B24BED-0D1F-49AB-A5EB-53DCD237608E}"/>
              </a:ext>
            </a:extLst>
          </p:cNvPr>
          <p:cNvPicPr>
            <a:picLocks noChangeAspect="1"/>
          </p:cNvPicPr>
          <p:nvPr/>
        </p:nvPicPr>
        <p:blipFill>
          <a:blip r:embed="rId2"/>
          <a:stretch>
            <a:fillRect/>
          </a:stretch>
        </p:blipFill>
        <p:spPr>
          <a:xfrm rot="5400000">
            <a:off x="3310466" y="-2006186"/>
            <a:ext cx="5571067" cy="10870372"/>
          </a:xfrm>
          <a:prstGeom prst="rect">
            <a:avLst/>
          </a:prstGeom>
        </p:spPr>
      </p:pic>
      <p:sp>
        <p:nvSpPr>
          <p:cNvPr id="3" name="Slide Number Placeholder 2">
            <a:extLst>
              <a:ext uri="{FF2B5EF4-FFF2-40B4-BE49-F238E27FC236}">
                <a16:creationId xmlns:a16="http://schemas.microsoft.com/office/drawing/2014/main" id="{2DD44B4C-84B9-40F4-B310-CB160428668D}"/>
              </a:ext>
            </a:extLst>
          </p:cNvPr>
          <p:cNvSpPr>
            <a:spLocks noGrp="1"/>
          </p:cNvSpPr>
          <p:nvPr>
            <p:ph type="sldNum" sz="quarter" idx="12"/>
          </p:nvPr>
        </p:nvSpPr>
        <p:spPr>
          <a:xfrm>
            <a:off x="10514011" y="6431916"/>
            <a:ext cx="953392" cy="365125"/>
          </a:xfrm>
        </p:spPr>
        <p:txBody>
          <a:bodyPr vert="horz" lIns="91440" tIns="45720" rIns="91440" bIns="45720" rtlCol="0" anchor="ctr">
            <a:normAutofit/>
          </a:bodyPr>
          <a:lstStyle/>
          <a:p>
            <a:pPr>
              <a:spcAft>
                <a:spcPts val="600"/>
              </a:spcAft>
            </a:pPr>
            <a:fld id="{C83C362F-97FB-4C1E-B0F0-C3069DD0CDD1}" type="slidenum">
              <a:rPr lang="en-US" smtClean="0"/>
              <a:pPr>
                <a:spcAft>
                  <a:spcPts val="600"/>
                </a:spcAft>
              </a:pPr>
              <a:t>7</a:t>
            </a:fld>
            <a:endParaRPr lang="en-US"/>
          </a:p>
        </p:txBody>
      </p:sp>
      <p:sp>
        <p:nvSpPr>
          <p:cNvPr id="2" name="Title 1">
            <a:extLst>
              <a:ext uri="{FF2B5EF4-FFF2-40B4-BE49-F238E27FC236}">
                <a16:creationId xmlns:a16="http://schemas.microsoft.com/office/drawing/2014/main" id="{620D3C66-B30A-6224-4BD9-08445EB24954}"/>
              </a:ext>
            </a:extLst>
          </p:cNvPr>
          <p:cNvSpPr>
            <a:spLocks noGrp="1"/>
          </p:cNvSpPr>
          <p:nvPr>
            <p:ph type="title"/>
          </p:nvPr>
        </p:nvSpPr>
        <p:spPr>
          <a:xfrm>
            <a:off x="913773" y="-154623"/>
            <a:ext cx="10364451" cy="1596177"/>
          </a:xfrm>
        </p:spPr>
        <p:txBody>
          <a:bodyPr/>
          <a:lstStyle/>
          <a:p>
            <a:r>
              <a:rPr lang="en-US" dirty="0"/>
              <a:t>Potential </a:t>
            </a:r>
            <a:r>
              <a:rPr lang="en-US" dirty="0" err="1"/>
              <a:t>seP</a:t>
            </a:r>
            <a:r>
              <a:rPr lang="en-US" dirty="0"/>
              <a:t> on electrical components</a:t>
            </a:r>
          </a:p>
        </p:txBody>
      </p:sp>
    </p:spTree>
    <p:extLst>
      <p:ext uri="{BB962C8B-B14F-4D97-AF65-F5344CB8AC3E}">
        <p14:creationId xmlns:p14="http://schemas.microsoft.com/office/powerpoint/2010/main" val="2033917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7091E-B70E-8D6B-4CB8-DC123D9049CD}"/>
              </a:ext>
            </a:extLst>
          </p:cNvPr>
          <p:cNvSpPr>
            <a:spLocks noGrp="1"/>
          </p:cNvSpPr>
          <p:nvPr>
            <p:ph type="title"/>
          </p:nvPr>
        </p:nvSpPr>
        <p:spPr/>
        <p:txBody>
          <a:bodyPr/>
          <a:lstStyle/>
          <a:p>
            <a:r>
              <a:rPr lang="en-US" dirty="0"/>
              <a:t>HOW THE RADIATION ENVIRONMENT AFFECTS SPACECRAFT</a:t>
            </a:r>
          </a:p>
        </p:txBody>
      </p:sp>
      <p:sp>
        <p:nvSpPr>
          <p:cNvPr id="3" name="Slide Number Placeholder 2">
            <a:extLst>
              <a:ext uri="{FF2B5EF4-FFF2-40B4-BE49-F238E27FC236}">
                <a16:creationId xmlns:a16="http://schemas.microsoft.com/office/drawing/2014/main" id="{BEB8A1ED-889E-E926-31AA-D744E929FF9C}"/>
              </a:ext>
            </a:extLst>
          </p:cNvPr>
          <p:cNvSpPr>
            <a:spLocks noGrp="1"/>
          </p:cNvSpPr>
          <p:nvPr>
            <p:ph type="sldNum" sz="quarter" idx="12"/>
          </p:nvPr>
        </p:nvSpPr>
        <p:spPr/>
        <p:txBody>
          <a:bodyPr/>
          <a:lstStyle/>
          <a:p>
            <a:fld id="{C83C362F-97FB-4C1E-B0F0-C3069DD0CDD1}" type="slidenum">
              <a:rPr lang="en-US" smtClean="0"/>
              <a:t>8</a:t>
            </a:fld>
            <a:endParaRPr lang="en-US"/>
          </a:p>
        </p:txBody>
      </p:sp>
      <p:pic>
        <p:nvPicPr>
          <p:cNvPr id="5" name="Picture 4">
            <a:extLst>
              <a:ext uri="{FF2B5EF4-FFF2-40B4-BE49-F238E27FC236}">
                <a16:creationId xmlns:a16="http://schemas.microsoft.com/office/drawing/2014/main" id="{028FA676-E196-87FE-314F-8D554B46D4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911" y="2214694"/>
            <a:ext cx="8281403" cy="4033706"/>
          </a:xfrm>
          <a:prstGeom prst="rect">
            <a:avLst/>
          </a:prstGeom>
        </p:spPr>
      </p:pic>
    </p:spTree>
    <p:extLst>
      <p:ext uri="{BB962C8B-B14F-4D97-AF65-F5344CB8AC3E}">
        <p14:creationId xmlns:p14="http://schemas.microsoft.com/office/powerpoint/2010/main" val="3753334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6A9CCC5-15C1-4269-9960-7585ABFA8197}"/>
              </a:ext>
            </a:extLst>
          </p:cNvPr>
          <p:cNvSpPr>
            <a:spLocks noGrp="1"/>
          </p:cNvSpPr>
          <p:nvPr>
            <p:ph type="sldNum" sz="quarter" idx="12"/>
          </p:nvPr>
        </p:nvSpPr>
        <p:spPr/>
        <p:txBody>
          <a:bodyPr/>
          <a:lstStyle/>
          <a:p>
            <a:fld id="{C83C362F-97FB-4C1E-B0F0-C3069DD0CDD1}" type="slidenum">
              <a:rPr lang="en-US" smtClean="0"/>
              <a:t>9</a:t>
            </a:fld>
            <a:endParaRPr lang="en-US"/>
          </a:p>
        </p:txBody>
      </p:sp>
      <p:graphicFrame>
        <p:nvGraphicFramePr>
          <p:cNvPr id="4" name="Object 3" descr="Equations for estimating the four principal environmental disturbance torques on a spacecraft: gravity gradient, solar radiation pressure, Earth's magnetic field, and aerodynamic drag. Each row provides the governing torque equation and defines the variables needed to calculate the disturbance.">
            <a:extLst>
              <a:ext uri="{FF2B5EF4-FFF2-40B4-BE49-F238E27FC236}">
                <a16:creationId xmlns:a16="http://schemas.microsoft.com/office/drawing/2014/main" id="{CD5DC874-1AB3-4373-AE76-FE2FF6DD61C0}"/>
              </a:ext>
            </a:extLst>
          </p:cNvPr>
          <p:cNvGraphicFramePr>
            <a:graphicFrameLocks/>
          </p:cNvGraphicFramePr>
          <p:nvPr>
            <p:extLst>
              <p:ext uri="{D42A27DB-BD31-4B8C-83A1-F6EECF244321}">
                <p14:modId xmlns:p14="http://schemas.microsoft.com/office/powerpoint/2010/main" val="2728180462"/>
              </p:ext>
            </p:extLst>
          </p:nvPr>
        </p:nvGraphicFramePr>
        <p:xfrm>
          <a:off x="127760" y="6350"/>
          <a:ext cx="11936479" cy="6767655"/>
        </p:xfrm>
        <a:graphic>
          <a:graphicData uri="http://schemas.openxmlformats.org/presentationml/2006/ole">
            <mc:AlternateContent xmlns:mc="http://schemas.openxmlformats.org/markup-compatibility/2006">
              <mc:Choice xmlns:v="urn:schemas-microsoft-com:vml" Requires="v">
                <p:oleObj name="Document" r:id="rId2" imgW="10078212" imgH="6370320" progId="Word.Document.8">
                  <p:embed/>
                </p:oleObj>
              </mc:Choice>
              <mc:Fallback>
                <p:oleObj name="Document" r:id="rId2" imgW="10078212" imgH="6370320" progId="Word.Document.8">
                  <p:embed/>
                  <p:pic>
                    <p:nvPicPr>
                      <p:cNvPr id="4" name="Object 3" descr="Equations for estimating the four principal environmental disturbance torques on a spacecraft: gravity gradient, solar radiation pressure, Earth's magnetic field, and aerodynamic drag. Each row provides the governing torque equation and defines the variables needed to calculate the disturbance.">
                        <a:extLst>
                          <a:ext uri="{FF2B5EF4-FFF2-40B4-BE49-F238E27FC236}">
                            <a16:creationId xmlns:a16="http://schemas.microsoft.com/office/drawing/2014/main" id="{CD5DC874-1AB3-4373-AE76-FE2FF6DD61C0}"/>
                          </a:ext>
                        </a:extLst>
                      </p:cNvPr>
                      <p:cNvPicPr>
                        <a:picLocks noChangeArrowheads="1"/>
                      </p:cNvPicPr>
                      <p:nvPr/>
                    </p:nvPicPr>
                    <p:blipFill>
                      <a:blip r:embed="rId3">
                        <a:extLst>
                          <a:ext uri="{28A0092B-C50C-407E-A947-70E740481C1C}">
                            <a14:useLocalDpi xmlns:a14="http://schemas.microsoft.com/office/drawing/2010/main" val="0"/>
                          </a:ext>
                        </a:extLst>
                      </a:blip>
                      <a:srcRect l="3471" r="3691" b="1099"/>
                      <a:stretch>
                        <a:fillRect/>
                      </a:stretch>
                    </p:blipFill>
                    <p:spPr bwMode="auto">
                      <a:xfrm>
                        <a:off x="127760" y="6350"/>
                        <a:ext cx="11936479" cy="6767655"/>
                      </a:xfrm>
                      <a:prstGeom prst="rect">
                        <a:avLst/>
                      </a:prstGeom>
                      <a:noFill/>
                      <a:ln>
                        <a:noFill/>
                      </a:ln>
                      <a:effectLst/>
                    </p:spPr>
                  </p:pic>
                </p:oleObj>
              </mc:Fallback>
            </mc:AlternateContent>
          </a:graphicData>
        </a:graphic>
      </p:graphicFrame>
      <p:sp>
        <p:nvSpPr>
          <p:cNvPr id="2" name="Title 1">
            <a:extLst>
              <a:ext uri="{FF2B5EF4-FFF2-40B4-BE49-F238E27FC236}">
                <a16:creationId xmlns:a16="http://schemas.microsoft.com/office/drawing/2014/main" id="{EC4D6DCC-554A-5016-68A2-FD3042783857}"/>
              </a:ext>
            </a:extLst>
          </p:cNvPr>
          <p:cNvSpPr>
            <a:spLocks noGrp="1"/>
          </p:cNvSpPr>
          <p:nvPr>
            <p:ph type="title"/>
          </p:nvPr>
        </p:nvSpPr>
        <p:spPr>
          <a:xfrm>
            <a:off x="913775" y="-1596177"/>
            <a:ext cx="10364451" cy="1596177"/>
          </a:xfrm>
        </p:spPr>
        <p:txBody>
          <a:bodyPr vert="horz" lIns="91440" tIns="45720" rIns="91440" bIns="45720" rtlCol="0" anchor="b">
            <a:normAutofit/>
          </a:bodyPr>
          <a:lstStyle/>
          <a:p>
            <a:r>
              <a:rPr lang="en-US" dirty="0"/>
              <a:t>Effects of on-orbit disturbances</a:t>
            </a:r>
          </a:p>
        </p:txBody>
      </p:sp>
    </p:spTree>
    <p:extLst>
      <p:ext uri="{BB962C8B-B14F-4D97-AF65-F5344CB8AC3E}">
        <p14:creationId xmlns:p14="http://schemas.microsoft.com/office/powerpoint/2010/main" val="3413800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FC3008-61C6-446D-9521-E825C08B6584}"/>
              </a:ext>
            </a:extLst>
          </p:cNvPr>
          <p:cNvSpPr>
            <a:spLocks noGrp="1"/>
          </p:cNvSpPr>
          <p:nvPr>
            <p:ph type="sldNum" sz="quarter" idx="12"/>
          </p:nvPr>
        </p:nvSpPr>
        <p:spPr/>
        <p:txBody>
          <a:bodyPr/>
          <a:lstStyle/>
          <a:p>
            <a:fld id="{062D6987-FB6D-4DB8-81B8-AD0F35E3BB5F}" type="slidenum">
              <a:rPr lang="en-US" smtClean="0"/>
              <a:t>10</a:t>
            </a:fld>
            <a:endParaRPr lang="en-US"/>
          </a:p>
        </p:txBody>
      </p:sp>
      <p:sp>
        <p:nvSpPr>
          <p:cNvPr id="3" name="Title 2">
            <a:extLst>
              <a:ext uri="{FF2B5EF4-FFF2-40B4-BE49-F238E27FC236}">
                <a16:creationId xmlns:a16="http://schemas.microsoft.com/office/drawing/2014/main" id="{CA910516-6C48-4EBA-9F71-4BCDFFE10475}"/>
              </a:ext>
            </a:extLst>
          </p:cNvPr>
          <p:cNvSpPr>
            <a:spLocks noGrp="1"/>
          </p:cNvSpPr>
          <p:nvPr>
            <p:ph type="title"/>
          </p:nvPr>
        </p:nvSpPr>
        <p:spPr>
          <a:xfrm>
            <a:off x="3338051" y="276633"/>
            <a:ext cx="5107858" cy="1325563"/>
          </a:xfrm>
        </p:spPr>
        <p:txBody>
          <a:bodyPr>
            <a:normAutofit/>
          </a:bodyPr>
          <a:lstStyle/>
          <a:p>
            <a:pPr algn="ctr"/>
            <a:r>
              <a:rPr lang="en-US" dirty="0"/>
              <a:t>REACTION WHEEL SIZING</a:t>
            </a:r>
          </a:p>
        </p:txBody>
      </p:sp>
      <p:pic>
        <p:nvPicPr>
          <p:cNvPr id="4" name="Picture 3" descr="Simplified reaction wheel sizing equation showing that the required reaction wheel torque equals the worst-case disturbance torque plus a design margin: M&#10;RW&#10; ​&#10;&#10;=T&#10;D&#10; ​&#10;&#10;(1+Margin Factor).">
            <a:extLst>
              <a:ext uri="{FF2B5EF4-FFF2-40B4-BE49-F238E27FC236}">
                <a16:creationId xmlns:a16="http://schemas.microsoft.com/office/drawing/2014/main" id="{6733D960-4FC2-4E76-AFA0-4E750F68E188}"/>
              </a:ext>
            </a:extLst>
          </p:cNvPr>
          <p:cNvPicPr>
            <a:picLocks noChangeAspect="1"/>
          </p:cNvPicPr>
          <p:nvPr/>
        </p:nvPicPr>
        <p:blipFill>
          <a:blip r:embed="rId2"/>
          <a:stretch>
            <a:fillRect/>
          </a:stretch>
        </p:blipFill>
        <p:spPr>
          <a:xfrm>
            <a:off x="2752441" y="1544739"/>
            <a:ext cx="6762586" cy="1188575"/>
          </a:xfrm>
          <a:prstGeom prst="rect">
            <a:avLst/>
          </a:prstGeom>
        </p:spPr>
      </p:pic>
      <p:pic>
        <p:nvPicPr>
          <p:cNvPr id="12290" name="Picture 2" descr="Block diagram of a closed-loop reaction wheel attitude control system. A controller compares the desired and measured spacecraft attitudes, commands a reaction wheel to generate control torque, compensates for external disturbance torques, and uses feedback from the measured attitude to minimize pointing error.">
            <a:extLst>
              <a:ext uri="{FF2B5EF4-FFF2-40B4-BE49-F238E27FC236}">
                <a16:creationId xmlns:a16="http://schemas.microsoft.com/office/drawing/2014/main" id="{8684412E-008D-4E35-8531-DA0EF53051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2" y="3637656"/>
            <a:ext cx="8429557" cy="232983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1F86C91-63C5-4376-81C8-C0341BC430E8}"/>
                  </a:ext>
                </a:extLst>
              </p:cNvPr>
              <p:cNvSpPr txBox="1"/>
              <p:nvPr/>
            </p:nvSpPr>
            <p:spPr>
              <a:xfrm>
                <a:off x="8503554" y="4494797"/>
                <a:ext cx="3688446" cy="307777"/>
              </a:xfrm>
              <a:prstGeom prst="rect">
                <a:avLst/>
              </a:prstGeom>
              <a:noFill/>
            </p:spPr>
            <p:txBody>
              <a:bodyPr wrap="none" lIns="0" tIns="0" rIns="0" bIns="0" rtlCol="0">
                <a:spAutoFit/>
              </a:bodyPr>
              <a:lstStyle/>
              <a:p>
                <a:pPr/>
                <a14:m>
                  <m:oMathPara xmlns:m="http://schemas.openxmlformats.org/officeDocument/2006/math">
                    <m:o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𝑻</m:t>
                          </m:r>
                        </m:e>
                        <m:sub>
                          <m:r>
                            <a:rPr lang="en-US" sz="2000" b="1" i="1" smtClean="0">
                              <a:latin typeface="Cambria Math" panose="02040503050406030204" pitchFamily="18" charset="0"/>
                            </a:rPr>
                            <m:t>𝑫</m:t>
                          </m:r>
                        </m:sub>
                      </m:sSub>
                      <m:r>
                        <a:rPr lang="en-US" sz="2000" b="1" i="1" smtClean="0">
                          <a:latin typeface="Cambria Math" panose="02040503050406030204" pitchFamily="18" charset="0"/>
                        </a:rPr>
                        <m:t>=</m:t>
                      </m:r>
                      <m:r>
                        <a:rPr lang="en-US" sz="2000" b="1" i="1" smtClean="0">
                          <a:latin typeface="Cambria Math" panose="02040503050406030204" pitchFamily="18" charset="0"/>
                        </a:rPr>
                        <m:t>𝑫𝒊𝒔𝒕𝒖𝒓𝒃𝒂𝒏𝒄𝒆</m:t>
                      </m:r>
                      <m:r>
                        <a:rPr lang="en-US" sz="2000" b="1" i="1" smtClean="0">
                          <a:latin typeface="Cambria Math" panose="02040503050406030204" pitchFamily="18" charset="0"/>
                        </a:rPr>
                        <m:t> </m:t>
                      </m:r>
                      <m:r>
                        <a:rPr lang="en-US" sz="2000" b="1" i="1" smtClean="0">
                          <a:latin typeface="Cambria Math" panose="02040503050406030204" pitchFamily="18" charset="0"/>
                        </a:rPr>
                        <m:t>𝑻𝒐𝒓𝒒𝒖𝒆</m:t>
                      </m:r>
                      <m:r>
                        <a:rPr lang="en-US" sz="2000" b="1" i="1" smtClean="0">
                          <a:latin typeface="Cambria Math" panose="02040503050406030204" pitchFamily="18" charset="0"/>
                        </a:rPr>
                        <m:t>= ?</m:t>
                      </m:r>
                    </m:oMath>
                  </m:oMathPara>
                </a14:m>
                <a:endParaRPr lang="en-US" sz="2000" b="1" dirty="0"/>
              </a:p>
            </p:txBody>
          </p:sp>
        </mc:Choice>
        <mc:Fallback xmlns="">
          <p:sp>
            <p:nvSpPr>
              <p:cNvPr id="6" name="TextBox 5">
                <a:extLst>
                  <a:ext uri="{FF2B5EF4-FFF2-40B4-BE49-F238E27FC236}">
                    <a16:creationId xmlns:a16="http://schemas.microsoft.com/office/drawing/2014/main" id="{C1F86C91-63C5-4376-81C8-C0341BC430E8}"/>
                  </a:ext>
                </a:extLst>
              </p:cNvPr>
              <p:cNvSpPr txBox="1">
                <a:spLocks noRot="1" noChangeAspect="1" noMove="1" noResize="1" noEditPoints="1" noAdjustHandles="1" noChangeArrowheads="1" noChangeShapeType="1" noTextEdit="1"/>
              </p:cNvSpPr>
              <p:nvPr/>
            </p:nvSpPr>
            <p:spPr>
              <a:xfrm>
                <a:off x="8503554" y="4494797"/>
                <a:ext cx="3688446" cy="307777"/>
              </a:xfrm>
              <a:prstGeom prst="rect">
                <a:avLst/>
              </a:prstGeom>
              <a:blipFill>
                <a:blip r:embed="rId4"/>
                <a:stretch>
                  <a:fillRect l="-992" r="-992" b="-35294"/>
                </a:stretch>
              </a:blipFill>
            </p:spPr>
            <p:txBody>
              <a:bodyPr/>
              <a:lstStyle/>
              <a:p>
                <a:r>
                  <a:rPr lang="en-US">
                    <a:noFill/>
                  </a:rPr>
                  <a:t> </a:t>
                </a:r>
              </a:p>
            </p:txBody>
          </p:sp>
        </mc:Fallback>
      </mc:AlternateContent>
    </p:spTree>
    <p:extLst>
      <p:ext uri="{BB962C8B-B14F-4D97-AF65-F5344CB8AC3E}">
        <p14:creationId xmlns:p14="http://schemas.microsoft.com/office/powerpoint/2010/main" val="148390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73F7E9-B43B-4DF4-A15A-3D5FB44BD83E}"/>
              </a:ext>
            </a:extLst>
          </p:cNvPr>
          <p:cNvSpPr>
            <a:spLocks noGrp="1"/>
          </p:cNvSpPr>
          <p:nvPr>
            <p:ph type="sldNum" sz="quarter" idx="12"/>
          </p:nvPr>
        </p:nvSpPr>
        <p:spPr/>
        <p:txBody>
          <a:bodyPr/>
          <a:lstStyle/>
          <a:p>
            <a:fld id="{062D6987-FB6D-4DB8-81B8-AD0F35E3BB5F}" type="slidenum">
              <a:rPr lang="en-US" smtClean="0"/>
              <a:t>11</a:t>
            </a:fld>
            <a:endParaRPr lang="en-US"/>
          </a:p>
        </p:txBody>
      </p:sp>
      <p:sp>
        <p:nvSpPr>
          <p:cNvPr id="3" name="Title 2">
            <a:extLst>
              <a:ext uri="{FF2B5EF4-FFF2-40B4-BE49-F238E27FC236}">
                <a16:creationId xmlns:a16="http://schemas.microsoft.com/office/drawing/2014/main" id="{01A81275-DFF5-436C-909F-0E1082EBAF99}"/>
              </a:ext>
            </a:extLst>
          </p:cNvPr>
          <p:cNvSpPr>
            <a:spLocks noGrp="1"/>
          </p:cNvSpPr>
          <p:nvPr>
            <p:ph type="title"/>
          </p:nvPr>
        </p:nvSpPr>
        <p:spPr/>
        <p:txBody>
          <a:bodyPr/>
          <a:lstStyle/>
          <a:p>
            <a:pPr algn="ctr"/>
            <a:r>
              <a:rPr lang="en-US" dirty="0"/>
              <a:t>REACTION AND MOMENTUM WHEEL SIZING</a:t>
            </a:r>
          </a:p>
        </p:txBody>
      </p:sp>
      <p:graphicFrame>
        <p:nvGraphicFramePr>
          <p:cNvPr id="7" name="Table 7">
            <a:extLst>
              <a:ext uri="{FF2B5EF4-FFF2-40B4-BE49-F238E27FC236}">
                <a16:creationId xmlns:a16="http://schemas.microsoft.com/office/drawing/2014/main" id="{F0036569-6C88-DF54-AC51-D9DBC344107C}"/>
              </a:ext>
            </a:extLst>
          </p:cNvPr>
          <p:cNvGraphicFramePr>
            <a:graphicFrameLocks noGrp="1"/>
          </p:cNvGraphicFramePr>
          <p:nvPr>
            <p:extLst>
              <p:ext uri="{D42A27DB-BD31-4B8C-83A1-F6EECF244321}">
                <p14:modId xmlns:p14="http://schemas.microsoft.com/office/powerpoint/2010/main" val="3668102992"/>
              </p:ext>
            </p:extLst>
          </p:nvPr>
        </p:nvGraphicFramePr>
        <p:xfrm>
          <a:off x="2032000" y="1945216"/>
          <a:ext cx="8128000" cy="1473200"/>
        </p:xfrm>
        <a:graphic>
          <a:graphicData uri="http://schemas.openxmlformats.org/drawingml/2006/table">
            <a:tbl>
              <a:tblPr firstRow="1" bandRow="1">
                <a:tableStyleId>{5C22544A-7EE6-4342-B048-85BDC9FD1C3A}</a:tableStyleId>
              </a:tblPr>
              <a:tblGrid>
                <a:gridCol w="2190750">
                  <a:extLst>
                    <a:ext uri="{9D8B030D-6E8A-4147-A177-3AD203B41FA5}">
                      <a16:colId xmlns:a16="http://schemas.microsoft.com/office/drawing/2014/main" val="3161528813"/>
                    </a:ext>
                  </a:extLst>
                </a:gridCol>
                <a:gridCol w="2171700">
                  <a:extLst>
                    <a:ext uri="{9D8B030D-6E8A-4147-A177-3AD203B41FA5}">
                      <a16:colId xmlns:a16="http://schemas.microsoft.com/office/drawing/2014/main" val="1011026587"/>
                    </a:ext>
                  </a:extLst>
                </a:gridCol>
                <a:gridCol w="2012950">
                  <a:extLst>
                    <a:ext uri="{9D8B030D-6E8A-4147-A177-3AD203B41FA5}">
                      <a16:colId xmlns:a16="http://schemas.microsoft.com/office/drawing/2014/main" val="3707967418"/>
                    </a:ext>
                  </a:extLst>
                </a:gridCol>
                <a:gridCol w="1752600">
                  <a:extLst>
                    <a:ext uri="{9D8B030D-6E8A-4147-A177-3AD203B41FA5}">
                      <a16:colId xmlns:a16="http://schemas.microsoft.com/office/drawing/2014/main" val="4174515119"/>
                    </a:ext>
                  </a:extLst>
                </a:gridCol>
              </a:tblGrid>
              <a:tr h="370840">
                <a:tc>
                  <a:txBody>
                    <a:bodyPr/>
                    <a:lstStyle/>
                    <a:p>
                      <a:pPr algn="ctr"/>
                      <a:endParaRPr lang="en-US" dirty="0">
                        <a:solidFill>
                          <a:schemeClr val="accent6">
                            <a:lumMod val="50000"/>
                          </a:schemeClr>
                        </a:solidFill>
                      </a:endParaRPr>
                    </a:p>
                  </a:txBody>
                  <a:tcPr/>
                </a:tc>
                <a:tc>
                  <a:txBody>
                    <a:bodyPr/>
                    <a:lstStyle/>
                    <a:p>
                      <a:pPr algn="ctr"/>
                      <a:r>
                        <a:rPr lang="en-US" dirty="0">
                          <a:solidFill>
                            <a:schemeClr val="accent6">
                              <a:lumMod val="50000"/>
                            </a:schemeClr>
                          </a:solidFill>
                        </a:rPr>
                        <a:t>Torque</a:t>
                      </a:r>
                    </a:p>
                  </a:txBody>
                  <a:tcPr/>
                </a:tc>
                <a:tc>
                  <a:txBody>
                    <a:bodyPr/>
                    <a:lstStyle/>
                    <a:p>
                      <a:pPr algn="ctr"/>
                      <a:r>
                        <a:rPr lang="en-US" dirty="0">
                          <a:solidFill>
                            <a:schemeClr val="accent6">
                              <a:lumMod val="50000"/>
                            </a:schemeClr>
                          </a:solidFill>
                        </a:rPr>
                        <a:t>Mass</a:t>
                      </a:r>
                    </a:p>
                  </a:txBody>
                  <a:tcPr/>
                </a:tc>
                <a:tc>
                  <a:txBody>
                    <a:bodyPr/>
                    <a:lstStyle/>
                    <a:p>
                      <a:pPr algn="ctr"/>
                      <a:r>
                        <a:rPr lang="en-US" dirty="0">
                          <a:solidFill>
                            <a:schemeClr val="accent6">
                              <a:lumMod val="50000"/>
                            </a:schemeClr>
                          </a:solidFill>
                        </a:rPr>
                        <a:t>Power</a:t>
                      </a:r>
                    </a:p>
                  </a:txBody>
                  <a:tcPr/>
                </a:tc>
                <a:extLst>
                  <a:ext uri="{0D108BD9-81ED-4DB2-BD59-A6C34878D82A}">
                    <a16:rowId xmlns:a16="http://schemas.microsoft.com/office/drawing/2014/main" val="3335496198"/>
                  </a:ext>
                </a:extLst>
              </a:tr>
              <a:tr h="370840">
                <a:tc>
                  <a:txBody>
                    <a:bodyPr/>
                    <a:lstStyle/>
                    <a:p>
                      <a:pPr algn="ctr"/>
                      <a:r>
                        <a:rPr lang="en-US" b="1" dirty="0">
                          <a:solidFill>
                            <a:schemeClr val="accent6">
                              <a:lumMod val="50000"/>
                            </a:schemeClr>
                          </a:solidFill>
                        </a:rPr>
                        <a:t>Small sats</a:t>
                      </a:r>
                    </a:p>
                  </a:txBody>
                  <a:tcPr/>
                </a:tc>
                <a:tc>
                  <a:txBody>
                    <a:bodyPr/>
                    <a:lstStyle/>
                    <a:p>
                      <a:pPr algn="ctr"/>
                      <a:r>
                        <a:rPr lang="en-US" b="1" dirty="0">
                          <a:solidFill>
                            <a:schemeClr val="accent6">
                              <a:lumMod val="50000"/>
                            </a:schemeClr>
                          </a:solidFill>
                        </a:rPr>
                        <a:t>&lt;0.05 N-m</a:t>
                      </a:r>
                    </a:p>
                  </a:txBody>
                  <a:tcPr/>
                </a:tc>
                <a:tc>
                  <a:txBody>
                    <a:bodyPr/>
                    <a:lstStyle/>
                    <a:p>
                      <a:pPr algn="ctr"/>
                      <a:r>
                        <a:rPr lang="en-US" b="1" dirty="0">
                          <a:solidFill>
                            <a:schemeClr val="accent6">
                              <a:lumMod val="50000"/>
                            </a:schemeClr>
                          </a:solidFill>
                        </a:rPr>
                        <a:t>5 kg/wheel</a:t>
                      </a:r>
                    </a:p>
                  </a:txBody>
                  <a:tcPr/>
                </a:tc>
                <a:tc>
                  <a:txBody>
                    <a:bodyPr/>
                    <a:lstStyle/>
                    <a:p>
                      <a:pPr algn="ctr"/>
                      <a:r>
                        <a:rPr lang="en-US" b="1" dirty="0">
                          <a:solidFill>
                            <a:schemeClr val="accent6">
                              <a:lumMod val="50000"/>
                            </a:schemeClr>
                          </a:solidFill>
                        </a:rPr>
                        <a:t>10 W</a:t>
                      </a:r>
                    </a:p>
                  </a:txBody>
                  <a:tcPr/>
                </a:tc>
                <a:extLst>
                  <a:ext uri="{0D108BD9-81ED-4DB2-BD59-A6C34878D82A}">
                    <a16:rowId xmlns:a16="http://schemas.microsoft.com/office/drawing/2014/main" val="1781087463"/>
                  </a:ext>
                </a:extLst>
              </a:tr>
              <a:tr h="185420">
                <a:tc>
                  <a:txBody>
                    <a:bodyPr/>
                    <a:lstStyle/>
                    <a:p>
                      <a:pPr algn="ctr"/>
                      <a:r>
                        <a:rPr lang="en-US" b="1" dirty="0">
                          <a:solidFill>
                            <a:schemeClr val="accent6">
                              <a:lumMod val="50000"/>
                            </a:schemeClr>
                          </a:solidFill>
                        </a:rPr>
                        <a:t>Mid size</a:t>
                      </a:r>
                    </a:p>
                  </a:txBody>
                  <a:tcPr/>
                </a:tc>
                <a:tc>
                  <a:txBody>
                    <a:bodyPr/>
                    <a:lstStyle/>
                    <a:p>
                      <a:pPr algn="ctr"/>
                      <a:r>
                        <a:rPr lang="en-US" b="1" dirty="0">
                          <a:solidFill>
                            <a:schemeClr val="accent6">
                              <a:lumMod val="50000"/>
                            </a:schemeClr>
                          </a:solidFill>
                        </a:rPr>
                        <a:t>0.05 – 0.15 N-m</a:t>
                      </a:r>
                    </a:p>
                  </a:txBody>
                  <a:tcPr/>
                </a:tc>
                <a:tc>
                  <a:txBody>
                    <a:bodyPr/>
                    <a:lstStyle/>
                    <a:p>
                      <a:pPr algn="ctr"/>
                      <a:r>
                        <a:rPr lang="en-US" b="1" dirty="0">
                          <a:solidFill>
                            <a:schemeClr val="accent6">
                              <a:lumMod val="50000"/>
                            </a:schemeClr>
                          </a:solidFill>
                        </a:rPr>
                        <a:t>16.5 kg/wheel</a:t>
                      </a:r>
                    </a:p>
                  </a:txBody>
                  <a:tcPr/>
                </a:tc>
                <a:tc>
                  <a:txBody>
                    <a:bodyPr/>
                    <a:lstStyle/>
                    <a:p>
                      <a:pPr algn="ctr"/>
                      <a:r>
                        <a:rPr lang="en-US" b="1" dirty="0">
                          <a:solidFill>
                            <a:schemeClr val="accent6">
                              <a:lumMod val="50000"/>
                            </a:schemeClr>
                          </a:solidFill>
                        </a:rPr>
                        <a:t>35 W</a:t>
                      </a:r>
                    </a:p>
                  </a:txBody>
                  <a:tcPr/>
                </a:tc>
                <a:extLst>
                  <a:ext uri="{0D108BD9-81ED-4DB2-BD59-A6C34878D82A}">
                    <a16:rowId xmlns:a16="http://schemas.microsoft.com/office/drawing/2014/main" val="2559277823"/>
                  </a:ext>
                </a:extLst>
              </a:tr>
              <a:tr h="185420">
                <a:tc>
                  <a:txBody>
                    <a:bodyPr/>
                    <a:lstStyle/>
                    <a:p>
                      <a:pPr algn="ctr"/>
                      <a:r>
                        <a:rPr lang="en-US" b="1" dirty="0">
                          <a:solidFill>
                            <a:schemeClr val="accent6">
                              <a:lumMod val="50000"/>
                            </a:schemeClr>
                          </a:solidFill>
                        </a:rPr>
                        <a:t>Large sats</a:t>
                      </a:r>
                    </a:p>
                  </a:txBody>
                  <a:tcPr/>
                </a:tc>
                <a:tc>
                  <a:txBody>
                    <a:bodyPr/>
                    <a:lstStyle/>
                    <a:p>
                      <a:pPr algn="ctr"/>
                      <a:r>
                        <a:rPr lang="en-US" b="1" dirty="0">
                          <a:solidFill>
                            <a:schemeClr val="accent6">
                              <a:lumMod val="50000"/>
                            </a:schemeClr>
                          </a:solidFill>
                        </a:rPr>
                        <a:t>&gt; 0.15 N-m</a:t>
                      </a:r>
                    </a:p>
                  </a:txBody>
                  <a:tcPr/>
                </a:tc>
                <a:tc>
                  <a:txBody>
                    <a:bodyPr/>
                    <a:lstStyle/>
                    <a:p>
                      <a:pPr algn="ctr"/>
                      <a:r>
                        <a:rPr lang="en-US" b="1" dirty="0">
                          <a:solidFill>
                            <a:schemeClr val="accent6">
                              <a:lumMod val="50000"/>
                            </a:schemeClr>
                          </a:solidFill>
                        </a:rPr>
                        <a:t>25 kg/wheel</a:t>
                      </a:r>
                    </a:p>
                  </a:txBody>
                  <a:tcPr/>
                </a:tc>
                <a:tc>
                  <a:txBody>
                    <a:bodyPr/>
                    <a:lstStyle/>
                    <a:p>
                      <a:pPr algn="ctr"/>
                      <a:r>
                        <a:rPr lang="en-US" b="1" dirty="0">
                          <a:solidFill>
                            <a:schemeClr val="accent6">
                              <a:lumMod val="50000"/>
                            </a:schemeClr>
                          </a:solidFill>
                        </a:rPr>
                        <a:t>100 W</a:t>
                      </a:r>
                    </a:p>
                  </a:txBody>
                  <a:tcPr/>
                </a:tc>
                <a:extLst>
                  <a:ext uri="{0D108BD9-81ED-4DB2-BD59-A6C34878D82A}">
                    <a16:rowId xmlns:a16="http://schemas.microsoft.com/office/drawing/2014/main" val="3034006159"/>
                  </a:ext>
                </a:extLst>
              </a:tr>
            </a:tbl>
          </a:graphicData>
        </a:graphic>
      </p:graphicFrame>
      <p:pic>
        <p:nvPicPr>
          <p:cNvPr id="4" name="Picture 3" descr="Reaction wheels ensure satellites maintain the right attitude: Part 1">
            <a:extLst>
              <a:ext uri="{FF2B5EF4-FFF2-40B4-BE49-F238E27FC236}">
                <a16:creationId xmlns:a16="http://schemas.microsoft.com/office/drawing/2014/main" id="{728C3725-847F-F579-1081-913A0F0F272C}"/>
              </a:ext>
            </a:extLst>
          </p:cNvPr>
          <p:cNvPicPr>
            <a:picLocks noChangeAspect="1"/>
          </p:cNvPicPr>
          <p:nvPr/>
        </p:nvPicPr>
        <p:blipFill>
          <a:blip r:embed="rId2"/>
          <a:stretch>
            <a:fillRect/>
          </a:stretch>
        </p:blipFill>
        <p:spPr>
          <a:xfrm>
            <a:off x="4231179" y="3650362"/>
            <a:ext cx="3278026" cy="2882402"/>
          </a:xfrm>
          <a:prstGeom prst="rect">
            <a:avLst/>
          </a:prstGeom>
        </p:spPr>
      </p:pic>
    </p:spTree>
    <p:extLst>
      <p:ext uri="{BB962C8B-B14F-4D97-AF65-F5344CB8AC3E}">
        <p14:creationId xmlns:p14="http://schemas.microsoft.com/office/powerpoint/2010/main" val="247926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21B57E8-902A-4C03-97BD-A7A6B2AC0520}"/>
              </a:ext>
            </a:extLst>
          </p:cNvPr>
          <p:cNvSpPr>
            <a:spLocks noGrp="1" noChangeArrowheads="1"/>
          </p:cNvSpPr>
          <p:nvPr>
            <p:ph type="title"/>
          </p:nvPr>
        </p:nvSpPr>
        <p:spPr>
          <a:xfrm>
            <a:off x="2019300" y="0"/>
            <a:ext cx="8483600" cy="762000"/>
          </a:xfrm>
        </p:spPr>
        <p:txBody>
          <a:bodyPr>
            <a:normAutofit/>
          </a:bodyPr>
          <a:lstStyle/>
          <a:p>
            <a:pPr>
              <a:defRPr/>
            </a:pPr>
            <a:r>
              <a:rPr lang="en-US" altLang="en-US" sz="2400" dirty="0"/>
              <a:t>Impact of the Space Environment on Spacecraft Systems</a:t>
            </a:r>
          </a:p>
        </p:txBody>
      </p:sp>
      <p:graphicFrame>
        <p:nvGraphicFramePr>
          <p:cNvPr id="8198" name="Group 6">
            <a:extLst>
              <a:ext uri="{FF2B5EF4-FFF2-40B4-BE49-F238E27FC236}">
                <a16:creationId xmlns:a16="http://schemas.microsoft.com/office/drawing/2014/main" id="{49530EF0-FDCA-491E-8C4B-13CF6B56CDE0}"/>
              </a:ext>
            </a:extLst>
          </p:cNvPr>
          <p:cNvGraphicFramePr>
            <a:graphicFrameLocks noGrp="1"/>
          </p:cNvGraphicFramePr>
          <p:nvPr>
            <p:extLst>
              <p:ext uri="{D42A27DB-BD31-4B8C-83A1-F6EECF244321}">
                <p14:modId xmlns:p14="http://schemas.microsoft.com/office/powerpoint/2010/main" val="2082657389"/>
              </p:ext>
            </p:extLst>
          </p:nvPr>
        </p:nvGraphicFramePr>
        <p:xfrm>
          <a:off x="2565400" y="1308100"/>
          <a:ext cx="8051800" cy="368300"/>
        </p:xfrm>
        <a:graphic>
          <a:graphicData uri="http://schemas.openxmlformats.org/drawingml/2006/table">
            <a:tbl>
              <a:tblPr firstRow="1"/>
              <a:tblGrid>
                <a:gridCol w="8051800">
                  <a:extLst>
                    <a:ext uri="{9D8B030D-6E8A-4147-A177-3AD203B41FA5}">
                      <a16:colId xmlns:a16="http://schemas.microsoft.com/office/drawing/2014/main" val="20000"/>
                    </a:ext>
                  </a:extLst>
                </a:gridCol>
              </a:tblGrid>
              <a:tr h="3683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charset="0"/>
                        </a:rPr>
                        <a:t>Space Environments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204" name="Group 12">
            <a:extLst>
              <a:ext uri="{FF2B5EF4-FFF2-40B4-BE49-F238E27FC236}">
                <a16:creationId xmlns:a16="http://schemas.microsoft.com/office/drawing/2014/main" id="{54669313-A1E6-4B94-B2BD-2C0670E5E4BE}"/>
              </a:ext>
            </a:extLst>
          </p:cNvPr>
          <p:cNvGraphicFramePr>
            <a:graphicFrameLocks noGrp="1"/>
          </p:cNvGraphicFramePr>
          <p:nvPr>
            <p:extLst>
              <p:ext uri="{D42A27DB-BD31-4B8C-83A1-F6EECF244321}">
                <p14:modId xmlns:p14="http://schemas.microsoft.com/office/powerpoint/2010/main" val="27283729"/>
              </p:ext>
            </p:extLst>
          </p:nvPr>
        </p:nvGraphicFramePr>
        <p:xfrm>
          <a:off x="2565400" y="1676400"/>
          <a:ext cx="8051800" cy="304800"/>
        </p:xfrm>
        <a:graphic>
          <a:graphicData uri="http://schemas.openxmlformats.org/drawingml/2006/table">
            <a:tbl>
              <a:tblPr firstRow="1"/>
              <a:tblGrid>
                <a:gridCol w="1435100">
                  <a:extLst>
                    <a:ext uri="{9D8B030D-6E8A-4147-A177-3AD203B41FA5}">
                      <a16:colId xmlns:a16="http://schemas.microsoft.com/office/drawing/2014/main" val="20000"/>
                    </a:ext>
                  </a:extLst>
                </a:gridCol>
                <a:gridCol w="2273300">
                  <a:extLst>
                    <a:ext uri="{9D8B030D-6E8A-4147-A177-3AD203B41FA5}">
                      <a16:colId xmlns:a16="http://schemas.microsoft.com/office/drawing/2014/main" val="20001"/>
                    </a:ext>
                  </a:extLst>
                </a:gridCol>
                <a:gridCol w="1841500">
                  <a:extLst>
                    <a:ext uri="{9D8B030D-6E8A-4147-A177-3AD203B41FA5}">
                      <a16:colId xmlns:a16="http://schemas.microsoft.com/office/drawing/2014/main" val="20002"/>
                    </a:ext>
                  </a:extLst>
                </a:gridCol>
                <a:gridCol w="1638300">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tblGrid>
              <a:tr h="3048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Vacuum</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Neutral</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Plasma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Radiation</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charset="0"/>
                        </a:rPr>
                        <a:t>MM/OD</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406" name="Group 214">
            <a:extLst>
              <a:ext uri="{FF2B5EF4-FFF2-40B4-BE49-F238E27FC236}">
                <a16:creationId xmlns:a16="http://schemas.microsoft.com/office/drawing/2014/main" id="{164A7846-F587-4F91-91F6-31E02662EFB3}"/>
              </a:ext>
            </a:extLst>
          </p:cNvPr>
          <p:cNvGraphicFramePr>
            <a:graphicFrameLocks noGrp="1"/>
          </p:cNvGraphicFramePr>
          <p:nvPr>
            <p:extLst>
              <p:ext uri="{D42A27DB-BD31-4B8C-83A1-F6EECF244321}">
                <p14:modId xmlns:p14="http://schemas.microsoft.com/office/powerpoint/2010/main" val="3531117569"/>
              </p:ext>
            </p:extLst>
          </p:nvPr>
        </p:nvGraphicFramePr>
        <p:xfrm>
          <a:off x="1574800" y="1981200"/>
          <a:ext cx="9042400" cy="4019630"/>
        </p:xfrm>
        <a:graphic>
          <a:graphicData uri="http://schemas.openxmlformats.org/drawingml/2006/table">
            <a:tbl>
              <a:tblPr firstRow="1"/>
              <a:tblGrid>
                <a:gridCol w="990600">
                  <a:extLst>
                    <a:ext uri="{9D8B030D-6E8A-4147-A177-3AD203B41FA5}">
                      <a16:colId xmlns:a16="http://schemas.microsoft.com/office/drawing/2014/main" val="20000"/>
                    </a:ext>
                  </a:extLst>
                </a:gridCol>
                <a:gridCol w="4826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gridCol w="876300">
                  <a:extLst>
                    <a:ext uri="{9D8B030D-6E8A-4147-A177-3AD203B41FA5}">
                      <a16:colId xmlns:a16="http://schemas.microsoft.com/office/drawing/2014/main" val="20006"/>
                    </a:ext>
                  </a:extLst>
                </a:gridCol>
                <a:gridCol w="965200">
                  <a:extLst>
                    <a:ext uri="{9D8B030D-6E8A-4147-A177-3AD203B41FA5}">
                      <a16:colId xmlns:a16="http://schemas.microsoft.com/office/drawing/2014/main" val="20007"/>
                    </a:ext>
                  </a:extLst>
                </a:gridCol>
                <a:gridCol w="495300">
                  <a:extLst>
                    <a:ext uri="{9D8B030D-6E8A-4147-A177-3AD203B41FA5}">
                      <a16:colId xmlns:a16="http://schemas.microsoft.com/office/drawing/2014/main" val="20008"/>
                    </a:ext>
                  </a:extLst>
                </a:gridCol>
                <a:gridCol w="584200">
                  <a:extLst>
                    <a:ext uri="{9D8B030D-6E8A-4147-A177-3AD203B41FA5}">
                      <a16:colId xmlns:a16="http://schemas.microsoft.com/office/drawing/2014/main" val="20009"/>
                    </a:ext>
                  </a:extLst>
                </a:gridCol>
                <a:gridCol w="558800">
                  <a:extLst>
                    <a:ext uri="{9D8B030D-6E8A-4147-A177-3AD203B41FA5}">
                      <a16:colId xmlns:a16="http://schemas.microsoft.com/office/drawing/2014/main" val="20010"/>
                    </a:ext>
                  </a:extLst>
                </a:gridCol>
                <a:gridCol w="863600">
                  <a:extLst>
                    <a:ext uri="{9D8B030D-6E8A-4147-A177-3AD203B41FA5}">
                      <a16:colId xmlns:a16="http://schemas.microsoft.com/office/drawing/2014/main" val="20011"/>
                    </a:ext>
                  </a:extLst>
                </a:gridCol>
              </a:tblGrid>
              <a:tr h="5333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50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Arial" charset="0"/>
                        </a:rPr>
                        <a:t>Spacecraft Subsystems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Solar UV</a:t>
                      </a: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Outgassing/</a:t>
                      </a:r>
                      <a:br>
                        <a:rPr kumimoji="0" lang="en-US" altLang="en-US" sz="1000" b="0" i="0" u="none" strike="noStrike" cap="none" normalizeH="0" baseline="0">
                          <a:ln>
                            <a:noFill/>
                          </a:ln>
                          <a:solidFill>
                            <a:schemeClr val="tx1"/>
                          </a:solidFill>
                          <a:effectLst/>
                          <a:latin typeface="Arial" charset="0"/>
                        </a:rPr>
                      </a:br>
                      <a:r>
                        <a:rPr kumimoji="0" lang="en-US" altLang="en-US" sz="1000" b="0" i="0" u="none" strike="noStrike" cap="none" normalizeH="0" baseline="0">
                          <a:ln>
                            <a:noFill/>
                          </a:ln>
                          <a:solidFill>
                            <a:schemeClr val="tx1"/>
                          </a:solidFill>
                          <a:effectLst/>
                          <a:latin typeface="Arial" charset="0"/>
                        </a:rPr>
                        <a:t>Contamination</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Aerodynamic Drag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7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Sputtering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Atomic Oxygen</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Spacecraft Glow</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Spacecraft Charging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Van Allen Belts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Galactic Cosmic Rays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Solar Proton Events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7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Impacts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333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Attitude Determination &amp; Control</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Degradation of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Induced torques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Interference with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Torques due to induced potentials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extLst>
                  <a:ext uri="{0D108BD9-81ED-4DB2-BD59-A6C34878D82A}">
                    <a16:rowId xmlns:a16="http://schemas.microsoft.com/office/drawing/2014/main" val="10001"/>
                  </a:ext>
                </a:extLst>
              </a:tr>
              <a:tr h="380982">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Avionics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Upsets due to EMI from arcing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EMI due to impacts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4614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Electrical Power</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Shift in floating potential, reattraction of contaminants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Destruction/</a:t>
                      </a:r>
                      <a:br>
                        <a:rPr kumimoji="0" lang="en-US" altLang="en-US" sz="1000" b="0" i="0" u="none" strike="noStrike" cap="none" normalizeH="0" baseline="0">
                          <a:ln>
                            <a:noFill/>
                          </a:ln>
                          <a:solidFill>
                            <a:schemeClr val="tx1"/>
                          </a:solidFill>
                          <a:effectLst/>
                          <a:latin typeface="Arial" charset="0"/>
                        </a:rPr>
                      </a:br>
                      <a:r>
                        <a:rPr kumimoji="0" lang="en-US" altLang="en-US" sz="1000" b="0" i="0" u="none" strike="noStrike" cap="none" normalizeH="0" baseline="0">
                          <a:ln>
                            <a:noFill/>
                          </a:ln>
                          <a:solidFill>
                            <a:schemeClr val="tx1"/>
                          </a:solidFill>
                          <a:effectLst/>
                          <a:latin typeface="Arial" charset="0"/>
                        </a:rPr>
                        <a:t>obscuration </a:t>
                      </a:r>
                      <a:br>
                        <a:rPr kumimoji="0" lang="en-US" altLang="en-US" sz="1000" b="0" i="0" u="none" strike="noStrike" cap="none" normalizeH="0" baseline="0">
                          <a:ln>
                            <a:noFill/>
                          </a:ln>
                          <a:solidFill>
                            <a:schemeClr val="tx1"/>
                          </a:solidFill>
                          <a:effectLst/>
                          <a:latin typeface="Arial" charset="0"/>
                        </a:rPr>
                      </a:br>
                      <a:r>
                        <a:rPr kumimoji="0" lang="en-US" altLang="en-US" sz="1000" b="0" i="0" u="none" strike="noStrike" cap="none" normalizeH="0" baseline="0">
                          <a:ln>
                            <a:noFill/>
                          </a:ln>
                          <a:solidFill>
                            <a:schemeClr val="tx1"/>
                          </a:solidFill>
                          <a:effectLst/>
                          <a:latin typeface="Arial" charset="0"/>
                        </a:rPr>
                        <a:t>of solar cells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64614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4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Propulsion</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charset="0"/>
                        </a:rPr>
                        <a:t>Thruster plumes may be a contaminant source</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Drag makeup fuel requirement</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Shift in floating potential due to thruster firings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Rupture of pressurized tanks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238114">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Structures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Penetration</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9375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Telemetry, Tracking &amp; Communications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Degradation of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Interference with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EMI due to arcing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EMI due to impacts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547662">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75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Thermal Control</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Reattraction of comtaminants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charset="0"/>
                        </a:rPr>
                        <a:t>Degradation of alpha/epsilon</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8340" name="Group 202" descr="Summary table showing the effects of the space environment on spacecraft subsystems. The matrix relates environmental hazards—including vacuum, neutral atmosphere, plasma, radiation, and micrometeoroids/orbital debris—to their impacts on attitude control, avionics, power, propulsion, structures, communications, and thermal control, highlighting common effects such as contamination, charging, radiation-induced electronics degradation, and impact damage.">
            <a:extLst>
              <a:ext uri="{FF2B5EF4-FFF2-40B4-BE49-F238E27FC236}">
                <a16:creationId xmlns:a16="http://schemas.microsoft.com/office/drawing/2014/main" id="{F9A4584C-06A3-429E-96E4-87241A38447E}"/>
              </a:ext>
            </a:extLst>
          </p:cNvPr>
          <p:cNvGrpSpPr>
            <a:grpSpLocks/>
          </p:cNvGrpSpPr>
          <p:nvPr/>
        </p:nvGrpSpPr>
        <p:grpSpPr bwMode="auto">
          <a:xfrm>
            <a:off x="2530475" y="2586039"/>
            <a:ext cx="7164388" cy="3317875"/>
            <a:chOff x="634" y="1629"/>
            <a:chExt cx="4513" cy="2090"/>
          </a:xfrm>
        </p:grpSpPr>
        <p:sp>
          <p:nvSpPr>
            <p:cNvPr id="8395" name="Text Box 203">
              <a:extLst>
                <a:ext uri="{FF2B5EF4-FFF2-40B4-BE49-F238E27FC236}">
                  <a16:creationId xmlns:a16="http://schemas.microsoft.com/office/drawing/2014/main" id="{08BAFD15-534E-498B-A3A7-34420FBD6194}"/>
                </a:ext>
              </a:extLst>
            </p:cNvPr>
            <p:cNvSpPr txBox="1">
              <a:spLocks noChangeArrowheads="1"/>
            </p:cNvSpPr>
            <p:nvPr/>
          </p:nvSpPr>
          <p:spPr bwMode="auto">
            <a:xfrm>
              <a:off x="2230" y="1629"/>
              <a:ext cx="7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sensor coatings</a:t>
              </a:r>
            </a:p>
          </p:txBody>
        </p:sp>
        <p:sp>
          <p:nvSpPr>
            <p:cNvPr id="8396" name="Text Box 204">
              <a:extLst>
                <a:ext uri="{FF2B5EF4-FFF2-40B4-BE49-F238E27FC236}">
                  <a16:creationId xmlns:a16="http://schemas.microsoft.com/office/drawing/2014/main" id="{26E4E614-DE64-4225-8213-079A61C44CC0}"/>
                </a:ext>
              </a:extLst>
            </p:cNvPr>
            <p:cNvSpPr txBox="1">
              <a:spLocks noChangeArrowheads="1"/>
            </p:cNvSpPr>
            <p:nvPr/>
          </p:nvSpPr>
          <p:spPr bwMode="auto">
            <a:xfrm>
              <a:off x="634" y="2245"/>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coverslide transmittance</a:t>
              </a:r>
            </a:p>
          </p:txBody>
        </p:sp>
        <p:sp>
          <p:nvSpPr>
            <p:cNvPr id="8397" name="Text Box 205">
              <a:extLst>
                <a:ext uri="{FF2B5EF4-FFF2-40B4-BE49-F238E27FC236}">
                  <a16:creationId xmlns:a16="http://schemas.microsoft.com/office/drawing/2014/main" id="{639DEF82-250A-4310-919C-CA5E64794917}"/>
                </a:ext>
              </a:extLst>
            </p:cNvPr>
            <p:cNvSpPr txBox="1">
              <a:spLocks noChangeArrowheads="1"/>
            </p:cNvSpPr>
            <p:nvPr/>
          </p:nvSpPr>
          <p:spPr bwMode="auto">
            <a:xfrm>
              <a:off x="2094" y="2237"/>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coverslide transmittance</a:t>
              </a:r>
            </a:p>
          </p:txBody>
        </p:sp>
        <p:sp>
          <p:nvSpPr>
            <p:cNvPr id="8398" name="Text Box 206">
              <a:extLst>
                <a:ext uri="{FF2B5EF4-FFF2-40B4-BE49-F238E27FC236}">
                  <a16:creationId xmlns:a16="http://schemas.microsoft.com/office/drawing/2014/main" id="{F4741016-A9C6-4531-AC30-4DA5B1AD37B9}"/>
                </a:ext>
              </a:extLst>
            </p:cNvPr>
            <p:cNvSpPr txBox="1">
              <a:spLocks noChangeArrowheads="1"/>
            </p:cNvSpPr>
            <p:nvPr/>
          </p:nvSpPr>
          <p:spPr bwMode="auto">
            <a:xfrm>
              <a:off x="4202" y="2237"/>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Degradation of solar cell output</a:t>
              </a:r>
            </a:p>
          </p:txBody>
        </p:sp>
        <p:sp>
          <p:nvSpPr>
            <p:cNvPr id="8399" name="Text Box 207">
              <a:extLst>
                <a:ext uri="{FF2B5EF4-FFF2-40B4-BE49-F238E27FC236}">
                  <a16:creationId xmlns:a16="http://schemas.microsoft.com/office/drawing/2014/main" id="{3010EF75-8B73-40E3-91C0-51B2EA12BB25}"/>
                </a:ext>
              </a:extLst>
            </p:cNvPr>
            <p:cNvSpPr txBox="1">
              <a:spLocks noChangeArrowheads="1"/>
            </p:cNvSpPr>
            <p:nvPr/>
          </p:nvSpPr>
          <p:spPr bwMode="auto">
            <a:xfrm>
              <a:off x="4202" y="1917"/>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Degradation:  SEUs, bit errors, …</a:t>
              </a:r>
            </a:p>
          </p:txBody>
        </p:sp>
        <p:sp>
          <p:nvSpPr>
            <p:cNvPr id="8400" name="Text Box 208">
              <a:extLst>
                <a:ext uri="{FF2B5EF4-FFF2-40B4-BE49-F238E27FC236}">
                  <a16:creationId xmlns:a16="http://schemas.microsoft.com/office/drawing/2014/main" id="{FE2EF1F1-652C-42E5-8765-E205D5A83D8C}"/>
                </a:ext>
              </a:extLst>
            </p:cNvPr>
            <p:cNvSpPr txBox="1">
              <a:spLocks noChangeArrowheads="1"/>
            </p:cNvSpPr>
            <p:nvPr/>
          </p:nvSpPr>
          <p:spPr bwMode="auto">
            <a:xfrm>
              <a:off x="2202" y="3173"/>
              <a:ext cx="7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sensor coatings</a:t>
              </a:r>
            </a:p>
          </p:txBody>
        </p:sp>
        <p:sp>
          <p:nvSpPr>
            <p:cNvPr id="8401" name="Text Box 209">
              <a:extLst>
                <a:ext uri="{FF2B5EF4-FFF2-40B4-BE49-F238E27FC236}">
                  <a16:creationId xmlns:a16="http://schemas.microsoft.com/office/drawing/2014/main" id="{6F941F3D-4E36-4E05-823A-F68E25BCDD05}"/>
                </a:ext>
              </a:extLst>
            </p:cNvPr>
            <p:cNvSpPr txBox="1">
              <a:spLocks noChangeArrowheads="1"/>
            </p:cNvSpPr>
            <p:nvPr/>
          </p:nvSpPr>
          <p:spPr bwMode="auto">
            <a:xfrm>
              <a:off x="4202" y="3173"/>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Degradation of electronics</a:t>
              </a:r>
            </a:p>
          </p:txBody>
        </p:sp>
        <p:sp>
          <p:nvSpPr>
            <p:cNvPr id="8402" name="Text Box 210">
              <a:extLst>
                <a:ext uri="{FF2B5EF4-FFF2-40B4-BE49-F238E27FC236}">
                  <a16:creationId xmlns:a16="http://schemas.microsoft.com/office/drawing/2014/main" id="{B10C158C-D535-465F-921A-A51B7254CE0F}"/>
                </a:ext>
              </a:extLst>
            </p:cNvPr>
            <p:cNvSpPr txBox="1">
              <a:spLocks noChangeArrowheads="1"/>
            </p:cNvSpPr>
            <p:nvPr/>
          </p:nvSpPr>
          <p:spPr bwMode="auto">
            <a:xfrm>
              <a:off x="634" y="3469"/>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surface alpha/epsilon ratio</a:t>
              </a:r>
            </a:p>
          </p:txBody>
        </p:sp>
        <p:sp>
          <p:nvSpPr>
            <p:cNvPr id="8403" name="Text Box 211">
              <a:extLst>
                <a:ext uri="{FF2B5EF4-FFF2-40B4-BE49-F238E27FC236}">
                  <a16:creationId xmlns:a16="http://schemas.microsoft.com/office/drawing/2014/main" id="{E22870DD-8BE7-49E8-9327-26236FD2C33F}"/>
                </a:ext>
              </a:extLst>
            </p:cNvPr>
            <p:cNvSpPr txBox="1">
              <a:spLocks noChangeArrowheads="1"/>
            </p:cNvSpPr>
            <p:nvPr/>
          </p:nvSpPr>
          <p:spPr bwMode="auto">
            <a:xfrm>
              <a:off x="2094" y="3469"/>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surface alpha/epsilon ratio</a:t>
              </a:r>
            </a:p>
          </p:txBody>
        </p:sp>
        <p:sp>
          <p:nvSpPr>
            <p:cNvPr id="8404" name="Text Box 212">
              <a:extLst>
                <a:ext uri="{FF2B5EF4-FFF2-40B4-BE49-F238E27FC236}">
                  <a16:creationId xmlns:a16="http://schemas.microsoft.com/office/drawing/2014/main" id="{49FC661D-D6B6-4F8A-A0A5-3E6DB1639B30}"/>
                </a:ext>
              </a:extLst>
            </p:cNvPr>
            <p:cNvSpPr txBox="1">
              <a:spLocks noChangeArrowheads="1"/>
            </p:cNvSpPr>
            <p:nvPr/>
          </p:nvSpPr>
          <p:spPr bwMode="auto">
            <a:xfrm>
              <a:off x="4202" y="3469"/>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Cold surfaces may experience heating</a:t>
              </a:r>
            </a:p>
          </p:txBody>
        </p:sp>
      </p:grpSp>
      <p:sp>
        <p:nvSpPr>
          <p:cNvPr id="8405" name="Rectangle 213">
            <a:extLst>
              <a:ext uri="{FF2B5EF4-FFF2-40B4-BE49-F238E27FC236}">
                <a16:creationId xmlns:a16="http://schemas.microsoft.com/office/drawing/2014/main" id="{311AA753-1161-43D0-9AF8-A52DC424F8E9}"/>
              </a:ext>
            </a:extLst>
          </p:cNvPr>
          <p:cNvSpPr>
            <a:spLocks noChangeArrowheads="1"/>
          </p:cNvSpPr>
          <p:nvPr/>
        </p:nvSpPr>
        <p:spPr bwMode="auto">
          <a:xfrm>
            <a:off x="9742488" y="6253164"/>
            <a:ext cx="925512"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spcBef>
                <a:spcPct val="50000"/>
              </a:spcBef>
              <a:defRPr/>
            </a:pPr>
            <a:r>
              <a:rPr lang="en-US" altLang="en-US" sz="1000">
                <a:latin typeface="Arial" charset="0"/>
              </a:rPr>
              <a:t>TSE, Fig 7.1</a:t>
            </a:r>
          </a:p>
        </p:txBody>
      </p:sp>
      <p:sp>
        <p:nvSpPr>
          <p:cNvPr id="2" name="Slide Number Placeholder 1">
            <a:extLst>
              <a:ext uri="{FF2B5EF4-FFF2-40B4-BE49-F238E27FC236}">
                <a16:creationId xmlns:a16="http://schemas.microsoft.com/office/drawing/2014/main" id="{706F7035-5831-46D1-8F51-4D6752CAED29}"/>
              </a:ext>
            </a:extLst>
          </p:cNvPr>
          <p:cNvSpPr>
            <a:spLocks noGrp="1"/>
          </p:cNvSpPr>
          <p:nvPr>
            <p:ph type="sldNum" sz="quarter" idx="12"/>
          </p:nvPr>
        </p:nvSpPr>
        <p:spPr/>
        <p:txBody>
          <a:bodyPr/>
          <a:lstStyle/>
          <a:p>
            <a:fld id="{C83C362F-97FB-4C1E-B0F0-C3069DD0CDD1}" type="slidenum">
              <a:rPr lang="en-US" smtClean="0"/>
              <a:t>12</a:t>
            </a:fld>
            <a:endParaRPr lang="en-US"/>
          </a:p>
        </p:txBody>
      </p:sp>
    </p:spTree>
    <p:extLst>
      <p:ext uri="{BB962C8B-B14F-4D97-AF65-F5344CB8AC3E}">
        <p14:creationId xmlns:p14="http://schemas.microsoft.com/office/powerpoint/2010/main" val="183852300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9BD992-F0A2-8CBD-7E89-CFA982EE8C6B}"/>
              </a:ext>
            </a:extLst>
          </p:cNvPr>
          <p:cNvSpPr>
            <a:spLocks noGrp="1"/>
          </p:cNvSpPr>
          <p:nvPr>
            <p:ph type="sldNum" sz="quarter" idx="12"/>
          </p:nvPr>
        </p:nvSpPr>
        <p:spPr/>
        <p:txBody>
          <a:bodyPr/>
          <a:lstStyle/>
          <a:p>
            <a:fld id="{C83C362F-97FB-4C1E-B0F0-C3069DD0CDD1}" type="slidenum">
              <a:rPr lang="en-US" smtClean="0"/>
              <a:t>13</a:t>
            </a:fld>
            <a:endParaRPr lang="en-US"/>
          </a:p>
        </p:txBody>
      </p:sp>
      <p:sp>
        <p:nvSpPr>
          <p:cNvPr id="12" name="Title 11">
            <a:extLst>
              <a:ext uri="{FF2B5EF4-FFF2-40B4-BE49-F238E27FC236}">
                <a16:creationId xmlns:a16="http://schemas.microsoft.com/office/drawing/2014/main" id="{BAD761EE-F067-6226-D0E6-AB9032260116}"/>
              </a:ext>
            </a:extLst>
          </p:cNvPr>
          <p:cNvSpPr>
            <a:spLocks noGrp="1"/>
          </p:cNvSpPr>
          <p:nvPr>
            <p:ph type="title"/>
          </p:nvPr>
        </p:nvSpPr>
        <p:spPr>
          <a:xfrm>
            <a:off x="822335" y="-354072"/>
            <a:ext cx="10364451" cy="1596177"/>
          </a:xfrm>
        </p:spPr>
        <p:txBody>
          <a:bodyPr/>
          <a:lstStyle/>
          <a:p>
            <a:r>
              <a:rPr lang="en-US" dirty="0"/>
              <a:t>EXAMPLE – HW PROBLEM 4</a:t>
            </a:r>
          </a:p>
        </p:txBody>
      </p:sp>
      <p:sp>
        <p:nvSpPr>
          <p:cNvPr id="14" name="TextBox 13">
            <a:extLst>
              <a:ext uri="{FF2B5EF4-FFF2-40B4-BE49-F238E27FC236}">
                <a16:creationId xmlns:a16="http://schemas.microsoft.com/office/drawing/2014/main" id="{CB6884DD-185B-9E69-5AAD-F3C55C9F1DEA}"/>
              </a:ext>
            </a:extLst>
          </p:cNvPr>
          <p:cNvSpPr txBox="1"/>
          <p:nvPr/>
        </p:nvSpPr>
        <p:spPr>
          <a:xfrm>
            <a:off x="731521" y="984434"/>
            <a:ext cx="10041774" cy="773673"/>
          </a:xfrm>
          <a:prstGeom prst="rect">
            <a:avLst/>
          </a:prstGeom>
          <a:noFill/>
        </p:spPr>
        <p:txBody>
          <a:bodyPr wrap="square">
            <a:spAutoFit/>
          </a:bodyPr>
          <a:lstStyle/>
          <a:p>
            <a:pPr marL="0" marR="0">
              <a:lnSpc>
                <a:spcPct val="107000"/>
              </a:lnSpc>
              <a:spcAft>
                <a:spcPts val="800"/>
              </a:spcAft>
              <a:buNone/>
            </a:pPr>
            <a:r>
              <a:rPr lang="en-US" sz="1400" dirty="0">
                <a:effectLst/>
                <a:latin typeface="Calibri" panose="020F0502020204030204" pitchFamily="34" charset="0"/>
                <a:ea typeface="Times New Roman" panose="02020603050405020304" pitchFamily="18" charset="0"/>
                <a:cs typeface="Calibri" panose="020F0502020204030204" pitchFamily="34" charset="0"/>
              </a:rPr>
              <a:t>6.  (20 pts.) Estimate the solar radiation disturbance torque on a Starlink Satellite.  The spacecraft body is 3.2 x 1.6 x 1.2 m</a:t>
            </a:r>
            <a:r>
              <a:rPr lang="en-US" sz="1400" baseline="30000" dirty="0">
                <a:effectLst/>
                <a:latin typeface="Calibri" panose="020F0502020204030204" pitchFamily="34" charset="0"/>
                <a:ea typeface="Times New Roman" panose="02020603050405020304" pitchFamily="18" charset="0"/>
                <a:cs typeface="Calibri" panose="020F0502020204030204" pitchFamily="34" charset="0"/>
              </a:rPr>
              <a:t>3</a:t>
            </a:r>
            <a:r>
              <a:rPr lang="en-US" sz="1400" dirty="0">
                <a:effectLst/>
                <a:latin typeface="Calibri" panose="020F0502020204030204" pitchFamily="34" charset="0"/>
                <a:ea typeface="Times New Roman" panose="02020603050405020304" pitchFamily="18" charset="0"/>
                <a:cs typeface="Calibri" panose="020F0502020204030204" pitchFamily="34" charset="0"/>
              </a:rPr>
              <a:t> and has a mass of 30 kg.    The Solar array is 3.2 x 10.9 m</a:t>
            </a:r>
            <a:r>
              <a:rPr lang="en-US" sz="1400" baseline="30000" dirty="0">
                <a:effectLst/>
                <a:latin typeface="Calibri" panose="020F0502020204030204" pitchFamily="34" charset="0"/>
                <a:ea typeface="Times New Roman" panose="02020603050405020304" pitchFamily="18" charset="0"/>
                <a:cs typeface="Calibri" panose="020F0502020204030204" pitchFamily="34" charset="0"/>
              </a:rPr>
              <a:t>2</a:t>
            </a:r>
            <a:r>
              <a:rPr lang="en-US" sz="1400" dirty="0">
                <a:effectLst/>
                <a:latin typeface="Calibri" panose="020F0502020204030204" pitchFamily="34" charset="0"/>
                <a:ea typeface="Times New Roman" panose="02020603050405020304" pitchFamily="18" charset="0"/>
                <a:cs typeface="Calibri" panose="020F0502020204030204" pitchFamily="34" charset="0"/>
              </a:rPr>
              <a:t> with a mass of 197 kg and they are sun-tracking.   You may assume it is in an orbit such that it is facing the sun at all times.  A Space X artist’s rendering may be seen in Figure 5 [6].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descr="Starlink-satellietinternet komt eraan - Achtergrond - Tweakers">
            <a:extLst>
              <a:ext uri="{FF2B5EF4-FFF2-40B4-BE49-F238E27FC236}">
                <a16:creationId xmlns:a16="http://schemas.microsoft.com/office/drawing/2014/main" id="{1910464E-C4F8-401B-A8C4-03A0507920A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5258" y="1771007"/>
            <a:ext cx="5943600" cy="3343275"/>
          </a:xfrm>
          <a:prstGeom prst="rect">
            <a:avLst/>
          </a:prstGeom>
          <a:noFill/>
          <a:ln>
            <a:noFill/>
          </a:ln>
        </p:spPr>
      </p:pic>
      <p:sp>
        <p:nvSpPr>
          <p:cNvPr id="17" name="TextBox 16">
            <a:extLst>
              <a:ext uri="{FF2B5EF4-FFF2-40B4-BE49-F238E27FC236}">
                <a16:creationId xmlns:a16="http://schemas.microsoft.com/office/drawing/2014/main" id="{27692C87-253F-BC2C-8ABD-7CB6A48F34D6}"/>
              </a:ext>
            </a:extLst>
          </p:cNvPr>
          <p:cNvSpPr txBox="1"/>
          <p:nvPr/>
        </p:nvSpPr>
        <p:spPr>
          <a:xfrm>
            <a:off x="238366" y="5127182"/>
            <a:ext cx="6097384" cy="779059"/>
          </a:xfrm>
          <a:prstGeom prst="rect">
            <a:avLst/>
          </a:prstGeom>
          <a:noFill/>
        </p:spPr>
        <p:txBody>
          <a:bodyPr wrap="square">
            <a:spAutoFit/>
          </a:bodyPr>
          <a:lstStyle/>
          <a:p>
            <a:pPr marL="0" marR="0" algn="ctr">
              <a:lnSpc>
                <a:spcPct val="107000"/>
              </a:lnSpc>
              <a:spcAft>
                <a:spcPts val="800"/>
              </a:spcAft>
              <a:buNone/>
            </a:pPr>
            <a:r>
              <a:rPr lang="en-US" sz="1200" dirty="0">
                <a:effectLst/>
                <a:latin typeface="Calibri" panose="020F0502020204030204" pitchFamily="34" charset="0"/>
                <a:ea typeface="Times New Roman" panose="02020603050405020304" pitchFamily="18" charset="0"/>
                <a:cs typeface="Calibri" panose="020F0502020204030204" pitchFamily="34" charset="0"/>
              </a:rPr>
              <a:t>Figure 5:  Starlink satellite in low Earth orbit with its single deployable solar array. </a:t>
            </a:r>
            <a:r>
              <a:rPr lang="en-US" sz="1200" i="1" dirty="0">
                <a:effectLst/>
                <a:latin typeface="Calibri" panose="020F0502020204030204" pitchFamily="34" charset="0"/>
                <a:ea typeface="Times New Roman" panose="02020603050405020304" pitchFamily="18" charset="0"/>
                <a:cs typeface="Calibri" panose="020F0502020204030204" pitchFamily="34" charset="0"/>
              </a:rPr>
              <a:t>Image credit: SpaceX.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TextBox 18">
            <a:extLst>
              <a:ext uri="{FF2B5EF4-FFF2-40B4-BE49-F238E27FC236}">
                <a16:creationId xmlns:a16="http://schemas.microsoft.com/office/drawing/2014/main" id="{D942E80E-DD9B-BC66-27D0-B9C990182FA0}"/>
              </a:ext>
            </a:extLst>
          </p:cNvPr>
          <p:cNvSpPr txBox="1"/>
          <p:nvPr/>
        </p:nvSpPr>
        <p:spPr>
          <a:xfrm>
            <a:off x="6604674" y="2189389"/>
            <a:ext cx="4291444" cy="1474506"/>
          </a:xfrm>
          <a:prstGeom prst="rect">
            <a:avLst/>
          </a:prstGeom>
          <a:noFill/>
        </p:spPr>
        <p:txBody>
          <a:bodyPr wrap="square">
            <a:spAutoFit/>
          </a:bodyPr>
          <a:lstStyle/>
          <a:p>
            <a:pPr marL="0" marR="0">
              <a:lnSpc>
                <a:spcPct val="107000"/>
              </a:lnSpc>
              <a:spcAft>
                <a:spcPts val="800"/>
              </a:spcAft>
              <a:buNone/>
            </a:pPr>
            <a:r>
              <a:rPr lang="en-US" sz="1200" dirty="0">
                <a:effectLst/>
                <a:latin typeface="Calibri" panose="020F0502020204030204" pitchFamily="34" charset="0"/>
                <a:ea typeface="Times New Roman" panose="02020603050405020304" pitchFamily="18" charset="0"/>
                <a:cs typeface="Calibri" panose="020F0502020204030204" pitchFamily="34" charset="0"/>
              </a:rPr>
              <a:t>a.   Find the SRP force on the satellite.  Assume a center of pressure of 6.03 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1200" dirty="0">
                <a:effectLst/>
                <a:latin typeface="Calibri" panose="020F0502020204030204" pitchFamily="34" charset="0"/>
                <a:ea typeface="Times New Roman" panose="02020603050405020304" pitchFamily="18" charset="0"/>
                <a:cs typeface="Calibri" panose="020F0502020204030204" pitchFamily="34" charset="0"/>
              </a:rPr>
              <a:t>b.  What size and power would you recommend for the satellite’s momentum </a:t>
            </a:r>
            <a:r>
              <a:rPr lang="en-US" sz="1200" i="1" dirty="0">
                <a:effectLst/>
                <a:latin typeface="Calibri" panose="020F0502020204030204" pitchFamily="34" charset="0"/>
                <a:ea typeface="Times New Roman" panose="02020603050405020304" pitchFamily="18" charset="0"/>
                <a:cs typeface="Calibri" panose="020F0502020204030204" pitchFamily="34" charset="0"/>
              </a:rPr>
              <a:t>wheels</a:t>
            </a:r>
            <a:r>
              <a:rPr lang="en-US" sz="1200" dirty="0">
                <a:effectLst/>
                <a:latin typeface="Calibri" panose="020F0502020204030204" pitchFamily="34" charset="0"/>
                <a:ea typeface="Times New Roman" panose="02020603050405020304" pitchFamily="18" charset="0"/>
                <a:cs typeface="Calibri" panose="020F0502020204030204" pitchFamily="34" charset="0"/>
              </a:rPr>
              <a:t>?  Be sure to include a margin factor when sizing your RWs.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56295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12318-6BEA-E146-9526-21B4EEC61A8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2CB7AE-E5EB-4AA3-AEAD-8BD7E35860C9}"/>
              </a:ext>
            </a:extLst>
          </p:cNvPr>
          <p:cNvSpPr>
            <a:spLocks noGrp="1"/>
          </p:cNvSpPr>
          <p:nvPr>
            <p:ph type="sldNum" sz="quarter" idx="12"/>
          </p:nvPr>
        </p:nvSpPr>
        <p:spPr/>
        <p:txBody>
          <a:bodyPr/>
          <a:lstStyle/>
          <a:p>
            <a:fld id="{C83C362F-97FB-4C1E-B0F0-C3069DD0CDD1}" type="slidenum">
              <a:rPr lang="en-US" smtClean="0"/>
              <a:t>14</a:t>
            </a:fld>
            <a:endParaRPr lang="en-US"/>
          </a:p>
        </p:txBody>
      </p:sp>
      <p:sp>
        <p:nvSpPr>
          <p:cNvPr id="12" name="Title 11">
            <a:extLst>
              <a:ext uri="{FF2B5EF4-FFF2-40B4-BE49-F238E27FC236}">
                <a16:creationId xmlns:a16="http://schemas.microsoft.com/office/drawing/2014/main" id="{84046E64-92CD-F5C6-DE09-7F6AB36FD5D3}"/>
              </a:ext>
            </a:extLst>
          </p:cNvPr>
          <p:cNvSpPr>
            <a:spLocks noGrp="1"/>
          </p:cNvSpPr>
          <p:nvPr>
            <p:ph type="title"/>
          </p:nvPr>
        </p:nvSpPr>
        <p:spPr>
          <a:xfrm>
            <a:off x="822335" y="-354072"/>
            <a:ext cx="10364451" cy="1596177"/>
          </a:xfrm>
        </p:spPr>
        <p:txBody>
          <a:bodyPr/>
          <a:lstStyle/>
          <a:p>
            <a:r>
              <a:rPr lang="en-US" dirty="0"/>
              <a:t>EXAMPLE – HW PROBLEM 4</a:t>
            </a:r>
          </a:p>
        </p:txBody>
      </p:sp>
      <p:sp>
        <p:nvSpPr>
          <p:cNvPr id="14" name="TextBox 13">
            <a:extLst>
              <a:ext uri="{FF2B5EF4-FFF2-40B4-BE49-F238E27FC236}">
                <a16:creationId xmlns:a16="http://schemas.microsoft.com/office/drawing/2014/main" id="{01ABA696-1DD8-C23B-F487-8F5AE4CD00F9}"/>
              </a:ext>
            </a:extLst>
          </p:cNvPr>
          <p:cNvSpPr txBox="1"/>
          <p:nvPr/>
        </p:nvSpPr>
        <p:spPr>
          <a:xfrm>
            <a:off x="731521" y="984434"/>
            <a:ext cx="10041774" cy="773673"/>
          </a:xfrm>
          <a:prstGeom prst="rect">
            <a:avLst/>
          </a:prstGeom>
          <a:noFill/>
        </p:spPr>
        <p:txBody>
          <a:bodyPr wrap="square">
            <a:spAutoFit/>
          </a:bodyPr>
          <a:lstStyle/>
          <a:p>
            <a:pPr marL="0" marR="0">
              <a:lnSpc>
                <a:spcPct val="107000"/>
              </a:lnSpc>
              <a:spcAft>
                <a:spcPts val="800"/>
              </a:spcAft>
              <a:buNone/>
            </a:pPr>
            <a:r>
              <a:rPr lang="en-US" sz="1400" dirty="0">
                <a:effectLst/>
                <a:latin typeface="Calibri" panose="020F0502020204030204" pitchFamily="34" charset="0"/>
                <a:ea typeface="Times New Roman" panose="02020603050405020304" pitchFamily="18" charset="0"/>
                <a:cs typeface="Calibri" panose="020F0502020204030204" pitchFamily="34" charset="0"/>
              </a:rPr>
              <a:t>6.  (20 pts.) Estimate the solar radiation disturbance torque on a Starlink Satellite.  The spacecraft body is 3.2 x 1.6 x 1.2 m</a:t>
            </a:r>
            <a:r>
              <a:rPr lang="en-US" sz="1400" baseline="30000" dirty="0">
                <a:effectLst/>
                <a:latin typeface="Calibri" panose="020F0502020204030204" pitchFamily="34" charset="0"/>
                <a:ea typeface="Times New Roman" panose="02020603050405020304" pitchFamily="18" charset="0"/>
                <a:cs typeface="Calibri" panose="020F0502020204030204" pitchFamily="34" charset="0"/>
              </a:rPr>
              <a:t>3</a:t>
            </a:r>
            <a:r>
              <a:rPr lang="en-US" sz="1400" dirty="0">
                <a:effectLst/>
                <a:latin typeface="Calibri" panose="020F0502020204030204" pitchFamily="34" charset="0"/>
                <a:ea typeface="Times New Roman" panose="02020603050405020304" pitchFamily="18" charset="0"/>
                <a:cs typeface="Calibri" panose="020F0502020204030204" pitchFamily="34" charset="0"/>
              </a:rPr>
              <a:t> and has a mass of 30 kg.    The Solar array is 3.2 x 10.9 m</a:t>
            </a:r>
            <a:r>
              <a:rPr lang="en-US" sz="1400" baseline="30000" dirty="0">
                <a:effectLst/>
                <a:latin typeface="Calibri" panose="020F0502020204030204" pitchFamily="34" charset="0"/>
                <a:ea typeface="Times New Roman" panose="02020603050405020304" pitchFamily="18" charset="0"/>
                <a:cs typeface="Calibri" panose="020F0502020204030204" pitchFamily="34" charset="0"/>
              </a:rPr>
              <a:t>2</a:t>
            </a:r>
            <a:r>
              <a:rPr lang="en-US" sz="1400" dirty="0">
                <a:effectLst/>
                <a:latin typeface="Calibri" panose="020F0502020204030204" pitchFamily="34" charset="0"/>
                <a:ea typeface="Times New Roman" panose="02020603050405020304" pitchFamily="18" charset="0"/>
                <a:cs typeface="Calibri" panose="020F0502020204030204" pitchFamily="34" charset="0"/>
              </a:rPr>
              <a:t> with a mass of 197 kg and they are sun-tracking.   You may assume it is in an orbit such that it is facing the sun at all times.  A Space X artist’s rendering may be seen in Figure 5 [6].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TextBox 18">
            <a:extLst>
              <a:ext uri="{FF2B5EF4-FFF2-40B4-BE49-F238E27FC236}">
                <a16:creationId xmlns:a16="http://schemas.microsoft.com/office/drawing/2014/main" id="{F794715D-6868-E691-EAB6-A455DDBD15CD}"/>
              </a:ext>
            </a:extLst>
          </p:cNvPr>
          <p:cNvSpPr txBox="1"/>
          <p:nvPr/>
        </p:nvSpPr>
        <p:spPr>
          <a:xfrm>
            <a:off x="6604674" y="2189389"/>
            <a:ext cx="4291444" cy="1474506"/>
          </a:xfrm>
          <a:prstGeom prst="rect">
            <a:avLst/>
          </a:prstGeom>
          <a:noFill/>
        </p:spPr>
        <p:txBody>
          <a:bodyPr wrap="square">
            <a:spAutoFit/>
          </a:bodyPr>
          <a:lstStyle/>
          <a:p>
            <a:pPr marL="0" marR="0">
              <a:lnSpc>
                <a:spcPct val="107000"/>
              </a:lnSpc>
              <a:spcAft>
                <a:spcPts val="800"/>
              </a:spcAft>
              <a:buNone/>
            </a:pPr>
            <a:r>
              <a:rPr lang="en-US" sz="1200" dirty="0">
                <a:effectLst/>
                <a:latin typeface="Calibri" panose="020F0502020204030204" pitchFamily="34" charset="0"/>
                <a:ea typeface="Times New Roman" panose="02020603050405020304" pitchFamily="18" charset="0"/>
                <a:cs typeface="Calibri" panose="020F0502020204030204" pitchFamily="34" charset="0"/>
              </a:rPr>
              <a:t>a.   Find the SRP force on the satellite.  Assume a center of pressure of 6.03 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1200" dirty="0">
                <a:effectLst/>
                <a:latin typeface="Calibri" panose="020F0502020204030204" pitchFamily="34" charset="0"/>
                <a:ea typeface="Times New Roman" panose="02020603050405020304" pitchFamily="18" charset="0"/>
                <a:cs typeface="Calibri" panose="020F0502020204030204" pitchFamily="34"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1200" dirty="0">
                <a:effectLst/>
                <a:latin typeface="Calibri" panose="020F0502020204030204" pitchFamily="34" charset="0"/>
                <a:ea typeface="Times New Roman" panose="02020603050405020304" pitchFamily="18" charset="0"/>
                <a:cs typeface="Calibri" panose="020F0502020204030204" pitchFamily="34" charset="0"/>
              </a:rPr>
              <a:t>b.  What size and power would you recommend for the satellite’s momentum </a:t>
            </a:r>
            <a:r>
              <a:rPr lang="en-US" sz="1200" i="1" dirty="0">
                <a:effectLst/>
                <a:latin typeface="Calibri" panose="020F0502020204030204" pitchFamily="34" charset="0"/>
                <a:ea typeface="Times New Roman" panose="02020603050405020304" pitchFamily="18" charset="0"/>
                <a:cs typeface="Calibri" panose="020F0502020204030204" pitchFamily="34" charset="0"/>
              </a:rPr>
              <a:t>wheels</a:t>
            </a:r>
            <a:r>
              <a:rPr lang="en-US" sz="1200" dirty="0">
                <a:effectLst/>
                <a:latin typeface="Calibri" panose="020F0502020204030204" pitchFamily="34" charset="0"/>
                <a:ea typeface="Times New Roman" panose="02020603050405020304" pitchFamily="18" charset="0"/>
                <a:cs typeface="Calibri" panose="020F0502020204030204" pitchFamily="34" charset="0"/>
              </a:rPr>
              <a:t>?  Be sure to include a margin factor when sizing your RWs.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8317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D0FFA-098A-AC46-7868-4899722B92D8}"/>
              </a:ext>
            </a:extLst>
          </p:cNvPr>
          <p:cNvSpPr>
            <a:spLocks noGrp="1"/>
          </p:cNvSpPr>
          <p:nvPr>
            <p:ph type="title"/>
          </p:nvPr>
        </p:nvSpPr>
        <p:spPr/>
        <p:txBody>
          <a:bodyPr/>
          <a:lstStyle/>
          <a:p>
            <a:r>
              <a:rPr lang="en-US" dirty="0"/>
              <a:t>REFERENCES</a:t>
            </a:r>
          </a:p>
        </p:txBody>
      </p:sp>
      <p:sp>
        <p:nvSpPr>
          <p:cNvPr id="3" name="Slide Number Placeholder 2">
            <a:extLst>
              <a:ext uri="{FF2B5EF4-FFF2-40B4-BE49-F238E27FC236}">
                <a16:creationId xmlns:a16="http://schemas.microsoft.com/office/drawing/2014/main" id="{87682741-E5E4-608A-4E44-ED52093315E5}"/>
              </a:ext>
            </a:extLst>
          </p:cNvPr>
          <p:cNvSpPr>
            <a:spLocks noGrp="1"/>
          </p:cNvSpPr>
          <p:nvPr>
            <p:ph type="sldNum" sz="quarter" idx="12"/>
          </p:nvPr>
        </p:nvSpPr>
        <p:spPr/>
        <p:txBody>
          <a:bodyPr/>
          <a:lstStyle/>
          <a:p>
            <a:fld id="{C83C362F-97FB-4C1E-B0F0-C3069DD0CDD1}" type="slidenum">
              <a:rPr lang="en-US" smtClean="0"/>
              <a:t>15</a:t>
            </a:fld>
            <a:endParaRPr lang="en-US"/>
          </a:p>
        </p:txBody>
      </p:sp>
      <p:sp>
        <p:nvSpPr>
          <p:cNvPr id="5" name="TextBox 4">
            <a:extLst>
              <a:ext uri="{FF2B5EF4-FFF2-40B4-BE49-F238E27FC236}">
                <a16:creationId xmlns:a16="http://schemas.microsoft.com/office/drawing/2014/main" id="{E7E60385-CB03-DC4B-EDB3-A8BAD1C887F7}"/>
              </a:ext>
            </a:extLst>
          </p:cNvPr>
          <p:cNvSpPr txBox="1"/>
          <p:nvPr/>
        </p:nvSpPr>
        <p:spPr>
          <a:xfrm>
            <a:off x="913774" y="1767486"/>
            <a:ext cx="10241906" cy="1477328"/>
          </a:xfrm>
          <a:prstGeom prst="rect">
            <a:avLst/>
          </a:prstGeom>
          <a:noFill/>
        </p:spPr>
        <p:txBody>
          <a:bodyPr wrap="square">
            <a:spAutoFit/>
          </a:bodyPr>
          <a:lstStyle/>
          <a:p>
            <a:r>
              <a:rPr lang="en-US" b="1" dirty="0"/>
              <a:t>Carranza, O., et al.</a:t>
            </a:r>
            <a:r>
              <a:rPr lang="en-US" dirty="0"/>
              <a:t> "A Total Energy Attitude Control System Strategy for Rigid Spacecraft." </a:t>
            </a:r>
            <a:r>
              <a:rPr lang="en-US" i="1" dirty="0"/>
              <a:t>IEEE Access</a:t>
            </a:r>
            <a:r>
              <a:rPr lang="en-US" dirty="0"/>
              <a:t>, 2019.  Slide 11.</a:t>
            </a:r>
          </a:p>
          <a:p>
            <a:endParaRPr lang="en-US" dirty="0"/>
          </a:p>
          <a:p>
            <a:r>
              <a:rPr lang="en-US" dirty="0"/>
              <a:t>SpaceX, </a:t>
            </a:r>
            <a:r>
              <a:rPr lang="en-US" i="1" dirty="0"/>
              <a:t>Starlink V2 Mini Satellite Rendering</a:t>
            </a:r>
            <a:r>
              <a:rPr lang="en-US" dirty="0"/>
              <a:t>, SpaceX Media Resources, Hawthorne, CA, 2023. Available: </a:t>
            </a:r>
            <a:r>
              <a:rPr lang="en-US" dirty="0">
                <a:hlinkClick r:id="rId2"/>
              </a:rPr>
              <a:t>https://www.spacex.com/updates/</a:t>
            </a:r>
            <a:r>
              <a:rPr lang="en-US" dirty="0"/>
              <a:t> Slide 13.</a:t>
            </a:r>
          </a:p>
        </p:txBody>
      </p:sp>
    </p:spTree>
    <p:extLst>
      <p:ext uri="{BB962C8B-B14F-4D97-AF65-F5344CB8AC3E}">
        <p14:creationId xmlns:p14="http://schemas.microsoft.com/office/powerpoint/2010/main" val="1715386996"/>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1586</TotalTime>
  <Words>785</Words>
  <Application>Microsoft Office PowerPoint</Application>
  <PresentationFormat>Widescreen</PresentationFormat>
  <Paragraphs>167</Paragraphs>
  <Slides>15</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3" baseType="lpstr">
      <vt:lpstr>Arial</vt:lpstr>
      <vt:lpstr>Calibri</vt:lpstr>
      <vt:lpstr>Cambria Math</vt:lpstr>
      <vt:lpstr>Symbol</vt:lpstr>
      <vt:lpstr>Times New Roman</vt:lpstr>
      <vt:lpstr>Tw Cen MT</vt:lpstr>
      <vt:lpstr>Droplet</vt:lpstr>
      <vt:lpstr>Document</vt:lpstr>
      <vt:lpstr>SPSM 5065 RADIATION ENVIRONMENT</vt:lpstr>
      <vt:lpstr>SINGLE EVENT PHENOMENA</vt:lpstr>
      <vt:lpstr>SINGLE EVENT PHENOMENA</vt:lpstr>
      <vt:lpstr>SINGLE EVENT PHENOMENA mitigation strategies</vt:lpstr>
      <vt:lpstr>PowerPoint Presentation</vt:lpstr>
      <vt:lpstr>Other single event phenomena</vt:lpstr>
      <vt:lpstr>Potential seP on electrical components</vt:lpstr>
      <vt:lpstr>HOW THE RADIATION ENVIRONMENT AFFECTS SPACECRAFT</vt:lpstr>
      <vt:lpstr>Effects of on-orbit disturbances</vt:lpstr>
      <vt:lpstr>REACTION WHEEL SIZING</vt:lpstr>
      <vt:lpstr>REACTION AND MOMENTUM WHEEL SIZING</vt:lpstr>
      <vt:lpstr>Impact of the Space Environment on Spacecraft Systems</vt:lpstr>
      <vt:lpstr>EXAMPLE – HW PROBLEM 4</vt:lpstr>
      <vt:lpstr>EXAMPLE – HW PROBLEM 4</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Lynnane George</dc:creator>
  <cp:lastModifiedBy>Lynnane George</cp:lastModifiedBy>
  <cp:revision>80</cp:revision>
  <dcterms:created xsi:type="dcterms:W3CDTF">2017-06-12T22:04:21Z</dcterms:created>
  <dcterms:modified xsi:type="dcterms:W3CDTF">2026-07-29T21:53:20Z</dcterms:modified>
</cp:coreProperties>
</file>