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342" r:id="rId5"/>
    <p:sldId id="391" r:id="rId6"/>
    <p:sldId id="392" r:id="rId7"/>
    <p:sldId id="380" r:id="rId8"/>
    <p:sldId id="383" r:id="rId9"/>
    <p:sldId id="386" r:id="rId10"/>
    <p:sldId id="396" r:id="rId11"/>
    <p:sldId id="397" r:id="rId12"/>
    <p:sldId id="398" r:id="rId13"/>
    <p:sldId id="399" r:id="rId14"/>
    <p:sldId id="38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FBFE"/>
    <a:srgbClr val="000000"/>
    <a:srgbClr val="FFFFFF"/>
    <a:srgbClr val="05202E"/>
    <a:srgbClr val="0515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968C97-A533-4EA2-B2F1-241B1C40355F}" v="78" dt="2026-07-29T04:39:30.683"/>
  </p1510:revLst>
</p1510:revInfo>
</file>

<file path=ppt/tableStyles.xml><?xml version="1.0" encoding="utf-8"?>
<a:tblStyleLst xmlns:a="http://schemas.openxmlformats.org/drawingml/2006/main" def="{10A1B5D5-9B99-4C35-A422-299274C87663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7" autoAdjust="0"/>
    <p:restoredTop sz="60202" autoAdjust="0"/>
  </p:normalViewPr>
  <p:slideViewPr>
    <p:cSldViewPr snapToGrid="0" snapToObjects="1" showGuides="1">
      <p:cViewPr varScale="1">
        <p:scale>
          <a:sx n="82" d="100"/>
          <a:sy n="82" d="100"/>
        </p:scale>
        <p:origin x="52" y="3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4459878-C319-6BF3-52DC-16FA4340A6C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2FA7FC-DFAE-8499-5A3E-AD9648D7FCA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8BFD57-AB0A-470B-A7AF-56DFE7B5174A}" type="datetimeFigureOut">
              <a:rPr lang="en-US" smtClean="0"/>
              <a:t>7/29/2026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9C12BB-9544-9F9A-BEDA-E7168643859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1E77E4-B9A2-A882-9240-3AE65EE217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9D61A1-75D9-49F7-83EB-F587264261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7327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B3339F-6CEA-4641-BE08-40DAFD6FCF25}" type="datetimeFigureOut">
              <a:rPr lang="en-US" smtClean="0"/>
              <a:t>7/29/2026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F75CB5-5666-5049-9AE0-38EFD385C21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5562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  <a:p>
            <a:r>
              <a:rPr lang="en-US" dirty="0"/>
              <a:t>-Basics of radiation effects and then going into an example on the Juno Spacecraft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59997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671F67-6AA8-AD21-68F4-681467347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B309CD-CFA9-ADF4-4F25-98740D16CD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2DA47B-1E9B-1189-8666-D103FC313C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-Cells can attempt to repair damaged DNA, however it can sometimes be mis repaired causing it to become cancerous.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6057FB-5649-420B-93F4-2C86E0A188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65212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5ACC0E-4C4E-A59E-1D05-DB4E70663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B64F1D-827E-02F5-8110-055FFE793E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854329-4644-5393-9A29-23DB02D2A6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B33A37-5CB2-6A4A-CB0E-C347A14882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08291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92136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E08093-1688-B9D6-1DF4-96FC3BF99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0B1088-1684-43BE-929F-E7F5000FAF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428395-A831-998C-8B07-D112162CDC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Displacement DD specifically important for the Juno Case. </a:t>
            </a:r>
          </a:p>
          <a:p>
            <a:r>
              <a:rPr lang="en-US" dirty="0"/>
              <a:t>There are other Single event effects: single event transient, Single event burnout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687128-836D-A33D-386A-196A864904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84295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03FAD0-9F0A-33FE-CE09-7FF9D08B0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FCAE02-82E6-38D0-C3D4-AB9FFE98D7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31E797-6976-8168-FB86-D76CAE0B03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0A4B5B-D559-523F-B522-1A0AC4F6B1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99865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63F507-A479-E3AD-828C-973CD96D6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5CEF33-78A6-462A-6673-D0EDBAB1EE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D80C0C-A527-1F35-14B0-21953A47CA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87C395-25FB-9114-6825-72F145E1FD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75085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F5A178-4547-74EE-C8EA-41AA2B7CA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DF47D0-5F81-B6BB-6221-334B796C6C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62AE21-1A12-B4A1-9D06-679DA20674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image was created using multiple images taken with the </a:t>
            </a:r>
            <a:r>
              <a:rPr lang="en-US" dirty="0" err="1"/>
              <a:t>JunoCam</a:t>
            </a:r>
            <a:r>
              <a:rPr lang="en-US" dirty="0"/>
              <a:t> on 3 separate orbits and then combined to show all areas in daylight. </a:t>
            </a:r>
          </a:p>
          <a:p>
            <a:r>
              <a:rPr lang="en-US" dirty="0"/>
              <a:t>Call back to the 5</a:t>
            </a:r>
            <a:r>
              <a:rPr lang="en-US" baseline="30000" dirty="0"/>
              <a:t>th</a:t>
            </a:r>
            <a:r>
              <a:rPr lang="en-US" dirty="0"/>
              <a:t> slide were Displacement damage effects optoelectronics and semiconductors.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F0D0B9-B322-D829-3E85-91EC38A4CE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91895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B99B4-E135-8112-840C-22E0B1F12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A258BB-C877-53EE-05A0-6D13030752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EC8589-6D28-F64A-361E-44D97BE71D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22BD9C-D682-A884-39F6-E2E314965D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37070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5F8261-BC5F-0BAE-7268-8861D0B61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1380BC-CE67-DACB-0D71-D5EA24A9E3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FFF76E-65B3-E815-8B5E-0463EAE2AA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Conclusion: This one issue gave us </a:t>
            </a:r>
            <a:r>
              <a:rPr lang="en-US"/>
              <a:t>some insight in </a:t>
            </a:r>
            <a:r>
              <a:rPr lang="en-US" dirty="0"/>
              <a:t>how to maintain in spacecrafts high radiation environment. </a:t>
            </a:r>
          </a:p>
          <a:p>
            <a:r>
              <a:rPr lang="en-US" dirty="0"/>
              <a:t>So that’s its for my presentation, hoped you learned something. Thanks.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A280F2-BC0F-16AE-5E52-8A72B9682C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46648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304799"/>
            <a:ext cx="12191998" cy="3215641"/>
          </a:xfrm>
        </p:spPr>
        <p:txBody>
          <a:bodyPr lIns="0" rIns="0" bIns="0" anchor="b" anchorCtr="0">
            <a:noAutofit/>
          </a:bodyPr>
          <a:lstStyle>
            <a:lvl1pPr algn="ctr">
              <a:defRPr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58B9CAE2-F3DD-D6D3-96C8-D947A41177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" y="3670628"/>
            <a:ext cx="12191997" cy="2577772"/>
          </a:xfrm>
        </p:spPr>
        <p:txBody>
          <a:bodyPr>
            <a:noAutofit/>
          </a:bodyPr>
          <a:lstStyle>
            <a:lvl1pPr marL="0" indent="0" algn="ctr">
              <a:buNone/>
              <a:defRPr sz="3200" b="0" i="0" cap="all" spc="600" baseline="0">
                <a:solidFill>
                  <a:schemeClr val="accent3"/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41193215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" y="1821180"/>
            <a:ext cx="12191994" cy="3215641"/>
          </a:xfrm>
        </p:spPr>
        <p:txBody>
          <a:bodyPr lIns="0" rIns="0" bIns="0" anchor="ctr" anchorCtr="0">
            <a:noAutofit/>
          </a:bodyPr>
          <a:lstStyle>
            <a:lvl1pPr algn="ctr">
              <a:defRPr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6350451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A084D09-1B2D-4EE2-82A7-83196133B8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6350"/>
            <a:ext cx="12185769" cy="6864350"/>
            <a:chOff x="0" y="-6350"/>
            <a:chExt cx="12185769" cy="6864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3860AA6-1B14-DF89-B725-CC444E5020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-6350"/>
              <a:ext cx="6160393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6" name="Content Placeholder 14">
              <a:extLst>
                <a:ext uri="{FF2B5EF4-FFF2-40B4-BE49-F238E27FC236}">
                  <a16:creationId xmlns:a16="http://schemas.microsoft.com/office/drawing/2014/main" id="{D172E570-D67F-4980-88C2-CF6560C1C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5400000">
              <a:off x="5750267" y="410125"/>
              <a:ext cx="6845628" cy="6025377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F90BF68-CF26-6705-CBFD-428BEB787EDB}"/>
                </a:ext>
              </a:extLst>
            </p:cNvPr>
            <p:cNvGrpSpPr/>
            <p:nvPr/>
          </p:nvGrpSpPr>
          <p:grpSpPr>
            <a:xfrm rot="10800000">
              <a:off x="5304704" y="259572"/>
              <a:ext cx="584267" cy="390181"/>
              <a:chOff x="1876516" y="596691"/>
              <a:chExt cx="584267" cy="390181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1066F635-8DB9-B091-8467-D8F0327217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876516" y="842493"/>
                <a:ext cx="144379" cy="144379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9" name="Graphic 12">
                <a:extLst>
                  <a:ext uri="{FF2B5EF4-FFF2-40B4-BE49-F238E27FC236}">
                    <a16:creationId xmlns:a16="http://schemas.microsoft.com/office/drawing/2014/main" id="{882D2FD3-A05B-400C-6347-115486FFD94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360199" y="596691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60459F4-C5B9-4070-46D1-2E7DA3EFB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4466502" cy="1936866"/>
          </a:xfrm>
        </p:spPr>
        <p:txBody>
          <a:bodyPr anchor="b"/>
          <a:lstStyle>
            <a:lvl1pPr>
              <a:defRPr sz="3200" cap="all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4F613B1-323C-4C25-4526-1D3313A716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20500"/>
            <a:ext cx="4471665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2D2C2143-1936-BBDA-A6A8-40B6DBD16AE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38201" y="3097848"/>
            <a:ext cx="4466504" cy="3405187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090407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EB5B81B-FCE8-FE9C-8F0A-6488B25F0F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1869" y="579120"/>
            <a:ext cx="11548261" cy="2733306"/>
          </a:xfrm>
        </p:spPr>
        <p:txBody>
          <a:bodyPr anchor="b">
            <a:noAutofit/>
          </a:bodyPr>
          <a:lstStyle>
            <a:lvl1pPr algn="ctr">
              <a:defRPr sz="3200" cap="all" spc="3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5F877C2F-8190-18D9-5D24-5BD7B05A29F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1868" y="3484615"/>
            <a:ext cx="11562303" cy="2387865"/>
          </a:xfrm>
        </p:spPr>
        <p:txBody>
          <a:bodyPr>
            <a:noAutofit/>
          </a:bodyPr>
          <a:lstStyle>
            <a:lvl1pPr marL="0" indent="0" algn="ctr">
              <a:buNone/>
              <a:defRPr sz="6000" b="0" i="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86590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gradFill>
          <a:gsLst>
            <a:gs pos="100000">
              <a:schemeClr val="tx2"/>
            </a:gs>
            <a:gs pos="79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664209F-41AB-70E5-1B9E-7490900C59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" y="1"/>
            <a:ext cx="12191997" cy="6857998"/>
          </a:xfrm>
          <a:prstGeom prst="rect">
            <a:avLst/>
          </a:prstGeom>
          <a:gradFill flip="none" rotWithShape="1">
            <a:gsLst>
              <a:gs pos="0">
                <a:srgbClr val="1A012C"/>
              </a:gs>
              <a:gs pos="45000">
                <a:srgbClr val="1A012C">
                  <a:alpha val="50000"/>
                </a:srgbClr>
              </a:gs>
              <a:gs pos="100000">
                <a:schemeClr val="accent6">
                  <a:lumMod val="50000"/>
                  <a:alpha val="5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2D3409-585B-54E2-1DCC-AC58804E4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6350"/>
            <a:ext cx="6096000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9891" y="511762"/>
            <a:ext cx="4960830" cy="2785158"/>
          </a:xfrm>
        </p:spPr>
        <p:txBody>
          <a:bodyPr anchor="b">
            <a:noAutofit/>
          </a:bodyPr>
          <a:lstStyle>
            <a:lvl1pPr algn="l">
              <a:defRPr sz="2400" cap="all" spc="3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E47B8A5C-E279-DB0B-E9D3-92741787612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02640" y="3484615"/>
            <a:ext cx="4958081" cy="2387865"/>
          </a:xfrm>
        </p:spPr>
        <p:txBody>
          <a:bodyPr>
            <a:noAutofit/>
          </a:bodyPr>
          <a:lstStyle>
            <a:lvl1pPr marL="0" indent="0" algn="l">
              <a:buNone/>
              <a:defRPr sz="3200" b="0" i="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386C402-C5C5-2A54-C618-62673AD93CB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97638" y="336550"/>
            <a:ext cx="5322887" cy="6184900"/>
          </a:xfrm>
        </p:spPr>
        <p:txBody>
          <a:bodyPr/>
          <a:lstStyle>
            <a:lvl1pPr algn="ctr"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218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2 column">
    <p:bg>
      <p:bgPr>
        <a:gradFill>
          <a:gsLst>
            <a:gs pos="100000">
              <a:schemeClr val="tx2"/>
            </a:gs>
            <a:gs pos="79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14">
            <a:extLst>
              <a:ext uri="{FF2B5EF4-FFF2-40B4-BE49-F238E27FC236}">
                <a16:creationId xmlns:a16="http://schemas.microsoft.com/office/drawing/2014/main" id="{318CE367-BBCB-F4AB-635F-4C9995EAE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6350"/>
            <a:ext cx="2356339" cy="685386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CE3FBBA-81E2-31F1-EF51-02706B5B5C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356339" y="-6350"/>
            <a:ext cx="9831801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AD3746D-3CD1-FFA5-0019-AD0C588B19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305669" y="2002443"/>
            <a:ext cx="7922116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05669" y="113097"/>
            <a:ext cx="7420819" cy="1656304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B9624CF4-7769-4663-3361-39136F5E20C8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3305669" y="2470150"/>
            <a:ext cx="7420819" cy="3676649"/>
          </a:xfrm>
        </p:spPr>
        <p:txBody>
          <a:bodyPr/>
          <a:lstStyle>
            <a:lvl1pPr marL="2857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+mn-lt"/>
              </a:defRPr>
            </a:lvl1pPr>
            <a:lvl2pPr marL="8001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  <a:latin typeface="+mn-lt"/>
              </a:defRPr>
            </a:lvl2pPr>
            <a:lvl3pPr marL="12573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  <a:latin typeface="+mn-lt"/>
              </a:defRPr>
            </a:lvl3pPr>
            <a:lvl4pPr marL="16573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+mn-lt"/>
              </a:defRPr>
            </a:lvl4pPr>
            <a:lvl5pPr marL="21145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80267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361F2FA-20C7-5447-C138-CE2CA186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" y="2"/>
            <a:ext cx="12191997" cy="6857998"/>
            <a:chOff x="3" y="2"/>
            <a:chExt cx="12191997" cy="6857998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FEDD626-82E4-71C6-25F1-CDA46B7B3F39}"/>
                </a:ext>
              </a:extLst>
            </p:cNvPr>
            <p:cNvSpPr/>
            <p:nvPr/>
          </p:nvSpPr>
          <p:spPr>
            <a:xfrm>
              <a:off x="3" y="2"/>
              <a:ext cx="12191997" cy="6857998"/>
            </a:xfrm>
            <a:prstGeom prst="rect">
              <a:avLst/>
            </a:prstGeom>
            <a:gradFill flip="none" rotWithShape="1">
              <a:gsLst>
                <a:gs pos="0">
                  <a:srgbClr val="1A012C"/>
                </a:gs>
                <a:gs pos="45000">
                  <a:srgbClr val="1A012C">
                    <a:alpha val="50000"/>
                  </a:srgbClr>
                </a:gs>
                <a:gs pos="100000">
                  <a:schemeClr val="accent6">
                    <a:lumMod val="5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CDC952AF-CE06-54F7-CB4A-1722F90AC3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" y="2"/>
              <a:ext cx="12191994" cy="6857996"/>
            </a:xfrm>
            <a:prstGeom prst="rect">
              <a:avLst/>
            </a:prstGeom>
          </p:spPr>
        </p:pic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E6EDFF3-843B-AAE9-DB73-423142606F52}"/>
                </a:ext>
              </a:extLst>
            </p:cNvPr>
            <p:cNvGrpSpPr/>
            <p:nvPr/>
          </p:nvGrpSpPr>
          <p:grpSpPr>
            <a:xfrm rot="5400000">
              <a:off x="1645776" y="1222395"/>
              <a:ext cx="431603" cy="412684"/>
              <a:chOff x="1870859" y="869908"/>
              <a:chExt cx="431603" cy="412684"/>
            </a:xfrm>
          </p:grpSpPr>
          <p:sp>
            <p:nvSpPr>
              <p:cNvPr id="12" name="Graphic 15">
                <a:extLst>
                  <a:ext uri="{FF2B5EF4-FFF2-40B4-BE49-F238E27FC236}">
                    <a16:creationId xmlns:a16="http://schemas.microsoft.com/office/drawing/2014/main" id="{312F4F85-6C79-201D-E20D-64CD4728E4C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3" name="Graphic 12">
                <a:extLst>
                  <a:ext uri="{FF2B5EF4-FFF2-40B4-BE49-F238E27FC236}">
                    <a16:creationId xmlns:a16="http://schemas.microsoft.com/office/drawing/2014/main" id="{01D71DAD-ECC6-A850-88E4-A4EDCF494A2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632CC6D-6024-2368-8EBA-4B7A2D6428BC}"/>
                </a:ext>
              </a:extLst>
            </p:cNvPr>
            <p:cNvGrpSpPr/>
            <p:nvPr/>
          </p:nvGrpSpPr>
          <p:grpSpPr>
            <a:xfrm rot="20626702">
              <a:off x="10248169" y="5448942"/>
              <a:ext cx="431603" cy="412684"/>
              <a:chOff x="1870859" y="869908"/>
              <a:chExt cx="431603" cy="412684"/>
            </a:xfrm>
          </p:grpSpPr>
          <p:sp>
            <p:nvSpPr>
              <p:cNvPr id="6" name="Graphic 15">
                <a:extLst>
                  <a:ext uri="{FF2B5EF4-FFF2-40B4-BE49-F238E27FC236}">
                    <a16:creationId xmlns:a16="http://schemas.microsoft.com/office/drawing/2014/main" id="{B05BE7BE-7D54-A09B-8A67-6B28CF6BB6C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7" name="Graphic 12">
                <a:extLst>
                  <a:ext uri="{FF2B5EF4-FFF2-40B4-BE49-F238E27FC236}">
                    <a16:creationId xmlns:a16="http://schemas.microsoft.com/office/drawing/2014/main" id="{258346A9-F75C-6704-EEED-CF7A8A0F801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82CC39D-03B1-4933-F236-462B5862E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2448" y="264160"/>
            <a:ext cx="6327105" cy="3373973"/>
          </a:xfrm>
        </p:spPr>
        <p:txBody>
          <a:bodyPr anchor="b"/>
          <a:lstStyle>
            <a:lvl1pPr algn="ctr">
              <a:defRPr sz="3200" cap="all" spc="6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711CA51-49DC-62CA-F147-F286B1C9DBD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932448" y="3962135"/>
            <a:ext cx="6327105" cy="2653771"/>
          </a:xfrm>
        </p:spPr>
        <p:txBody>
          <a:bodyPr>
            <a:noAutofit/>
          </a:bodyPr>
          <a:lstStyle>
            <a:lvl1pPr marL="0" indent="0" algn="ctr">
              <a:buNone/>
              <a:defRPr sz="1800" b="0" i="0" cap="all" spc="300" baseline="0">
                <a:solidFill>
                  <a:schemeClr val="bg1"/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1183414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C7D5518-914C-92E3-E9EC-26752C9F0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" y="-6350"/>
            <a:ext cx="12192000" cy="6864350"/>
            <a:chOff x="-1" y="-6350"/>
            <a:chExt cx="12192000" cy="6864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82D0B82-F74C-65EF-3BF6-8EEA16F36B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28750" y="-6350"/>
              <a:ext cx="10763249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6" name="Picture 5" descr="A blue and purple spiral&#10;&#10;Description automatically generated">
              <a:extLst>
                <a:ext uri="{FF2B5EF4-FFF2-40B4-BE49-F238E27FC236}">
                  <a16:creationId xmlns:a16="http://schemas.microsoft.com/office/drawing/2014/main" id="{44E12326-9CF4-38EC-1BAF-1F994F22089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-93"/>
            <a:stretch/>
          </p:blipFill>
          <p:spPr>
            <a:xfrm flipH="1">
              <a:off x="-1" y="0"/>
              <a:ext cx="1428751" cy="6858000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D5C1D9C-B114-FC6A-9213-7287D39EAD9F}"/>
                </a:ext>
              </a:extLst>
            </p:cNvPr>
            <p:cNvGrpSpPr/>
            <p:nvPr/>
          </p:nvGrpSpPr>
          <p:grpSpPr>
            <a:xfrm>
              <a:off x="10649689" y="4382998"/>
              <a:ext cx="754139" cy="1865729"/>
              <a:chOff x="653351" y="2693558"/>
              <a:chExt cx="754139" cy="1865729"/>
            </a:xfrm>
          </p:grpSpPr>
          <p:sp>
            <p:nvSpPr>
              <p:cNvPr id="11" name="Graphic 15">
                <a:extLst>
                  <a:ext uri="{FF2B5EF4-FFF2-40B4-BE49-F238E27FC236}">
                    <a16:creationId xmlns:a16="http://schemas.microsoft.com/office/drawing/2014/main" id="{2BC89B10-C93E-8CE5-73B3-F6049168C3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098137" y="2693558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2" name="Graphic 12">
                <a:extLst>
                  <a:ext uri="{FF2B5EF4-FFF2-40B4-BE49-F238E27FC236}">
                    <a16:creationId xmlns:a16="http://schemas.microsoft.com/office/drawing/2014/main" id="{39DB2AA2-9661-AC91-932D-2F1BEC47BD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306906" y="3837599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3" name="Graphic 12">
                <a:extLst>
                  <a:ext uri="{FF2B5EF4-FFF2-40B4-BE49-F238E27FC236}">
                    <a16:creationId xmlns:a16="http://schemas.microsoft.com/office/drawing/2014/main" id="{86C9AC9B-3792-E880-03FE-D46FB046AB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653351" y="4521502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142A133-65D6-D958-C0CD-E8D45B9BD7BB}"/>
                </a:ext>
              </a:extLst>
            </p:cNvPr>
            <p:cNvGrpSpPr/>
            <p:nvPr/>
          </p:nvGrpSpPr>
          <p:grpSpPr>
            <a:xfrm>
              <a:off x="1870859" y="869908"/>
              <a:ext cx="431603" cy="412684"/>
              <a:chOff x="1870859" y="869908"/>
              <a:chExt cx="431603" cy="412684"/>
            </a:xfrm>
          </p:grpSpPr>
          <p:sp>
            <p:nvSpPr>
              <p:cNvPr id="9" name="Graphic 15">
                <a:extLst>
                  <a:ext uri="{FF2B5EF4-FFF2-40B4-BE49-F238E27FC236}">
                    <a16:creationId xmlns:a16="http://schemas.microsoft.com/office/drawing/2014/main" id="{A746B023-387D-4EAC-052B-60F131E6E7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0" name="Graphic 12">
                <a:extLst>
                  <a:ext uri="{FF2B5EF4-FFF2-40B4-BE49-F238E27FC236}">
                    <a16:creationId xmlns:a16="http://schemas.microsoft.com/office/drawing/2014/main" id="{20760125-21CF-A296-3EA7-3C6C0E9BCB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F851D11-41E3-33F2-CBA6-B2A9A5A2A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369139" y="2002443"/>
            <a:ext cx="88735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99620" y="162560"/>
            <a:ext cx="8843050" cy="1616904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2373002" y="2474811"/>
            <a:ext cx="4015098" cy="35283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1" name="Content Placeholder 4">
            <a:extLst>
              <a:ext uri="{FF2B5EF4-FFF2-40B4-BE49-F238E27FC236}">
                <a16:creationId xmlns:a16="http://schemas.microsoft.com/office/drawing/2014/main" id="{D77F99A7-26FA-422E-43E9-C76B4A56E44A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995159" y="2474811"/>
            <a:ext cx="4227332" cy="35283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5828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3A7247A-846A-F316-B494-69B42CBF34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84B3AF6-983E-0901-0045-6CDF4E93E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3C5B7647-403E-A66E-6CF4-0D3A99AA5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 flipH="1">
            <a:off x="10488530" y="4210019"/>
            <a:ext cx="754139" cy="1865729"/>
            <a:chOff x="653351" y="2693558"/>
            <a:chExt cx="754139" cy="1865729"/>
          </a:xfrm>
        </p:grpSpPr>
        <p:sp>
          <p:nvSpPr>
            <p:cNvPr id="10" name="Graphic 15">
              <a:extLst>
                <a:ext uri="{FF2B5EF4-FFF2-40B4-BE49-F238E27FC236}">
                  <a16:creationId xmlns:a16="http://schemas.microsoft.com/office/drawing/2014/main" id="{E48E731E-FEF1-9C59-64B0-9CB6E88539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98137" y="2693558"/>
              <a:ext cx="128016" cy="128016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610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Graphic 12">
              <a:extLst>
                <a:ext uri="{FF2B5EF4-FFF2-40B4-BE49-F238E27FC236}">
                  <a16:creationId xmlns:a16="http://schemas.microsoft.com/office/drawing/2014/main" id="{AFE83BB3-4D12-8E20-CA93-1834D7F0A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306906" y="3837599"/>
              <a:ext cx="100584" cy="100584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Graphic 12">
              <a:extLst>
                <a:ext uri="{FF2B5EF4-FFF2-40B4-BE49-F238E27FC236}">
                  <a16:creationId xmlns:a16="http://schemas.microsoft.com/office/drawing/2014/main" id="{3EB1D810-BC05-6C0E-0DE4-3604EBAADC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53351" y="4521502"/>
              <a:ext cx="45719" cy="37785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1680" y="430482"/>
            <a:ext cx="10500989" cy="132746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807038" y="2465539"/>
            <a:ext cx="3774587" cy="3723753"/>
          </a:xfrm>
        </p:spPr>
        <p:txBody>
          <a:bodyPr/>
          <a:lstStyle>
            <a:lvl1pPr marL="342900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62636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eriod"/>
              <a:defRPr sz="1800" spc="0">
                <a:solidFill>
                  <a:schemeClr val="bg1"/>
                </a:solidFill>
                <a:latin typeface="+mn-lt"/>
              </a:defRPr>
            </a:lvl2pPr>
            <a:lvl3pPr marL="918972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arenR"/>
              <a:defRPr sz="1800" spc="0">
                <a:solidFill>
                  <a:schemeClr val="bg1"/>
                </a:solidFill>
                <a:latin typeface="+mn-lt"/>
              </a:defRPr>
            </a:lvl3pPr>
            <a:lvl4pPr marL="120929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arenR"/>
              <a:defRPr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4927600" y="2465539"/>
            <a:ext cx="6315069" cy="3723753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62227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123B0D0-B01D-0BB0-6127-A878BE49D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39728" y="-6350"/>
            <a:ext cx="6154615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89627" y="173736"/>
            <a:ext cx="4352662" cy="220370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C363351-4779-B42E-ED7A-C4AF2920BABC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336550" y="336550"/>
            <a:ext cx="5303640" cy="6184900"/>
          </a:xfrm>
        </p:spPr>
        <p:txBody>
          <a:bodyPr/>
          <a:lstStyle>
            <a:lvl1pPr algn="ctr"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889627" y="3104277"/>
            <a:ext cx="4371560" cy="3022201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921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2pPr>
            <a:lvl3pPr marL="861822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3pPr>
            <a:lvl4pPr marL="115214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0712911-615E-724B-FC0F-996291526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89627" y="2679480"/>
            <a:ext cx="4352662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3082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FFF0E2-6B47-67EB-D6AA-D972E7B7C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6350"/>
            <a:ext cx="4646951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4827F6F-999F-23E9-8C09-325D1A76B0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80134"/>
            <a:ext cx="3114078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370" y="171396"/>
            <a:ext cx="3736630" cy="2202350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41716" y="3078480"/>
            <a:ext cx="3108193" cy="30479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921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2pPr>
            <a:lvl3pPr marL="861822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3pPr>
            <a:lvl4pPr marL="115214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2" name="Table Placeholder 11">
            <a:extLst>
              <a:ext uri="{FF2B5EF4-FFF2-40B4-BE49-F238E27FC236}">
                <a16:creationId xmlns:a16="http://schemas.microsoft.com/office/drawing/2014/main" id="{D360C16C-E69B-FDEF-F033-CA9A2E238288}"/>
              </a:ext>
            </a:extLst>
          </p:cNvPr>
          <p:cNvSpPr>
            <a:spLocks noGrp="1"/>
          </p:cNvSpPr>
          <p:nvPr>
            <p:ph type="tbl" sz="quarter" idx="37"/>
          </p:nvPr>
        </p:nvSpPr>
        <p:spPr>
          <a:xfrm>
            <a:off x="5067300" y="404813"/>
            <a:ext cx="6705600" cy="6048375"/>
          </a:xfrm>
        </p:spPr>
        <p:txBody>
          <a:bodyPr/>
          <a:lstStyle>
            <a:lvl1pPr>
              <a:defRPr sz="2400">
                <a:latin typeface="+mn-lt"/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39072198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196A82D-0723-4BA3-0283-9F0D67B0C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A20A5FD-BDFB-45F2-E644-E93FB81CA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416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3562" y="433906"/>
            <a:ext cx="10515601" cy="132746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14302" y="2465535"/>
            <a:ext cx="7303538" cy="3427265"/>
          </a:xfrm>
        </p:spPr>
        <p:txBody>
          <a:bodyPr/>
          <a:lstStyle>
            <a:lvl1pPr marL="283464" indent="-283464"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6928" indent="-28346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2pPr>
            <a:lvl3pPr marL="859536" indent="-28346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3pPr>
            <a:lvl4pPr marL="115214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E7FC75E-AA73-003E-D4E3-B1819886AF9C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8392160" y="2465388"/>
            <a:ext cx="2856865" cy="3427412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600">
                <a:solidFill>
                  <a:schemeClr val="bg1"/>
                </a:solidFill>
                <a:latin typeface="+mn-lt"/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bg1"/>
                </a:solidFill>
                <a:latin typeface="+mn-lt"/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/>
                </a:solidFill>
                <a:latin typeface="+mn-lt"/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56119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2D51531-1219-2E4B-DCE7-C6FD9D809F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EC02E56-87A4-158A-F0B0-DB8E9BE3A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91547"/>
            <a:ext cx="10546763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370" y="643842"/>
            <a:ext cx="10515601" cy="1140849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able Placeholder 9">
            <a:extLst>
              <a:ext uri="{FF2B5EF4-FFF2-40B4-BE49-F238E27FC236}">
                <a16:creationId xmlns:a16="http://schemas.microsoft.com/office/drawing/2014/main" id="{471D7DE3-05F5-8052-02FA-6EF9717E15BE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835025" y="2560638"/>
            <a:ext cx="10515600" cy="3478212"/>
          </a:xfrm>
        </p:spPr>
        <p:txBody>
          <a:bodyPr/>
          <a:lstStyle>
            <a:lvl1pPr>
              <a:defRPr sz="2400">
                <a:latin typeface="+mn-lt"/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468DE94-FC46-A848-7949-ABFEADADEA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4591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gradFill>
          <a:gsLst>
            <a:gs pos="81987">
              <a:schemeClr val="accent6">
                <a:lumMod val="50000"/>
              </a:schemeClr>
            </a:gs>
            <a:gs pos="35040">
              <a:srgbClr val="020B11"/>
            </a:gs>
            <a:gs pos="11979">
              <a:schemeClr val="accent4">
                <a:lumMod val="50000"/>
              </a:schemeClr>
            </a:gs>
            <a:gs pos="0">
              <a:schemeClr val="accent4"/>
            </a:gs>
            <a:gs pos="99000">
              <a:schemeClr val="tx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289F5C3D-E9E6-75E0-BF7D-799B5CFE5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575462" y="4137"/>
            <a:ext cx="7616537" cy="6853863"/>
            <a:chOff x="4575462" y="4137"/>
            <a:chExt cx="7616537" cy="6853863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CDE1D2C2-40C4-6B80-E8C6-B4CE94C23037}"/>
                </a:ext>
              </a:extLst>
            </p:cNvPr>
            <p:cNvGrpSpPr/>
            <p:nvPr/>
          </p:nvGrpSpPr>
          <p:grpSpPr>
            <a:xfrm>
              <a:off x="4575462" y="691665"/>
              <a:ext cx="364018" cy="857035"/>
              <a:chOff x="468157" y="1144246"/>
              <a:chExt cx="364018" cy="857035"/>
            </a:xfrm>
          </p:grpSpPr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7C904D88-E1BE-F1FA-D405-F55DA966DA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705405" y="1144246"/>
                <a:ext cx="126770" cy="126770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Graphic 12">
                <a:extLst>
                  <a:ext uri="{FF2B5EF4-FFF2-40B4-BE49-F238E27FC236}">
                    <a16:creationId xmlns:a16="http://schemas.microsoft.com/office/drawing/2014/main" id="{1D8F0816-C429-D32E-058B-33405874DFA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468157" y="1963496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pic>
          <p:nvPicPr>
            <p:cNvPr id="4" name="Content Placeholder 14">
              <a:extLst>
                <a:ext uri="{FF2B5EF4-FFF2-40B4-BE49-F238E27FC236}">
                  <a16:creationId xmlns:a16="http://schemas.microsoft.com/office/drawing/2014/main" id="{14AC0A97-7D79-3DBE-FB53-A9EBFD806E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542796" y="4137"/>
              <a:ext cx="5649203" cy="6853863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1E83F98-B388-2594-BACB-E3DB652C9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831" y="173735"/>
            <a:ext cx="4409514" cy="2203704"/>
          </a:xfrm>
        </p:spPr>
        <p:txBody>
          <a:bodyPr anchor="b">
            <a:noAutofit/>
          </a:bodyPr>
          <a:lstStyle>
            <a:lvl1pPr>
              <a:defRPr sz="3200" cap="all" baseline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D9D0F3E-69D8-49F3-5D7A-71FDC4E3EEE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31850" y="3079119"/>
            <a:ext cx="4413250" cy="2752725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defRPr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1CFC792-44F7-2497-E19D-8FB08AFF9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79192"/>
            <a:ext cx="4101929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82607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/>
            </a:gs>
            <a:gs pos="99000">
              <a:srgbClr val="05202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3EA418-19D1-0D4D-BE52-40A86E32F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2BAE0C-5187-A64D-A481-E692456703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759C05-48F5-9346-8256-5B61C6990E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175D63-7351-9C4A-AEE0-10E27B3B64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0889F-2BBA-5F45-95BC-BEA6688167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693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79" r:id="rId2"/>
    <p:sldLayoutId id="2147483669" r:id="rId3"/>
    <p:sldLayoutId id="2147483672" r:id="rId4"/>
    <p:sldLayoutId id="2147483673" r:id="rId5"/>
    <p:sldLayoutId id="2147483674" r:id="rId6"/>
    <p:sldLayoutId id="2147483671" r:id="rId7"/>
    <p:sldLayoutId id="2147483675" r:id="rId8"/>
    <p:sldLayoutId id="2147483676" r:id="rId9"/>
    <p:sldLayoutId id="2147483670" r:id="rId10"/>
    <p:sldLayoutId id="2147483677" r:id="rId11"/>
    <p:sldLayoutId id="2147483678" r:id="rId12"/>
    <p:sldLayoutId id="2147483664" r:id="rId13"/>
    <p:sldLayoutId id="2147483663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300" baseline="0">
          <a:solidFill>
            <a:schemeClr val="bg1"/>
          </a:solidFill>
          <a:latin typeface="+mj-lt"/>
          <a:ea typeface="+mj-ea"/>
          <a:cs typeface="Biome" panose="020B05030302040208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accent3"/>
          </a:solidFill>
          <a:latin typeface="+mj-lt"/>
          <a:ea typeface="+mn-ea"/>
          <a:cs typeface="Biome" panose="020B0503030204020804" pitchFamily="34" charset="0"/>
        </a:defRPr>
      </a:lvl1pPr>
      <a:lvl2pPr marL="8001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2573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573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1145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nasa.gov/missions/juno/nasa-shares-how-to-save-camera-370-million-miles-away-near-jupiter/" TargetMode="External"/><Relationship Id="rId3" Type="http://schemas.openxmlformats.org/officeDocument/2006/relationships/hyperlink" Target="https://ieeexplore.ieee.org/document/8692760" TargetMode="External"/><Relationship Id="rId7" Type="http://schemas.openxmlformats.org/officeDocument/2006/relationships/hyperlink" Target="https://www.nasa.gov/news-release/nasas-juno-spacecraft-to-risk-jupiters-fireworks-for-science/" TargetMode="External"/><Relationship Id="rId2" Type="http://schemas.openxmlformats.org/officeDocument/2006/relationships/hyperlink" Target="https://www.sciencedirect.com/science/article/pii/S0273117724003296" TargetMode="Externa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science.nasa.gov/gallery/junocam-images/" TargetMode="External"/><Relationship Id="rId5" Type="http://schemas.openxmlformats.org/officeDocument/2006/relationships/hyperlink" Target="https://www.nasa.gov/reference/jsc-radiation/" TargetMode="External"/><Relationship Id="rId4" Type="http://schemas.openxmlformats.org/officeDocument/2006/relationships/hyperlink" Target="https://srag.jsc.nasa.gov/spaceradiation/faq/faq.cf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997874EA-2F67-60CD-631F-5A787057F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04799"/>
            <a:ext cx="12191998" cy="3215641"/>
          </a:xfrm>
        </p:spPr>
        <p:txBody>
          <a:bodyPr anchor="b"/>
          <a:lstStyle/>
          <a:p>
            <a:r>
              <a:rPr lang="en-US" dirty="0"/>
              <a:t>Radiation in the space environment</a:t>
            </a:r>
            <a:br>
              <a:rPr lang="en-US" dirty="0"/>
            </a:br>
            <a:endParaRPr lang="en-US" dirty="0"/>
          </a:p>
        </p:txBody>
      </p:sp>
      <p:sp>
        <p:nvSpPr>
          <p:cNvPr id="9" name="Subtitle 3">
            <a:extLst>
              <a:ext uri="{FF2B5EF4-FFF2-40B4-BE49-F238E27FC236}">
                <a16:creationId xmlns:a16="http://schemas.microsoft.com/office/drawing/2014/main" id="{2981AB9E-AF0F-CAD0-2DD2-D640FB871E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" y="4145797"/>
            <a:ext cx="12191997" cy="2102603"/>
          </a:xfrm>
        </p:spPr>
        <p:txBody>
          <a:bodyPr/>
          <a:lstStyle/>
          <a:p>
            <a:r>
              <a:rPr lang="en-US" dirty="0"/>
              <a:t>SPCE 5065</a:t>
            </a:r>
          </a:p>
          <a:p>
            <a:r>
              <a:rPr lang="en-US" dirty="0"/>
              <a:t>Jason Ansley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EB10684-B5FB-E16F-3082-0005C9A3DFE0}"/>
              </a:ext>
            </a:extLst>
          </p:cNvPr>
          <p:cNvSpPr txBox="1">
            <a:spLocks/>
          </p:cNvSpPr>
          <p:nvPr/>
        </p:nvSpPr>
        <p:spPr>
          <a:xfrm>
            <a:off x="1542080" y="2898183"/>
            <a:ext cx="8725547" cy="984142"/>
          </a:xfrm>
          <a:prstGeom prst="rect">
            <a:avLst/>
          </a:prstGeom>
        </p:spPr>
        <p:txBody>
          <a:bodyPr vert="horz" lIns="0" tIns="45720" rIns="0" bIns="0" rtlCol="0" anchor="b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 cap="all" spc="300" baseline="0">
                <a:solidFill>
                  <a:schemeClr val="accent3">
                    <a:lumMod val="75000"/>
                  </a:schemeClr>
                </a:solidFill>
                <a:latin typeface="+mj-lt"/>
                <a:ea typeface="+mj-ea"/>
                <a:cs typeface="Biome" panose="020B0503030204020804" pitchFamily="34" charset="0"/>
              </a:defRPr>
            </a:lvl1pPr>
          </a:lstStyle>
          <a:p>
            <a:r>
              <a:rPr lang="en-US" sz="3200" dirty="0"/>
              <a:t>Radiation effects and the Juno Radiation Case Study</a:t>
            </a:r>
          </a:p>
        </p:txBody>
      </p:sp>
    </p:spTree>
    <p:extLst>
      <p:ext uri="{BB962C8B-B14F-4D97-AF65-F5344CB8AC3E}">
        <p14:creationId xmlns:p14="http://schemas.microsoft.com/office/powerpoint/2010/main" val="2498031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4E92D5-2365-9A39-A4CF-7D624D799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E8FA8-0D6A-F2A0-A4CB-51799428B6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562" y="433906"/>
            <a:ext cx="10515601" cy="1327464"/>
          </a:xfrm>
        </p:spPr>
        <p:txBody>
          <a:bodyPr/>
          <a:lstStyle/>
          <a:p>
            <a:r>
              <a:rPr lang="en-US" dirty="0"/>
              <a:t>Radiation in the Space environment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4FC459-CF17-1E94-5069-2FB499ACF975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804162" y="1999282"/>
            <a:ext cx="10749823" cy="3575804"/>
          </a:xfrm>
        </p:spPr>
        <p:txBody>
          <a:bodyPr/>
          <a:lstStyle/>
          <a:p>
            <a:r>
              <a:rPr lang="en-US" dirty="0"/>
              <a:t>Space contains high-energy ionizing radiation capable of penetrating spacecrafts and interacting with materials, electronics, and biological tissues [1].</a:t>
            </a:r>
          </a:p>
          <a:p>
            <a:pPr lvl="1"/>
            <a:r>
              <a:rPr lang="en-US" sz="1600" dirty="0"/>
              <a:t>Radiation can consist of energetic particles:</a:t>
            </a:r>
          </a:p>
          <a:p>
            <a:pPr lvl="2"/>
            <a:r>
              <a:rPr lang="en-US" sz="1600" dirty="0"/>
              <a:t>Protons, electrons, Neutrons, Heavy Ions</a:t>
            </a:r>
          </a:p>
          <a:p>
            <a:pPr lvl="1"/>
            <a:r>
              <a:rPr lang="en-US" sz="1600" dirty="0"/>
              <a:t>Or electromagnetic radiation:</a:t>
            </a:r>
          </a:p>
          <a:p>
            <a:pPr lvl="2"/>
            <a:r>
              <a:rPr lang="en-US" sz="1600" dirty="0"/>
              <a:t>X-rays, Gamma rays</a:t>
            </a:r>
          </a:p>
          <a:p>
            <a:r>
              <a:rPr lang="en-US" dirty="0"/>
              <a:t>Why is radiation a concern?</a:t>
            </a:r>
          </a:p>
          <a:p>
            <a:pPr lvl="1"/>
            <a:r>
              <a:rPr lang="en-US" sz="1600" dirty="0"/>
              <a:t>Ionization can alter atoms and molecules.</a:t>
            </a:r>
          </a:p>
          <a:p>
            <a:pPr lvl="1"/>
            <a:r>
              <a:rPr lang="en-US" sz="1600" dirty="0"/>
              <a:t>Energetic particles can displace atoms within materials.</a:t>
            </a:r>
          </a:p>
          <a:p>
            <a:pPr lvl="1"/>
            <a:r>
              <a:rPr lang="en-US" sz="1600" dirty="0"/>
              <a:t>These interaction can damage electronics, materials, and DNA [2].</a:t>
            </a:r>
          </a:p>
          <a:p>
            <a:r>
              <a:rPr lang="en-US" dirty="0"/>
              <a:t>Earth’s atmosphere and magnetic field provide significant protection on its surface. Spacecrafts beyond low Earth orbit lose much this protection.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09BAF7-000F-83BB-8C6C-53D303028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398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52627B-A04E-5C0A-B44A-223FC88D4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35ED2-AFBA-C13C-632B-BF9B0D663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562" y="433906"/>
            <a:ext cx="10515601" cy="1327464"/>
          </a:xfrm>
        </p:spPr>
        <p:txBody>
          <a:bodyPr/>
          <a:lstStyle/>
          <a:p>
            <a:r>
              <a:rPr lang="en-US" dirty="0"/>
              <a:t>Radiation measurements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E1351C-4652-617C-5AB7-2AA98677F61F}"/>
                  </a:ext>
                </a:extLst>
              </p:cNvPr>
              <p:cNvSpPr>
                <a:spLocks noGrp="1"/>
              </p:cNvSpPr>
              <p:nvPr>
                <p:ph sz="quarter" idx="36"/>
              </p:nvPr>
            </p:nvSpPr>
            <p:spPr>
              <a:xfrm>
                <a:off x="532942" y="1999281"/>
                <a:ext cx="11160529" cy="4226917"/>
              </a:xfrm>
            </p:spPr>
            <p:txBody>
              <a:bodyPr/>
              <a:lstStyle/>
              <a:p>
                <a:r>
                  <a:rPr lang="en-US" dirty="0"/>
                  <a:t>Absorbed Dose: Rad / Gray, 1 Gy = 1J /kg and 1 Gy = 100 rad</a:t>
                </a:r>
              </a:p>
              <a:p>
                <a:pPr lvl="1"/>
                <a:r>
                  <a:rPr lang="en-US" dirty="0"/>
                  <a:t>A rad or Gray tells you how much radiation energy was deposited, but not necessarily how biologically damaging it is. </a:t>
                </a:r>
              </a:p>
              <a:p>
                <a:r>
                  <a:rPr lang="en-US" dirty="0"/>
                  <a:t>Radiation Dose: Rem (roentgen equivalent man) / Sievert, 1 Sv = 100 rem. </a:t>
                </a:r>
              </a:p>
              <a:p>
                <a:pPr lvl="1"/>
                <a:r>
                  <a:rPr lang="en-US" dirty="0"/>
                  <a:t>Dose equivalent since different radiation types can have different biological effectiveness [4]</a:t>
                </a:r>
              </a:p>
              <a:p>
                <a:r>
                  <a:rPr lang="en-US" dirty="0"/>
                  <a:t>Flux: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𝑝𝑎𝑟𝑡𝑖𝑐𝑙𝑒𝑠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</m:oMath>
                </a14:m>
                <a:r>
                  <a:rPr lang="en-US" dirty="0"/>
                  <a:t> How rapidly particles pass through an area.</a:t>
                </a:r>
              </a:p>
              <a:p>
                <a:r>
                  <a:rPr lang="en-US" dirty="0"/>
                  <a:t>Fluence: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𝑝𝑎𝑟𝑡𝑖𝑐𝑙𝑒𝑠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dirty="0"/>
                  <a:t>  Total accumulated particle exposure.</a:t>
                </a:r>
              </a:p>
              <a:p>
                <a:pPr lvl="1"/>
                <a:endParaRPr lang="en-US" sz="1600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E1351C-4652-617C-5AB7-2AA98677F61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36"/>
              </p:nvPr>
            </p:nvSpPr>
            <p:spPr>
              <a:xfrm>
                <a:off x="532942" y="1999281"/>
                <a:ext cx="11160529" cy="4226917"/>
              </a:xfrm>
              <a:blipFill>
                <a:blip r:embed="rId3"/>
                <a:stretch>
                  <a:fillRect l="-328" t="-1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DB32E0-8018-553B-9892-D2C98ACBD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27914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E810E-8E37-1D8A-245B-020E4E4C0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562" y="433906"/>
            <a:ext cx="10515601" cy="1327464"/>
          </a:xfrm>
        </p:spPr>
        <p:txBody>
          <a:bodyPr anchor="b">
            <a:normAutofit/>
          </a:bodyPr>
          <a:lstStyle/>
          <a:p>
            <a:r>
              <a:rPr lang="en-US" dirty="0"/>
              <a:t>Where space radiation comes from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7CECA3-144C-CD4B-9246-81B4F2E65466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363591" y="2053526"/>
            <a:ext cx="12089297" cy="4277532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600" dirty="0"/>
              <a:t>Galactic Cosmic Rays (GCRs)</a:t>
            </a:r>
          </a:p>
          <a:p>
            <a:pPr lvl="1">
              <a:lnSpc>
                <a:spcPct val="110000"/>
              </a:lnSpc>
            </a:pPr>
            <a:r>
              <a:rPr lang="en-US" sz="1600" dirty="0"/>
              <a:t>Continuous background radiation and originates outside the solar system, such as remnants from supernova. </a:t>
            </a:r>
          </a:p>
          <a:p>
            <a:pPr lvl="1">
              <a:lnSpc>
                <a:spcPct val="110000"/>
              </a:lnSpc>
            </a:pPr>
            <a:r>
              <a:rPr lang="en-US" sz="1600" dirty="0"/>
              <a:t>Mostly high-energy protons and atomics nuclei which is difficult to completely shield against. </a:t>
            </a:r>
          </a:p>
          <a:p>
            <a:pPr lvl="1">
              <a:lnSpc>
                <a:spcPct val="110000"/>
              </a:lnSpc>
            </a:pPr>
            <a:endParaRPr lang="en-US" sz="13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1E69EA-A9E8-C521-7C62-DA1F24879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FE024F78-56A6-7740-B68D-8D4D026EDF3F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D425B51-F0B0-D0D2-C6DC-B7F449F606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200" y="3328861"/>
            <a:ext cx="5452161" cy="2082880"/>
          </a:xfrm>
          <a:prstGeom prst="rect">
            <a:avLst/>
          </a:prstGeom>
        </p:spPr>
      </p:pic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65FD6479-5AD7-DBD3-28C7-6A8D521208C7}"/>
              </a:ext>
            </a:extLst>
          </p:cNvPr>
          <p:cNvSpPr txBox="1">
            <a:spLocks/>
          </p:cNvSpPr>
          <p:nvPr/>
        </p:nvSpPr>
        <p:spPr>
          <a:xfrm>
            <a:off x="363591" y="3090942"/>
            <a:ext cx="6114701" cy="37670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83464" indent="-283464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 spc="0" baseline="0">
                <a:solidFill>
                  <a:schemeClr val="bg1"/>
                </a:solidFill>
                <a:latin typeface="+mn-lt"/>
                <a:ea typeface="+mn-ea"/>
                <a:cs typeface="Biome" panose="020B0503030204020804" pitchFamily="34" charset="0"/>
              </a:defRPr>
            </a:lvl1pPr>
            <a:lvl2pPr marL="566928" indent="-283464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 spc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859536" indent="-283464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 spc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152144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 spc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1145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en-US" sz="1600" dirty="0"/>
              <a:t>Solar Energetic Particles (SEP)</a:t>
            </a:r>
          </a:p>
          <a:p>
            <a:pPr lvl="1">
              <a:lnSpc>
                <a:spcPct val="110000"/>
              </a:lnSpc>
            </a:pPr>
            <a:r>
              <a:rPr lang="en-US" sz="1600" dirty="0"/>
              <a:t>Produced during solar activity such as solar flares and coronal mass ejections. </a:t>
            </a:r>
          </a:p>
          <a:p>
            <a:pPr lvl="1">
              <a:lnSpc>
                <a:spcPct val="110000"/>
              </a:lnSpc>
            </a:pPr>
            <a:r>
              <a:rPr lang="en-US" sz="1600" dirty="0"/>
              <a:t>Primarily energetic protons, with electrons and heavier ions</a:t>
            </a:r>
          </a:p>
          <a:p>
            <a:pPr lvl="1">
              <a:lnSpc>
                <a:spcPct val="110000"/>
              </a:lnSpc>
            </a:pPr>
            <a:r>
              <a:rPr lang="en-US" sz="1600" dirty="0"/>
              <a:t>Short duration, but radiation levels can rise rapidly during a major event.</a:t>
            </a:r>
          </a:p>
          <a:p>
            <a:pPr>
              <a:lnSpc>
                <a:spcPct val="110000"/>
              </a:lnSpc>
            </a:pPr>
            <a:r>
              <a:rPr lang="en-US" sz="1600" dirty="0"/>
              <a:t>Trapped Radiation</a:t>
            </a:r>
          </a:p>
          <a:p>
            <a:pPr lvl="1">
              <a:lnSpc>
                <a:spcPct val="110000"/>
              </a:lnSpc>
            </a:pPr>
            <a:r>
              <a:rPr lang="en-US" sz="1600" dirty="0"/>
              <a:t>Charged particles trapped by planetary magnetic fields</a:t>
            </a:r>
          </a:p>
          <a:p>
            <a:pPr lvl="1">
              <a:lnSpc>
                <a:spcPct val="110000"/>
              </a:lnSpc>
            </a:pPr>
            <a:r>
              <a:rPr lang="en-US" sz="1600" dirty="0"/>
              <a:t>Earth’s Van Allen Belts contain energetic electrons and protons</a:t>
            </a:r>
          </a:p>
          <a:p>
            <a:pPr lvl="1">
              <a:lnSpc>
                <a:spcPct val="110000"/>
              </a:lnSpc>
            </a:pPr>
            <a:r>
              <a:rPr lang="en-US" sz="1600" dirty="0"/>
              <a:t>Radiation exposure depends on the spacecraft’s orbit.</a:t>
            </a:r>
          </a:p>
          <a:p>
            <a:pPr lvl="1">
              <a:lnSpc>
                <a:spcPct val="110000"/>
              </a:lnSpc>
            </a:pPr>
            <a:endParaRPr lang="en-US" sz="13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C55D3EA-3FBD-7DE0-1814-4EB934A38FFD}"/>
              </a:ext>
            </a:extLst>
          </p:cNvPr>
          <p:cNvSpPr txBox="1"/>
          <p:nvPr/>
        </p:nvSpPr>
        <p:spPr>
          <a:xfrm>
            <a:off x="11506786" y="5411741"/>
            <a:ext cx="422575" cy="34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sz="1600" dirty="0">
                <a:solidFill>
                  <a:schemeClr val="bg1"/>
                </a:solidFill>
              </a:rPr>
              <a:t>[3]</a:t>
            </a:r>
          </a:p>
        </p:txBody>
      </p:sp>
    </p:spTree>
    <p:extLst>
      <p:ext uri="{BB962C8B-B14F-4D97-AF65-F5344CB8AC3E}">
        <p14:creationId xmlns:p14="http://schemas.microsoft.com/office/powerpoint/2010/main" val="796952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2A0CDD-0F44-619A-EEAD-13512F9C6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EB6FE-D67B-B212-5918-CF93B95E2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952" y="433906"/>
            <a:ext cx="10515601" cy="1327464"/>
          </a:xfrm>
        </p:spPr>
        <p:txBody>
          <a:bodyPr/>
          <a:lstStyle/>
          <a:p>
            <a:r>
              <a:rPr lang="en-US" dirty="0"/>
              <a:t> Radiation Effects on Electronics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573057-492E-4309-5C1F-7E64937FB486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557939" y="2022529"/>
            <a:ext cx="10768293" cy="3614549"/>
          </a:xfrm>
        </p:spPr>
        <p:txBody>
          <a:bodyPr/>
          <a:lstStyle/>
          <a:p>
            <a:r>
              <a:rPr lang="en-US" sz="1600" dirty="0"/>
              <a:t>NASA identifies Total ionizing Dose, Displacement Damage, and Single Event Effects as the major cases of radiation effects in spacecraft electronics [5]</a:t>
            </a:r>
          </a:p>
          <a:p>
            <a:pPr lvl="1"/>
            <a:r>
              <a:rPr lang="en-US" sz="1600" dirty="0"/>
              <a:t>Total ionizing Dose: TID</a:t>
            </a:r>
          </a:p>
          <a:p>
            <a:pPr lvl="2"/>
            <a:r>
              <a:rPr lang="en-US" sz="1600" dirty="0"/>
              <a:t>Total ionizing energy deposited over time.</a:t>
            </a:r>
          </a:p>
          <a:p>
            <a:pPr lvl="2"/>
            <a:r>
              <a:rPr lang="en-US" sz="1600" dirty="0"/>
              <a:t>Can cause threshold-voltage shifts, timing changes, and part degradation.</a:t>
            </a:r>
          </a:p>
          <a:p>
            <a:pPr lvl="1"/>
            <a:r>
              <a:rPr lang="en-US" sz="1600" dirty="0"/>
              <a:t>Displacement Damage: DD</a:t>
            </a:r>
          </a:p>
          <a:p>
            <a:pPr lvl="2"/>
            <a:r>
              <a:rPr lang="en-US" sz="1600" dirty="0"/>
              <a:t>A high energy particle collides with atoms in a material and moves them from their lattice positions.</a:t>
            </a:r>
          </a:p>
          <a:p>
            <a:pPr lvl="3"/>
            <a:r>
              <a:rPr lang="en-US" sz="1600" dirty="0"/>
              <a:t>Effects Solar cells, photodiodes, optoelectronics, and semiconductor. </a:t>
            </a:r>
          </a:p>
          <a:p>
            <a:pPr lvl="1"/>
            <a:r>
              <a:rPr lang="en-US" sz="1600" dirty="0"/>
              <a:t>Single Event Effects: SEE</a:t>
            </a:r>
          </a:p>
          <a:p>
            <a:pPr lvl="2"/>
            <a:r>
              <a:rPr lang="en-US" sz="1600" dirty="0"/>
              <a:t>Single Event Upsets: SEU</a:t>
            </a:r>
          </a:p>
          <a:p>
            <a:pPr lvl="3"/>
            <a:r>
              <a:rPr lang="en-US" sz="1600" dirty="0"/>
              <a:t>Can change a stored bit from a 1 to a 0 or vice versa (bit flip). </a:t>
            </a:r>
          </a:p>
          <a:p>
            <a:pPr lvl="2"/>
            <a:r>
              <a:rPr lang="en-US" sz="1600" dirty="0"/>
              <a:t>Single event Latch-up: SEL</a:t>
            </a:r>
          </a:p>
          <a:p>
            <a:pPr lvl="3"/>
            <a:r>
              <a:rPr lang="en-US" sz="1600" dirty="0"/>
              <a:t>Creates an unwanted current condition that can potentially damage a component. </a:t>
            </a:r>
          </a:p>
          <a:p>
            <a:pPr lvl="2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888323-0C58-99B0-E010-EBF86E3EE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6156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3F61A-1546-29D4-DA5C-0C06177F8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30455-2D70-2F7C-40EC-3096EC1A5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562" y="433906"/>
            <a:ext cx="10515601" cy="1327464"/>
          </a:xfrm>
        </p:spPr>
        <p:txBody>
          <a:bodyPr/>
          <a:lstStyle/>
          <a:p>
            <a:r>
              <a:rPr lang="en-US" dirty="0"/>
              <a:t>Electronics consideration for Radiation environment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83AA3F-D865-1449-FF6D-047CF4CFCC5E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804163" y="2225311"/>
            <a:ext cx="10966800" cy="4291726"/>
          </a:xfrm>
        </p:spPr>
        <p:txBody>
          <a:bodyPr/>
          <a:lstStyle/>
          <a:p>
            <a:r>
              <a:rPr lang="en-US" dirty="0"/>
              <a:t>Shield Sensitive Electronics</a:t>
            </a:r>
          </a:p>
          <a:p>
            <a:pPr lvl="1"/>
            <a:r>
              <a:rPr lang="en-US" dirty="0"/>
              <a:t>Place structures between sensitive electronics and the radiation environment to minimize dose and dose rate [1]. </a:t>
            </a:r>
          </a:p>
          <a:p>
            <a:r>
              <a:rPr lang="en-US" dirty="0"/>
              <a:t>Select Appropriate Components</a:t>
            </a:r>
          </a:p>
          <a:p>
            <a:pPr lvl="1"/>
            <a:r>
              <a:rPr lang="en-US" dirty="0"/>
              <a:t>Select Radiation Tolerant or Radiation Hardened electronics components.</a:t>
            </a:r>
          </a:p>
          <a:p>
            <a:r>
              <a:rPr lang="en-US" dirty="0"/>
              <a:t>Design for Errors</a:t>
            </a:r>
          </a:p>
          <a:p>
            <a:pPr lvl="1"/>
            <a:r>
              <a:rPr lang="en-US" dirty="0"/>
              <a:t>Redundancy</a:t>
            </a:r>
          </a:p>
          <a:p>
            <a:pPr lvl="1"/>
            <a:r>
              <a:rPr lang="en-US" dirty="0"/>
              <a:t>Automatic reset / Safe mode</a:t>
            </a:r>
          </a:p>
          <a:p>
            <a:pPr lvl="1"/>
            <a:r>
              <a:rPr lang="en-US" dirty="0"/>
              <a:t>Current Limiting</a:t>
            </a:r>
          </a:p>
          <a:p>
            <a:pPr lvl="1"/>
            <a:r>
              <a:rPr lang="en-US" dirty="0"/>
              <a:t>Recovery Algorithms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1E55FF-3E7D-E567-D8B4-EED0F5059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80349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E65491-12A4-B416-4570-A0BF76019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1BFE9-84E8-F3A5-919D-A405AB728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562" y="433906"/>
            <a:ext cx="10515601" cy="1327464"/>
          </a:xfrm>
        </p:spPr>
        <p:txBody>
          <a:bodyPr/>
          <a:lstStyle/>
          <a:p>
            <a:r>
              <a:rPr lang="en-US" dirty="0"/>
              <a:t>Jupiter's Radiation belts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139B19-20F8-21DC-2BEB-224DA02FC250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302218" y="2092273"/>
            <a:ext cx="6543274" cy="1738008"/>
          </a:xfrm>
        </p:spPr>
        <p:txBody>
          <a:bodyPr/>
          <a:lstStyle/>
          <a:p>
            <a:r>
              <a:rPr lang="en-US" sz="1600" dirty="0"/>
              <a:t>Jupiter also has strong magnetic field that traps a huge amount of energetic charged particles just like the Van Allen Radiation belts for Earth. </a:t>
            </a:r>
          </a:p>
          <a:p>
            <a:r>
              <a:rPr lang="en-US" sz="1600" dirty="0"/>
              <a:t>Graphs shows protons and electrons in Jupiter’s inner radiation belts.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F00324-D92A-DBDD-8798-363E9B3D4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B72AED5-B9DF-6D92-AB1C-745E29901B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655" y="3830281"/>
            <a:ext cx="6051266" cy="241940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23AE95E-D574-783C-5048-4DFF9FC3B5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2114" y="2092273"/>
            <a:ext cx="5020031" cy="336229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C8B2D8C-3E3B-B4A5-13B2-4DE067AD32CE}"/>
              </a:ext>
            </a:extLst>
          </p:cNvPr>
          <p:cNvSpPr txBox="1"/>
          <p:nvPr/>
        </p:nvSpPr>
        <p:spPr>
          <a:xfrm>
            <a:off x="6054046" y="6226198"/>
            <a:ext cx="422575" cy="34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sz="1600" dirty="0">
                <a:solidFill>
                  <a:schemeClr val="bg1"/>
                </a:solidFill>
              </a:rPr>
              <a:t>[3]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07B035A-4150-A78E-1E37-BA657DFCCB6A}"/>
              </a:ext>
            </a:extLst>
          </p:cNvPr>
          <p:cNvSpPr txBox="1"/>
          <p:nvPr/>
        </p:nvSpPr>
        <p:spPr>
          <a:xfrm>
            <a:off x="11200602" y="5396133"/>
            <a:ext cx="422575" cy="34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sz="1600" dirty="0">
                <a:solidFill>
                  <a:schemeClr val="bg1"/>
                </a:solidFill>
              </a:rPr>
              <a:t>[3]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8806C43B-F3C1-948D-5C4F-71690BCB9584}"/>
              </a:ext>
            </a:extLst>
          </p:cNvPr>
          <p:cNvSpPr txBox="1">
            <a:spLocks/>
          </p:cNvSpPr>
          <p:nvPr/>
        </p:nvSpPr>
        <p:spPr>
          <a:xfrm>
            <a:off x="6526328" y="5454570"/>
            <a:ext cx="4885561" cy="12331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83464" indent="-283464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 spc="0" baseline="0">
                <a:solidFill>
                  <a:schemeClr val="bg1"/>
                </a:solidFill>
                <a:latin typeface="+mn-lt"/>
                <a:ea typeface="+mn-ea"/>
                <a:cs typeface="Biome" panose="020B0503030204020804" pitchFamily="34" charset="0"/>
              </a:defRPr>
            </a:lvl1pPr>
            <a:lvl2pPr marL="566928" indent="-283464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 spc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859536" indent="-283464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 spc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152144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 spc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1145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/>
              <a:t>At Earth, the proton environment dominates at high energy. Compared to Jupiter, it is the high-energy electrons.</a:t>
            </a:r>
          </a:p>
        </p:txBody>
      </p:sp>
    </p:spTree>
    <p:extLst>
      <p:ext uri="{BB962C8B-B14F-4D97-AF65-F5344CB8AC3E}">
        <p14:creationId xmlns:p14="http://schemas.microsoft.com/office/powerpoint/2010/main" val="16950544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120D0A-5BF2-0859-C2E5-4DAD7A7C0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7A84A-A30E-AD47-DDDF-4E3467265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562" y="433906"/>
            <a:ext cx="10515601" cy="1327464"/>
          </a:xfrm>
        </p:spPr>
        <p:txBody>
          <a:bodyPr/>
          <a:lstStyle/>
          <a:p>
            <a:r>
              <a:rPr lang="en-US" dirty="0"/>
              <a:t>JunoCAM: Radiation degradation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D424ED-BE90-75B6-CD7C-5F3736287E33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3913322" y="2162014"/>
            <a:ext cx="7671661" cy="4200039"/>
          </a:xfrm>
        </p:spPr>
        <p:txBody>
          <a:bodyPr/>
          <a:lstStyle/>
          <a:p>
            <a:r>
              <a:rPr lang="en-US" sz="1600" dirty="0"/>
              <a:t>Juno entered orbit around Jupiter in July 2016 to investigate the planet's structures, atmosphere, magnetic field, and origins [7].</a:t>
            </a:r>
          </a:p>
          <a:p>
            <a:r>
              <a:rPr lang="en-US" sz="1600" dirty="0"/>
              <a:t>Most of Juno’s sensitive electronics are enclosed within a 1cm thick titanium case to shield from the radiation environment. </a:t>
            </a:r>
          </a:p>
          <a:p>
            <a:pPr lvl="1"/>
            <a:r>
              <a:rPr lang="en-US" sz="1600" dirty="0"/>
              <a:t>Sensors like the JunoCam needed to be located outside the titanium walled enclosure.</a:t>
            </a:r>
          </a:p>
          <a:p>
            <a:r>
              <a:rPr lang="en-US" sz="1600" dirty="0"/>
              <a:t>JunoCam was able to take some amazing picture of Jupiter like the image shown of the Jupiter's south pole from an altitude of 52,000 kilometers.</a:t>
            </a:r>
          </a:p>
          <a:p>
            <a:r>
              <a:rPr lang="en-US" sz="1600" dirty="0"/>
              <a:t>Juno’s first 34 orbits, JunoCam operated normally, but eventually radiation damage began appearing. </a:t>
            </a:r>
          </a:p>
          <a:p>
            <a:r>
              <a:rPr lang="en-US" sz="1600" dirty="0"/>
              <a:t>Orbit 47 had the first indications of radiation damage and at orbit 56 nearly all JunoCam images were corrupted.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2DE004-E179-F4BC-FD35-AFAACD548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A48C9EB-F5CB-ECDE-0D36-BEF99BA18C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490" y="2209532"/>
            <a:ext cx="3165617" cy="406418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88C53FA-BF47-4D2E-00E0-999E62015671}"/>
              </a:ext>
            </a:extLst>
          </p:cNvPr>
          <p:cNvSpPr txBox="1"/>
          <p:nvPr/>
        </p:nvSpPr>
        <p:spPr>
          <a:xfrm>
            <a:off x="3333703" y="6223775"/>
            <a:ext cx="422575" cy="34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sz="1600" dirty="0">
                <a:solidFill>
                  <a:schemeClr val="bg1"/>
                </a:solidFill>
              </a:rPr>
              <a:t>[6]</a:t>
            </a:r>
          </a:p>
        </p:txBody>
      </p:sp>
    </p:spTree>
    <p:extLst>
      <p:ext uri="{BB962C8B-B14F-4D97-AF65-F5344CB8AC3E}">
        <p14:creationId xmlns:p14="http://schemas.microsoft.com/office/powerpoint/2010/main" val="16848279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3EE25-BF85-1E72-B6BB-1443B376D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000B0-2352-14FF-B330-40553ADC7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562" y="433906"/>
            <a:ext cx="10515601" cy="1327464"/>
          </a:xfrm>
        </p:spPr>
        <p:txBody>
          <a:bodyPr/>
          <a:lstStyle/>
          <a:p>
            <a:r>
              <a:rPr lang="en-US" dirty="0"/>
              <a:t>JunoCAM: Annealing Recovery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646988-343D-5636-A5AE-29EB653E29A7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571753" y="2128391"/>
            <a:ext cx="7859325" cy="3730786"/>
          </a:xfrm>
        </p:spPr>
        <p:txBody>
          <a:bodyPr/>
          <a:lstStyle/>
          <a:p>
            <a:r>
              <a:rPr lang="en-US" dirty="0"/>
              <a:t>Image taken on November 22, 2023, capturing a cyclone on Jupiter's north pole. </a:t>
            </a:r>
          </a:p>
          <a:p>
            <a:r>
              <a:rPr lang="en-US" dirty="0"/>
              <a:t>Engineers attempted to repair the JunoCam by annealing which involves heating the device [8]. </a:t>
            </a:r>
          </a:p>
          <a:p>
            <a:r>
              <a:rPr lang="en-US" dirty="0"/>
              <a:t>Heating semiconductor material can allow radiation-induced microscopic defects to partially reorganizing to recover. </a:t>
            </a:r>
          </a:p>
          <a:p>
            <a:r>
              <a:rPr lang="en-US" dirty="0"/>
              <a:t>First attempt, engineers commanded JunoCam’s heater to raised the camera temperature to 77°F and the camera began producing improved images afterwards, but the radiation exposure continued and the image problems returned. </a:t>
            </a:r>
          </a:p>
          <a:p>
            <a:r>
              <a:rPr lang="en-US" dirty="0"/>
              <a:t>More attempts were made and the image quality began to dramatically recover.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BBB737-5343-38C8-EB3A-FA94A07EF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5" name="Picture 4" descr="The graininess and horizontal lines seen in this JunoCam image show evidence that the camera aboard NASAs Juno mission suffered radiation damage. The image was taken Nov. 22, 2023.">
            <a:extLst>
              <a:ext uri="{FF2B5EF4-FFF2-40B4-BE49-F238E27FC236}">
                <a16:creationId xmlns:a16="http://schemas.microsoft.com/office/drawing/2014/main" id="{2F0239B5-3BA8-197F-40EF-DC17FAC051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3465" y="2072269"/>
            <a:ext cx="2535698" cy="433649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14DD7FB-54E5-ADCC-E63B-24AC6CC059B8}"/>
              </a:ext>
            </a:extLst>
          </p:cNvPr>
          <p:cNvSpPr txBox="1"/>
          <p:nvPr/>
        </p:nvSpPr>
        <p:spPr>
          <a:xfrm>
            <a:off x="10902822" y="6329162"/>
            <a:ext cx="422575" cy="34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sz="1600" dirty="0">
                <a:solidFill>
                  <a:schemeClr val="bg1"/>
                </a:solidFill>
              </a:rPr>
              <a:t>[8]</a:t>
            </a:r>
          </a:p>
        </p:txBody>
      </p:sp>
    </p:spTree>
    <p:extLst>
      <p:ext uri="{BB962C8B-B14F-4D97-AF65-F5344CB8AC3E}">
        <p14:creationId xmlns:p14="http://schemas.microsoft.com/office/powerpoint/2010/main" val="20303665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4111F-A836-9819-B863-29AAD23A5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C1ACE-2950-A660-FF3F-E9F3BC6D3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562" y="433906"/>
            <a:ext cx="10515601" cy="1327464"/>
          </a:xfrm>
        </p:spPr>
        <p:txBody>
          <a:bodyPr/>
          <a:lstStyle/>
          <a:p>
            <a:r>
              <a:rPr lang="en-US" dirty="0"/>
              <a:t>4 JunoCAM: Jupiter’s moon Io image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9EFED1-E065-1BB5-AC18-DF714022470F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7058701" y="2249552"/>
            <a:ext cx="4980778" cy="3730786"/>
          </a:xfrm>
        </p:spPr>
        <p:txBody>
          <a:bodyPr/>
          <a:lstStyle/>
          <a:p>
            <a:r>
              <a:rPr lang="en-US" dirty="0"/>
              <a:t>After the annealing attempts, NASA reported that JunoCam’s images were almost as good as when it first launched [8].</a:t>
            </a:r>
          </a:p>
          <a:p>
            <a:r>
              <a:rPr lang="en-US" dirty="0"/>
              <a:t>Image captured of the north polar region of Jupiter’s moon Io from Juno during the spacecraft’s 57</a:t>
            </a:r>
            <a:r>
              <a:rPr lang="en-US" baseline="30000" dirty="0"/>
              <a:t>th</a:t>
            </a:r>
            <a:r>
              <a:rPr lang="en-US" dirty="0"/>
              <a:t> close pass of Jupiter taken on  December 30, 2023.</a:t>
            </a:r>
          </a:p>
          <a:p>
            <a:r>
              <a:rPr lang="en-US" dirty="0"/>
              <a:t>However, the fix was not permanent, NASA reported in 2025 that image noise had returned during Juno’s extended mission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97D7A4-FBB2-4914-E3EE-188FC3152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2853EEF-4FF9-02EA-EA05-D12996B8AF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829" y="2208528"/>
            <a:ext cx="6641648" cy="429324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7FA66C4-A022-FE1D-651F-73F8C0F277C5}"/>
              </a:ext>
            </a:extLst>
          </p:cNvPr>
          <p:cNvSpPr txBox="1"/>
          <p:nvPr/>
        </p:nvSpPr>
        <p:spPr>
          <a:xfrm>
            <a:off x="6847413" y="6160009"/>
            <a:ext cx="422575" cy="34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sz="1600" dirty="0">
                <a:solidFill>
                  <a:schemeClr val="bg1"/>
                </a:solidFill>
              </a:rPr>
              <a:t>[8]</a:t>
            </a:r>
          </a:p>
        </p:txBody>
      </p:sp>
    </p:spTree>
    <p:extLst>
      <p:ext uri="{BB962C8B-B14F-4D97-AF65-F5344CB8AC3E}">
        <p14:creationId xmlns:p14="http://schemas.microsoft.com/office/powerpoint/2010/main" val="16278987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394C5-23BF-7C95-EB1B-93303C1E6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640A3D-5340-7BC3-8F1A-F60C9A2D4885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307829" y="2123269"/>
            <a:ext cx="11765351" cy="4967206"/>
          </a:xfrm>
        </p:spPr>
        <p:txBody>
          <a:bodyPr/>
          <a:lstStyle/>
          <a:p>
            <a:r>
              <a:rPr lang="en-US" sz="1400" dirty="0"/>
              <a:t>[1] Tribble, A. C., </a:t>
            </a:r>
            <a:r>
              <a:rPr lang="en-US" sz="1400" i="1" dirty="0"/>
              <a:t>The Space Environment: Implications for Spacecraft Design</a:t>
            </a:r>
            <a:r>
              <a:rPr lang="en-US" sz="1400" dirty="0"/>
              <a:t>, 2nd ed., Princeton University Press, Princeton, NJ, 2003. </a:t>
            </a:r>
          </a:p>
          <a:p>
            <a:r>
              <a:rPr lang="en-US" sz="1400" dirty="0"/>
              <a:t>[2] Jun, I., Garrett, H., Kim, W., Zheng, Y., Fung, S. F., Corti, C., </a:t>
            </a:r>
            <a:r>
              <a:rPr lang="en-US" sz="1400" dirty="0" err="1"/>
              <a:t>Ganushkina</a:t>
            </a:r>
            <a:r>
              <a:rPr lang="en-US" sz="1400" dirty="0"/>
              <a:t>, N., and Guo, J., “A Review on Radiation Environment Pathways to Impacts: Radiation Effects, Relevant Empirical Environment Models, and Future Needs,” </a:t>
            </a:r>
            <a:r>
              <a:rPr lang="en-US" sz="1400" i="1" dirty="0"/>
              <a:t>Advances in Space Research</a:t>
            </a:r>
            <a:r>
              <a:rPr lang="en-US" sz="1400" dirty="0"/>
              <a:t>, 2024, </a:t>
            </a:r>
            <a:r>
              <a:rPr lang="en-US" sz="1400" dirty="0">
                <a:hlinkClick r:id="rId2"/>
              </a:rPr>
              <a:t>A review on radiation environment pathways to impacts: Radiation effects, relevant empirical environment models, and future needs - ScienceDirect</a:t>
            </a:r>
            <a:endParaRPr lang="en-US" sz="1400" dirty="0"/>
          </a:p>
          <a:p>
            <a:r>
              <a:rPr lang="en-US" sz="1400" dirty="0"/>
              <a:t>[3] Jun, I., Garrett, H. B., and Evans, R. W., “Trapped Particle Environments of the Outer Planets,” </a:t>
            </a:r>
            <a:r>
              <a:rPr lang="en-US" sz="1400" i="1" dirty="0"/>
              <a:t>IEEE Transactions on Plasma Science</a:t>
            </a:r>
            <a:r>
              <a:rPr lang="en-US" sz="1400" dirty="0"/>
              <a:t>, Vol. 47, No. 8, 2019, pp. 3923–3930. </a:t>
            </a:r>
            <a:r>
              <a:rPr lang="en-US" sz="1400" dirty="0">
                <a:hlinkClick r:id="rId3"/>
              </a:rPr>
              <a:t>Trapped Particle Environments of the Outer Planets | IEEE Journals &amp; Magazine | IEEE Xplore</a:t>
            </a:r>
            <a:endParaRPr lang="en-US" sz="1400" dirty="0"/>
          </a:p>
          <a:p>
            <a:r>
              <a:rPr lang="en-US" sz="1400" dirty="0"/>
              <a:t>[4] NASA Space Radiation Analysis Group, “Space Radiation Frequently Asked Questions,” NASA Johnson Space Center, n.d. </a:t>
            </a:r>
            <a:r>
              <a:rPr lang="en-US" sz="1400" dirty="0">
                <a:hlinkClick r:id="rId4"/>
              </a:rPr>
              <a:t>FAQ</a:t>
            </a:r>
            <a:endParaRPr lang="en-US" sz="1400" dirty="0"/>
          </a:p>
          <a:p>
            <a:r>
              <a:rPr lang="en-US" sz="1400" dirty="0"/>
              <a:t>[5 ]NASA Johnson Space Center, “Radiation,” NASA, 22 Jan. 2026, </a:t>
            </a:r>
            <a:r>
              <a:rPr lang="en-US" sz="1400" dirty="0">
                <a:hlinkClick r:id="rId5"/>
              </a:rPr>
              <a:t>Radiation – NASA</a:t>
            </a:r>
            <a:endParaRPr lang="en-US" sz="1400" dirty="0"/>
          </a:p>
          <a:p>
            <a:r>
              <a:rPr lang="en-US" sz="1400" dirty="0"/>
              <a:t>[6] NASA, “JunoCam Images,” </a:t>
            </a:r>
            <a:r>
              <a:rPr lang="en-US" sz="1400" i="1" dirty="0"/>
              <a:t>NASA Science</a:t>
            </a:r>
            <a:r>
              <a:rPr lang="en-US" sz="1400" dirty="0"/>
              <a:t>, n.d.,</a:t>
            </a:r>
            <a:r>
              <a:rPr lang="en-US" sz="1400" dirty="0">
                <a:hlinkClick r:id="rId6"/>
              </a:rPr>
              <a:t> JunoCam Images - NASA Science</a:t>
            </a:r>
            <a:endParaRPr lang="en-US" sz="1400" dirty="0"/>
          </a:p>
          <a:p>
            <a:r>
              <a:rPr lang="en-US" sz="1400" dirty="0"/>
              <a:t>[7] NASA Jet Propulsion Laboratory, “NASA's Juno Spacecraft to Risk Jupiter's Fireworks for Science,” NASA, 4 July 2016, </a:t>
            </a:r>
            <a:r>
              <a:rPr lang="en-US" sz="1400" dirty="0">
                <a:hlinkClick r:id="rId7"/>
              </a:rPr>
              <a:t>NASA’s Juno Spacecraft to Risk Jupiter’s Fireworks for Science – NASA</a:t>
            </a:r>
            <a:endParaRPr lang="en-US" sz="1400" dirty="0"/>
          </a:p>
          <a:p>
            <a:r>
              <a:rPr lang="en-US" sz="1400" dirty="0"/>
              <a:t>[8] NASA Jet Propulsion Laboratory, “NASA Shares How to Save Camera 370-Million-Miles Away Near Jupiter,” NASA, 21 July 2025, </a:t>
            </a:r>
            <a:r>
              <a:rPr lang="en-US" sz="1400" dirty="0">
                <a:hlinkClick r:id="rId8"/>
              </a:rPr>
              <a:t>NASA Shares How to Save Camera 370-Million-Miles Away Near Jupiter - NASA</a:t>
            </a:r>
            <a:endParaRPr lang="en-US" sz="1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7762EE-229B-175A-BE4E-418993D1A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 </a:t>
            </a:r>
            <a:fld id="{FE024F78-56A6-7740-B68D-8D4D026EDF3F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344194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000000"/>
      </a:dk1>
      <a:lt1>
        <a:srgbClr val="FFFFFF"/>
      </a:lt1>
      <a:dk2>
        <a:srgbClr val="FC4EFB"/>
      </a:dk2>
      <a:lt2>
        <a:srgbClr val="E7E6E6"/>
      </a:lt2>
      <a:accent1>
        <a:srgbClr val="FAF24C"/>
      </a:accent1>
      <a:accent2>
        <a:srgbClr val="5EFCAC"/>
      </a:accent2>
      <a:accent3>
        <a:srgbClr val="73EBF9"/>
      </a:accent3>
      <a:accent4>
        <a:srgbClr val="316CFC"/>
      </a:accent4>
      <a:accent5>
        <a:srgbClr val="B059FD"/>
      </a:accent5>
      <a:accent6>
        <a:srgbClr val="9405FC"/>
      </a:accent6>
      <a:hlink>
        <a:srgbClr val="FFFFFF"/>
      </a:hlink>
      <a:folHlink>
        <a:srgbClr val="FFFFFF"/>
      </a:folHlink>
    </a:clrScheme>
    <a:fontScheme name="Custom 15">
      <a:majorFont>
        <a:latin typeface="Biome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36837_win32_SL_V11" id="{EAD6EF7B-6F25-4469-AF6A-07D6EB1461DD}" vid="{30FEA78B-2F89-4FF0-8415-E3920802C58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305301E-11B3-4B9D-A588-21F3C9809371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44137456-21FC-4AE2-8A94-BF06CAF2EB9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77B561B-3A65-4A22-9691-EB838E7F9B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Scientific findings presentation</Template>
  <TotalTime>3700</TotalTime>
  <Words>1371</Words>
  <Application>Microsoft Office PowerPoint</Application>
  <PresentationFormat>Widescreen</PresentationFormat>
  <Paragraphs>122</Paragraphs>
  <Slides>11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Custom</vt:lpstr>
      <vt:lpstr>Radiation in the space environment </vt:lpstr>
      <vt:lpstr>Radiation in the Space environment</vt:lpstr>
      <vt:lpstr>Radiation measurements</vt:lpstr>
      <vt:lpstr>Where space radiation comes from</vt:lpstr>
      <vt:lpstr> Radiation Effects on Electronics</vt:lpstr>
      <vt:lpstr>Electronics consideration for Radiation environment</vt:lpstr>
      <vt:lpstr>Jupiter's Radiation belts</vt:lpstr>
      <vt:lpstr>JunoCAM: Radiation degradation</vt:lpstr>
      <vt:lpstr>JunoCAM: Annealing Recovery</vt:lpstr>
      <vt:lpstr>4 JunoCAM: Jupiter’s moon Io image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Jason Ansley</dc:creator>
  <cp:lastModifiedBy>Jason Ansley</cp:lastModifiedBy>
  <cp:revision>3</cp:revision>
  <dcterms:created xsi:type="dcterms:W3CDTF">2026-07-26T20:15:21Z</dcterms:created>
  <dcterms:modified xsi:type="dcterms:W3CDTF">2026-07-29T21:13:08Z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