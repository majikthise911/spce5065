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37"/>
  </p:notesMasterIdLst>
  <p:sldIdLst>
    <p:sldId id="256" r:id="rId2"/>
    <p:sldId id="624" r:id="rId3"/>
    <p:sldId id="585" r:id="rId4"/>
    <p:sldId id="591" r:id="rId5"/>
    <p:sldId id="324" r:id="rId6"/>
    <p:sldId id="325" r:id="rId7"/>
    <p:sldId id="329" r:id="rId8"/>
    <p:sldId id="322" r:id="rId9"/>
    <p:sldId id="333" r:id="rId10"/>
    <p:sldId id="326" r:id="rId11"/>
    <p:sldId id="332" r:id="rId12"/>
    <p:sldId id="316" r:id="rId13"/>
    <p:sldId id="616" r:id="rId14"/>
    <p:sldId id="625" r:id="rId15"/>
    <p:sldId id="272" r:id="rId16"/>
    <p:sldId id="589" r:id="rId17"/>
    <p:sldId id="381" r:id="rId18"/>
    <p:sldId id="328" r:id="rId19"/>
    <p:sldId id="286" r:id="rId20"/>
    <p:sldId id="287" r:id="rId21"/>
    <p:sldId id="370" r:id="rId22"/>
    <p:sldId id="631" r:id="rId23"/>
    <p:sldId id="630" r:id="rId24"/>
    <p:sldId id="639" r:id="rId25"/>
    <p:sldId id="593" r:id="rId26"/>
    <p:sldId id="594" r:id="rId27"/>
    <p:sldId id="595" r:id="rId28"/>
    <p:sldId id="499" r:id="rId29"/>
    <p:sldId id="636" r:id="rId30"/>
    <p:sldId id="599" r:id="rId31"/>
    <p:sldId id="258" r:id="rId32"/>
    <p:sldId id="640" r:id="rId33"/>
    <p:sldId id="637" r:id="rId34"/>
    <p:sldId id="641" r:id="rId35"/>
    <p:sldId id="638" r:id="rId3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4443" autoAdjust="0"/>
    <p:restoredTop sz="94660"/>
  </p:normalViewPr>
  <p:slideViewPr>
    <p:cSldViewPr snapToGrid="0">
      <p:cViewPr varScale="1">
        <p:scale>
          <a:sx n="77" d="100"/>
          <a:sy n="77" d="100"/>
        </p:scale>
        <p:origin x="68" y="372"/>
      </p:cViewPr>
      <p:guideLst/>
    </p:cSldViewPr>
  </p:slideViewPr>
  <p:notesTextViewPr>
    <p:cViewPr>
      <p:scale>
        <a:sx n="1" d="1"/>
        <a:sy n="1" d="1"/>
      </p:scale>
      <p:origin x="0" y="0"/>
    </p:cViewPr>
  </p:notesTextViewPr>
  <p:notesViewPr>
    <p:cSldViewPr snapToGrid="0">
      <p:cViewPr>
        <p:scale>
          <a:sx n="100" d="100"/>
          <a:sy n="100" d="100"/>
        </p:scale>
        <p:origin x="1680" y="-153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ynnane George" userId="065056628ae16e64" providerId="LiveId" clId="{1E9AE552-6B83-46CE-A2DC-1FB506DB1638}"/>
    <pc:docChg chg="custSel delSld modSld">
      <pc:chgData name="Lynnane George" userId="065056628ae16e64" providerId="LiveId" clId="{1E9AE552-6B83-46CE-A2DC-1FB506DB1638}" dt="2026-07-29T02:44:20.018" v="30" actId="20577"/>
      <pc:docMkLst>
        <pc:docMk/>
      </pc:docMkLst>
      <pc:sldChg chg="del">
        <pc:chgData name="Lynnane George" userId="065056628ae16e64" providerId="LiveId" clId="{1E9AE552-6B83-46CE-A2DC-1FB506DB1638}" dt="2026-07-29T02:43:17.161" v="9" actId="47"/>
        <pc:sldMkLst>
          <pc:docMk/>
          <pc:sldMk cId="3961609402" sldId="264"/>
        </pc:sldMkLst>
      </pc:sldChg>
      <pc:sldChg chg="del">
        <pc:chgData name="Lynnane George" userId="065056628ae16e64" providerId="LiveId" clId="{1E9AE552-6B83-46CE-A2DC-1FB506DB1638}" dt="2026-07-29T02:43:18.097" v="10" actId="47"/>
        <pc:sldMkLst>
          <pc:docMk/>
          <pc:sldMk cId="974856566" sldId="269"/>
        </pc:sldMkLst>
      </pc:sldChg>
      <pc:sldChg chg="del">
        <pc:chgData name="Lynnane George" userId="065056628ae16e64" providerId="LiveId" clId="{1E9AE552-6B83-46CE-A2DC-1FB506DB1638}" dt="2026-07-29T02:43:20.782" v="12" actId="47"/>
        <pc:sldMkLst>
          <pc:docMk/>
          <pc:sldMk cId="2344195098" sldId="274"/>
        </pc:sldMkLst>
      </pc:sldChg>
      <pc:sldChg chg="del">
        <pc:chgData name="Lynnane George" userId="065056628ae16e64" providerId="LiveId" clId="{1E9AE552-6B83-46CE-A2DC-1FB506DB1638}" dt="2026-07-29T02:42:53.504" v="5" actId="47"/>
        <pc:sldMkLst>
          <pc:docMk/>
          <pc:sldMk cId="800181082" sldId="278"/>
        </pc:sldMkLst>
      </pc:sldChg>
      <pc:sldChg chg="del">
        <pc:chgData name="Lynnane George" userId="065056628ae16e64" providerId="LiveId" clId="{1E9AE552-6B83-46CE-A2DC-1FB506DB1638}" dt="2026-07-29T02:42:54.980" v="6" actId="47"/>
        <pc:sldMkLst>
          <pc:docMk/>
          <pc:sldMk cId="2612070028" sldId="284"/>
        </pc:sldMkLst>
      </pc:sldChg>
      <pc:sldChg chg="delSp mod">
        <pc:chgData name="Lynnane George" userId="065056628ae16e64" providerId="LiveId" clId="{1E9AE552-6B83-46CE-A2DC-1FB506DB1638}" dt="2026-07-29T02:43:02.718" v="7" actId="478"/>
        <pc:sldMkLst>
          <pc:docMk/>
          <pc:sldMk cId="148390169" sldId="286"/>
        </pc:sldMkLst>
        <pc:inkChg chg="del">
          <ac:chgData name="Lynnane George" userId="065056628ae16e64" providerId="LiveId" clId="{1E9AE552-6B83-46CE-A2DC-1FB506DB1638}" dt="2026-07-29T02:43:02.718" v="7" actId="478"/>
          <ac:inkMkLst>
            <pc:docMk/>
            <pc:sldMk cId="148390169" sldId="286"/>
            <ac:inkMk id="7" creationId="{D586CA24-A5F0-62C5-209C-F2DE6D30A450}"/>
          </ac:inkMkLst>
        </pc:inkChg>
      </pc:sldChg>
      <pc:sldChg chg="delSp mod">
        <pc:chgData name="Lynnane George" userId="065056628ae16e64" providerId="LiveId" clId="{1E9AE552-6B83-46CE-A2DC-1FB506DB1638}" dt="2026-07-29T02:43:10.735" v="8" actId="478"/>
        <pc:sldMkLst>
          <pc:docMk/>
          <pc:sldMk cId="3164658809" sldId="287"/>
        </pc:sldMkLst>
        <pc:inkChg chg="del">
          <ac:chgData name="Lynnane George" userId="065056628ae16e64" providerId="LiveId" clId="{1E9AE552-6B83-46CE-A2DC-1FB506DB1638}" dt="2026-07-29T02:43:10.735" v="8" actId="478"/>
          <ac:inkMkLst>
            <pc:docMk/>
            <pc:sldMk cId="3164658809" sldId="287"/>
            <ac:inkMk id="2" creationId="{5A452C7F-4764-1E67-F034-AB45EF4F3766}"/>
          </ac:inkMkLst>
        </pc:inkChg>
      </pc:sldChg>
      <pc:sldChg chg="del">
        <pc:chgData name="Lynnane George" userId="065056628ae16e64" providerId="LiveId" clId="{1E9AE552-6B83-46CE-A2DC-1FB506DB1638}" dt="2026-07-29T02:43:22.068" v="13" actId="47"/>
        <pc:sldMkLst>
          <pc:docMk/>
          <pc:sldMk cId="3871182192" sldId="291"/>
        </pc:sldMkLst>
      </pc:sldChg>
      <pc:sldChg chg="delSp mod">
        <pc:chgData name="Lynnane George" userId="065056628ae16e64" providerId="LiveId" clId="{1E9AE552-6B83-46CE-A2DC-1FB506DB1638}" dt="2026-07-29T02:42:25.969" v="1" actId="478"/>
        <pc:sldMkLst>
          <pc:docMk/>
          <pc:sldMk cId="4237685732" sldId="316"/>
        </pc:sldMkLst>
        <pc:inkChg chg="del">
          <ac:chgData name="Lynnane George" userId="065056628ae16e64" providerId="LiveId" clId="{1E9AE552-6B83-46CE-A2DC-1FB506DB1638}" dt="2026-07-29T02:42:25.969" v="1" actId="478"/>
          <ac:inkMkLst>
            <pc:docMk/>
            <pc:sldMk cId="4237685732" sldId="316"/>
            <ac:inkMk id="3" creationId="{B8E40069-B5D9-EA5A-A0F5-F4B21F94EA58}"/>
          </ac:inkMkLst>
        </pc:inkChg>
      </pc:sldChg>
      <pc:sldChg chg="delSp mod">
        <pc:chgData name="Lynnane George" userId="065056628ae16e64" providerId="LiveId" clId="{1E9AE552-6B83-46CE-A2DC-1FB506DB1638}" dt="2026-07-29T02:42:12.430" v="0" actId="478"/>
        <pc:sldMkLst>
          <pc:docMk/>
          <pc:sldMk cId="3172008932" sldId="329"/>
        </pc:sldMkLst>
        <pc:inkChg chg="del">
          <ac:chgData name="Lynnane George" userId="065056628ae16e64" providerId="LiveId" clId="{1E9AE552-6B83-46CE-A2DC-1FB506DB1638}" dt="2026-07-29T02:42:12.430" v="0" actId="478"/>
          <ac:inkMkLst>
            <pc:docMk/>
            <pc:sldMk cId="3172008932" sldId="329"/>
            <ac:inkMk id="5" creationId="{BF6F1213-9A0F-FB52-F061-958642F4E94B}"/>
          </ac:inkMkLst>
        </pc:inkChg>
      </pc:sldChg>
      <pc:sldChg chg="del">
        <pc:chgData name="Lynnane George" userId="065056628ae16e64" providerId="LiveId" clId="{1E9AE552-6B83-46CE-A2DC-1FB506DB1638}" dt="2026-07-29T02:42:49.910" v="4" actId="47"/>
        <pc:sldMkLst>
          <pc:docMk/>
          <pc:sldMk cId="4118132583" sldId="330"/>
        </pc:sldMkLst>
      </pc:sldChg>
      <pc:sldChg chg="del">
        <pc:chgData name="Lynnane George" userId="065056628ae16e64" providerId="LiveId" clId="{1E9AE552-6B83-46CE-A2DC-1FB506DB1638}" dt="2026-07-29T02:42:43.670" v="2" actId="47"/>
        <pc:sldMkLst>
          <pc:docMk/>
          <pc:sldMk cId="1467025614" sldId="366"/>
        </pc:sldMkLst>
      </pc:sldChg>
      <pc:sldChg chg="del">
        <pc:chgData name="Lynnane George" userId="065056628ae16e64" providerId="LiveId" clId="{1E9AE552-6B83-46CE-A2DC-1FB506DB1638}" dt="2026-07-29T02:42:46.284" v="3" actId="47"/>
        <pc:sldMkLst>
          <pc:docMk/>
          <pc:sldMk cId="373887664" sldId="368"/>
        </pc:sldMkLst>
      </pc:sldChg>
      <pc:sldChg chg="delSp modSp mod">
        <pc:chgData name="Lynnane George" userId="065056628ae16e64" providerId="LiveId" clId="{1E9AE552-6B83-46CE-A2DC-1FB506DB1638}" dt="2026-07-29T02:43:34.970" v="15" actId="20577"/>
        <pc:sldMkLst>
          <pc:docMk/>
          <pc:sldMk cId="105830944" sldId="631"/>
        </pc:sldMkLst>
        <pc:spChg chg="mod">
          <ac:chgData name="Lynnane George" userId="065056628ae16e64" providerId="LiveId" clId="{1E9AE552-6B83-46CE-A2DC-1FB506DB1638}" dt="2026-07-29T02:43:34.970" v="15" actId="20577"/>
          <ac:spMkLst>
            <pc:docMk/>
            <pc:sldMk cId="105830944" sldId="631"/>
            <ac:spMk id="12291" creationId="{BDEA1A40-6143-48D6-B3C9-C1D1992A08B1}"/>
          </ac:spMkLst>
        </pc:spChg>
        <pc:inkChg chg="del">
          <ac:chgData name="Lynnane George" userId="065056628ae16e64" providerId="LiveId" clId="{1E9AE552-6B83-46CE-A2DC-1FB506DB1638}" dt="2026-07-29T02:43:29.127" v="14" actId="478"/>
          <ac:inkMkLst>
            <pc:docMk/>
            <pc:sldMk cId="105830944" sldId="631"/>
            <ac:inkMk id="3" creationId="{3629B94B-EF43-2D40-98E9-2DA642BFAAB8}"/>
          </ac:inkMkLst>
        </pc:inkChg>
      </pc:sldChg>
      <pc:sldChg chg="del">
        <pc:chgData name="Lynnane George" userId="065056628ae16e64" providerId="LiveId" clId="{1E9AE552-6B83-46CE-A2DC-1FB506DB1638}" dt="2026-07-29T02:43:47.250" v="16" actId="2696"/>
        <pc:sldMkLst>
          <pc:docMk/>
          <pc:sldMk cId="3321788879" sldId="632"/>
        </pc:sldMkLst>
      </pc:sldChg>
      <pc:sldChg chg="del">
        <pc:chgData name="Lynnane George" userId="065056628ae16e64" providerId="LiveId" clId="{1E9AE552-6B83-46CE-A2DC-1FB506DB1638}" dt="2026-07-29T02:43:19.467" v="11" actId="47"/>
        <pc:sldMkLst>
          <pc:docMk/>
          <pc:sldMk cId="3351076046" sldId="633"/>
        </pc:sldMkLst>
      </pc:sldChg>
      <pc:sldChg chg="modSp mod">
        <pc:chgData name="Lynnane George" userId="065056628ae16e64" providerId="LiveId" clId="{1E9AE552-6B83-46CE-A2DC-1FB506DB1638}" dt="2026-07-29T02:44:20.018" v="30" actId="20577"/>
        <pc:sldMkLst>
          <pc:docMk/>
          <pc:sldMk cId="2633092355" sldId="638"/>
        </pc:sldMkLst>
        <pc:spChg chg="mod">
          <ac:chgData name="Lynnane George" userId="065056628ae16e64" providerId="LiveId" clId="{1E9AE552-6B83-46CE-A2DC-1FB506DB1638}" dt="2026-07-29T02:44:20.018" v="30" actId="20577"/>
          <ac:spMkLst>
            <pc:docMk/>
            <pc:sldMk cId="2633092355" sldId="638"/>
            <ac:spMk id="12291" creationId="{BDEA1A40-6143-48D6-B3C9-C1D1992A08B1}"/>
          </ac:spMkLst>
        </pc:spChg>
      </pc:sldChg>
      <pc:sldMasterChg chg="delSldLayout">
        <pc:chgData name="Lynnane George" userId="065056628ae16e64" providerId="LiveId" clId="{1E9AE552-6B83-46CE-A2DC-1FB506DB1638}" dt="2026-07-29T02:43:22.068" v="13" actId="47"/>
        <pc:sldMasterMkLst>
          <pc:docMk/>
          <pc:sldMasterMk cId="2688796138" sldId="2147483672"/>
        </pc:sldMasterMkLst>
        <pc:sldLayoutChg chg="del">
          <pc:chgData name="Lynnane George" userId="065056628ae16e64" providerId="LiveId" clId="{1E9AE552-6B83-46CE-A2DC-1FB506DB1638}" dt="2026-07-29T02:43:19.467" v="11" actId="47"/>
          <pc:sldLayoutMkLst>
            <pc:docMk/>
            <pc:sldMasterMk cId="2688796138" sldId="2147483672"/>
            <pc:sldLayoutMk cId="1764543594" sldId="2147483691"/>
          </pc:sldLayoutMkLst>
        </pc:sldLayoutChg>
        <pc:sldLayoutChg chg="del">
          <pc:chgData name="Lynnane George" userId="065056628ae16e64" providerId="LiveId" clId="{1E9AE552-6B83-46CE-A2DC-1FB506DB1638}" dt="2026-07-29T02:43:22.068" v="13" actId="47"/>
          <pc:sldLayoutMkLst>
            <pc:docMk/>
            <pc:sldMasterMk cId="2688796138" sldId="2147483672"/>
            <pc:sldLayoutMk cId="4205853830" sldId="2147483692"/>
          </pc:sldLayoutMkLst>
        </pc:sldLayoutChg>
      </pc:sldMasterChg>
    </pc:docChg>
  </pc:docChgLst>
</pc:chgInfo>
</file>

<file path=ppt/ink/ink1.xml><?xml version="1.0" encoding="utf-8"?>
<inkml:ink xmlns:inkml="http://www.w3.org/2003/InkML">
  <inkml:definitions/>
</inkml:ink>
</file>

<file path=ppt/ink/ink2.xml><?xml version="1.0" encoding="utf-8"?>
<inkml:ink xmlns:inkml="http://www.w3.org/2003/InkML">
  <inkml:definitions>
    <inkml:context xml:id="ctx0">
      <inkml:inkSource xml:id="inkSrc0">
        <inkml:traceFormat>
          <inkml:channel name="X" type="integer" max="3240" units="cm"/>
          <inkml:channel name="Y" type="integer" max="2160" units="cm"/>
          <inkml:channel name="T" type="integer" max="2.14748E9" units="dev"/>
        </inkml:traceFormat>
        <inkml:channelProperties>
          <inkml:channelProperty channel="X" name="resolution" value="102.2082" units="1/cm"/>
          <inkml:channelProperty channel="Y" name="resolution" value="102.36967" units="1/cm"/>
          <inkml:channelProperty channel="T" name="resolution" value="1" units="1/dev"/>
        </inkml:channelProperties>
      </inkml:inkSource>
      <inkml:timestamp xml:id="ts0" timeString="2021-08-03T18:03:19.729"/>
    </inkml:context>
    <inkml:brush xml:id="br0">
      <inkml:brushProperty name="width" value="0.05292" units="cm"/>
      <inkml:brushProperty name="height" value="0.05292" units="cm"/>
      <inkml:brushProperty name="color" value="#FF0000"/>
    </inkml:brush>
  </inkml:definitions>
  <inkml:trace contextRef="#ctx0" brushRef="#br0">22808 12050 0,'-11'-10'62,"1"0"-15,-1-1 16,-20-10-63,-11 11 15,-83-32-15,-32-10 32,105 41-32,-53-10 0,-198-41 15,146 62 1,-104-32 31,219 32 281,0 0-328,-73 32 16,-125 72-1,-42-10 1,83-10-1,178-84 17,-10 0 93,10 10-110,-94 63 1,-199 178 15,105-115-15,126-63-1,20-20 1,-10 20 15,52-63-15,0 11-16,11 0 16,-1 0-16,-20 42 15,10-22-15,0 22 16,11 10 15,10 11 0,-21 20-15,21 1 0,0 31-1,0 31 16,10-136-15,1 11 0,9-31-16,-20 10 15,11-1-15,-1-9 16,1-1 78,-1 1-94,53 31 15,136 10 1,-43-21 0,22 32-1,-11-32 1,-73-10-1,-62-10 1,-11-1 78,-11-10-94,11 0 15,272 0 1,-231 0 0,210 0-1,-42 0 1,-10 0 0,30 0 15,-218 0 0,-11-10-31,52 10 16,63 0 15,177-53-15,-260 43-1,114-42 1,-42 10-1,-10 21 1,-31-31 15,-21 10-15,-1-10 0,22 10-1,20-84 16,-41 43-15,0-1 0,-11-62 15,-20-53 0,-1 95-31,-31 10 31,0 0-15,0-11 15,0 53-15,-11 0 0,-20 31-1,-32-52 16,53 62-31,-11-20 16,-31-11 0,10-10-1,31 41-15,-62-41 16,-136-84 15,178 126-15,-84-22-1,10-20 1,22 31 0,10 11-1,-84-43 17,136 53-32,0 0 15,11-21 1,-95 11 31,0 10-32,-114 0 1,52 0 0,-11 0-16,94 0 31</inkml:trace>
</inkml:ink>
</file>

<file path=ppt/ink/ink3.xml><?xml version="1.0" encoding="utf-8"?>
<inkml:ink xmlns:inkml="http://www.w3.org/2003/InkML">
  <inkml:definitions>
    <inkml:context xml:id="ctx0">
      <inkml:inkSource xml:id="inkSrc0">
        <inkml:traceFormat>
          <inkml:channel name="X" type="integer" max="3240" units="cm"/>
          <inkml:channel name="Y" type="integer" max="2160" units="cm"/>
          <inkml:channel name="T" type="integer" max="2.14748E9" units="dev"/>
        </inkml:traceFormat>
        <inkml:channelProperties>
          <inkml:channelProperty channel="X" name="resolution" value="102.2082" units="1/cm"/>
          <inkml:channelProperty channel="Y" name="resolution" value="102.36967" units="1/cm"/>
          <inkml:channelProperty channel="T" name="resolution" value="1" units="1/dev"/>
        </inkml:channelProperties>
      </inkml:inkSource>
      <inkml:timestamp xml:id="ts0" timeString="2021-08-03T18:07:13.894"/>
    </inkml:context>
    <inkml:brush xml:id="br0">
      <inkml:brushProperty name="width" value="0.05292" units="cm"/>
      <inkml:brushProperty name="height" value="0.05292" units="cm"/>
      <inkml:brushProperty name="color" value="#FF0000"/>
    </inkml:brush>
  </inkml:definitions>
  <inkml:trace contextRef="#ctx0" brushRef="#br0">7923 4849 0,'-21'11'187,"-10"-11"-155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5183DB5-0037-4122-AB6A-30C1F1B5B50B}" type="datetimeFigureOut">
              <a:rPr lang="en-US" smtClean="0"/>
              <a:t>7/28/2026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FEB9F7-AF54-4BD9-AF76-1B55D9602E0E}" type="slidenum">
              <a:rPr lang="en-US" smtClean="0"/>
              <a:t>‹#›</a:t>
            </a:fld>
            <a:endParaRPr lang="en-US"/>
          </a:p>
        </p:txBody>
      </p:sp>
    </p:spTree>
    <p:extLst>
      <p:ext uri="{BB962C8B-B14F-4D97-AF65-F5344CB8AC3E}">
        <p14:creationId xmlns:p14="http://schemas.microsoft.com/office/powerpoint/2010/main" val="12075499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a:extLst>
              <a:ext uri="{FF2B5EF4-FFF2-40B4-BE49-F238E27FC236}">
                <a16:creationId xmlns:a16="http://schemas.microsoft.com/office/drawing/2014/main" id="{67F630BD-6AFD-485A-AF1E-DA1FBB5D3BE9}"/>
              </a:ext>
            </a:extLst>
          </p:cNvPr>
          <p:cNvSpPr>
            <a:spLocks noGrp="1" noRot="1" noChangeAspect="1" noChangeArrowheads="1" noTextEdit="1"/>
          </p:cNvSpPr>
          <p:nvPr>
            <p:ph type="sldImg"/>
          </p:nvPr>
        </p:nvSpPr>
        <p:spPr>
          <a:xfrm>
            <a:off x="460375" y="2590800"/>
            <a:ext cx="6124575" cy="3446463"/>
          </a:xfrm>
          <a:ln/>
        </p:spPr>
      </p:sp>
      <p:sp>
        <p:nvSpPr>
          <p:cNvPr id="107524" name="Text Box 4">
            <a:extLst>
              <a:ext uri="{FF2B5EF4-FFF2-40B4-BE49-F238E27FC236}">
                <a16:creationId xmlns:a16="http://schemas.microsoft.com/office/drawing/2014/main" id="{99700C0A-DC45-454B-A22A-50F6F284651D}"/>
              </a:ext>
            </a:extLst>
          </p:cNvPr>
          <p:cNvSpPr txBox="1">
            <a:spLocks noChangeArrowheads="1"/>
          </p:cNvSpPr>
          <p:nvPr/>
        </p:nvSpPr>
        <p:spPr bwMode="auto">
          <a:xfrm>
            <a:off x="422275" y="2097088"/>
            <a:ext cx="1962150" cy="471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“gas” of electrically charged particles with kinetic energy greater than the potential energy of attraction</a:t>
            </a:r>
          </a:p>
        </p:txBody>
      </p:sp>
      <p:sp>
        <p:nvSpPr>
          <p:cNvPr id="107525" name="Line 5">
            <a:extLst>
              <a:ext uri="{FF2B5EF4-FFF2-40B4-BE49-F238E27FC236}">
                <a16:creationId xmlns:a16="http://schemas.microsoft.com/office/drawing/2014/main" id="{52090D57-36B0-4015-8B18-D3F8F58D63F4}"/>
              </a:ext>
            </a:extLst>
          </p:cNvPr>
          <p:cNvSpPr>
            <a:spLocks noChangeShapeType="1"/>
          </p:cNvSpPr>
          <p:nvPr/>
        </p:nvSpPr>
        <p:spPr bwMode="auto">
          <a:xfrm>
            <a:off x="738188" y="2571750"/>
            <a:ext cx="706437" cy="62230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107528" name="Text Box 8">
            <a:extLst>
              <a:ext uri="{FF2B5EF4-FFF2-40B4-BE49-F238E27FC236}">
                <a16:creationId xmlns:a16="http://schemas.microsoft.com/office/drawing/2014/main" id="{45A4BD66-48F9-4E34-911D-7DB9172E23E4}"/>
              </a:ext>
            </a:extLst>
          </p:cNvPr>
          <p:cNvSpPr txBox="1">
            <a:spLocks noChangeArrowheads="1"/>
          </p:cNvSpPr>
          <p:nvPr/>
        </p:nvSpPr>
        <p:spPr bwMode="auto">
          <a:xfrm>
            <a:off x="3462338" y="3573463"/>
            <a:ext cx="2365375" cy="206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(absolute value is rarely of concern)</a:t>
            </a:r>
          </a:p>
        </p:txBody>
      </p:sp>
      <p:sp>
        <p:nvSpPr>
          <p:cNvPr id="107529" name="Text Box 9">
            <a:extLst>
              <a:ext uri="{FF2B5EF4-FFF2-40B4-BE49-F238E27FC236}">
                <a16:creationId xmlns:a16="http://schemas.microsoft.com/office/drawing/2014/main" id="{2EF3110E-A6CD-4BBE-A2A6-7EC436C377A2}"/>
              </a:ext>
            </a:extLst>
          </p:cNvPr>
          <p:cNvSpPr txBox="1">
            <a:spLocks noChangeArrowheads="1"/>
          </p:cNvSpPr>
          <p:nvPr/>
        </p:nvSpPr>
        <p:spPr bwMode="auto">
          <a:xfrm>
            <a:off x="452438" y="6054725"/>
            <a:ext cx="1871662"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Closely spaced surfaces create equilibrium by forming a current path</a:t>
            </a:r>
          </a:p>
        </p:txBody>
      </p:sp>
      <p:sp>
        <p:nvSpPr>
          <p:cNvPr id="107530" name="Line 10">
            <a:extLst>
              <a:ext uri="{FF2B5EF4-FFF2-40B4-BE49-F238E27FC236}">
                <a16:creationId xmlns:a16="http://schemas.microsoft.com/office/drawing/2014/main" id="{2CE1C358-A138-43F9-B3A8-6C7CC746480C}"/>
              </a:ext>
            </a:extLst>
          </p:cNvPr>
          <p:cNvSpPr>
            <a:spLocks noChangeShapeType="1"/>
          </p:cNvSpPr>
          <p:nvPr/>
        </p:nvSpPr>
        <p:spPr bwMode="auto">
          <a:xfrm flipV="1">
            <a:off x="646113" y="4691063"/>
            <a:ext cx="1090612" cy="136525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107531" name="Text Box 11">
            <a:extLst>
              <a:ext uri="{FF2B5EF4-FFF2-40B4-BE49-F238E27FC236}">
                <a16:creationId xmlns:a16="http://schemas.microsoft.com/office/drawing/2014/main" id="{E1B8C89E-1778-47A2-A526-BB15A5F3E900}"/>
              </a:ext>
            </a:extLst>
          </p:cNvPr>
          <p:cNvSpPr txBox="1">
            <a:spLocks noChangeArrowheads="1"/>
          </p:cNvSpPr>
          <p:nvPr/>
        </p:nvSpPr>
        <p:spPr bwMode="auto">
          <a:xfrm>
            <a:off x="5553075" y="4216400"/>
            <a:ext cx="129540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EMI is a problem for sensitive electronics</a:t>
            </a:r>
          </a:p>
        </p:txBody>
      </p:sp>
      <p:sp>
        <p:nvSpPr>
          <p:cNvPr id="107532" name="Line 12">
            <a:extLst>
              <a:ext uri="{FF2B5EF4-FFF2-40B4-BE49-F238E27FC236}">
                <a16:creationId xmlns:a16="http://schemas.microsoft.com/office/drawing/2014/main" id="{79465302-446A-4917-B029-488F85F8E094}"/>
              </a:ext>
            </a:extLst>
          </p:cNvPr>
          <p:cNvSpPr>
            <a:spLocks noChangeShapeType="1"/>
          </p:cNvSpPr>
          <p:nvPr/>
        </p:nvSpPr>
        <p:spPr bwMode="auto">
          <a:xfrm flipH="1">
            <a:off x="5535613" y="4570413"/>
            <a:ext cx="595312" cy="452437"/>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107533" name="Arc 13">
            <a:extLst>
              <a:ext uri="{FF2B5EF4-FFF2-40B4-BE49-F238E27FC236}">
                <a16:creationId xmlns:a16="http://schemas.microsoft.com/office/drawing/2014/main" id="{5A994B2F-CF06-4862-BF27-AFAE68405B3A}"/>
              </a:ext>
            </a:extLst>
          </p:cNvPr>
          <p:cNvSpPr>
            <a:spLocks/>
          </p:cNvSpPr>
          <p:nvPr/>
        </p:nvSpPr>
        <p:spPr bwMode="auto">
          <a:xfrm>
            <a:off x="4000500" y="5413375"/>
            <a:ext cx="150813" cy="279400"/>
          </a:xfrm>
          <a:custGeom>
            <a:avLst/>
            <a:gdLst>
              <a:gd name="T0" fmla="*/ 0 w 21600"/>
              <a:gd name="T1" fmla="*/ 0 h 42082"/>
              <a:gd name="T2" fmla="*/ 47883 w 21600"/>
              <a:gd name="T3" fmla="*/ 279400 h 42082"/>
              <a:gd name="T4" fmla="*/ 0 w 21600"/>
              <a:gd name="T5" fmla="*/ 143411 h 42082"/>
              <a:gd name="T6" fmla="*/ 0 60000 65536"/>
              <a:gd name="T7" fmla="*/ 0 60000 65536"/>
              <a:gd name="T8" fmla="*/ 0 60000 65536"/>
            </a:gdLst>
            <a:ahLst/>
            <a:cxnLst>
              <a:cxn ang="T6">
                <a:pos x="T0" y="T1"/>
              </a:cxn>
              <a:cxn ang="T7">
                <a:pos x="T2" y="T3"/>
              </a:cxn>
              <a:cxn ang="T8">
                <a:pos x="T4" y="T5"/>
              </a:cxn>
            </a:cxnLst>
            <a:rect l="0" t="0" r="r" b="b"/>
            <a:pathLst>
              <a:path w="21600" h="42082" fill="none" extrusionOk="0">
                <a:moveTo>
                  <a:pt x="0" y="-1"/>
                </a:moveTo>
                <a:cubicBezTo>
                  <a:pt x="11929" y="0"/>
                  <a:pt x="21600" y="9670"/>
                  <a:pt x="21600" y="21600"/>
                </a:cubicBezTo>
                <a:cubicBezTo>
                  <a:pt x="21600" y="30886"/>
                  <a:pt x="15664" y="39133"/>
                  <a:pt x="6858" y="42082"/>
                </a:cubicBezTo>
              </a:path>
              <a:path w="21600" h="42082" stroke="0" extrusionOk="0">
                <a:moveTo>
                  <a:pt x="0" y="-1"/>
                </a:moveTo>
                <a:cubicBezTo>
                  <a:pt x="11929" y="0"/>
                  <a:pt x="21600" y="9670"/>
                  <a:pt x="21600" y="21600"/>
                </a:cubicBezTo>
                <a:cubicBezTo>
                  <a:pt x="21600" y="30886"/>
                  <a:pt x="15664" y="39133"/>
                  <a:pt x="6858" y="42082"/>
                </a:cubicBezTo>
                <a:lnTo>
                  <a:pt x="0" y="21600"/>
                </a:lnTo>
                <a:lnTo>
                  <a:pt x="0" y="-1"/>
                </a:lnTo>
                <a:close/>
              </a:path>
            </a:pathLst>
          </a:custGeom>
          <a:noFill/>
          <a:ln w="381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p>
            <a:endParaRPr lang="en-US"/>
          </a:p>
        </p:txBody>
      </p:sp>
      <p:sp>
        <p:nvSpPr>
          <p:cNvPr id="107534" name="Text Box 14">
            <a:extLst>
              <a:ext uri="{FF2B5EF4-FFF2-40B4-BE49-F238E27FC236}">
                <a16:creationId xmlns:a16="http://schemas.microsoft.com/office/drawing/2014/main" id="{A8CBF543-A51E-4781-975C-15964E54D381}"/>
              </a:ext>
            </a:extLst>
          </p:cNvPr>
          <p:cNvSpPr txBox="1">
            <a:spLocks noChangeArrowheads="1"/>
          </p:cNvSpPr>
          <p:nvPr/>
        </p:nvSpPr>
        <p:spPr bwMode="auto">
          <a:xfrm>
            <a:off x="4210050" y="5381625"/>
            <a:ext cx="1446213"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Effects are similar to the neutral environment</a:t>
            </a:r>
          </a:p>
        </p:txBody>
      </p:sp>
      <p:sp>
        <p:nvSpPr>
          <p:cNvPr id="107535" name="Text Box 15">
            <a:extLst>
              <a:ext uri="{FF2B5EF4-FFF2-40B4-BE49-F238E27FC236}">
                <a16:creationId xmlns:a16="http://schemas.microsoft.com/office/drawing/2014/main" id="{45577A33-FDC0-421A-8982-48F7229D10C6}"/>
              </a:ext>
            </a:extLst>
          </p:cNvPr>
          <p:cNvSpPr txBox="1">
            <a:spLocks noChangeArrowheads="1"/>
          </p:cNvSpPr>
          <p:nvPr/>
        </p:nvSpPr>
        <p:spPr bwMode="auto">
          <a:xfrm>
            <a:off x="4108450" y="6224588"/>
            <a:ext cx="2366963" cy="47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Outgassed materials ionized by solar UV are reattracted to the negatively charged spacecraft (particularly significant in GEO orbits)</a:t>
            </a:r>
          </a:p>
        </p:txBody>
      </p:sp>
      <p:sp>
        <p:nvSpPr>
          <p:cNvPr id="107536" name="Line 16">
            <a:extLst>
              <a:ext uri="{FF2B5EF4-FFF2-40B4-BE49-F238E27FC236}">
                <a16:creationId xmlns:a16="http://schemas.microsoft.com/office/drawing/2014/main" id="{385E3AD9-155F-4331-8964-222C5DEC88CC}"/>
              </a:ext>
            </a:extLst>
          </p:cNvPr>
          <p:cNvSpPr>
            <a:spLocks noChangeShapeType="1"/>
          </p:cNvSpPr>
          <p:nvPr/>
        </p:nvSpPr>
        <p:spPr bwMode="auto">
          <a:xfrm flipH="1" flipV="1">
            <a:off x="4151313" y="5845175"/>
            <a:ext cx="838200" cy="382588"/>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107537" name="Oval 17">
            <a:extLst>
              <a:ext uri="{FF2B5EF4-FFF2-40B4-BE49-F238E27FC236}">
                <a16:creationId xmlns:a16="http://schemas.microsoft.com/office/drawing/2014/main" id="{A4CAF6F4-42C3-4065-9719-CECCDDCDCC04}"/>
              </a:ext>
            </a:extLst>
          </p:cNvPr>
          <p:cNvSpPr>
            <a:spLocks noChangeArrowheads="1"/>
          </p:cNvSpPr>
          <p:nvPr/>
        </p:nvSpPr>
        <p:spPr bwMode="auto">
          <a:xfrm>
            <a:off x="2859088" y="4579938"/>
            <a:ext cx="919162" cy="171450"/>
          </a:xfrm>
          <a:prstGeom prst="ellipse">
            <a:avLst/>
          </a:prstGeom>
          <a:noFill/>
          <a:ln w="38100">
            <a:solidFill>
              <a:schemeClr val="tx1"/>
            </a:solidFill>
            <a:prstDash val="sysDot"/>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107538" name="Oval 18">
            <a:extLst>
              <a:ext uri="{FF2B5EF4-FFF2-40B4-BE49-F238E27FC236}">
                <a16:creationId xmlns:a16="http://schemas.microsoft.com/office/drawing/2014/main" id="{7EBE9F30-8BB3-44E1-9CCA-CFBC7C7048B9}"/>
              </a:ext>
            </a:extLst>
          </p:cNvPr>
          <p:cNvSpPr>
            <a:spLocks noChangeArrowheads="1"/>
          </p:cNvSpPr>
          <p:nvPr/>
        </p:nvSpPr>
        <p:spPr bwMode="auto">
          <a:xfrm>
            <a:off x="2778125" y="4811713"/>
            <a:ext cx="1150938" cy="169862"/>
          </a:xfrm>
          <a:prstGeom prst="ellipse">
            <a:avLst/>
          </a:prstGeom>
          <a:noFill/>
          <a:ln w="38100">
            <a:solidFill>
              <a:schemeClr val="tx1"/>
            </a:solidFill>
            <a:prstDash val="sysDot"/>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2" name="Notes Placeholder 1">
            <a:extLst>
              <a:ext uri="{FF2B5EF4-FFF2-40B4-BE49-F238E27FC236}">
                <a16:creationId xmlns:a16="http://schemas.microsoft.com/office/drawing/2014/main" id="{82D97571-8FBE-41B3-9891-792D43D38F57}"/>
              </a:ext>
            </a:extLst>
          </p:cNvPr>
          <p:cNvSpPr>
            <a:spLocks noGrp="1"/>
          </p:cNvSpPr>
          <p:nvPr>
            <p:ph type="body" idx="1"/>
          </p:nvPr>
        </p:nvSpPr>
        <p:spPr/>
        <p:txBody>
          <a:bodyPr/>
          <a:lstStyle/>
          <a:p>
            <a:r>
              <a:rPr lang="en-US" sz="1200" b="1" i="1" kern="1200" dirty="0">
                <a:solidFill>
                  <a:schemeClr val="tx1"/>
                </a:solidFill>
                <a:effectLst/>
                <a:latin typeface="+mn-lt"/>
                <a:ea typeface="+mn-ea"/>
                <a:cs typeface="+mn-cs"/>
              </a:rPr>
              <a:t>Plasma</a:t>
            </a:r>
            <a:r>
              <a:rPr lang="en-US" sz="1200" b="0" i="0" kern="1200" dirty="0">
                <a:solidFill>
                  <a:schemeClr val="tx1"/>
                </a:solidFill>
                <a:effectLst/>
                <a:latin typeface="+mn-lt"/>
                <a:ea typeface="+mn-ea"/>
                <a:cs typeface="+mn-cs"/>
              </a:rPr>
              <a:t> is the most abundant matter in the universe, comprising as much as 99% of the universe’s mass. Plasma consists of neutral particles, positive ions, and electrons. Spacecraft operate in distinctly different plasma environments depending on their mission parameters. Interactions between the plasma regions and the spacecraft cause anomalies as minor as single event upsets (computer bit flips), or as major as degraded performance and damage to electronic components.</a:t>
            </a:r>
            <a:endParaRPr lang="en-US" dirty="0"/>
          </a:p>
        </p:txBody>
      </p:sp>
    </p:spTree>
    <p:extLst>
      <p:ext uri="{BB962C8B-B14F-4D97-AF65-F5344CB8AC3E}">
        <p14:creationId xmlns:p14="http://schemas.microsoft.com/office/powerpoint/2010/main" val="11416987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a:extLst>
              <a:ext uri="{FF2B5EF4-FFF2-40B4-BE49-F238E27FC236}">
                <a16:creationId xmlns:a16="http://schemas.microsoft.com/office/drawing/2014/main" id="{C6557052-0F53-48C1-AA85-DF92FBEF2434}"/>
              </a:ext>
            </a:extLst>
          </p:cNvPr>
          <p:cNvSpPr>
            <a:spLocks noGrp="1" noRot="1" noChangeAspect="1" noChangeArrowheads="1" noTextEdit="1"/>
          </p:cNvSpPr>
          <p:nvPr>
            <p:ph type="sldImg"/>
          </p:nvPr>
        </p:nvSpPr>
        <p:spPr>
          <a:xfrm>
            <a:off x="590550" y="3846513"/>
            <a:ext cx="6126163" cy="3446462"/>
          </a:xfrm>
          <a:ln/>
        </p:spPr>
      </p:sp>
      <p:sp>
        <p:nvSpPr>
          <p:cNvPr id="111621" name="Text Box 5">
            <a:extLst>
              <a:ext uri="{FF2B5EF4-FFF2-40B4-BE49-F238E27FC236}">
                <a16:creationId xmlns:a16="http://schemas.microsoft.com/office/drawing/2014/main" id="{61723EE3-D054-4036-AB97-A2F216EC89C0}"/>
              </a:ext>
            </a:extLst>
          </p:cNvPr>
          <p:cNvSpPr txBox="1">
            <a:spLocks noChangeArrowheads="1"/>
          </p:cNvSpPr>
          <p:nvPr/>
        </p:nvSpPr>
        <p:spPr bwMode="auto">
          <a:xfrm>
            <a:off x="552450" y="458788"/>
            <a:ext cx="3492500" cy="1004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tabLst>
                <a:tab pos="271463" algn="l"/>
              </a:tabLst>
              <a:defRPr sz="2400">
                <a:solidFill>
                  <a:schemeClr val="tx1"/>
                </a:solidFill>
                <a:latin typeface="Times New Roman" charset="0"/>
              </a:defRPr>
            </a:lvl1pPr>
            <a:lvl2pPr marL="361950" defTabSz="725488">
              <a:tabLst>
                <a:tab pos="271463" algn="l"/>
              </a:tabLst>
              <a:defRPr sz="2400">
                <a:solidFill>
                  <a:schemeClr val="tx1"/>
                </a:solidFill>
                <a:latin typeface="Times New Roman" charset="0"/>
              </a:defRPr>
            </a:lvl2pPr>
            <a:lvl3pPr marL="725488" defTabSz="725488">
              <a:tabLst>
                <a:tab pos="271463" algn="l"/>
              </a:tabLst>
              <a:defRPr sz="2400">
                <a:solidFill>
                  <a:schemeClr val="tx1"/>
                </a:solidFill>
                <a:latin typeface="Times New Roman" charset="0"/>
              </a:defRPr>
            </a:lvl3pPr>
            <a:lvl4pPr marL="1087438" defTabSz="725488">
              <a:tabLst>
                <a:tab pos="271463" algn="l"/>
              </a:tabLst>
              <a:defRPr sz="2400">
                <a:solidFill>
                  <a:schemeClr val="tx1"/>
                </a:solidFill>
                <a:latin typeface="Times New Roman" charset="0"/>
              </a:defRPr>
            </a:lvl4pPr>
            <a:lvl5pPr marL="1449388" defTabSz="725488">
              <a:tabLst>
                <a:tab pos="271463" algn="l"/>
              </a:tabLst>
              <a:defRPr sz="2400">
                <a:solidFill>
                  <a:schemeClr val="tx1"/>
                </a:solidFill>
                <a:latin typeface="Times New Roman" charset="0"/>
              </a:defRPr>
            </a:lvl5pPr>
            <a:lvl6pPr marL="1906588" defTabSz="725488" eaLnBrk="0" fontAlgn="base" hangingPunct="0">
              <a:spcBef>
                <a:spcPct val="0"/>
              </a:spcBef>
              <a:spcAft>
                <a:spcPct val="0"/>
              </a:spcAft>
              <a:tabLst>
                <a:tab pos="271463" algn="l"/>
              </a:tabLst>
              <a:defRPr sz="2400">
                <a:solidFill>
                  <a:schemeClr val="tx1"/>
                </a:solidFill>
                <a:latin typeface="Times New Roman" charset="0"/>
              </a:defRPr>
            </a:lvl6pPr>
            <a:lvl7pPr marL="2363788" defTabSz="725488" eaLnBrk="0" fontAlgn="base" hangingPunct="0">
              <a:spcBef>
                <a:spcPct val="0"/>
              </a:spcBef>
              <a:spcAft>
                <a:spcPct val="0"/>
              </a:spcAft>
              <a:tabLst>
                <a:tab pos="271463" algn="l"/>
              </a:tabLst>
              <a:defRPr sz="2400">
                <a:solidFill>
                  <a:schemeClr val="tx1"/>
                </a:solidFill>
                <a:latin typeface="Times New Roman" charset="0"/>
              </a:defRPr>
            </a:lvl7pPr>
            <a:lvl8pPr marL="2820988" defTabSz="725488" eaLnBrk="0" fontAlgn="base" hangingPunct="0">
              <a:spcBef>
                <a:spcPct val="0"/>
              </a:spcBef>
              <a:spcAft>
                <a:spcPct val="0"/>
              </a:spcAft>
              <a:tabLst>
                <a:tab pos="271463" algn="l"/>
              </a:tabLst>
              <a:defRPr sz="2400">
                <a:solidFill>
                  <a:schemeClr val="tx1"/>
                </a:solidFill>
                <a:latin typeface="Times New Roman" charset="0"/>
              </a:defRPr>
            </a:lvl8pPr>
            <a:lvl9pPr marL="3278188" defTabSz="725488" eaLnBrk="0" fontAlgn="base" hangingPunct="0">
              <a:spcBef>
                <a:spcPct val="0"/>
              </a:spcBef>
              <a:spcAft>
                <a:spcPct val="0"/>
              </a:spcAft>
              <a:tabLst>
                <a:tab pos="271463" algn="l"/>
              </a:tabLst>
              <a:defRPr sz="2400">
                <a:solidFill>
                  <a:schemeClr val="tx1"/>
                </a:solidFill>
                <a:latin typeface="Times New Roman" charset="0"/>
              </a:defRPr>
            </a:lvl9pPr>
          </a:lstStyle>
          <a:p>
            <a:pPr>
              <a:defRPr/>
            </a:pPr>
            <a:r>
              <a:rPr lang="en-US" altLang="en-US" sz="900" i="1"/>
              <a:t>The Earth’s magnetic field creates a “force field” to protect us from thes energetic particles, but …</a:t>
            </a:r>
          </a:p>
          <a:p>
            <a:pPr>
              <a:defRPr/>
            </a:pPr>
            <a:endParaRPr lang="en-US" altLang="en-US" sz="900" i="1"/>
          </a:p>
          <a:p>
            <a:pPr>
              <a:defRPr/>
            </a:pPr>
            <a:r>
              <a:rPr lang="en-US" altLang="en-US" sz="900" i="1"/>
              <a:t>some are trapped to gyrate back and forth along the Earth’s magnetic field lines (Van Allen radiation belts)</a:t>
            </a:r>
          </a:p>
          <a:p>
            <a:pPr>
              <a:defRPr/>
            </a:pPr>
            <a:r>
              <a:rPr lang="en-US" altLang="en-US" sz="900" i="1"/>
              <a:t>	-- two regions of electrons (peak densities at 3000 km and 25000 km)</a:t>
            </a:r>
          </a:p>
          <a:p>
            <a:pPr>
              <a:defRPr/>
            </a:pPr>
            <a:r>
              <a:rPr lang="en-US" altLang="en-US" sz="900" i="1"/>
              <a:t>	-- one region of protons (peak density at 3000 km)</a:t>
            </a:r>
          </a:p>
        </p:txBody>
      </p:sp>
      <p:sp>
        <p:nvSpPr>
          <p:cNvPr id="111622" name="Text Box 6">
            <a:extLst>
              <a:ext uri="{FF2B5EF4-FFF2-40B4-BE49-F238E27FC236}">
                <a16:creationId xmlns:a16="http://schemas.microsoft.com/office/drawing/2014/main" id="{E1E40002-4807-4DC9-A195-BA38E5709B05}"/>
              </a:ext>
            </a:extLst>
          </p:cNvPr>
          <p:cNvSpPr txBox="1">
            <a:spLocks noChangeArrowheads="1"/>
          </p:cNvSpPr>
          <p:nvPr/>
        </p:nvSpPr>
        <p:spPr bwMode="auto">
          <a:xfrm>
            <a:off x="2057400" y="8324850"/>
            <a:ext cx="3381375" cy="204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lgn="ctr">
              <a:defRPr/>
            </a:pPr>
            <a:r>
              <a:rPr lang="en-US" altLang="en-US" sz="900" i="1"/>
              <a:t>Van Allen belt effects tend to be most significant in polar orbits</a:t>
            </a:r>
          </a:p>
        </p:txBody>
      </p:sp>
      <p:grpSp>
        <p:nvGrpSpPr>
          <p:cNvPr id="41988" name="Group 24">
            <a:extLst>
              <a:ext uri="{FF2B5EF4-FFF2-40B4-BE49-F238E27FC236}">
                <a16:creationId xmlns:a16="http://schemas.microsoft.com/office/drawing/2014/main" id="{58607B01-0834-44DA-BAFE-E72DF33D98BA}"/>
              </a:ext>
            </a:extLst>
          </p:cNvPr>
          <p:cNvGrpSpPr>
            <a:grpSpLocks/>
          </p:cNvGrpSpPr>
          <p:nvPr/>
        </p:nvGrpSpPr>
        <p:grpSpPr bwMode="auto">
          <a:xfrm>
            <a:off x="3411538" y="1276350"/>
            <a:ext cx="3592512" cy="2544763"/>
            <a:chOff x="2451" y="1304"/>
            <a:chExt cx="2845" cy="2027"/>
          </a:xfrm>
        </p:grpSpPr>
        <p:pic>
          <p:nvPicPr>
            <p:cNvPr id="111641" name="Picture 25">
              <a:extLst>
                <a:ext uri="{FF2B5EF4-FFF2-40B4-BE49-F238E27FC236}">
                  <a16:creationId xmlns:a16="http://schemas.microsoft.com/office/drawing/2014/main" id="{02A57548-4619-4F05-B5FF-85DD8F3633A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51" y="1320"/>
              <a:ext cx="2802" cy="20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grpSp>
          <p:nvGrpSpPr>
            <p:cNvPr id="41992" name="Group 26">
              <a:extLst>
                <a:ext uri="{FF2B5EF4-FFF2-40B4-BE49-F238E27FC236}">
                  <a16:creationId xmlns:a16="http://schemas.microsoft.com/office/drawing/2014/main" id="{F7BB60E1-45AA-4E24-9F23-D949F3FD3F25}"/>
                </a:ext>
              </a:extLst>
            </p:cNvPr>
            <p:cNvGrpSpPr>
              <a:grpSpLocks/>
            </p:cNvGrpSpPr>
            <p:nvPr/>
          </p:nvGrpSpPr>
          <p:grpSpPr bwMode="auto">
            <a:xfrm>
              <a:off x="2590" y="1304"/>
              <a:ext cx="2706" cy="2021"/>
              <a:chOff x="2590" y="1304"/>
              <a:chExt cx="2706" cy="2021"/>
            </a:xfrm>
          </p:grpSpPr>
          <p:sp>
            <p:nvSpPr>
              <p:cNvPr id="111643" name="Text Box 27">
                <a:extLst>
                  <a:ext uri="{FF2B5EF4-FFF2-40B4-BE49-F238E27FC236}">
                    <a16:creationId xmlns:a16="http://schemas.microsoft.com/office/drawing/2014/main" id="{18129E84-261D-40C0-A481-5A2A19375440}"/>
                  </a:ext>
                </a:extLst>
              </p:cNvPr>
              <p:cNvSpPr txBox="1">
                <a:spLocks noChangeArrowheads="1"/>
              </p:cNvSpPr>
              <p:nvPr/>
            </p:nvSpPr>
            <p:spPr bwMode="auto">
              <a:xfrm>
                <a:off x="3287" y="1411"/>
                <a:ext cx="547" cy="154"/>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7111" tIns="3556" rIns="7111" bIns="3556">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800" b="1">
                    <a:latin typeface="Arial" charset="0"/>
                  </a:rPr>
                  <a:t>Bow Shock</a:t>
                </a:r>
              </a:p>
            </p:txBody>
          </p:sp>
          <p:sp>
            <p:nvSpPr>
              <p:cNvPr id="111644" name="Text Box 28">
                <a:extLst>
                  <a:ext uri="{FF2B5EF4-FFF2-40B4-BE49-F238E27FC236}">
                    <a16:creationId xmlns:a16="http://schemas.microsoft.com/office/drawing/2014/main" id="{FB6C5C5B-2ADC-4231-AB6A-BF38BA5FA9EA}"/>
                  </a:ext>
                </a:extLst>
              </p:cNvPr>
              <p:cNvSpPr txBox="1">
                <a:spLocks noChangeArrowheads="1"/>
              </p:cNvSpPr>
              <p:nvPr/>
            </p:nvSpPr>
            <p:spPr bwMode="auto">
              <a:xfrm>
                <a:off x="4083" y="1520"/>
                <a:ext cx="601" cy="102"/>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7111" tIns="3556" rIns="7111" bIns="3556">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800" b="1">
                    <a:latin typeface="Arial" charset="0"/>
                  </a:rPr>
                  <a:t>Magnetosheath</a:t>
                </a:r>
              </a:p>
            </p:txBody>
          </p:sp>
          <p:sp>
            <p:nvSpPr>
              <p:cNvPr id="111645" name="Text Box 29">
                <a:extLst>
                  <a:ext uri="{FF2B5EF4-FFF2-40B4-BE49-F238E27FC236}">
                    <a16:creationId xmlns:a16="http://schemas.microsoft.com/office/drawing/2014/main" id="{98ECB363-E116-4141-978C-F9DF8585E6F5}"/>
                  </a:ext>
                </a:extLst>
              </p:cNvPr>
              <p:cNvSpPr txBox="1">
                <a:spLocks noChangeArrowheads="1"/>
              </p:cNvSpPr>
              <p:nvPr/>
            </p:nvSpPr>
            <p:spPr bwMode="auto">
              <a:xfrm>
                <a:off x="4097" y="1645"/>
                <a:ext cx="723" cy="154"/>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7111" tIns="3556" rIns="7111" bIns="3556">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800" b="1">
                    <a:latin typeface="Arial" charset="0"/>
                  </a:rPr>
                  <a:t>Boundary Layer</a:t>
                </a:r>
              </a:p>
            </p:txBody>
          </p:sp>
          <p:sp>
            <p:nvSpPr>
              <p:cNvPr id="111646" name="Text Box 30">
                <a:extLst>
                  <a:ext uri="{FF2B5EF4-FFF2-40B4-BE49-F238E27FC236}">
                    <a16:creationId xmlns:a16="http://schemas.microsoft.com/office/drawing/2014/main" id="{877F58E5-CE9B-480F-BC78-FAA6D3521D45}"/>
                  </a:ext>
                </a:extLst>
              </p:cNvPr>
              <p:cNvSpPr txBox="1">
                <a:spLocks noChangeArrowheads="1"/>
              </p:cNvSpPr>
              <p:nvPr/>
            </p:nvSpPr>
            <p:spPr bwMode="auto">
              <a:xfrm>
                <a:off x="4333" y="1795"/>
                <a:ext cx="307" cy="154"/>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7111" tIns="3556" rIns="7111" bIns="3556">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800" b="1">
                    <a:latin typeface="Arial" charset="0"/>
                  </a:rPr>
                  <a:t>Lobe</a:t>
                </a:r>
              </a:p>
            </p:txBody>
          </p:sp>
          <p:sp>
            <p:nvSpPr>
              <p:cNvPr id="111647" name="Text Box 31">
                <a:extLst>
                  <a:ext uri="{FF2B5EF4-FFF2-40B4-BE49-F238E27FC236}">
                    <a16:creationId xmlns:a16="http://schemas.microsoft.com/office/drawing/2014/main" id="{656DD86C-616D-43EC-987A-337A59A7DD94}"/>
                  </a:ext>
                </a:extLst>
              </p:cNvPr>
              <p:cNvSpPr txBox="1">
                <a:spLocks noChangeArrowheads="1"/>
              </p:cNvSpPr>
              <p:nvPr/>
            </p:nvSpPr>
            <p:spPr bwMode="auto">
              <a:xfrm>
                <a:off x="4039" y="1965"/>
                <a:ext cx="559" cy="102"/>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7111" tIns="3556" rIns="7111" bIns="3556">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800" b="1">
                    <a:latin typeface="Arial" charset="0"/>
                  </a:rPr>
                  <a:t>Plasmasphere</a:t>
                </a:r>
              </a:p>
            </p:txBody>
          </p:sp>
          <p:sp>
            <p:nvSpPr>
              <p:cNvPr id="111648" name="Text Box 32">
                <a:extLst>
                  <a:ext uri="{FF2B5EF4-FFF2-40B4-BE49-F238E27FC236}">
                    <a16:creationId xmlns:a16="http://schemas.microsoft.com/office/drawing/2014/main" id="{5C5EF1BC-389B-4E8E-82F0-800ECEFA5B20}"/>
                  </a:ext>
                </a:extLst>
              </p:cNvPr>
              <p:cNvSpPr txBox="1">
                <a:spLocks noChangeArrowheads="1"/>
              </p:cNvSpPr>
              <p:nvPr/>
            </p:nvSpPr>
            <p:spPr bwMode="auto">
              <a:xfrm>
                <a:off x="4320" y="2144"/>
                <a:ext cx="632" cy="154"/>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7111" tIns="3556" rIns="7111" bIns="3556">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800" b="1">
                    <a:latin typeface="Arial" charset="0"/>
                  </a:rPr>
                  <a:t>Plasma Sheet</a:t>
                </a:r>
              </a:p>
            </p:txBody>
          </p:sp>
          <p:sp>
            <p:nvSpPr>
              <p:cNvPr id="111649" name="Text Box 33">
                <a:extLst>
                  <a:ext uri="{FF2B5EF4-FFF2-40B4-BE49-F238E27FC236}">
                    <a16:creationId xmlns:a16="http://schemas.microsoft.com/office/drawing/2014/main" id="{B8AD8B8B-D79E-4CB6-9480-076F7899FCDE}"/>
                  </a:ext>
                </a:extLst>
              </p:cNvPr>
              <p:cNvSpPr txBox="1">
                <a:spLocks noChangeArrowheads="1"/>
              </p:cNvSpPr>
              <p:nvPr/>
            </p:nvSpPr>
            <p:spPr bwMode="auto">
              <a:xfrm>
                <a:off x="3990" y="2689"/>
                <a:ext cx="763" cy="154"/>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7111" tIns="3556" rIns="7111" bIns="3556">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800" b="1">
                    <a:latin typeface="Arial" charset="0"/>
                  </a:rPr>
                  <a:t>Polar Wind</a:t>
                </a:r>
              </a:p>
            </p:txBody>
          </p:sp>
          <p:sp>
            <p:nvSpPr>
              <p:cNvPr id="111650" name="Text Box 34">
                <a:extLst>
                  <a:ext uri="{FF2B5EF4-FFF2-40B4-BE49-F238E27FC236}">
                    <a16:creationId xmlns:a16="http://schemas.microsoft.com/office/drawing/2014/main" id="{D974B8EE-40B3-436F-B7AB-5CBA42C5FF2E}"/>
                  </a:ext>
                </a:extLst>
              </p:cNvPr>
              <p:cNvSpPr txBox="1">
                <a:spLocks noChangeArrowheads="1"/>
              </p:cNvSpPr>
              <p:nvPr/>
            </p:nvSpPr>
            <p:spPr bwMode="auto">
              <a:xfrm>
                <a:off x="4152" y="2940"/>
                <a:ext cx="675" cy="154"/>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7111" tIns="3556" rIns="7111" bIns="3556">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800" b="1">
                    <a:latin typeface="Arial" charset="0"/>
                  </a:rPr>
                  <a:t>Magnetopause</a:t>
                </a:r>
              </a:p>
            </p:txBody>
          </p:sp>
          <p:sp>
            <p:nvSpPr>
              <p:cNvPr id="111651" name="Text Box 35">
                <a:extLst>
                  <a:ext uri="{FF2B5EF4-FFF2-40B4-BE49-F238E27FC236}">
                    <a16:creationId xmlns:a16="http://schemas.microsoft.com/office/drawing/2014/main" id="{1AE1134D-B5C9-4878-A938-6BB2F8046253}"/>
                  </a:ext>
                </a:extLst>
              </p:cNvPr>
              <p:cNvSpPr txBox="1">
                <a:spLocks noChangeArrowheads="1"/>
              </p:cNvSpPr>
              <p:nvPr/>
            </p:nvSpPr>
            <p:spPr bwMode="auto">
              <a:xfrm>
                <a:off x="2591" y="1709"/>
                <a:ext cx="763" cy="119"/>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7111" tIns="3556" rIns="7111" bIns="3556">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800" b="1">
                    <a:latin typeface="Arial" charset="0"/>
                  </a:rPr>
                  <a:t>Solar Wind</a:t>
                </a:r>
              </a:p>
            </p:txBody>
          </p:sp>
          <p:sp>
            <p:nvSpPr>
              <p:cNvPr id="111652" name="Text Box 36">
                <a:extLst>
                  <a:ext uri="{FF2B5EF4-FFF2-40B4-BE49-F238E27FC236}">
                    <a16:creationId xmlns:a16="http://schemas.microsoft.com/office/drawing/2014/main" id="{14E6931B-7864-49FD-B0E6-89F8C5D50204}"/>
                  </a:ext>
                </a:extLst>
              </p:cNvPr>
              <p:cNvSpPr txBox="1">
                <a:spLocks noChangeArrowheads="1"/>
              </p:cNvSpPr>
              <p:nvPr/>
            </p:nvSpPr>
            <p:spPr bwMode="auto">
              <a:xfrm>
                <a:off x="3135" y="1857"/>
                <a:ext cx="308" cy="250"/>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7111" tIns="3556" rIns="7111" bIns="3556">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800" b="1">
                    <a:latin typeface="Arial" charset="0"/>
                  </a:rPr>
                  <a:t>Polar </a:t>
                </a:r>
              </a:p>
              <a:p>
                <a:pPr>
                  <a:defRPr/>
                </a:pPr>
                <a:r>
                  <a:rPr lang="en-US" altLang="en-US" sz="800" b="1">
                    <a:latin typeface="Arial" charset="0"/>
                  </a:rPr>
                  <a:t>Cusp</a:t>
                </a:r>
              </a:p>
            </p:txBody>
          </p:sp>
          <p:sp>
            <p:nvSpPr>
              <p:cNvPr id="111653" name="Text Box 37">
                <a:extLst>
                  <a:ext uri="{FF2B5EF4-FFF2-40B4-BE49-F238E27FC236}">
                    <a16:creationId xmlns:a16="http://schemas.microsoft.com/office/drawing/2014/main" id="{A7370F12-0777-49B1-BF5F-9BCEA8946197}"/>
                  </a:ext>
                </a:extLst>
              </p:cNvPr>
              <p:cNvSpPr txBox="1">
                <a:spLocks noChangeArrowheads="1"/>
              </p:cNvSpPr>
              <p:nvPr/>
            </p:nvSpPr>
            <p:spPr bwMode="auto">
              <a:xfrm>
                <a:off x="4210" y="2462"/>
                <a:ext cx="1017" cy="226"/>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7111" tIns="3556" rIns="7111" bIns="3556">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800" b="1">
                    <a:latin typeface="Arial" charset="0"/>
                  </a:rPr>
                  <a:t>Radiation Belt and</a:t>
                </a:r>
              </a:p>
              <a:p>
                <a:pPr>
                  <a:defRPr/>
                </a:pPr>
                <a:r>
                  <a:rPr lang="en-US" altLang="en-US" sz="800" b="1">
                    <a:latin typeface="Arial" charset="0"/>
                  </a:rPr>
                  <a:t>Ring Current</a:t>
                </a:r>
              </a:p>
            </p:txBody>
          </p:sp>
          <p:sp>
            <p:nvSpPr>
              <p:cNvPr id="111654" name="Rectangle 38">
                <a:extLst>
                  <a:ext uri="{FF2B5EF4-FFF2-40B4-BE49-F238E27FC236}">
                    <a16:creationId xmlns:a16="http://schemas.microsoft.com/office/drawing/2014/main" id="{68703C75-12BC-4FDE-9B83-2E6C9A27E343}"/>
                  </a:ext>
                </a:extLst>
              </p:cNvPr>
              <p:cNvSpPr>
                <a:spLocks noChangeArrowheads="1"/>
              </p:cNvSpPr>
              <p:nvPr/>
            </p:nvSpPr>
            <p:spPr bwMode="auto">
              <a:xfrm>
                <a:off x="5097" y="1304"/>
                <a:ext cx="199" cy="2021"/>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7111" tIns="3556" rIns="7111" bIns="3556">
                <a:spAutoFit/>
              </a:bodyPr>
              <a:lstStyle/>
              <a:p>
                <a:pPr>
                  <a:defRPr/>
                </a:pPr>
                <a:endParaRPr lang="en-US">
                  <a:latin typeface="Times New Roman" charset="0"/>
                </a:endParaRPr>
              </a:p>
            </p:txBody>
          </p:sp>
        </p:grpSp>
      </p:grpSp>
      <p:sp>
        <p:nvSpPr>
          <p:cNvPr id="111655" name="Text Box 39">
            <a:extLst>
              <a:ext uri="{FF2B5EF4-FFF2-40B4-BE49-F238E27FC236}">
                <a16:creationId xmlns:a16="http://schemas.microsoft.com/office/drawing/2014/main" id="{381C5B27-097D-4AE7-B0F4-A5E64C4651CA}"/>
              </a:ext>
            </a:extLst>
          </p:cNvPr>
          <p:cNvSpPr txBox="1">
            <a:spLocks noChangeArrowheads="1"/>
          </p:cNvSpPr>
          <p:nvPr/>
        </p:nvSpPr>
        <p:spPr bwMode="auto">
          <a:xfrm>
            <a:off x="4138613" y="7340600"/>
            <a:ext cx="2663825" cy="738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tabLst>
                <a:tab pos="271463" algn="l"/>
              </a:tabLst>
              <a:defRPr sz="2400">
                <a:solidFill>
                  <a:schemeClr val="tx1"/>
                </a:solidFill>
                <a:latin typeface="Times New Roman" charset="0"/>
              </a:defRPr>
            </a:lvl1pPr>
            <a:lvl2pPr marL="361950" defTabSz="725488">
              <a:tabLst>
                <a:tab pos="271463" algn="l"/>
              </a:tabLst>
              <a:defRPr sz="2400">
                <a:solidFill>
                  <a:schemeClr val="tx1"/>
                </a:solidFill>
                <a:latin typeface="Times New Roman" charset="0"/>
              </a:defRPr>
            </a:lvl2pPr>
            <a:lvl3pPr marL="725488" defTabSz="725488">
              <a:tabLst>
                <a:tab pos="271463" algn="l"/>
              </a:tabLst>
              <a:defRPr sz="2400">
                <a:solidFill>
                  <a:schemeClr val="tx1"/>
                </a:solidFill>
                <a:latin typeface="Times New Roman" charset="0"/>
              </a:defRPr>
            </a:lvl3pPr>
            <a:lvl4pPr marL="1087438" defTabSz="725488">
              <a:tabLst>
                <a:tab pos="271463" algn="l"/>
              </a:tabLst>
              <a:defRPr sz="2400">
                <a:solidFill>
                  <a:schemeClr val="tx1"/>
                </a:solidFill>
                <a:latin typeface="Times New Roman" charset="0"/>
              </a:defRPr>
            </a:lvl4pPr>
            <a:lvl5pPr marL="1449388" defTabSz="725488">
              <a:tabLst>
                <a:tab pos="271463" algn="l"/>
              </a:tabLst>
              <a:defRPr sz="2400">
                <a:solidFill>
                  <a:schemeClr val="tx1"/>
                </a:solidFill>
                <a:latin typeface="Times New Roman" charset="0"/>
              </a:defRPr>
            </a:lvl5pPr>
            <a:lvl6pPr marL="1906588" defTabSz="725488" eaLnBrk="0" fontAlgn="base" hangingPunct="0">
              <a:spcBef>
                <a:spcPct val="0"/>
              </a:spcBef>
              <a:spcAft>
                <a:spcPct val="0"/>
              </a:spcAft>
              <a:tabLst>
                <a:tab pos="271463" algn="l"/>
              </a:tabLst>
              <a:defRPr sz="2400">
                <a:solidFill>
                  <a:schemeClr val="tx1"/>
                </a:solidFill>
                <a:latin typeface="Times New Roman" charset="0"/>
              </a:defRPr>
            </a:lvl6pPr>
            <a:lvl7pPr marL="2363788" defTabSz="725488" eaLnBrk="0" fontAlgn="base" hangingPunct="0">
              <a:spcBef>
                <a:spcPct val="0"/>
              </a:spcBef>
              <a:spcAft>
                <a:spcPct val="0"/>
              </a:spcAft>
              <a:tabLst>
                <a:tab pos="271463" algn="l"/>
              </a:tabLst>
              <a:defRPr sz="2400">
                <a:solidFill>
                  <a:schemeClr val="tx1"/>
                </a:solidFill>
                <a:latin typeface="Times New Roman" charset="0"/>
              </a:defRPr>
            </a:lvl7pPr>
            <a:lvl8pPr marL="2820988" defTabSz="725488" eaLnBrk="0" fontAlgn="base" hangingPunct="0">
              <a:spcBef>
                <a:spcPct val="0"/>
              </a:spcBef>
              <a:spcAft>
                <a:spcPct val="0"/>
              </a:spcAft>
              <a:tabLst>
                <a:tab pos="271463" algn="l"/>
              </a:tabLst>
              <a:defRPr sz="2400">
                <a:solidFill>
                  <a:schemeClr val="tx1"/>
                </a:solidFill>
                <a:latin typeface="Times New Roman" charset="0"/>
              </a:defRPr>
            </a:lvl8pPr>
            <a:lvl9pPr marL="3278188" defTabSz="725488" eaLnBrk="0" fontAlgn="base" hangingPunct="0">
              <a:spcBef>
                <a:spcPct val="0"/>
              </a:spcBef>
              <a:spcAft>
                <a:spcPct val="0"/>
              </a:spcAft>
              <a:tabLst>
                <a:tab pos="271463" algn="l"/>
              </a:tabLst>
              <a:defRPr sz="2400">
                <a:solidFill>
                  <a:schemeClr val="tx1"/>
                </a:solidFill>
                <a:latin typeface="Times New Roman" charset="0"/>
              </a:defRPr>
            </a:lvl9pPr>
          </a:lstStyle>
          <a:p>
            <a:pPr>
              <a:defRPr/>
            </a:pPr>
            <a:r>
              <a:rPr lang="en-US" altLang="en-US" sz="900" i="1"/>
              <a:t>550 km, nearly polar orbit</a:t>
            </a:r>
          </a:p>
          <a:p>
            <a:pPr>
              <a:defRPr/>
            </a:pPr>
            <a:endParaRPr lang="en-US" altLang="en-US" sz="900" i="1"/>
          </a:p>
          <a:p>
            <a:pPr>
              <a:defRPr/>
            </a:pPr>
            <a:r>
              <a:rPr lang="en-US" altLang="en-US" sz="900" i="1"/>
              <a:t>47% of SEUs occurred in the South Atlantic Anomaly despite the fact that only 5% of the total orbital time was spent in this area</a:t>
            </a:r>
          </a:p>
        </p:txBody>
      </p:sp>
      <p:sp>
        <p:nvSpPr>
          <p:cNvPr id="111656" name="Line 40">
            <a:extLst>
              <a:ext uri="{FF2B5EF4-FFF2-40B4-BE49-F238E27FC236}">
                <a16:creationId xmlns:a16="http://schemas.microsoft.com/office/drawing/2014/main" id="{50DCE71B-9506-44E3-8417-EF4B3D28D9C9}"/>
              </a:ext>
            </a:extLst>
          </p:cNvPr>
          <p:cNvSpPr>
            <a:spLocks noChangeShapeType="1"/>
          </p:cNvSpPr>
          <p:nvPr/>
        </p:nvSpPr>
        <p:spPr bwMode="auto">
          <a:xfrm flipV="1">
            <a:off x="4514850" y="6904038"/>
            <a:ext cx="334963" cy="428625"/>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ndParaRPr>
          </a:p>
        </p:txBody>
      </p:sp>
    </p:spTree>
    <p:extLst>
      <p:ext uri="{BB962C8B-B14F-4D97-AF65-F5344CB8AC3E}">
        <p14:creationId xmlns:p14="http://schemas.microsoft.com/office/powerpoint/2010/main" val="40222951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a:extLst>
              <a:ext uri="{FF2B5EF4-FFF2-40B4-BE49-F238E27FC236}">
                <a16:creationId xmlns:a16="http://schemas.microsoft.com/office/drawing/2014/main" id="{67F630BD-6AFD-485A-AF1E-DA1FBB5D3BE9}"/>
              </a:ext>
            </a:extLst>
          </p:cNvPr>
          <p:cNvSpPr>
            <a:spLocks noGrp="1" noRot="1" noChangeAspect="1" noChangeArrowheads="1" noTextEdit="1"/>
          </p:cNvSpPr>
          <p:nvPr>
            <p:ph type="sldImg"/>
          </p:nvPr>
        </p:nvSpPr>
        <p:spPr>
          <a:xfrm>
            <a:off x="460375" y="2590800"/>
            <a:ext cx="6124575" cy="3446463"/>
          </a:xfrm>
          <a:ln/>
        </p:spPr>
      </p:sp>
      <p:sp>
        <p:nvSpPr>
          <p:cNvPr id="107524" name="Text Box 4">
            <a:extLst>
              <a:ext uri="{FF2B5EF4-FFF2-40B4-BE49-F238E27FC236}">
                <a16:creationId xmlns:a16="http://schemas.microsoft.com/office/drawing/2014/main" id="{99700C0A-DC45-454B-A22A-50F6F284651D}"/>
              </a:ext>
            </a:extLst>
          </p:cNvPr>
          <p:cNvSpPr txBox="1">
            <a:spLocks noChangeArrowheads="1"/>
          </p:cNvSpPr>
          <p:nvPr/>
        </p:nvSpPr>
        <p:spPr bwMode="auto">
          <a:xfrm>
            <a:off x="422275" y="2097088"/>
            <a:ext cx="1962150" cy="471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“gas” of electrically charged particles with kinetic energy greater than the potential energy of attraction</a:t>
            </a:r>
          </a:p>
        </p:txBody>
      </p:sp>
      <p:sp>
        <p:nvSpPr>
          <p:cNvPr id="107525" name="Line 5">
            <a:extLst>
              <a:ext uri="{FF2B5EF4-FFF2-40B4-BE49-F238E27FC236}">
                <a16:creationId xmlns:a16="http://schemas.microsoft.com/office/drawing/2014/main" id="{52090D57-36B0-4015-8B18-D3F8F58D63F4}"/>
              </a:ext>
            </a:extLst>
          </p:cNvPr>
          <p:cNvSpPr>
            <a:spLocks noChangeShapeType="1"/>
          </p:cNvSpPr>
          <p:nvPr/>
        </p:nvSpPr>
        <p:spPr bwMode="auto">
          <a:xfrm>
            <a:off x="738188" y="2571750"/>
            <a:ext cx="706437" cy="62230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107528" name="Text Box 8">
            <a:extLst>
              <a:ext uri="{FF2B5EF4-FFF2-40B4-BE49-F238E27FC236}">
                <a16:creationId xmlns:a16="http://schemas.microsoft.com/office/drawing/2014/main" id="{45A4BD66-48F9-4E34-911D-7DB9172E23E4}"/>
              </a:ext>
            </a:extLst>
          </p:cNvPr>
          <p:cNvSpPr txBox="1">
            <a:spLocks noChangeArrowheads="1"/>
          </p:cNvSpPr>
          <p:nvPr/>
        </p:nvSpPr>
        <p:spPr bwMode="auto">
          <a:xfrm>
            <a:off x="3462338" y="3573463"/>
            <a:ext cx="2365375" cy="206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(absolute value is rarely of concern)</a:t>
            </a:r>
          </a:p>
        </p:txBody>
      </p:sp>
      <p:sp>
        <p:nvSpPr>
          <p:cNvPr id="107529" name="Text Box 9">
            <a:extLst>
              <a:ext uri="{FF2B5EF4-FFF2-40B4-BE49-F238E27FC236}">
                <a16:creationId xmlns:a16="http://schemas.microsoft.com/office/drawing/2014/main" id="{2EF3110E-A6CD-4BBE-A2A6-7EC436C377A2}"/>
              </a:ext>
            </a:extLst>
          </p:cNvPr>
          <p:cNvSpPr txBox="1">
            <a:spLocks noChangeArrowheads="1"/>
          </p:cNvSpPr>
          <p:nvPr/>
        </p:nvSpPr>
        <p:spPr bwMode="auto">
          <a:xfrm>
            <a:off x="452438" y="6054725"/>
            <a:ext cx="1871662"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Closely spaced surfaces create equilibrium by forming a current path</a:t>
            </a:r>
          </a:p>
        </p:txBody>
      </p:sp>
      <p:sp>
        <p:nvSpPr>
          <p:cNvPr id="107530" name="Line 10">
            <a:extLst>
              <a:ext uri="{FF2B5EF4-FFF2-40B4-BE49-F238E27FC236}">
                <a16:creationId xmlns:a16="http://schemas.microsoft.com/office/drawing/2014/main" id="{2CE1C358-A138-43F9-B3A8-6C7CC746480C}"/>
              </a:ext>
            </a:extLst>
          </p:cNvPr>
          <p:cNvSpPr>
            <a:spLocks noChangeShapeType="1"/>
          </p:cNvSpPr>
          <p:nvPr/>
        </p:nvSpPr>
        <p:spPr bwMode="auto">
          <a:xfrm flipV="1">
            <a:off x="646113" y="4691063"/>
            <a:ext cx="1090612" cy="136525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107531" name="Text Box 11">
            <a:extLst>
              <a:ext uri="{FF2B5EF4-FFF2-40B4-BE49-F238E27FC236}">
                <a16:creationId xmlns:a16="http://schemas.microsoft.com/office/drawing/2014/main" id="{E1B8C89E-1778-47A2-A526-BB15A5F3E900}"/>
              </a:ext>
            </a:extLst>
          </p:cNvPr>
          <p:cNvSpPr txBox="1">
            <a:spLocks noChangeArrowheads="1"/>
          </p:cNvSpPr>
          <p:nvPr/>
        </p:nvSpPr>
        <p:spPr bwMode="auto">
          <a:xfrm>
            <a:off x="5553075" y="4216400"/>
            <a:ext cx="129540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EMI is a problem for sensitive electronics</a:t>
            </a:r>
          </a:p>
        </p:txBody>
      </p:sp>
      <p:sp>
        <p:nvSpPr>
          <p:cNvPr id="107532" name="Line 12">
            <a:extLst>
              <a:ext uri="{FF2B5EF4-FFF2-40B4-BE49-F238E27FC236}">
                <a16:creationId xmlns:a16="http://schemas.microsoft.com/office/drawing/2014/main" id="{79465302-446A-4917-B029-488F85F8E094}"/>
              </a:ext>
            </a:extLst>
          </p:cNvPr>
          <p:cNvSpPr>
            <a:spLocks noChangeShapeType="1"/>
          </p:cNvSpPr>
          <p:nvPr/>
        </p:nvSpPr>
        <p:spPr bwMode="auto">
          <a:xfrm flipH="1">
            <a:off x="5535613" y="4570413"/>
            <a:ext cx="595312" cy="452437"/>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107533" name="Arc 13">
            <a:extLst>
              <a:ext uri="{FF2B5EF4-FFF2-40B4-BE49-F238E27FC236}">
                <a16:creationId xmlns:a16="http://schemas.microsoft.com/office/drawing/2014/main" id="{5A994B2F-CF06-4862-BF27-AFAE68405B3A}"/>
              </a:ext>
            </a:extLst>
          </p:cNvPr>
          <p:cNvSpPr>
            <a:spLocks/>
          </p:cNvSpPr>
          <p:nvPr/>
        </p:nvSpPr>
        <p:spPr bwMode="auto">
          <a:xfrm>
            <a:off x="4000500" y="5413375"/>
            <a:ext cx="150813" cy="279400"/>
          </a:xfrm>
          <a:custGeom>
            <a:avLst/>
            <a:gdLst>
              <a:gd name="T0" fmla="*/ 0 w 21600"/>
              <a:gd name="T1" fmla="*/ 0 h 42082"/>
              <a:gd name="T2" fmla="*/ 47883 w 21600"/>
              <a:gd name="T3" fmla="*/ 279400 h 42082"/>
              <a:gd name="T4" fmla="*/ 0 w 21600"/>
              <a:gd name="T5" fmla="*/ 143411 h 42082"/>
              <a:gd name="T6" fmla="*/ 0 60000 65536"/>
              <a:gd name="T7" fmla="*/ 0 60000 65536"/>
              <a:gd name="T8" fmla="*/ 0 60000 65536"/>
            </a:gdLst>
            <a:ahLst/>
            <a:cxnLst>
              <a:cxn ang="T6">
                <a:pos x="T0" y="T1"/>
              </a:cxn>
              <a:cxn ang="T7">
                <a:pos x="T2" y="T3"/>
              </a:cxn>
              <a:cxn ang="T8">
                <a:pos x="T4" y="T5"/>
              </a:cxn>
            </a:cxnLst>
            <a:rect l="0" t="0" r="r" b="b"/>
            <a:pathLst>
              <a:path w="21600" h="42082" fill="none" extrusionOk="0">
                <a:moveTo>
                  <a:pt x="0" y="-1"/>
                </a:moveTo>
                <a:cubicBezTo>
                  <a:pt x="11929" y="0"/>
                  <a:pt x="21600" y="9670"/>
                  <a:pt x="21600" y="21600"/>
                </a:cubicBezTo>
                <a:cubicBezTo>
                  <a:pt x="21600" y="30886"/>
                  <a:pt x="15664" y="39133"/>
                  <a:pt x="6858" y="42082"/>
                </a:cubicBezTo>
              </a:path>
              <a:path w="21600" h="42082" stroke="0" extrusionOk="0">
                <a:moveTo>
                  <a:pt x="0" y="-1"/>
                </a:moveTo>
                <a:cubicBezTo>
                  <a:pt x="11929" y="0"/>
                  <a:pt x="21600" y="9670"/>
                  <a:pt x="21600" y="21600"/>
                </a:cubicBezTo>
                <a:cubicBezTo>
                  <a:pt x="21600" y="30886"/>
                  <a:pt x="15664" y="39133"/>
                  <a:pt x="6858" y="42082"/>
                </a:cubicBezTo>
                <a:lnTo>
                  <a:pt x="0" y="21600"/>
                </a:lnTo>
                <a:lnTo>
                  <a:pt x="0" y="-1"/>
                </a:lnTo>
                <a:close/>
              </a:path>
            </a:pathLst>
          </a:custGeom>
          <a:noFill/>
          <a:ln w="381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p>
            <a:endParaRPr lang="en-US"/>
          </a:p>
        </p:txBody>
      </p:sp>
      <p:sp>
        <p:nvSpPr>
          <p:cNvPr id="107534" name="Text Box 14">
            <a:extLst>
              <a:ext uri="{FF2B5EF4-FFF2-40B4-BE49-F238E27FC236}">
                <a16:creationId xmlns:a16="http://schemas.microsoft.com/office/drawing/2014/main" id="{A8CBF543-A51E-4781-975C-15964E54D381}"/>
              </a:ext>
            </a:extLst>
          </p:cNvPr>
          <p:cNvSpPr txBox="1">
            <a:spLocks noChangeArrowheads="1"/>
          </p:cNvSpPr>
          <p:nvPr/>
        </p:nvSpPr>
        <p:spPr bwMode="auto">
          <a:xfrm>
            <a:off x="4210050" y="5381625"/>
            <a:ext cx="1446213"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Effects are similar to the neutral environment</a:t>
            </a:r>
          </a:p>
        </p:txBody>
      </p:sp>
      <p:sp>
        <p:nvSpPr>
          <p:cNvPr id="107535" name="Text Box 15">
            <a:extLst>
              <a:ext uri="{FF2B5EF4-FFF2-40B4-BE49-F238E27FC236}">
                <a16:creationId xmlns:a16="http://schemas.microsoft.com/office/drawing/2014/main" id="{45577A33-FDC0-421A-8982-48F7229D10C6}"/>
              </a:ext>
            </a:extLst>
          </p:cNvPr>
          <p:cNvSpPr txBox="1">
            <a:spLocks noChangeArrowheads="1"/>
          </p:cNvSpPr>
          <p:nvPr/>
        </p:nvSpPr>
        <p:spPr bwMode="auto">
          <a:xfrm>
            <a:off x="4108450" y="6224588"/>
            <a:ext cx="2366963" cy="47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Outgassed materials ionized by solar UV are reattracted to the negatively charged spacecraft (particularly significant in GEO orbits)</a:t>
            </a:r>
          </a:p>
        </p:txBody>
      </p:sp>
      <p:sp>
        <p:nvSpPr>
          <p:cNvPr id="107536" name="Line 16">
            <a:extLst>
              <a:ext uri="{FF2B5EF4-FFF2-40B4-BE49-F238E27FC236}">
                <a16:creationId xmlns:a16="http://schemas.microsoft.com/office/drawing/2014/main" id="{385E3AD9-155F-4331-8964-222C5DEC88CC}"/>
              </a:ext>
            </a:extLst>
          </p:cNvPr>
          <p:cNvSpPr>
            <a:spLocks noChangeShapeType="1"/>
          </p:cNvSpPr>
          <p:nvPr/>
        </p:nvSpPr>
        <p:spPr bwMode="auto">
          <a:xfrm flipH="1" flipV="1">
            <a:off x="4151313" y="5845175"/>
            <a:ext cx="838200" cy="382588"/>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107537" name="Oval 17">
            <a:extLst>
              <a:ext uri="{FF2B5EF4-FFF2-40B4-BE49-F238E27FC236}">
                <a16:creationId xmlns:a16="http://schemas.microsoft.com/office/drawing/2014/main" id="{A4CAF6F4-42C3-4065-9719-CECCDDCDCC04}"/>
              </a:ext>
            </a:extLst>
          </p:cNvPr>
          <p:cNvSpPr>
            <a:spLocks noChangeArrowheads="1"/>
          </p:cNvSpPr>
          <p:nvPr/>
        </p:nvSpPr>
        <p:spPr bwMode="auto">
          <a:xfrm>
            <a:off x="2859088" y="4579938"/>
            <a:ext cx="919162" cy="171450"/>
          </a:xfrm>
          <a:prstGeom prst="ellipse">
            <a:avLst/>
          </a:prstGeom>
          <a:noFill/>
          <a:ln w="38100">
            <a:solidFill>
              <a:schemeClr val="tx1"/>
            </a:solidFill>
            <a:prstDash val="sysDot"/>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107538" name="Oval 18">
            <a:extLst>
              <a:ext uri="{FF2B5EF4-FFF2-40B4-BE49-F238E27FC236}">
                <a16:creationId xmlns:a16="http://schemas.microsoft.com/office/drawing/2014/main" id="{7EBE9F30-8BB3-44E1-9CCA-CFBC7C7048B9}"/>
              </a:ext>
            </a:extLst>
          </p:cNvPr>
          <p:cNvSpPr>
            <a:spLocks noChangeArrowheads="1"/>
          </p:cNvSpPr>
          <p:nvPr/>
        </p:nvSpPr>
        <p:spPr bwMode="auto">
          <a:xfrm>
            <a:off x="2778125" y="4811713"/>
            <a:ext cx="1150938" cy="169862"/>
          </a:xfrm>
          <a:prstGeom prst="ellipse">
            <a:avLst/>
          </a:prstGeom>
          <a:noFill/>
          <a:ln w="38100">
            <a:solidFill>
              <a:schemeClr val="tx1"/>
            </a:solidFill>
            <a:prstDash val="sysDot"/>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Tree>
    <p:extLst>
      <p:ext uri="{BB962C8B-B14F-4D97-AF65-F5344CB8AC3E}">
        <p14:creationId xmlns:p14="http://schemas.microsoft.com/office/powerpoint/2010/main" val="19954463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1026">
            <a:extLst>
              <a:ext uri="{FF2B5EF4-FFF2-40B4-BE49-F238E27FC236}">
                <a16:creationId xmlns:a16="http://schemas.microsoft.com/office/drawing/2014/main" id="{5938A145-15CD-475B-9554-23A59AC9D069}"/>
              </a:ext>
            </a:extLst>
          </p:cNvPr>
          <p:cNvSpPr>
            <a:spLocks noGrp="1" noRot="1" noChangeAspect="1" noChangeArrowheads="1" noTextEdit="1"/>
          </p:cNvSpPr>
          <p:nvPr>
            <p:ph type="sldImg"/>
          </p:nvPr>
        </p:nvSpPr>
        <p:spPr>
          <a:xfrm>
            <a:off x="460375" y="2590800"/>
            <a:ext cx="6124575" cy="3446463"/>
          </a:xfrm>
          <a:ln/>
        </p:spPr>
      </p:sp>
      <p:sp>
        <p:nvSpPr>
          <p:cNvPr id="96260" name="Text Box 1028">
            <a:extLst>
              <a:ext uri="{FF2B5EF4-FFF2-40B4-BE49-F238E27FC236}">
                <a16:creationId xmlns:a16="http://schemas.microsoft.com/office/drawing/2014/main" id="{F533CFE6-0C28-46F4-B4B7-F647B2C3A0DE}"/>
              </a:ext>
            </a:extLst>
          </p:cNvPr>
          <p:cNvSpPr txBox="1">
            <a:spLocks noChangeArrowheads="1"/>
          </p:cNvSpPr>
          <p:nvPr/>
        </p:nvSpPr>
        <p:spPr bwMode="auto">
          <a:xfrm>
            <a:off x="4329113" y="4598988"/>
            <a:ext cx="1476375" cy="209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No convective heat transfer</a:t>
            </a:r>
          </a:p>
        </p:txBody>
      </p:sp>
      <p:sp>
        <p:nvSpPr>
          <p:cNvPr id="96261" name="Line 1029">
            <a:extLst>
              <a:ext uri="{FF2B5EF4-FFF2-40B4-BE49-F238E27FC236}">
                <a16:creationId xmlns:a16="http://schemas.microsoft.com/office/drawing/2014/main" id="{6AAEDB2B-5BEA-46D4-8A9D-75182D418973}"/>
              </a:ext>
            </a:extLst>
          </p:cNvPr>
          <p:cNvSpPr>
            <a:spLocks noChangeShapeType="1"/>
          </p:cNvSpPr>
          <p:nvPr/>
        </p:nvSpPr>
        <p:spPr bwMode="auto">
          <a:xfrm flipH="1">
            <a:off x="2982913" y="4672013"/>
            <a:ext cx="1343025" cy="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96262" name="Text Box 1030">
            <a:extLst>
              <a:ext uri="{FF2B5EF4-FFF2-40B4-BE49-F238E27FC236}">
                <a16:creationId xmlns:a16="http://schemas.microsoft.com/office/drawing/2014/main" id="{EA26CE59-5F0D-4A70-801E-42E3333555E6}"/>
              </a:ext>
            </a:extLst>
          </p:cNvPr>
          <p:cNvSpPr txBox="1">
            <a:spLocks noChangeArrowheads="1"/>
          </p:cNvSpPr>
          <p:nvPr/>
        </p:nvSpPr>
        <p:spPr bwMode="auto">
          <a:xfrm>
            <a:off x="542925" y="6134100"/>
            <a:ext cx="2700338"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All radiation with wavelengths less than 0.3 microns is absorbed by the ozone layer, but not so on orbit</a:t>
            </a:r>
          </a:p>
        </p:txBody>
      </p:sp>
      <p:sp>
        <p:nvSpPr>
          <p:cNvPr id="96263" name="Line 1031">
            <a:extLst>
              <a:ext uri="{FF2B5EF4-FFF2-40B4-BE49-F238E27FC236}">
                <a16:creationId xmlns:a16="http://schemas.microsoft.com/office/drawing/2014/main" id="{3309AC57-AEAB-41CB-8225-519F9C32ED8A}"/>
              </a:ext>
            </a:extLst>
          </p:cNvPr>
          <p:cNvSpPr>
            <a:spLocks noChangeShapeType="1"/>
          </p:cNvSpPr>
          <p:nvPr/>
        </p:nvSpPr>
        <p:spPr bwMode="auto">
          <a:xfrm flipV="1">
            <a:off x="806450" y="4965700"/>
            <a:ext cx="1062038" cy="1166813"/>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96264" name="Text Box 1032">
            <a:extLst>
              <a:ext uri="{FF2B5EF4-FFF2-40B4-BE49-F238E27FC236}">
                <a16:creationId xmlns:a16="http://schemas.microsoft.com/office/drawing/2014/main" id="{AC14DD96-1E7F-4989-BCC9-0BF6C785567F}"/>
              </a:ext>
            </a:extLst>
          </p:cNvPr>
          <p:cNvSpPr txBox="1">
            <a:spLocks noChangeArrowheads="1"/>
          </p:cNvSpPr>
          <p:nvPr/>
        </p:nvSpPr>
        <p:spPr bwMode="auto">
          <a:xfrm>
            <a:off x="3824288" y="5446713"/>
            <a:ext cx="1981200" cy="209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Film deposits and no window cleaner</a:t>
            </a:r>
          </a:p>
        </p:txBody>
      </p:sp>
      <p:sp>
        <p:nvSpPr>
          <p:cNvPr id="96265" name="Line 1033">
            <a:extLst>
              <a:ext uri="{FF2B5EF4-FFF2-40B4-BE49-F238E27FC236}">
                <a16:creationId xmlns:a16="http://schemas.microsoft.com/office/drawing/2014/main" id="{9774411F-8C78-41D5-B448-4D85E77CEB3E}"/>
              </a:ext>
            </a:extLst>
          </p:cNvPr>
          <p:cNvSpPr>
            <a:spLocks noChangeShapeType="1"/>
          </p:cNvSpPr>
          <p:nvPr/>
        </p:nvSpPr>
        <p:spPr bwMode="auto">
          <a:xfrm flipH="1" flipV="1">
            <a:off x="3073400" y="5283200"/>
            <a:ext cx="777875" cy="211138"/>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2" name="Notes Placeholder 1">
            <a:extLst>
              <a:ext uri="{FF2B5EF4-FFF2-40B4-BE49-F238E27FC236}">
                <a16:creationId xmlns:a16="http://schemas.microsoft.com/office/drawing/2014/main" id="{AE85C46B-933D-45BB-B7BE-944D25C3BECF}"/>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7629649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a:extLst>
              <a:ext uri="{FF2B5EF4-FFF2-40B4-BE49-F238E27FC236}">
                <a16:creationId xmlns:a16="http://schemas.microsoft.com/office/drawing/2014/main" id="{C9E16A92-57F7-45AC-B6F7-B7C860C901E7}"/>
              </a:ext>
            </a:extLst>
          </p:cNvPr>
          <p:cNvSpPr>
            <a:spLocks noGrp="1" noRot="1" noChangeAspect="1" noChangeArrowheads="1" noTextEdit="1"/>
          </p:cNvSpPr>
          <p:nvPr>
            <p:ph type="sldImg"/>
          </p:nvPr>
        </p:nvSpPr>
        <p:spPr>
          <a:xfrm>
            <a:off x="460375" y="2590800"/>
            <a:ext cx="6124575" cy="3446463"/>
          </a:xfrm>
          <a:ln/>
        </p:spPr>
      </p:sp>
      <p:sp>
        <p:nvSpPr>
          <p:cNvPr id="110596" name="Text Box 4">
            <a:extLst>
              <a:ext uri="{FF2B5EF4-FFF2-40B4-BE49-F238E27FC236}">
                <a16:creationId xmlns:a16="http://schemas.microsoft.com/office/drawing/2014/main" id="{38B6D06A-869A-44C3-A2F0-71E0B76B6206}"/>
              </a:ext>
            </a:extLst>
          </p:cNvPr>
          <p:cNvSpPr txBox="1">
            <a:spLocks noChangeArrowheads="1"/>
          </p:cNvSpPr>
          <p:nvPr/>
        </p:nvSpPr>
        <p:spPr bwMode="auto">
          <a:xfrm>
            <a:off x="441325" y="2378075"/>
            <a:ext cx="1420813" cy="206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Energy transfer vs. charging</a:t>
            </a:r>
          </a:p>
        </p:txBody>
      </p:sp>
      <p:sp>
        <p:nvSpPr>
          <p:cNvPr id="110597" name="Line 5">
            <a:extLst>
              <a:ext uri="{FF2B5EF4-FFF2-40B4-BE49-F238E27FC236}">
                <a16:creationId xmlns:a16="http://schemas.microsoft.com/office/drawing/2014/main" id="{B6A0C391-ECE6-4393-ACF7-A17D8960B996}"/>
              </a:ext>
            </a:extLst>
          </p:cNvPr>
          <p:cNvSpPr>
            <a:spLocks noChangeShapeType="1"/>
          </p:cNvSpPr>
          <p:nvPr/>
        </p:nvSpPr>
        <p:spPr bwMode="auto">
          <a:xfrm>
            <a:off x="757238" y="2590800"/>
            <a:ext cx="768350" cy="79375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110598" name="Text Box 6">
            <a:extLst>
              <a:ext uri="{FF2B5EF4-FFF2-40B4-BE49-F238E27FC236}">
                <a16:creationId xmlns:a16="http://schemas.microsoft.com/office/drawing/2014/main" id="{4D5FEE24-4026-4BD6-9C56-7E12E16B7E7A}"/>
              </a:ext>
            </a:extLst>
          </p:cNvPr>
          <p:cNvSpPr txBox="1">
            <a:spLocks noChangeArrowheads="1"/>
          </p:cNvSpPr>
          <p:nvPr/>
        </p:nvSpPr>
        <p:spPr bwMode="auto">
          <a:xfrm>
            <a:off x="3330575" y="1714500"/>
            <a:ext cx="3379788"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Energetic particles may displace or ionize material in their paths (also deposit energy to induce more low energy effects)</a:t>
            </a:r>
          </a:p>
        </p:txBody>
      </p:sp>
      <p:sp>
        <p:nvSpPr>
          <p:cNvPr id="110599" name="Text Box 7">
            <a:extLst>
              <a:ext uri="{FF2B5EF4-FFF2-40B4-BE49-F238E27FC236}">
                <a16:creationId xmlns:a16="http://schemas.microsoft.com/office/drawing/2014/main" id="{A6E0D19B-2161-4336-902A-23502367B0D4}"/>
              </a:ext>
            </a:extLst>
          </p:cNvPr>
          <p:cNvSpPr txBox="1">
            <a:spLocks noChangeArrowheads="1"/>
          </p:cNvSpPr>
          <p:nvPr/>
        </p:nvSpPr>
        <p:spPr bwMode="auto">
          <a:xfrm>
            <a:off x="3997325" y="3694113"/>
            <a:ext cx="1687513" cy="206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Dominant source depends on orbit</a:t>
            </a:r>
          </a:p>
        </p:txBody>
      </p:sp>
      <p:sp>
        <p:nvSpPr>
          <p:cNvPr id="110600" name="Line 8">
            <a:extLst>
              <a:ext uri="{FF2B5EF4-FFF2-40B4-BE49-F238E27FC236}">
                <a16:creationId xmlns:a16="http://schemas.microsoft.com/office/drawing/2014/main" id="{C4C0684A-6664-4C19-94F2-958958667EA7}"/>
              </a:ext>
            </a:extLst>
          </p:cNvPr>
          <p:cNvSpPr>
            <a:spLocks noChangeShapeType="1"/>
          </p:cNvSpPr>
          <p:nvPr/>
        </p:nvSpPr>
        <p:spPr bwMode="auto">
          <a:xfrm flipH="1">
            <a:off x="2889250" y="3786188"/>
            <a:ext cx="1120775" cy="150812"/>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110601" name="Text Box 9">
            <a:extLst>
              <a:ext uri="{FF2B5EF4-FFF2-40B4-BE49-F238E27FC236}">
                <a16:creationId xmlns:a16="http://schemas.microsoft.com/office/drawing/2014/main" id="{31C6082E-D71B-432E-88E9-C04C7610AB2E}"/>
              </a:ext>
            </a:extLst>
          </p:cNvPr>
          <p:cNvSpPr txBox="1">
            <a:spLocks noChangeArrowheads="1"/>
          </p:cNvSpPr>
          <p:nvPr/>
        </p:nvSpPr>
        <p:spPr bwMode="auto">
          <a:xfrm>
            <a:off x="0" y="4044950"/>
            <a:ext cx="1419225"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A variety of naturally occurring sources exist</a:t>
            </a:r>
          </a:p>
        </p:txBody>
      </p:sp>
      <p:sp>
        <p:nvSpPr>
          <p:cNvPr id="110602" name="Text Box 10">
            <a:extLst>
              <a:ext uri="{FF2B5EF4-FFF2-40B4-BE49-F238E27FC236}">
                <a16:creationId xmlns:a16="http://schemas.microsoft.com/office/drawing/2014/main" id="{9143603B-E1D5-4488-B65F-1A28C3F24885}"/>
              </a:ext>
            </a:extLst>
          </p:cNvPr>
          <p:cNvSpPr txBox="1">
            <a:spLocks noChangeArrowheads="1"/>
          </p:cNvSpPr>
          <p:nvPr/>
        </p:nvSpPr>
        <p:spPr bwMode="auto">
          <a:xfrm>
            <a:off x="431800" y="6054725"/>
            <a:ext cx="2268538"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Ionization and atomic displacement reduce the current and power that a cell can produce</a:t>
            </a:r>
          </a:p>
        </p:txBody>
      </p:sp>
      <p:sp>
        <p:nvSpPr>
          <p:cNvPr id="110603" name="Line 11">
            <a:extLst>
              <a:ext uri="{FF2B5EF4-FFF2-40B4-BE49-F238E27FC236}">
                <a16:creationId xmlns:a16="http://schemas.microsoft.com/office/drawing/2014/main" id="{0AAD3C37-BE58-4EA8-8CE1-EDEA0A9EB3D3}"/>
              </a:ext>
            </a:extLst>
          </p:cNvPr>
          <p:cNvSpPr>
            <a:spLocks noChangeShapeType="1"/>
          </p:cNvSpPr>
          <p:nvPr/>
        </p:nvSpPr>
        <p:spPr bwMode="auto">
          <a:xfrm flipV="1">
            <a:off x="555625" y="4992688"/>
            <a:ext cx="1181100" cy="1093787"/>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110604" name="Text Box 12">
            <a:extLst>
              <a:ext uri="{FF2B5EF4-FFF2-40B4-BE49-F238E27FC236}">
                <a16:creationId xmlns:a16="http://schemas.microsoft.com/office/drawing/2014/main" id="{BCE83C03-A0E1-4F51-B845-28ADE42A880B}"/>
              </a:ext>
            </a:extLst>
          </p:cNvPr>
          <p:cNvSpPr txBox="1">
            <a:spLocks noChangeArrowheads="1"/>
          </p:cNvSpPr>
          <p:nvPr/>
        </p:nvSpPr>
        <p:spPr bwMode="auto">
          <a:xfrm>
            <a:off x="4249738" y="5653088"/>
            <a:ext cx="1597025" cy="204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Similar to solar cell degradation</a:t>
            </a:r>
          </a:p>
        </p:txBody>
      </p:sp>
      <p:sp>
        <p:nvSpPr>
          <p:cNvPr id="110606" name="Line 14">
            <a:extLst>
              <a:ext uri="{FF2B5EF4-FFF2-40B4-BE49-F238E27FC236}">
                <a16:creationId xmlns:a16="http://schemas.microsoft.com/office/drawing/2014/main" id="{9B1CCFC3-FA50-45D2-BFAC-2D818C5208B8}"/>
              </a:ext>
            </a:extLst>
          </p:cNvPr>
          <p:cNvSpPr>
            <a:spLocks noChangeShapeType="1"/>
          </p:cNvSpPr>
          <p:nvPr/>
        </p:nvSpPr>
        <p:spPr bwMode="auto">
          <a:xfrm flipH="1" flipV="1">
            <a:off x="3848100" y="5534025"/>
            <a:ext cx="425450" cy="211138"/>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110607" name="Text Box 15">
            <a:extLst>
              <a:ext uri="{FF2B5EF4-FFF2-40B4-BE49-F238E27FC236}">
                <a16:creationId xmlns:a16="http://schemas.microsoft.com/office/drawing/2014/main" id="{51B315C7-A571-49AA-B6E9-F03861C4F278}"/>
              </a:ext>
            </a:extLst>
          </p:cNvPr>
          <p:cNvSpPr txBox="1">
            <a:spLocks noChangeArrowheads="1"/>
          </p:cNvSpPr>
          <p:nvPr/>
        </p:nvSpPr>
        <p:spPr bwMode="auto">
          <a:xfrm>
            <a:off x="4249738" y="6115050"/>
            <a:ext cx="1109662" cy="204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No response to inputs</a:t>
            </a:r>
          </a:p>
        </p:txBody>
      </p:sp>
      <p:sp>
        <p:nvSpPr>
          <p:cNvPr id="110608" name="Text Box 16">
            <a:extLst>
              <a:ext uri="{FF2B5EF4-FFF2-40B4-BE49-F238E27FC236}">
                <a16:creationId xmlns:a16="http://schemas.microsoft.com/office/drawing/2014/main" id="{628894B5-C465-489B-8E2F-176C102A7400}"/>
              </a:ext>
            </a:extLst>
          </p:cNvPr>
          <p:cNvSpPr txBox="1">
            <a:spLocks noChangeArrowheads="1"/>
          </p:cNvSpPr>
          <p:nvPr/>
        </p:nvSpPr>
        <p:spPr bwMode="auto">
          <a:xfrm>
            <a:off x="3825875" y="6516688"/>
            <a:ext cx="28162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Functions in a manner inconsistent with its design characteristics (e.g., memory register changes state)</a:t>
            </a:r>
          </a:p>
        </p:txBody>
      </p:sp>
      <p:sp>
        <p:nvSpPr>
          <p:cNvPr id="110609" name="Line 17">
            <a:extLst>
              <a:ext uri="{FF2B5EF4-FFF2-40B4-BE49-F238E27FC236}">
                <a16:creationId xmlns:a16="http://schemas.microsoft.com/office/drawing/2014/main" id="{40349246-9857-402F-8C55-11CFE343688C}"/>
              </a:ext>
            </a:extLst>
          </p:cNvPr>
          <p:cNvSpPr>
            <a:spLocks noChangeShapeType="1"/>
          </p:cNvSpPr>
          <p:nvPr/>
        </p:nvSpPr>
        <p:spPr bwMode="auto">
          <a:xfrm flipH="1" flipV="1">
            <a:off x="3333750" y="5826125"/>
            <a:ext cx="858838" cy="38100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110610" name="Line 18">
            <a:extLst>
              <a:ext uri="{FF2B5EF4-FFF2-40B4-BE49-F238E27FC236}">
                <a16:creationId xmlns:a16="http://schemas.microsoft.com/office/drawing/2014/main" id="{16595B4B-6498-47C7-9B56-DB4C1A890F7F}"/>
              </a:ext>
            </a:extLst>
          </p:cNvPr>
          <p:cNvSpPr>
            <a:spLocks noChangeShapeType="1"/>
          </p:cNvSpPr>
          <p:nvPr/>
        </p:nvSpPr>
        <p:spPr bwMode="auto">
          <a:xfrm flipH="1" flipV="1">
            <a:off x="2736850" y="5815013"/>
            <a:ext cx="1404938" cy="633412"/>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110611" name="Text Box 19">
            <a:extLst>
              <a:ext uri="{FF2B5EF4-FFF2-40B4-BE49-F238E27FC236}">
                <a16:creationId xmlns:a16="http://schemas.microsoft.com/office/drawing/2014/main" id="{8AE62511-7CEB-4673-AFFF-1BF45CC7D712}"/>
              </a:ext>
            </a:extLst>
          </p:cNvPr>
          <p:cNvSpPr txBox="1">
            <a:spLocks noChangeArrowheads="1"/>
          </p:cNvSpPr>
          <p:nvPr/>
        </p:nvSpPr>
        <p:spPr bwMode="auto">
          <a:xfrm>
            <a:off x="896938" y="7107238"/>
            <a:ext cx="1463675"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“soft”  -- bit flips</a:t>
            </a:r>
          </a:p>
          <a:p>
            <a:pPr>
              <a:defRPr/>
            </a:pPr>
            <a:r>
              <a:rPr lang="en-US" altLang="en-US" sz="900" i="1"/>
              <a:t>“hard” -- permanent damage</a:t>
            </a:r>
          </a:p>
        </p:txBody>
      </p:sp>
    </p:spTree>
    <p:extLst>
      <p:ext uri="{BB962C8B-B14F-4D97-AF65-F5344CB8AC3E}">
        <p14:creationId xmlns:p14="http://schemas.microsoft.com/office/powerpoint/2010/main" val="33724213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a:extLst>
              <a:ext uri="{FF2B5EF4-FFF2-40B4-BE49-F238E27FC236}">
                <a16:creationId xmlns:a16="http://schemas.microsoft.com/office/drawing/2014/main" id="{C9E16A92-57F7-45AC-B6F7-B7C860C901E7}"/>
              </a:ext>
            </a:extLst>
          </p:cNvPr>
          <p:cNvSpPr>
            <a:spLocks noGrp="1" noRot="1" noChangeAspect="1" noChangeArrowheads="1" noTextEdit="1"/>
          </p:cNvSpPr>
          <p:nvPr>
            <p:ph type="sldImg"/>
          </p:nvPr>
        </p:nvSpPr>
        <p:spPr>
          <a:xfrm>
            <a:off x="460375" y="2590800"/>
            <a:ext cx="6124575" cy="3446463"/>
          </a:xfrm>
          <a:ln/>
        </p:spPr>
      </p:sp>
      <p:sp>
        <p:nvSpPr>
          <p:cNvPr id="110596" name="Text Box 4">
            <a:extLst>
              <a:ext uri="{FF2B5EF4-FFF2-40B4-BE49-F238E27FC236}">
                <a16:creationId xmlns:a16="http://schemas.microsoft.com/office/drawing/2014/main" id="{38B6D06A-869A-44C3-A2F0-71E0B76B6206}"/>
              </a:ext>
            </a:extLst>
          </p:cNvPr>
          <p:cNvSpPr txBox="1">
            <a:spLocks noChangeArrowheads="1"/>
          </p:cNvSpPr>
          <p:nvPr/>
        </p:nvSpPr>
        <p:spPr bwMode="auto">
          <a:xfrm>
            <a:off x="441325" y="2378075"/>
            <a:ext cx="1420813" cy="206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Energy transfer vs. charging</a:t>
            </a:r>
          </a:p>
        </p:txBody>
      </p:sp>
      <p:sp>
        <p:nvSpPr>
          <p:cNvPr id="110597" name="Line 5">
            <a:extLst>
              <a:ext uri="{FF2B5EF4-FFF2-40B4-BE49-F238E27FC236}">
                <a16:creationId xmlns:a16="http://schemas.microsoft.com/office/drawing/2014/main" id="{B6A0C391-ECE6-4393-ACF7-A17D8960B996}"/>
              </a:ext>
            </a:extLst>
          </p:cNvPr>
          <p:cNvSpPr>
            <a:spLocks noChangeShapeType="1"/>
          </p:cNvSpPr>
          <p:nvPr/>
        </p:nvSpPr>
        <p:spPr bwMode="auto">
          <a:xfrm>
            <a:off x="757238" y="2590800"/>
            <a:ext cx="768350" cy="79375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110598" name="Text Box 6">
            <a:extLst>
              <a:ext uri="{FF2B5EF4-FFF2-40B4-BE49-F238E27FC236}">
                <a16:creationId xmlns:a16="http://schemas.microsoft.com/office/drawing/2014/main" id="{4D5FEE24-4026-4BD6-9C56-7E12E16B7E7A}"/>
              </a:ext>
            </a:extLst>
          </p:cNvPr>
          <p:cNvSpPr txBox="1">
            <a:spLocks noChangeArrowheads="1"/>
          </p:cNvSpPr>
          <p:nvPr/>
        </p:nvSpPr>
        <p:spPr bwMode="auto">
          <a:xfrm>
            <a:off x="3330575" y="1714500"/>
            <a:ext cx="3379788"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Energetic particles may displace or ionize material in their paths (also deposit energy to induce more low energy effects)</a:t>
            </a:r>
          </a:p>
        </p:txBody>
      </p:sp>
      <p:sp>
        <p:nvSpPr>
          <p:cNvPr id="110599" name="Text Box 7">
            <a:extLst>
              <a:ext uri="{FF2B5EF4-FFF2-40B4-BE49-F238E27FC236}">
                <a16:creationId xmlns:a16="http://schemas.microsoft.com/office/drawing/2014/main" id="{A6E0D19B-2161-4336-902A-23502367B0D4}"/>
              </a:ext>
            </a:extLst>
          </p:cNvPr>
          <p:cNvSpPr txBox="1">
            <a:spLocks noChangeArrowheads="1"/>
          </p:cNvSpPr>
          <p:nvPr/>
        </p:nvSpPr>
        <p:spPr bwMode="auto">
          <a:xfrm>
            <a:off x="3997325" y="3694113"/>
            <a:ext cx="1687513" cy="206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Dominant source depends on orbit</a:t>
            </a:r>
          </a:p>
        </p:txBody>
      </p:sp>
      <p:sp>
        <p:nvSpPr>
          <p:cNvPr id="110600" name="Line 8">
            <a:extLst>
              <a:ext uri="{FF2B5EF4-FFF2-40B4-BE49-F238E27FC236}">
                <a16:creationId xmlns:a16="http://schemas.microsoft.com/office/drawing/2014/main" id="{C4C0684A-6664-4C19-94F2-958958667EA7}"/>
              </a:ext>
            </a:extLst>
          </p:cNvPr>
          <p:cNvSpPr>
            <a:spLocks noChangeShapeType="1"/>
          </p:cNvSpPr>
          <p:nvPr/>
        </p:nvSpPr>
        <p:spPr bwMode="auto">
          <a:xfrm flipH="1">
            <a:off x="2889250" y="3786188"/>
            <a:ext cx="1120775" cy="150812"/>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110601" name="Text Box 9">
            <a:extLst>
              <a:ext uri="{FF2B5EF4-FFF2-40B4-BE49-F238E27FC236}">
                <a16:creationId xmlns:a16="http://schemas.microsoft.com/office/drawing/2014/main" id="{31C6082E-D71B-432E-88E9-C04C7610AB2E}"/>
              </a:ext>
            </a:extLst>
          </p:cNvPr>
          <p:cNvSpPr txBox="1">
            <a:spLocks noChangeArrowheads="1"/>
          </p:cNvSpPr>
          <p:nvPr/>
        </p:nvSpPr>
        <p:spPr bwMode="auto">
          <a:xfrm>
            <a:off x="0" y="4044950"/>
            <a:ext cx="1419225"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A variety of naturally occurring sources exist</a:t>
            </a:r>
          </a:p>
        </p:txBody>
      </p:sp>
      <p:sp>
        <p:nvSpPr>
          <p:cNvPr id="110602" name="Text Box 10">
            <a:extLst>
              <a:ext uri="{FF2B5EF4-FFF2-40B4-BE49-F238E27FC236}">
                <a16:creationId xmlns:a16="http://schemas.microsoft.com/office/drawing/2014/main" id="{9143603B-E1D5-4488-B65F-1A28C3F24885}"/>
              </a:ext>
            </a:extLst>
          </p:cNvPr>
          <p:cNvSpPr txBox="1">
            <a:spLocks noChangeArrowheads="1"/>
          </p:cNvSpPr>
          <p:nvPr/>
        </p:nvSpPr>
        <p:spPr bwMode="auto">
          <a:xfrm>
            <a:off x="431800" y="6054725"/>
            <a:ext cx="2268538"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Ionization and atomic displacement reduce the current and power that a cell can produce</a:t>
            </a:r>
          </a:p>
        </p:txBody>
      </p:sp>
      <p:sp>
        <p:nvSpPr>
          <p:cNvPr id="110603" name="Line 11">
            <a:extLst>
              <a:ext uri="{FF2B5EF4-FFF2-40B4-BE49-F238E27FC236}">
                <a16:creationId xmlns:a16="http://schemas.microsoft.com/office/drawing/2014/main" id="{0AAD3C37-BE58-4EA8-8CE1-EDEA0A9EB3D3}"/>
              </a:ext>
            </a:extLst>
          </p:cNvPr>
          <p:cNvSpPr>
            <a:spLocks noChangeShapeType="1"/>
          </p:cNvSpPr>
          <p:nvPr/>
        </p:nvSpPr>
        <p:spPr bwMode="auto">
          <a:xfrm flipV="1">
            <a:off x="555625" y="4992688"/>
            <a:ext cx="1181100" cy="1093787"/>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110604" name="Text Box 12">
            <a:extLst>
              <a:ext uri="{FF2B5EF4-FFF2-40B4-BE49-F238E27FC236}">
                <a16:creationId xmlns:a16="http://schemas.microsoft.com/office/drawing/2014/main" id="{BCE83C03-A0E1-4F51-B845-28ADE42A880B}"/>
              </a:ext>
            </a:extLst>
          </p:cNvPr>
          <p:cNvSpPr txBox="1">
            <a:spLocks noChangeArrowheads="1"/>
          </p:cNvSpPr>
          <p:nvPr/>
        </p:nvSpPr>
        <p:spPr bwMode="auto">
          <a:xfrm>
            <a:off x="4249738" y="5653088"/>
            <a:ext cx="1597025" cy="204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Similar to solar cell degradation</a:t>
            </a:r>
          </a:p>
        </p:txBody>
      </p:sp>
      <p:sp>
        <p:nvSpPr>
          <p:cNvPr id="110606" name="Line 14">
            <a:extLst>
              <a:ext uri="{FF2B5EF4-FFF2-40B4-BE49-F238E27FC236}">
                <a16:creationId xmlns:a16="http://schemas.microsoft.com/office/drawing/2014/main" id="{9B1CCFC3-FA50-45D2-BFAC-2D818C5208B8}"/>
              </a:ext>
            </a:extLst>
          </p:cNvPr>
          <p:cNvSpPr>
            <a:spLocks noChangeShapeType="1"/>
          </p:cNvSpPr>
          <p:nvPr/>
        </p:nvSpPr>
        <p:spPr bwMode="auto">
          <a:xfrm flipH="1" flipV="1">
            <a:off x="3848100" y="5534025"/>
            <a:ext cx="425450" cy="211138"/>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110607" name="Text Box 15">
            <a:extLst>
              <a:ext uri="{FF2B5EF4-FFF2-40B4-BE49-F238E27FC236}">
                <a16:creationId xmlns:a16="http://schemas.microsoft.com/office/drawing/2014/main" id="{51B315C7-A571-49AA-B6E9-F03861C4F278}"/>
              </a:ext>
            </a:extLst>
          </p:cNvPr>
          <p:cNvSpPr txBox="1">
            <a:spLocks noChangeArrowheads="1"/>
          </p:cNvSpPr>
          <p:nvPr/>
        </p:nvSpPr>
        <p:spPr bwMode="auto">
          <a:xfrm>
            <a:off x="4249738" y="6115050"/>
            <a:ext cx="1109662" cy="204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No response to inputs</a:t>
            </a:r>
          </a:p>
        </p:txBody>
      </p:sp>
      <p:sp>
        <p:nvSpPr>
          <p:cNvPr id="110608" name="Text Box 16">
            <a:extLst>
              <a:ext uri="{FF2B5EF4-FFF2-40B4-BE49-F238E27FC236}">
                <a16:creationId xmlns:a16="http://schemas.microsoft.com/office/drawing/2014/main" id="{628894B5-C465-489B-8E2F-176C102A7400}"/>
              </a:ext>
            </a:extLst>
          </p:cNvPr>
          <p:cNvSpPr txBox="1">
            <a:spLocks noChangeArrowheads="1"/>
          </p:cNvSpPr>
          <p:nvPr/>
        </p:nvSpPr>
        <p:spPr bwMode="auto">
          <a:xfrm>
            <a:off x="3825875" y="6516688"/>
            <a:ext cx="28162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Functions in a manner inconsistent with its design characteristics (e.g., memory register changes state)</a:t>
            </a:r>
          </a:p>
        </p:txBody>
      </p:sp>
      <p:sp>
        <p:nvSpPr>
          <p:cNvPr id="110609" name="Line 17">
            <a:extLst>
              <a:ext uri="{FF2B5EF4-FFF2-40B4-BE49-F238E27FC236}">
                <a16:creationId xmlns:a16="http://schemas.microsoft.com/office/drawing/2014/main" id="{40349246-9857-402F-8C55-11CFE343688C}"/>
              </a:ext>
            </a:extLst>
          </p:cNvPr>
          <p:cNvSpPr>
            <a:spLocks noChangeShapeType="1"/>
          </p:cNvSpPr>
          <p:nvPr/>
        </p:nvSpPr>
        <p:spPr bwMode="auto">
          <a:xfrm flipH="1" flipV="1">
            <a:off x="3333750" y="5826125"/>
            <a:ext cx="858838" cy="38100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110610" name="Line 18">
            <a:extLst>
              <a:ext uri="{FF2B5EF4-FFF2-40B4-BE49-F238E27FC236}">
                <a16:creationId xmlns:a16="http://schemas.microsoft.com/office/drawing/2014/main" id="{16595B4B-6498-47C7-9B56-DB4C1A890F7F}"/>
              </a:ext>
            </a:extLst>
          </p:cNvPr>
          <p:cNvSpPr>
            <a:spLocks noChangeShapeType="1"/>
          </p:cNvSpPr>
          <p:nvPr/>
        </p:nvSpPr>
        <p:spPr bwMode="auto">
          <a:xfrm flipH="1" flipV="1">
            <a:off x="2736850" y="5815013"/>
            <a:ext cx="1404938" cy="633412"/>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110611" name="Text Box 19">
            <a:extLst>
              <a:ext uri="{FF2B5EF4-FFF2-40B4-BE49-F238E27FC236}">
                <a16:creationId xmlns:a16="http://schemas.microsoft.com/office/drawing/2014/main" id="{8AE62511-7CEB-4673-AFFF-1BF45CC7D712}"/>
              </a:ext>
            </a:extLst>
          </p:cNvPr>
          <p:cNvSpPr txBox="1">
            <a:spLocks noChangeArrowheads="1"/>
          </p:cNvSpPr>
          <p:nvPr/>
        </p:nvSpPr>
        <p:spPr bwMode="auto">
          <a:xfrm>
            <a:off x="896938" y="7107238"/>
            <a:ext cx="1463675"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“soft”  -- bit flips</a:t>
            </a:r>
          </a:p>
          <a:p>
            <a:pPr>
              <a:defRPr/>
            </a:pPr>
            <a:r>
              <a:rPr lang="en-US" altLang="en-US" sz="900" i="1"/>
              <a:t>“hard” -- permanent damage</a:t>
            </a:r>
          </a:p>
        </p:txBody>
      </p:sp>
    </p:spTree>
    <p:extLst>
      <p:ext uri="{BB962C8B-B14F-4D97-AF65-F5344CB8AC3E}">
        <p14:creationId xmlns:p14="http://schemas.microsoft.com/office/powerpoint/2010/main" val="19826588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5F53694B-D63D-4E4D-B793-F399F86FBA9C}"/>
              </a:ext>
            </a:extLst>
          </p:cNvPr>
          <p:cNvSpPr>
            <a:spLocks noGrp="1" noRot="1" noChangeAspect="1" noChangeArrowheads="1" noTextEdit="1"/>
          </p:cNvSpPr>
          <p:nvPr>
            <p:ph type="sldImg"/>
          </p:nvPr>
        </p:nvSpPr>
        <p:spPr>
          <a:xfrm>
            <a:off x="561975" y="3500438"/>
            <a:ext cx="7742238" cy="4356100"/>
          </a:xfrm>
          <a:noFill/>
          <a:ln cap="flat"/>
        </p:spPr>
      </p:sp>
      <p:sp>
        <p:nvSpPr>
          <p:cNvPr id="26627" name="Text Box 3">
            <a:extLst>
              <a:ext uri="{FF2B5EF4-FFF2-40B4-BE49-F238E27FC236}">
                <a16:creationId xmlns:a16="http://schemas.microsoft.com/office/drawing/2014/main" id="{A80E2BDF-190D-4819-954A-F4505237C243}"/>
              </a:ext>
            </a:extLst>
          </p:cNvPr>
          <p:cNvSpPr txBox="1">
            <a:spLocks noChangeArrowheads="1"/>
          </p:cNvSpPr>
          <p:nvPr/>
        </p:nvSpPr>
        <p:spPr bwMode="auto">
          <a:xfrm>
            <a:off x="798513" y="8739188"/>
            <a:ext cx="2754312" cy="757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6540" tIns="58270" rIns="116540" bIns="58270">
            <a:spAutoFit/>
          </a:bodyPr>
          <a:lstStyle>
            <a:lvl1pPr defTabSz="1165225">
              <a:defRPr sz="2400">
                <a:solidFill>
                  <a:schemeClr val="tx1"/>
                </a:solidFill>
                <a:latin typeface="Times New Roman" panose="02020603050405020304" pitchFamily="18" charset="0"/>
              </a:defRPr>
            </a:lvl1pPr>
            <a:lvl2pPr marL="742950" indent="-285750" defTabSz="1165225">
              <a:defRPr sz="2400">
                <a:solidFill>
                  <a:schemeClr val="tx1"/>
                </a:solidFill>
                <a:latin typeface="Times New Roman" panose="02020603050405020304" pitchFamily="18" charset="0"/>
              </a:defRPr>
            </a:lvl2pPr>
            <a:lvl3pPr marL="1143000" indent="-228600" defTabSz="1165225">
              <a:defRPr sz="2400">
                <a:solidFill>
                  <a:schemeClr val="tx1"/>
                </a:solidFill>
                <a:latin typeface="Times New Roman" panose="02020603050405020304" pitchFamily="18" charset="0"/>
              </a:defRPr>
            </a:lvl3pPr>
            <a:lvl4pPr marL="1600200" indent="-228600" defTabSz="1165225">
              <a:defRPr sz="2400">
                <a:solidFill>
                  <a:schemeClr val="tx1"/>
                </a:solidFill>
                <a:latin typeface="Times New Roman" panose="02020603050405020304" pitchFamily="18" charset="0"/>
              </a:defRPr>
            </a:lvl4pPr>
            <a:lvl5pPr marL="2057400" indent="-228600" defTabSz="1165225">
              <a:defRPr sz="2400">
                <a:solidFill>
                  <a:schemeClr val="tx1"/>
                </a:solidFill>
                <a:latin typeface="Times New Roman" panose="02020603050405020304" pitchFamily="18" charset="0"/>
              </a:defRPr>
            </a:lvl5pPr>
            <a:lvl6pPr marL="2514600" indent="-228600" defTabSz="116522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116522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116522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1165225"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i="1"/>
              <a:t>Should emphasize the difference between cyclic and secular torques.</a:t>
            </a:r>
          </a:p>
        </p:txBody>
      </p:sp>
      <p:sp>
        <p:nvSpPr>
          <p:cNvPr id="26628" name="Line 4">
            <a:extLst>
              <a:ext uri="{FF2B5EF4-FFF2-40B4-BE49-F238E27FC236}">
                <a16:creationId xmlns:a16="http://schemas.microsoft.com/office/drawing/2014/main" id="{620AEFBE-66DC-45CA-A077-B64348ACE32F}"/>
              </a:ext>
            </a:extLst>
          </p:cNvPr>
          <p:cNvSpPr>
            <a:spLocks noChangeShapeType="1"/>
          </p:cNvSpPr>
          <p:nvPr/>
        </p:nvSpPr>
        <p:spPr bwMode="auto">
          <a:xfrm flipV="1">
            <a:off x="1168400" y="7564438"/>
            <a:ext cx="1020763" cy="1233487"/>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extLst>
      <p:ext uri="{BB962C8B-B14F-4D97-AF65-F5344CB8AC3E}">
        <p14:creationId xmlns:p14="http://schemas.microsoft.com/office/powerpoint/2010/main" val="10657932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1026">
            <a:extLst>
              <a:ext uri="{FF2B5EF4-FFF2-40B4-BE49-F238E27FC236}">
                <a16:creationId xmlns:a16="http://schemas.microsoft.com/office/drawing/2014/main" id="{5938A145-15CD-475B-9554-23A59AC9D069}"/>
              </a:ext>
            </a:extLst>
          </p:cNvPr>
          <p:cNvSpPr>
            <a:spLocks noGrp="1" noRot="1" noChangeAspect="1" noChangeArrowheads="1" noTextEdit="1"/>
          </p:cNvSpPr>
          <p:nvPr>
            <p:ph type="sldImg"/>
          </p:nvPr>
        </p:nvSpPr>
        <p:spPr>
          <a:xfrm>
            <a:off x="460375" y="2590800"/>
            <a:ext cx="6124575" cy="3446463"/>
          </a:xfrm>
          <a:ln/>
        </p:spPr>
      </p:sp>
      <p:sp>
        <p:nvSpPr>
          <p:cNvPr id="96260" name="Text Box 1028">
            <a:extLst>
              <a:ext uri="{FF2B5EF4-FFF2-40B4-BE49-F238E27FC236}">
                <a16:creationId xmlns:a16="http://schemas.microsoft.com/office/drawing/2014/main" id="{F533CFE6-0C28-46F4-B4B7-F647B2C3A0DE}"/>
              </a:ext>
            </a:extLst>
          </p:cNvPr>
          <p:cNvSpPr txBox="1">
            <a:spLocks noChangeArrowheads="1"/>
          </p:cNvSpPr>
          <p:nvPr/>
        </p:nvSpPr>
        <p:spPr bwMode="auto">
          <a:xfrm>
            <a:off x="4329113" y="4598988"/>
            <a:ext cx="1476375" cy="209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No convective heat transfer</a:t>
            </a:r>
          </a:p>
        </p:txBody>
      </p:sp>
      <p:sp>
        <p:nvSpPr>
          <p:cNvPr id="96261" name="Line 1029">
            <a:extLst>
              <a:ext uri="{FF2B5EF4-FFF2-40B4-BE49-F238E27FC236}">
                <a16:creationId xmlns:a16="http://schemas.microsoft.com/office/drawing/2014/main" id="{6AAEDB2B-5BEA-46D4-8A9D-75182D418973}"/>
              </a:ext>
            </a:extLst>
          </p:cNvPr>
          <p:cNvSpPr>
            <a:spLocks noChangeShapeType="1"/>
          </p:cNvSpPr>
          <p:nvPr/>
        </p:nvSpPr>
        <p:spPr bwMode="auto">
          <a:xfrm flipH="1">
            <a:off x="2982913" y="4672013"/>
            <a:ext cx="1343025" cy="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96262" name="Text Box 1030">
            <a:extLst>
              <a:ext uri="{FF2B5EF4-FFF2-40B4-BE49-F238E27FC236}">
                <a16:creationId xmlns:a16="http://schemas.microsoft.com/office/drawing/2014/main" id="{EA26CE59-5F0D-4A70-801E-42E3333555E6}"/>
              </a:ext>
            </a:extLst>
          </p:cNvPr>
          <p:cNvSpPr txBox="1">
            <a:spLocks noChangeArrowheads="1"/>
          </p:cNvSpPr>
          <p:nvPr/>
        </p:nvSpPr>
        <p:spPr bwMode="auto">
          <a:xfrm>
            <a:off x="542925" y="6134100"/>
            <a:ext cx="2700338"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All radiation with wavelengths less than 0.3 microns is absorbed by the ozone layer, but not so on orbit</a:t>
            </a:r>
          </a:p>
        </p:txBody>
      </p:sp>
      <p:sp>
        <p:nvSpPr>
          <p:cNvPr id="96263" name="Line 1031">
            <a:extLst>
              <a:ext uri="{FF2B5EF4-FFF2-40B4-BE49-F238E27FC236}">
                <a16:creationId xmlns:a16="http://schemas.microsoft.com/office/drawing/2014/main" id="{3309AC57-AEAB-41CB-8225-519F9C32ED8A}"/>
              </a:ext>
            </a:extLst>
          </p:cNvPr>
          <p:cNvSpPr>
            <a:spLocks noChangeShapeType="1"/>
          </p:cNvSpPr>
          <p:nvPr/>
        </p:nvSpPr>
        <p:spPr bwMode="auto">
          <a:xfrm flipV="1">
            <a:off x="806450" y="4965700"/>
            <a:ext cx="1062038" cy="1166813"/>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96264" name="Text Box 1032">
            <a:extLst>
              <a:ext uri="{FF2B5EF4-FFF2-40B4-BE49-F238E27FC236}">
                <a16:creationId xmlns:a16="http://schemas.microsoft.com/office/drawing/2014/main" id="{AC14DD96-1E7F-4989-BCC9-0BF6C785567F}"/>
              </a:ext>
            </a:extLst>
          </p:cNvPr>
          <p:cNvSpPr txBox="1">
            <a:spLocks noChangeArrowheads="1"/>
          </p:cNvSpPr>
          <p:nvPr/>
        </p:nvSpPr>
        <p:spPr bwMode="auto">
          <a:xfrm>
            <a:off x="3824288" y="5446713"/>
            <a:ext cx="1981200" cy="209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Film deposits and no window cleaner</a:t>
            </a:r>
          </a:p>
        </p:txBody>
      </p:sp>
      <p:sp>
        <p:nvSpPr>
          <p:cNvPr id="96265" name="Line 1033">
            <a:extLst>
              <a:ext uri="{FF2B5EF4-FFF2-40B4-BE49-F238E27FC236}">
                <a16:creationId xmlns:a16="http://schemas.microsoft.com/office/drawing/2014/main" id="{9774411F-8C78-41D5-B448-4D85E77CEB3E}"/>
              </a:ext>
            </a:extLst>
          </p:cNvPr>
          <p:cNvSpPr>
            <a:spLocks noChangeShapeType="1"/>
          </p:cNvSpPr>
          <p:nvPr/>
        </p:nvSpPr>
        <p:spPr bwMode="auto">
          <a:xfrm flipH="1" flipV="1">
            <a:off x="3073400" y="5283200"/>
            <a:ext cx="777875" cy="211138"/>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2" name="Notes Placeholder 1">
            <a:extLst>
              <a:ext uri="{FF2B5EF4-FFF2-40B4-BE49-F238E27FC236}">
                <a16:creationId xmlns:a16="http://schemas.microsoft.com/office/drawing/2014/main" id="{AE85C46B-933D-45BB-B7BE-944D25C3BECF}"/>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063136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1026">
            <a:extLst>
              <a:ext uri="{FF2B5EF4-FFF2-40B4-BE49-F238E27FC236}">
                <a16:creationId xmlns:a16="http://schemas.microsoft.com/office/drawing/2014/main" id="{5938A145-15CD-475B-9554-23A59AC9D069}"/>
              </a:ext>
            </a:extLst>
          </p:cNvPr>
          <p:cNvSpPr>
            <a:spLocks noGrp="1" noRot="1" noChangeAspect="1" noChangeArrowheads="1" noTextEdit="1"/>
          </p:cNvSpPr>
          <p:nvPr>
            <p:ph type="sldImg"/>
          </p:nvPr>
        </p:nvSpPr>
        <p:spPr>
          <a:xfrm>
            <a:off x="460375" y="2590800"/>
            <a:ext cx="6124575" cy="3446463"/>
          </a:xfrm>
          <a:ln/>
        </p:spPr>
      </p:sp>
      <p:sp>
        <p:nvSpPr>
          <p:cNvPr id="96260" name="Text Box 1028">
            <a:extLst>
              <a:ext uri="{FF2B5EF4-FFF2-40B4-BE49-F238E27FC236}">
                <a16:creationId xmlns:a16="http://schemas.microsoft.com/office/drawing/2014/main" id="{F533CFE6-0C28-46F4-B4B7-F647B2C3A0DE}"/>
              </a:ext>
            </a:extLst>
          </p:cNvPr>
          <p:cNvSpPr txBox="1">
            <a:spLocks noChangeArrowheads="1"/>
          </p:cNvSpPr>
          <p:nvPr/>
        </p:nvSpPr>
        <p:spPr bwMode="auto">
          <a:xfrm>
            <a:off x="4329113" y="4598988"/>
            <a:ext cx="1476375" cy="209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No convective heat transfer</a:t>
            </a:r>
          </a:p>
        </p:txBody>
      </p:sp>
      <p:sp>
        <p:nvSpPr>
          <p:cNvPr id="96261" name="Line 1029">
            <a:extLst>
              <a:ext uri="{FF2B5EF4-FFF2-40B4-BE49-F238E27FC236}">
                <a16:creationId xmlns:a16="http://schemas.microsoft.com/office/drawing/2014/main" id="{6AAEDB2B-5BEA-46D4-8A9D-75182D418973}"/>
              </a:ext>
            </a:extLst>
          </p:cNvPr>
          <p:cNvSpPr>
            <a:spLocks noChangeShapeType="1"/>
          </p:cNvSpPr>
          <p:nvPr/>
        </p:nvSpPr>
        <p:spPr bwMode="auto">
          <a:xfrm flipH="1">
            <a:off x="2982913" y="4672013"/>
            <a:ext cx="1343025" cy="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96262" name="Text Box 1030">
            <a:extLst>
              <a:ext uri="{FF2B5EF4-FFF2-40B4-BE49-F238E27FC236}">
                <a16:creationId xmlns:a16="http://schemas.microsoft.com/office/drawing/2014/main" id="{EA26CE59-5F0D-4A70-801E-42E3333555E6}"/>
              </a:ext>
            </a:extLst>
          </p:cNvPr>
          <p:cNvSpPr txBox="1">
            <a:spLocks noChangeArrowheads="1"/>
          </p:cNvSpPr>
          <p:nvPr/>
        </p:nvSpPr>
        <p:spPr bwMode="auto">
          <a:xfrm>
            <a:off x="542925" y="6134100"/>
            <a:ext cx="2700338"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All radiation with wavelengths less than 0.3 microns is absorbed by the ozone layer, but not so on orbit</a:t>
            </a:r>
          </a:p>
        </p:txBody>
      </p:sp>
      <p:sp>
        <p:nvSpPr>
          <p:cNvPr id="96263" name="Line 1031">
            <a:extLst>
              <a:ext uri="{FF2B5EF4-FFF2-40B4-BE49-F238E27FC236}">
                <a16:creationId xmlns:a16="http://schemas.microsoft.com/office/drawing/2014/main" id="{3309AC57-AEAB-41CB-8225-519F9C32ED8A}"/>
              </a:ext>
            </a:extLst>
          </p:cNvPr>
          <p:cNvSpPr>
            <a:spLocks noChangeShapeType="1"/>
          </p:cNvSpPr>
          <p:nvPr/>
        </p:nvSpPr>
        <p:spPr bwMode="auto">
          <a:xfrm flipV="1">
            <a:off x="806450" y="4965700"/>
            <a:ext cx="1062038" cy="1166813"/>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96264" name="Text Box 1032">
            <a:extLst>
              <a:ext uri="{FF2B5EF4-FFF2-40B4-BE49-F238E27FC236}">
                <a16:creationId xmlns:a16="http://schemas.microsoft.com/office/drawing/2014/main" id="{AC14DD96-1E7F-4989-BCC9-0BF6C785567F}"/>
              </a:ext>
            </a:extLst>
          </p:cNvPr>
          <p:cNvSpPr txBox="1">
            <a:spLocks noChangeArrowheads="1"/>
          </p:cNvSpPr>
          <p:nvPr/>
        </p:nvSpPr>
        <p:spPr bwMode="auto">
          <a:xfrm>
            <a:off x="3824288" y="5446713"/>
            <a:ext cx="1981200" cy="209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Film deposits and no window cleaner</a:t>
            </a:r>
          </a:p>
        </p:txBody>
      </p:sp>
      <p:sp>
        <p:nvSpPr>
          <p:cNvPr id="96265" name="Line 1033">
            <a:extLst>
              <a:ext uri="{FF2B5EF4-FFF2-40B4-BE49-F238E27FC236}">
                <a16:creationId xmlns:a16="http://schemas.microsoft.com/office/drawing/2014/main" id="{9774411F-8C78-41D5-B448-4D85E77CEB3E}"/>
              </a:ext>
            </a:extLst>
          </p:cNvPr>
          <p:cNvSpPr>
            <a:spLocks noChangeShapeType="1"/>
          </p:cNvSpPr>
          <p:nvPr/>
        </p:nvSpPr>
        <p:spPr bwMode="auto">
          <a:xfrm flipH="1" flipV="1">
            <a:off x="3073400" y="5283200"/>
            <a:ext cx="777875" cy="211138"/>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2" name="Notes Placeholder 1">
            <a:extLst>
              <a:ext uri="{FF2B5EF4-FFF2-40B4-BE49-F238E27FC236}">
                <a16:creationId xmlns:a16="http://schemas.microsoft.com/office/drawing/2014/main" id="{AE85C46B-933D-45BB-B7BE-944D25C3BECF}"/>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5372686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a:extLst>
              <a:ext uri="{FF2B5EF4-FFF2-40B4-BE49-F238E27FC236}">
                <a16:creationId xmlns:a16="http://schemas.microsoft.com/office/drawing/2014/main" id="{08168EBE-FD19-439E-894F-36B16CA649D2}"/>
              </a:ext>
            </a:extLst>
          </p:cNvPr>
          <p:cNvSpPr>
            <a:spLocks noGrp="1" noRot="1" noChangeAspect="1" noChangeArrowheads="1" noTextEdit="1"/>
          </p:cNvSpPr>
          <p:nvPr>
            <p:ph type="sldImg"/>
          </p:nvPr>
        </p:nvSpPr>
        <p:spPr>
          <a:xfrm>
            <a:off x="460375" y="2590800"/>
            <a:ext cx="6124575" cy="3446463"/>
          </a:xfrm>
          <a:ln/>
        </p:spPr>
      </p:sp>
      <p:sp>
        <p:nvSpPr>
          <p:cNvPr id="115725" name="Text Box 13">
            <a:extLst>
              <a:ext uri="{FF2B5EF4-FFF2-40B4-BE49-F238E27FC236}">
                <a16:creationId xmlns:a16="http://schemas.microsoft.com/office/drawing/2014/main" id="{ACBA0AA5-CF78-497F-915D-7101329618C9}"/>
              </a:ext>
            </a:extLst>
          </p:cNvPr>
          <p:cNvSpPr txBox="1">
            <a:spLocks noChangeArrowheads="1"/>
          </p:cNvSpPr>
          <p:nvPr/>
        </p:nvSpPr>
        <p:spPr bwMode="auto">
          <a:xfrm>
            <a:off x="4167188" y="3481388"/>
            <a:ext cx="2441575" cy="346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lgn="ctr">
              <a:defRPr/>
            </a:pPr>
            <a:r>
              <a:rPr lang="en-US" altLang="en-US" sz="900" i="1"/>
              <a:t>But natural environment does not pose a serious hazard to most Earth-orbiting spacecraft</a:t>
            </a:r>
          </a:p>
        </p:txBody>
      </p:sp>
      <p:sp>
        <p:nvSpPr>
          <p:cNvPr id="115726" name="Text Box 14">
            <a:extLst>
              <a:ext uri="{FF2B5EF4-FFF2-40B4-BE49-F238E27FC236}">
                <a16:creationId xmlns:a16="http://schemas.microsoft.com/office/drawing/2014/main" id="{6AF0A8EB-A2DE-482B-9E66-2896048C4E94}"/>
              </a:ext>
            </a:extLst>
          </p:cNvPr>
          <p:cNvSpPr txBox="1">
            <a:spLocks noChangeArrowheads="1"/>
          </p:cNvSpPr>
          <p:nvPr/>
        </p:nvSpPr>
        <p:spPr bwMode="auto">
          <a:xfrm>
            <a:off x="3332163" y="6481763"/>
            <a:ext cx="3381375" cy="48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Spacecraft structure is the first line of defense, but active techniques such as shielding (space station) and maneuvering may be used.  (But remember, predicted impacts may not be accurate.)</a:t>
            </a:r>
          </a:p>
        </p:txBody>
      </p:sp>
      <p:sp>
        <p:nvSpPr>
          <p:cNvPr id="115728" name="Text Box 16">
            <a:extLst>
              <a:ext uri="{FF2B5EF4-FFF2-40B4-BE49-F238E27FC236}">
                <a16:creationId xmlns:a16="http://schemas.microsoft.com/office/drawing/2014/main" id="{7201E8AB-0757-4AC1-845E-7432807AB333}"/>
              </a:ext>
            </a:extLst>
          </p:cNvPr>
          <p:cNvSpPr txBox="1">
            <a:spLocks noChangeArrowheads="1"/>
          </p:cNvSpPr>
          <p:nvPr/>
        </p:nvSpPr>
        <p:spPr bwMode="auto">
          <a:xfrm>
            <a:off x="614363" y="6183313"/>
            <a:ext cx="1703387"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Perhaps over 20,000 objects of diameter 4 cm or more</a:t>
            </a:r>
          </a:p>
        </p:txBody>
      </p:sp>
      <p:sp>
        <p:nvSpPr>
          <p:cNvPr id="115729" name="Line 17">
            <a:extLst>
              <a:ext uri="{FF2B5EF4-FFF2-40B4-BE49-F238E27FC236}">
                <a16:creationId xmlns:a16="http://schemas.microsoft.com/office/drawing/2014/main" id="{7A38BA27-FF96-4A6F-A006-AD497AE928EC}"/>
              </a:ext>
            </a:extLst>
          </p:cNvPr>
          <p:cNvSpPr>
            <a:spLocks noChangeShapeType="1"/>
          </p:cNvSpPr>
          <p:nvPr/>
        </p:nvSpPr>
        <p:spPr bwMode="auto">
          <a:xfrm flipV="1">
            <a:off x="868363" y="4471988"/>
            <a:ext cx="690562" cy="1725612"/>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115730" name="Text Box 18">
            <a:extLst>
              <a:ext uri="{FF2B5EF4-FFF2-40B4-BE49-F238E27FC236}">
                <a16:creationId xmlns:a16="http://schemas.microsoft.com/office/drawing/2014/main" id="{E89527A5-E229-449A-BCB6-33DE1AD4ECB4}"/>
              </a:ext>
            </a:extLst>
          </p:cNvPr>
          <p:cNvSpPr txBox="1">
            <a:spLocks noChangeArrowheads="1"/>
          </p:cNvSpPr>
          <p:nvPr/>
        </p:nvSpPr>
        <p:spPr bwMode="auto">
          <a:xfrm>
            <a:off x="471488" y="7178675"/>
            <a:ext cx="3381375" cy="1136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In LEO, debris as small as 0.1% of spacecraft mass can cause a spacecraft to break into many fragments</a:t>
            </a:r>
          </a:p>
          <a:p>
            <a:pPr>
              <a:defRPr/>
            </a:pPr>
            <a:endParaRPr lang="en-US" altLang="en-US" sz="900" i="1"/>
          </a:p>
          <a:p>
            <a:pPr>
              <a:defRPr/>
            </a:pPr>
            <a:r>
              <a:rPr lang="en-US" altLang="en-US" sz="900" i="1"/>
              <a:t>Orbital regions where impact with large (&gt; 10 cm) or medium (&gt; 1 cm) is most likely:  750-1000 km and 1500 km</a:t>
            </a:r>
          </a:p>
          <a:p>
            <a:pPr>
              <a:defRPr/>
            </a:pPr>
            <a:endParaRPr lang="en-US" altLang="en-US" sz="900" i="1"/>
          </a:p>
          <a:p>
            <a:pPr>
              <a:defRPr/>
            </a:pPr>
            <a:r>
              <a:rPr lang="en-US" altLang="en-US" sz="900" i="1"/>
              <a:t>Spacecraft in semi-synchronous or GEO orbits are about 100 time less likely to be struck</a:t>
            </a:r>
          </a:p>
        </p:txBody>
      </p:sp>
      <p:sp>
        <p:nvSpPr>
          <p:cNvPr id="115732" name="Text Box 20">
            <a:extLst>
              <a:ext uri="{FF2B5EF4-FFF2-40B4-BE49-F238E27FC236}">
                <a16:creationId xmlns:a16="http://schemas.microsoft.com/office/drawing/2014/main" id="{E1B05259-0550-479A-9110-37D2DB1FC92C}"/>
              </a:ext>
            </a:extLst>
          </p:cNvPr>
          <p:cNvSpPr txBox="1">
            <a:spLocks noChangeArrowheads="1"/>
          </p:cNvSpPr>
          <p:nvPr/>
        </p:nvSpPr>
        <p:spPr bwMode="auto">
          <a:xfrm>
            <a:off x="4573588" y="8193088"/>
            <a:ext cx="1668462"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lgn="ctr">
              <a:defRPr/>
            </a:pPr>
            <a:r>
              <a:rPr lang="en-US" altLang="en-US" sz="900" i="1"/>
              <a:t>Very low orbits have less debris problems because of drag</a:t>
            </a:r>
          </a:p>
        </p:txBody>
      </p:sp>
    </p:spTree>
    <p:extLst>
      <p:ext uri="{BB962C8B-B14F-4D97-AF65-F5344CB8AC3E}">
        <p14:creationId xmlns:p14="http://schemas.microsoft.com/office/powerpoint/2010/main" val="33474000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1026">
            <a:extLst>
              <a:ext uri="{FF2B5EF4-FFF2-40B4-BE49-F238E27FC236}">
                <a16:creationId xmlns:a16="http://schemas.microsoft.com/office/drawing/2014/main" id="{5938A145-15CD-475B-9554-23A59AC9D069}"/>
              </a:ext>
            </a:extLst>
          </p:cNvPr>
          <p:cNvSpPr>
            <a:spLocks noGrp="1" noRot="1" noChangeAspect="1" noChangeArrowheads="1" noTextEdit="1"/>
          </p:cNvSpPr>
          <p:nvPr>
            <p:ph type="sldImg"/>
          </p:nvPr>
        </p:nvSpPr>
        <p:spPr>
          <a:xfrm>
            <a:off x="460375" y="2590800"/>
            <a:ext cx="6124575" cy="3446463"/>
          </a:xfrm>
          <a:ln/>
        </p:spPr>
      </p:sp>
      <p:sp>
        <p:nvSpPr>
          <p:cNvPr id="96260" name="Text Box 1028">
            <a:extLst>
              <a:ext uri="{FF2B5EF4-FFF2-40B4-BE49-F238E27FC236}">
                <a16:creationId xmlns:a16="http://schemas.microsoft.com/office/drawing/2014/main" id="{F533CFE6-0C28-46F4-B4B7-F647B2C3A0DE}"/>
              </a:ext>
            </a:extLst>
          </p:cNvPr>
          <p:cNvSpPr txBox="1">
            <a:spLocks noChangeArrowheads="1"/>
          </p:cNvSpPr>
          <p:nvPr/>
        </p:nvSpPr>
        <p:spPr bwMode="auto">
          <a:xfrm>
            <a:off x="4329113" y="4598988"/>
            <a:ext cx="1476375" cy="209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No convective heat transfer</a:t>
            </a:r>
          </a:p>
        </p:txBody>
      </p:sp>
      <p:sp>
        <p:nvSpPr>
          <p:cNvPr id="96261" name="Line 1029">
            <a:extLst>
              <a:ext uri="{FF2B5EF4-FFF2-40B4-BE49-F238E27FC236}">
                <a16:creationId xmlns:a16="http://schemas.microsoft.com/office/drawing/2014/main" id="{6AAEDB2B-5BEA-46D4-8A9D-75182D418973}"/>
              </a:ext>
            </a:extLst>
          </p:cNvPr>
          <p:cNvSpPr>
            <a:spLocks noChangeShapeType="1"/>
          </p:cNvSpPr>
          <p:nvPr/>
        </p:nvSpPr>
        <p:spPr bwMode="auto">
          <a:xfrm flipH="1">
            <a:off x="2982913" y="4672013"/>
            <a:ext cx="1343025" cy="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96262" name="Text Box 1030">
            <a:extLst>
              <a:ext uri="{FF2B5EF4-FFF2-40B4-BE49-F238E27FC236}">
                <a16:creationId xmlns:a16="http://schemas.microsoft.com/office/drawing/2014/main" id="{EA26CE59-5F0D-4A70-801E-42E3333555E6}"/>
              </a:ext>
            </a:extLst>
          </p:cNvPr>
          <p:cNvSpPr txBox="1">
            <a:spLocks noChangeArrowheads="1"/>
          </p:cNvSpPr>
          <p:nvPr/>
        </p:nvSpPr>
        <p:spPr bwMode="auto">
          <a:xfrm>
            <a:off x="542925" y="6134100"/>
            <a:ext cx="2700338"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All radiation with wavelengths less than 0.3 microns is absorbed by the ozone layer, but not so on orbit</a:t>
            </a:r>
          </a:p>
        </p:txBody>
      </p:sp>
      <p:sp>
        <p:nvSpPr>
          <p:cNvPr id="96263" name="Line 1031">
            <a:extLst>
              <a:ext uri="{FF2B5EF4-FFF2-40B4-BE49-F238E27FC236}">
                <a16:creationId xmlns:a16="http://schemas.microsoft.com/office/drawing/2014/main" id="{3309AC57-AEAB-41CB-8225-519F9C32ED8A}"/>
              </a:ext>
            </a:extLst>
          </p:cNvPr>
          <p:cNvSpPr>
            <a:spLocks noChangeShapeType="1"/>
          </p:cNvSpPr>
          <p:nvPr/>
        </p:nvSpPr>
        <p:spPr bwMode="auto">
          <a:xfrm flipV="1">
            <a:off x="806450" y="4965700"/>
            <a:ext cx="1062038" cy="1166813"/>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96264" name="Text Box 1032">
            <a:extLst>
              <a:ext uri="{FF2B5EF4-FFF2-40B4-BE49-F238E27FC236}">
                <a16:creationId xmlns:a16="http://schemas.microsoft.com/office/drawing/2014/main" id="{AC14DD96-1E7F-4989-BCC9-0BF6C785567F}"/>
              </a:ext>
            </a:extLst>
          </p:cNvPr>
          <p:cNvSpPr txBox="1">
            <a:spLocks noChangeArrowheads="1"/>
          </p:cNvSpPr>
          <p:nvPr/>
        </p:nvSpPr>
        <p:spPr bwMode="auto">
          <a:xfrm>
            <a:off x="3824288" y="5446713"/>
            <a:ext cx="1981200" cy="209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Film deposits and no window cleaner</a:t>
            </a:r>
          </a:p>
        </p:txBody>
      </p:sp>
      <p:sp>
        <p:nvSpPr>
          <p:cNvPr id="96265" name="Line 1033">
            <a:extLst>
              <a:ext uri="{FF2B5EF4-FFF2-40B4-BE49-F238E27FC236}">
                <a16:creationId xmlns:a16="http://schemas.microsoft.com/office/drawing/2014/main" id="{9774411F-8C78-41D5-B448-4D85E77CEB3E}"/>
              </a:ext>
            </a:extLst>
          </p:cNvPr>
          <p:cNvSpPr>
            <a:spLocks noChangeShapeType="1"/>
          </p:cNvSpPr>
          <p:nvPr/>
        </p:nvSpPr>
        <p:spPr bwMode="auto">
          <a:xfrm flipH="1" flipV="1">
            <a:off x="3073400" y="5283200"/>
            <a:ext cx="777875" cy="211138"/>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2" name="Notes Placeholder 1">
            <a:extLst>
              <a:ext uri="{FF2B5EF4-FFF2-40B4-BE49-F238E27FC236}">
                <a16:creationId xmlns:a16="http://schemas.microsoft.com/office/drawing/2014/main" id="{AE85C46B-933D-45BB-B7BE-944D25C3BECF}"/>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5887040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a:extLst>
              <a:ext uri="{FF2B5EF4-FFF2-40B4-BE49-F238E27FC236}">
                <a16:creationId xmlns:a16="http://schemas.microsoft.com/office/drawing/2014/main" id="{2AA27312-55A5-4D5F-9900-50F36A85AC33}"/>
              </a:ext>
            </a:extLst>
          </p:cNvPr>
          <p:cNvSpPr>
            <a:spLocks noGrp="1" noRot="1" noChangeAspect="1" noChangeArrowheads="1" noTextEdit="1"/>
          </p:cNvSpPr>
          <p:nvPr>
            <p:ph type="sldImg"/>
          </p:nvPr>
        </p:nvSpPr>
        <p:spPr>
          <a:xfrm>
            <a:off x="460375" y="2590800"/>
            <a:ext cx="6124575" cy="3446463"/>
          </a:xfrm>
          <a:ln/>
        </p:spPr>
      </p:sp>
      <p:sp>
        <p:nvSpPr>
          <p:cNvPr id="119812" name="Text Box 4">
            <a:extLst>
              <a:ext uri="{FF2B5EF4-FFF2-40B4-BE49-F238E27FC236}">
                <a16:creationId xmlns:a16="http://schemas.microsoft.com/office/drawing/2014/main" id="{5399FF19-803C-4A94-A63E-A093B138B146}"/>
              </a:ext>
            </a:extLst>
          </p:cNvPr>
          <p:cNvSpPr txBox="1">
            <a:spLocks noChangeArrowheads="1"/>
          </p:cNvSpPr>
          <p:nvPr/>
        </p:nvSpPr>
        <p:spPr bwMode="auto">
          <a:xfrm>
            <a:off x="2008188" y="1092200"/>
            <a:ext cx="28511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lgn="ctr">
              <a:defRPr/>
            </a:pPr>
            <a:r>
              <a:rPr lang="en-US" altLang="en-US" sz="900" i="1"/>
              <a:t>To summarize, here are the environmental effects you have to consider as you investigate spacecraft orbits</a:t>
            </a:r>
          </a:p>
        </p:txBody>
      </p:sp>
    </p:spTree>
    <p:extLst>
      <p:ext uri="{BB962C8B-B14F-4D97-AF65-F5344CB8AC3E}">
        <p14:creationId xmlns:p14="http://schemas.microsoft.com/office/powerpoint/2010/main" val="31450701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a:extLst>
              <a:ext uri="{FF2B5EF4-FFF2-40B4-BE49-F238E27FC236}">
                <a16:creationId xmlns:a16="http://schemas.microsoft.com/office/drawing/2014/main" id="{369080C2-6FCB-4017-ADFB-9AF863EB7125}"/>
              </a:ext>
            </a:extLst>
          </p:cNvPr>
          <p:cNvSpPr>
            <a:spLocks noGrp="1" noRot="1" noChangeAspect="1" noChangeArrowheads="1" noTextEdit="1"/>
          </p:cNvSpPr>
          <p:nvPr>
            <p:ph type="sldImg"/>
          </p:nvPr>
        </p:nvSpPr>
        <p:spPr>
          <a:xfrm>
            <a:off x="460375" y="2590800"/>
            <a:ext cx="6124575" cy="3446463"/>
          </a:xfrm>
          <a:ln/>
        </p:spPr>
      </p:sp>
      <p:sp>
        <p:nvSpPr>
          <p:cNvPr id="95236" name="Text Box 4">
            <a:extLst>
              <a:ext uri="{FF2B5EF4-FFF2-40B4-BE49-F238E27FC236}">
                <a16:creationId xmlns:a16="http://schemas.microsoft.com/office/drawing/2014/main" id="{C8F38A5C-4EC2-4306-87E2-2EA0AB16D95A}"/>
              </a:ext>
            </a:extLst>
          </p:cNvPr>
          <p:cNvSpPr txBox="1">
            <a:spLocks noChangeArrowheads="1"/>
          </p:cNvSpPr>
          <p:nvPr/>
        </p:nvSpPr>
        <p:spPr bwMode="auto">
          <a:xfrm>
            <a:off x="392113" y="1846263"/>
            <a:ext cx="3416300"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A variety of environmental effects have a direct impact on the ability of spacecraft subsystems to execute their design objectives</a:t>
            </a:r>
          </a:p>
        </p:txBody>
      </p:sp>
      <p:sp>
        <p:nvSpPr>
          <p:cNvPr id="95237" name="Line 5">
            <a:extLst>
              <a:ext uri="{FF2B5EF4-FFF2-40B4-BE49-F238E27FC236}">
                <a16:creationId xmlns:a16="http://schemas.microsoft.com/office/drawing/2014/main" id="{097650BB-0663-4562-9113-C41D5E5A08DD}"/>
              </a:ext>
            </a:extLst>
          </p:cNvPr>
          <p:cNvSpPr>
            <a:spLocks noChangeShapeType="1"/>
          </p:cNvSpPr>
          <p:nvPr/>
        </p:nvSpPr>
        <p:spPr bwMode="auto">
          <a:xfrm>
            <a:off x="657225" y="2200275"/>
            <a:ext cx="666750" cy="112395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95238" name="Text Box 6">
            <a:extLst>
              <a:ext uri="{FF2B5EF4-FFF2-40B4-BE49-F238E27FC236}">
                <a16:creationId xmlns:a16="http://schemas.microsoft.com/office/drawing/2014/main" id="{EA69EE6C-C9C1-45B7-BEED-60CD343413AE}"/>
              </a:ext>
            </a:extLst>
          </p:cNvPr>
          <p:cNvSpPr txBox="1">
            <a:spLocks noChangeArrowheads="1"/>
          </p:cNvSpPr>
          <p:nvPr/>
        </p:nvSpPr>
        <p:spPr bwMode="auto">
          <a:xfrm>
            <a:off x="1835150" y="7469188"/>
            <a:ext cx="3417888" cy="604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This chart provides a good summary of the impacts of the space environment on these subsystems</a:t>
            </a:r>
          </a:p>
          <a:p>
            <a:pPr>
              <a:defRPr/>
            </a:pPr>
            <a:endParaRPr lang="en-US" altLang="en-US" sz="900" i="1"/>
          </a:p>
          <a:p>
            <a:pPr>
              <a:defRPr/>
            </a:pPr>
            <a:r>
              <a:rPr lang="en-US" altLang="en-US" sz="900" i="1">
                <a:sym typeface="Symbol" charset="2"/>
              </a:rPr>
              <a:t>     we’ll walk through each of these areas in the next several slides</a:t>
            </a:r>
            <a:endParaRPr lang="en-US" altLang="en-US" sz="900" i="1"/>
          </a:p>
        </p:txBody>
      </p:sp>
      <p:sp>
        <p:nvSpPr>
          <p:cNvPr id="95239" name="Text Box 7">
            <a:extLst>
              <a:ext uri="{FF2B5EF4-FFF2-40B4-BE49-F238E27FC236}">
                <a16:creationId xmlns:a16="http://schemas.microsoft.com/office/drawing/2014/main" id="{8CC6C045-5E15-4322-8738-58B34454455F}"/>
              </a:ext>
            </a:extLst>
          </p:cNvPr>
          <p:cNvSpPr txBox="1">
            <a:spLocks noChangeArrowheads="1"/>
          </p:cNvSpPr>
          <p:nvPr/>
        </p:nvSpPr>
        <p:spPr bwMode="auto">
          <a:xfrm>
            <a:off x="2462213" y="6184900"/>
            <a:ext cx="341630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Must recognize that extra margin must be designed into spacecraft subsystems to handle these impacts</a:t>
            </a:r>
          </a:p>
        </p:txBody>
      </p:sp>
      <p:sp>
        <p:nvSpPr>
          <p:cNvPr id="95240" name="Line 8">
            <a:extLst>
              <a:ext uri="{FF2B5EF4-FFF2-40B4-BE49-F238E27FC236}">
                <a16:creationId xmlns:a16="http://schemas.microsoft.com/office/drawing/2014/main" id="{A1934AB7-F442-4324-827B-9792A680AEB9}"/>
              </a:ext>
            </a:extLst>
          </p:cNvPr>
          <p:cNvSpPr>
            <a:spLocks noChangeShapeType="1"/>
          </p:cNvSpPr>
          <p:nvPr/>
        </p:nvSpPr>
        <p:spPr bwMode="auto">
          <a:xfrm flipV="1">
            <a:off x="2555875" y="5726113"/>
            <a:ext cx="342900" cy="481012"/>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95241" name="Line 9">
            <a:extLst>
              <a:ext uri="{FF2B5EF4-FFF2-40B4-BE49-F238E27FC236}">
                <a16:creationId xmlns:a16="http://schemas.microsoft.com/office/drawing/2014/main" id="{EAAD7E58-E024-402C-9109-48B783EAFEDE}"/>
              </a:ext>
            </a:extLst>
          </p:cNvPr>
          <p:cNvSpPr>
            <a:spLocks noChangeShapeType="1"/>
          </p:cNvSpPr>
          <p:nvPr/>
        </p:nvSpPr>
        <p:spPr bwMode="auto">
          <a:xfrm flipH="1" flipV="1">
            <a:off x="5000625" y="5684838"/>
            <a:ext cx="363538" cy="503237"/>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2" name="Notes Placeholder 1">
            <a:extLst>
              <a:ext uri="{FF2B5EF4-FFF2-40B4-BE49-F238E27FC236}">
                <a16:creationId xmlns:a16="http://schemas.microsoft.com/office/drawing/2014/main" id="{D38C454D-CE4E-4CF7-81B9-BC627D5ED661}"/>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2295381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1026">
            <a:extLst>
              <a:ext uri="{FF2B5EF4-FFF2-40B4-BE49-F238E27FC236}">
                <a16:creationId xmlns:a16="http://schemas.microsoft.com/office/drawing/2014/main" id="{5938A145-15CD-475B-9554-23A59AC9D069}"/>
              </a:ext>
            </a:extLst>
          </p:cNvPr>
          <p:cNvSpPr>
            <a:spLocks noGrp="1" noRot="1" noChangeAspect="1" noChangeArrowheads="1" noTextEdit="1"/>
          </p:cNvSpPr>
          <p:nvPr>
            <p:ph type="sldImg"/>
          </p:nvPr>
        </p:nvSpPr>
        <p:spPr>
          <a:xfrm>
            <a:off x="460375" y="2590800"/>
            <a:ext cx="6124575" cy="3446463"/>
          </a:xfrm>
          <a:ln/>
        </p:spPr>
      </p:sp>
      <p:sp>
        <p:nvSpPr>
          <p:cNvPr id="96260" name="Text Box 1028">
            <a:extLst>
              <a:ext uri="{FF2B5EF4-FFF2-40B4-BE49-F238E27FC236}">
                <a16:creationId xmlns:a16="http://schemas.microsoft.com/office/drawing/2014/main" id="{F533CFE6-0C28-46F4-B4B7-F647B2C3A0DE}"/>
              </a:ext>
            </a:extLst>
          </p:cNvPr>
          <p:cNvSpPr txBox="1">
            <a:spLocks noChangeArrowheads="1"/>
          </p:cNvSpPr>
          <p:nvPr/>
        </p:nvSpPr>
        <p:spPr bwMode="auto">
          <a:xfrm>
            <a:off x="4329113" y="4598988"/>
            <a:ext cx="1476375" cy="209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No convective heat transfer</a:t>
            </a:r>
          </a:p>
        </p:txBody>
      </p:sp>
      <p:sp>
        <p:nvSpPr>
          <p:cNvPr id="96261" name="Line 1029">
            <a:extLst>
              <a:ext uri="{FF2B5EF4-FFF2-40B4-BE49-F238E27FC236}">
                <a16:creationId xmlns:a16="http://schemas.microsoft.com/office/drawing/2014/main" id="{6AAEDB2B-5BEA-46D4-8A9D-75182D418973}"/>
              </a:ext>
            </a:extLst>
          </p:cNvPr>
          <p:cNvSpPr>
            <a:spLocks noChangeShapeType="1"/>
          </p:cNvSpPr>
          <p:nvPr/>
        </p:nvSpPr>
        <p:spPr bwMode="auto">
          <a:xfrm flipH="1">
            <a:off x="2982913" y="4672013"/>
            <a:ext cx="1343025" cy="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96262" name="Text Box 1030">
            <a:extLst>
              <a:ext uri="{FF2B5EF4-FFF2-40B4-BE49-F238E27FC236}">
                <a16:creationId xmlns:a16="http://schemas.microsoft.com/office/drawing/2014/main" id="{EA26CE59-5F0D-4A70-801E-42E3333555E6}"/>
              </a:ext>
            </a:extLst>
          </p:cNvPr>
          <p:cNvSpPr txBox="1">
            <a:spLocks noChangeArrowheads="1"/>
          </p:cNvSpPr>
          <p:nvPr/>
        </p:nvSpPr>
        <p:spPr bwMode="auto">
          <a:xfrm>
            <a:off x="542925" y="6134100"/>
            <a:ext cx="2700338"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All radiation with wavelengths less than 0.3 microns is absorbed by the ozone layer, but not so on orbit</a:t>
            </a:r>
          </a:p>
        </p:txBody>
      </p:sp>
      <p:sp>
        <p:nvSpPr>
          <p:cNvPr id="96263" name="Line 1031">
            <a:extLst>
              <a:ext uri="{FF2B5EF4-FFF2-40B4-BE49-F238E27FC236}">
                <a16:creationId xmlns:a16="http://schemas.microsoft.com/office/drawing/2014/main" id="{3309AC57-AEAB-41CB-8225-519F9C32ED8A}"/>
              </a:ext>
            </a:extLst>
          </p:cNvPr>
          <p:cNvSpPr>
            <a:spLocks noChangeShapeType="1"/>
          </p:cNvSpPr>
          <p:nvPr/>
        </p:nvSpPr>
        <p:spPr bwMode="auto">
          <a:xfrm flipV="1">
            <a:off x="806450" y="4965700"/>
            <a:ext cx="1062038" cy="1166813"/>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96264" name="Text Box 1032">
            <a:extLst>
              <a:ext uri="{FF2B5EF4-FFF2-40B4-BE49-F238E27FC236}">
                <a16:creationId xmlns:a16="http://schemas.microsoft.com/office/drawing/2014/main" id="{AC14DD96-1E7F-4989-BCC9-0BF6C785567F}"/>
              </a:ext>
            </a:extLst>
          </p:cNvPr>
          <p:cNvSpPr txBox="1">
            <a:spLocks noChangeArrowheads="1"/>
          </p:cNvSpPr>
          <p:nvPr/>
        </p:nvSpPr>
        <p:spPr bwMode="auto">
          <a:xfrm>
            <a:off x="3824288" y="5446713"/>
            <a:ext cx="1981200" cy="209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Film deposits and no window cleaner</a:t>
            </a:r>
          </a:p>
        </p:txBody>
      </p:sp>
      <p:sp>
        <p:nvSpPr>
          <p:cNvPr id="96265" name="Line 1033">
            <a:extLst>
              <a:ext uri="{FF2B5EF4-FFF2-40B4-BE49-F238E27FC236}">
                <a16:creationId xmlns:a16="http://schemas.microsoft.com/office/drawing/2014/main" id="{9774411F-8C78-41D5-B448-4D85E77CEB3E}"/>
              </a:ext>
            </a:extLst>
          </p:cNvPr>
          <p:cNvSpPr>
            <a:spLocks noChangeShapeType="1"/>
          </p:cNvSpPr>
          <p:nvPr/>
        </p:nvSpPr>
        <p:spPr bwMode="auto">
          <a:xfrm flipH="1" flipV="1">
            <a:off x="3073400" y="5283200"/>
            <a:ext cx="777875" cy="211138"/>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2" name="Notes Placeholder 1">
            <a:extLst>
              <a:ext uri="{FF2B5EF4-FFF2-40B4-BE49-F238E27FC236}">
                <a16:creationId xmlns:a16="http://schemas.microsoft.com/office/drawing/2014/main" id="{AE85C46B-933D-45BB-B7BE-944D25C3BECF}"/>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6078534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1026">
            <a:extLst>
              <a:ext uri="{FF2B5EF4-FFF2-40B4-BE49-F238E27FC236}">
                <a16:creationId xmlns:a16="http://schemas.microsoft.com/office/drawing/2014/main" id="{5938A145-15CD-475B-9554-23A59AC9D069}"/>
              </a:ext>
            </a:extLst>
          </p:cNvPr>
          <p:cNvSpPr>
            <a:spLocks noGrp="1" noRot="1" noChangeAspect="1" noChangeArrowheads="1" noTextEdit="1"/>
          </p:cNvSpPr>
          <p:nvPr>
            <p:ph type="sldImg"/>
          </p:nvPr>
        </p:nvSpPr>
        <p:spPr>
          <a:xfrm>
            <a:off x="460375" y="2590800"/>
            <a:ext cx="6124575" cy="3446463"/>
          </a:xfrm>
          <a:ln/>
        </p:spPr>
      </p:sp>
      <p:sp>
        <p:nvSpPr>
          <p:cNvPr id="96260" name="Text Box 1028">
            <a:extLst>
              <a:ext uri="{FF2B5EF4-FFF2-40B4-BE49-F238E27FC236}">
                <a16:creationId xmlns:a16="http://schemas.microsoft.com/office/drawing/2014/main" id="{F533CFE6-0C28-46F4-B4B7-F647B2C3A0DE}"/>
              </a:ext>
            </a:extLst>
          </p:cNvPr>
          <p:cNvSpPr txBox="1">
            <a:spLocks noChangeArrowheads="1"/>
          </p:cNvSpPr>
          <p:nvPr/>
        </p:nvSpPr>
        <p:spPr bwMode="auto">
          <a:xfrm>
            <a:off x="4329113" y="4598988"/>
            <a:ext cx="1476375" cy="209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No convective heat transfer</a:t>
            </a:r>
          </a:p>
        </p:txBody>
      </p:sp>
      <p:sp>
        <p:nvSpPr>
          <p:cNvPr id="96261" name="Line 1029">
            <a:extLst>
              <a:ext uri="{FF2B5EF4-FFF2-40B4-BE49-F238E27FC236}">
                <a16:creationId xmlns:a16="http://schemas.microsoft.com/office/drawing/2014/main" id="{6AAEDB2B-5BEA-46D4-8A9D-75182D418973}"/>
              </a:ext>
            </a:extLst>
          </p:cNvPr>
          <p:cNvSpPr>
            <a:spLocks noChangeShapeType="1"/>
          </p:cNvSpPr>
          <p:nvPr/>
        </p:nvSpPr>
        <p:spPr bwMode="auto">
          <a:xfrm flipH="1">
            <a:off x="2982913" y="4672013"/>
            <a:ext cx="1343025" cy="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96262" name="Text Box 1030">
            <a:extLst>
              <a:ext uri="{FF2B5EF4-FFF2-40B4-BE49-F238E27FC236}">
                <a16:creationId xmlns:a16="http://schemas.microsoft.com/office/drawing/2014/main" id="{EA26CE59-5F0D-4A70-801E-42E3333555E6}"/>
              </a:ext>
            </a:extLst>
          </p:cNvPr>
          <p:cNvSpPr txBox="1">
            <a:spLocks noChangeArrowheads="1"/>
          </p:cNvSpPr>
          <p:nvPr/>
        </p:nvSpPr>
        <p:spPr bwMode="auto">
          <a:xfrm>
            <a:off x="542925" y="6134100"/>
            <a:ext cx="2700338"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All radiation with wavelengths less than 0.3 microns is absorbed by the ozone layer, but not so on orbit</a:t>
            </a:r>
          </a:p>
        </p:txBody>
      </p:sp>
      <p:sp>
        <p:nvSpPr>
          <p:cNvPr id="96263" name="Line 1031">
            <a:extLst>
              <a:ext uri="{FF2B5EF4-FFF2-40B4-BE49-F238E27FC236}">
                <a16:creationId xmlns:a16="http://schemas.microsoft.com/office/drawing/2014/main" id="{3309AC57-AEAB-41CB-8225-519F9C32ED8A}"/>
              </a:ext>
            </a:extLst>
          </p:cNvPr>
          <p:cNvSpPr>
            <a:spLocks noChangeShapeType="1"/>
          </p:cNvSpPr>
          <p:nvPr/>
        </p:nvSpPr>
        <p:spPr bwMode="auto">
          <a:xfrm flipV="1">
            <a:off x="806450" y="4965700"/>
            <a:ext cx="1062038" cy="1166813"/>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96264" name="Text Box 1032">
            <a:extLst>
              <a:ext uri="{FF2B5EF4-FFF2-40B4-BE49-F238E27FC236}">
                <a16:creationId xmlns:a16="http://schemas.microsoft.com/office/drawing/2014/main" id="{AC14DD96-1E7F-4989-BCC9-0BF6C785567F}"/>
              </a:ext>
            </a:extLst>
          </p:cNvPr>
          <p:cNvSpPr txBox="1">
            <a:spLocks noChangeArrowheads="1"/>
          </p:cNvSpPr>
          <p:nvPr/>
        </p:nvSpPr>
        <p:spPr bwMode="auto">
          <a:xfrm>
            <a:off x="3824288" y="5446713"/>
            <a:ext cx="1981200" cy="209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Film deposits and no window cleaner</a:t>
            </a:r>
          </a:p>
        </p:txBody>
      </p:sp>
      <p:sp>
        <p:nvSpPr>
          <p:cNvPr id="96265" name="Line 1033">
            <a:extLst>
              <a:ext uri="{FF2B5EF4-FFF2-40B4-BE49-F238E27FC236}">
                <a16:creationId xmlns:a16="http://schemas.microsoft.com/office/drawing/2014/main" id="{9774411F-8C78-41D5-B448-4D85E77CEB3E}"/>
              </a:ext>
            </a:extLst>
          </p:cNvPr>
          <p:cNvSpPr>
            <a:spLocks noChangeShapeType="1"/>
          </p:cNvSpPr>
          <p:nvPr/>
        </p:nvSpPr>
        <p:spPr bwMode="auto">
          <a:xfrm flipH="1" flipV="1">
            <a:off x="3073400" y="5283200"/>
            <a:ext cx="777875" cy="211138"/>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2" name="Notes Placeholder 1">
            <a:extLst>
              <a:ext uri="{FF2B5EF4-FFF2-40B4-BE49-F238E27FC236}">
                <a16:creationId xmlns:a16="http://schemas.microsoft.com/office/drawing/2014/main" id="{AE85C46B-933D-45BB-B7BE-944D25C3BECF}"/>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9851117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US"/>
            </a:p>
          </p:txBody>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txBody>
            <a:bodyPr/>
            <a:lstStyle/>
            <a:p>
              <a:endParaRPr lang="en-US"/>
            </a:p>
          </p:txBody>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txBody>
            <a:bodyPr/>
            <a:lstStyle/>
            <a:p>
              <a:endParaRPr lang="en-US"/>
            </a:p>
          </p:txBody>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n-US"/>
            </a:p>
          </p:txBody>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n-US"/>
            </a:p>
          </p:txBody>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txBody>
            <a:bodyPr/>
            <a:lstStyle/>
            <a:p>
              <a:endParaRPr lang="en-US"/>
            </a:p>
          </p:txBody>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AC15443-6D2A-4065-B1EE-7099FC9BF6A9}" type="datetimeFigureOut">
              <a:rPr lang="en-US" smtClean="0"/>
              <a:t>7/28/2026</a:t>
            </a:fld>
            <a:endParaRPr lang="en-US"/>
          </a:p>
        </p:txBody>
      </p:sp>
      <p:sp>
        <p:nvSpPr>
          <p:cNvPr id="5" name="Footer Placeholder 4"/>
          <p:cNvSpPr>
            <a:spLocks noGrp="1"/>
          </p:cNvSpPr>
          <p:nvPr>
            <p:ph type="ftr" sz="quarter" idx="11"/>
          </p:nvPr>
        </p:nvSpPr>
        <p:spPr>
          <a:xfrm>
            <a:off x="5332412" y="5883275"/>
            <a:ext cx="4324044" cy="365125"/>
          </a:xfrm>
        </p:spPr>
        <p:txBody>
          <a:bodyPr/>
          <a:lstStyle/>
          <a:p>
            <a:endParaRPr lang="en-US"/>
          </a:p>
        </p:txBody>
      </p:sp>
      <p:sp>
        <p:nvSpPr>
          <p:cNvPr id="6" name="Slide Number Placeholder 5"/>
          <p:cNvSpPr>
            <a:spLocks noGrp="1"/>
          </p:cNvSpPr>
          <p:nvPr>
            <p:ph type="sldNum" sz="quarter" idx="12"/>
          </p:nvPr>
        </p:nvSpPr>
        <p:spPr/>
        <p:txBody>
          <a:bodyPr/>
          <a:lstStyle/>
          <a:p>
            <a:fld id="{E20B2FAC-7F6A-4574-A2D6-F35DE28EA28E}" type="slidenum">
              <a:rPr lang="en-US" smtClean="0"/>
              <a:t>‹#›</a:t>
            </a:fld>
            <a:endParaRPr lang="en-US"/>
          </a:p>
        </p:txBody>
      </p:sp>
    </p:spTree>
    <p:extLst>
      <p:ext uri="{BB962C8B-B14F-4D97-AF65-F5344CB8AC3E}">
        <p14:creationId xmlns:p14="http://schemas.microsoft.com/office/powerpoint/2010/main" val="14651667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AC15443-6D2A-4065-B1EE-7099FC9BF6A9}" type="datetimeFigureOut">
              <a:rPr lang="en-US" smtClean="0"/>
              <a:t>7/28/2026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951856" y="5867131"/>
            <a:ext cx="551167" cy="365125"/>
          </a:xfrm>
        </p:spPr>
        <p:txBody>
          <a:bodyPr/>
          <a:lstStyle/>
          <a:p>
            <a:fld id="{E20B2FAC-7F6A-4574-A2D6-F35DE28EA28E}" type="slidenum">
              <a:rPr lang="en-US" smtClean="0"/>
              <a:t>‹#›</a:t>
            </a:fld>
            <a:endParaRPr lang="en-US"/>
          </a:p>
        </p:txBody>
      </p:sp>
    </p:spTree>
    <p:extLst>
      <p:ext uri="{BB962C8B-B14F-4D97-AF65-F5344CB8AC3E}">
        <p14:creationId xmlns:p14="http://schemas.microsoft.com/office/powerpoint/2010/main" val="14774686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CAC15443-6D2A-4065-B1EE-7099FC9BF6A9}" type="datetimeFigureOut">
              <a:rPr lang="en-US" smtClean="0"/>
              <a:t>7/28/2026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20B2FAC-7F6A-4574-A2D6-F35DE28EA28E}" type="slidenum">
              <a:rPr lang="en-US" smtClean="0"/>
              <a:t>‹#›</a:t>
            </a:fld>
            <a:endParaRPr lang="en-US"/>
          </a:p>
        </p:txBody>
      </p:sp>
    </p:spTree>
    <p:extLst>
      <p:ext uri="{BB962C8B-B14F-4D97-AF65-F5344CB8AC3E}">
        <p14:creationId xmlns:p14="http://schemas.microsoft.com/office/powerpoint/2010/main" val="17767386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AC15443-6D2A-4065-B1EE-7099FC9BF6A9}" type="datetimeFigureOut">
              <a:rPr lang="en-US" smtClean="0"/>
              <a:t>7/28/2026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20B2FAC-7F6A-4574-A2D6-F35DE28EA28E}" type="slidenum">
              <a:rPr lang="en-US" smtClean="0"/>
              <a:t>‹#›</a:t>
            </a:fld>
            <a:endParaRPr lang="en-US"/>
          </a:p>
        </p:txBody>
      </p:sp>
    </p:spTree>
    <p:extLst>
      <p:ext uri="{BB962C8B-B14F-4D97-AF65-F5344CB8AC3E}">
        <p14:creationId xmlns:p14="http://schemas.microsoft.com/office/powerpoint/2010/main" val="18404814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AC15443-6D2A-4065-B1EE-7099FC9BF6A9}" type="datetimeFigureOut">
              <a:rPr lang="en-US" smtClean="0"/>
              <a:t>7/28/2026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20B2FAC-7F6A-4574-A2D6-F35DE28EA28E}" type="slidenum">
              <a:rPr lang="en-US" smtClean="0"/>
              <a:t>‹#›</a:t>
            </a:fld>
            <a:endParaRPr lang="en-US"/>
          </a:p>
        </p:txBody>
      </p:sp>
    </p:spTree>
    <p:extLst>
      <p:ext uri="{BB962C8B-B14F-4D97-AF65-F5344CB8AC3E}">
        <p14:creationId xmlns:p14="http://schemas.microsoft.com/office/powerpoint/2010/main" val="40783624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AC15443-6D2A-4065-B1EE-7099FC9BF6A9}" type="datetimeFigureOut">
              <a:rPr lang="en-US" smtClean="0"/>
              <a:t>7/28/2026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20B2FAC-7F6A-4574-A2D6-F35DE28EA28E}" type="slidenum">
              <a:rPr lang="en-US" smtClean="0"/>
              <a:t>‹#›</a:t>
            </a:fld>
            <a:endParaRPr lang="en-US"/>
          </a:p>
        </p:txBody>
      </p:sp>
    </p:spTree>
    <p:extLst>
      <p:ext uri="{BB962C8B-B14F-4D97-AF65-F5344CB8AC3E}">
        <p14:creationId xmlns:p14="http://schemas.microsoft.com/office/powerpoint/2010/main" val="26745787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AC15443-6D2A-4065-B1EE-7099FC9BF6A9}" type="datetimeFigureOut">
              <a:rPr lang="en-US" smtClean="0"/>
              <a:t>7/28/2026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20B2FAC-7F6A-4574-A2D6-F35DE28EA28E}" type="slidenum">
              <a:rPr lang="en-US" smtClean="0"/>
              <a:t>‹#›</a:t>
            </a:fld>
            <a:endParaRPr lang="en-US"/>
          </a:p>
        </p:txBody>
      </p:sp>
    </p:spTree>
    <p:extLst>
      <p:ext uri="{BB962C8B-B14F-4D97-AF65-F5344CB8AC3E}">
        <p14:creationId xmlns:p14="http://schemas.microsoft.com/office/powerpoint/2010/main" val="8409744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CAC15443-6D2A-4065-B1EE-7099FC9BF6A9}" type="datetimeFigureOut">
              <a:rPr lang="en-US" smtClean="0"/>
              <a:t>7/28/2026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20B2FAC-7F6A-4574-A2D6-F35DE28EA28E}" type="slidenum">
              <a:rPr lang="en-US" smtClean="0"/>
              <a:t>‹#›</a:t>
            </a:fld>
            <a:endParaRPr lang="en-US"/>
          </a:p>
        </p:txBody>
      </p:sp>
    </p:spTree>
    <p:extLst>
      <p:ext uri="{BB962C8B-B14F-4D97-AF65-F5344CB8AC3E}">
        <p14:creationId xmlns:p14="http://schemas.microsoft.com/office/powerpoint/2010/main" val="22839248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CAC15443-6D2A-4065-B1EE-7099FC9BF6A9}" type="datetimeFigureOut">
              <a:rPr lang="en-US" smtClean="0"/>
              <a:t>7/28/2026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20B2FAC-7F6A-4574-A2D6-F35DE28EA28E}" type="slidenum">
              <a:rPr lang="en-US" smtClean="0"/>
              <a:t>‹#›</a:t>
            </a:fld>
            <a:endParaRPr lang="en-US"/>
          </a:p>
        </p:txBody>
      </p:sp>
    </p:spTree>
    <p:extLst>
      <p:ext uri="{BB962C8B-B14F-4D97-AF65-F5344CB8AC3E}">
        <p14:creationId xmlns:p14="http://schemas.microsoft.com/office/powerpoint/2010/main" val="31772032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CAC15443-6D2A-4065-B1EE-7099FC9BF6A9}" type="datetimeFigureOut">
              <a:rPr lang="en-US" smtClean="0"/>
              <a:t>7/28/2026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20B2FAC-7F6A-4574-A2D6-F35DE28EA28E}" type="slidenum">
              <a:rPr lang="en-US" smtClean="0"/>
              <a:t>‹#›</a:t>
            </a:fld>
            <a:endParaRPr lang="en-US"/>
          </a:p>
        </p:txBody>
      </p:sp>
    </p:spTree>
    <p:extLst>
      <p:ext uri="{BB962C8B-B14F-4D97-AF65-F5344CB8AC3E}">
        <p14:creationId xmlns:p14="http://schemas.microsoft.com/office/powerpoint/2010/main" val="38224449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CAC15443-6D2A-4065-B1EE-7099FC9BF6A9}" type="datetimeFigureOut">
              <a:rPr lang="en-US" smtClean="0"/>
              <a:t>7/28/2026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20B2FAC-7F6A-4574-A2D6-F35DE28EA28E}" type="slidenum">
              <a:rPr lang="en-US" smtClean="0"/>
              <a:t>‹#›</a:t>
            </a:fld>
            <a:endParaRPr lang="en-US"/>
          </a:p>
        </p:txBody>
      </p:sp>
    </p:spTree>
    <p:extLst>
      <p:ext uri="{BB962C8B-B14F-4D97-AF65-F5344CB8AC3E}">
        <p14:creationId xmlns:p14="http://schemas.microsoft.com/office/powerpoint/2010/main" val="286736691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CAC15443-6D2A-4065-B1EE-7099FC9BF6A9}" type="datetimeFigureOut">
              <a:rPr lang="en-US" smtClean="0"/>
              <a:t>7/28/2026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20B2FAC-7F6A-4574-A2D6-F35DE28EA28E}" type="slidenum">
              <a:rPr lang="en-US" smtClean="0"/>
              <a:t>‹#›</a:t>
            </a:fld>
            <a:endParaRPr lang="en-US"/>
          </a:p>
        </p:txBody>
      </p:sp>
    </p:spTree>
    <p:extLst>
      <p:ext uri="{BB962C8B-B14F-4D97-AF65-F5344CB8AC3E}">
        <p14:creationId xmlns:p14="http://schemas.microsoft.com/office/powerpoint/2010/main" val="28895024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CAC15443-6D2A-4065-B1EE-7099FC9BF6A9}" type="datetimeFigureOut">
              <a:rPr lang="en-US" smtClean="0"/>
              <a:t>7/28/2026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20B2FAC-7F6A-4574-A2D6-F35DE28EA28E}" type="slidenum">
              <a:rPr lang="en-US" smtClean="0"/>
              <a:t>‹#›</a:t>
            </a:fld>
            <a:endParaRPr lang="en-US"/>
          </a:p>
        </p:txBody>
      </p:sp>
    </p:spTree>
    <p:extLst>
      <p:ext uri="{BB962C8B-B14F-4D97-AF65-F5344CB8AC3E}">
        <p14:creationId xmlns:p14="http://schemas.microsoft.com/office/powerpoint/2010/main" val="10303144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CAC15443-6D2A-4065-B1EE-7099FC9BF6A9}" type="datetimeFigureOut">
              <a:rPr lang="en-US" smtClean="0"/>
              <a:t>7/28/2026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20B2FAC-7F6A-4574-A2D6-F35DE28EA28E}" type="slidenum">
              <a:rPr lang="en-US" smtClean="0"/>
              <a:t>‹#›</a:t>
            </a:fld>
            <a:endParaRPr lang="en-US"/>
          </a:p>
        </p:txBody>
      </p:sp>
    </p:spTree>
    <p:extLst>
      <p:ext uri="{BB962C8B-B14F-4D97-AF65-F5344CB8AC3E}">
        <p14:creationId xmlns:p14="http://schemas.microsoft.com/office/powerpoint/2010/main" val="250403042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CAC15443-6D2A-4065-B1EE-7099FC9BF6A9}" type="datetimeFigureOut">
              <a:rPr lang="en-US" smtClean="0"/>
              <a:t>7/28/2026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20B2FAC-7F6A-4574-A2D6-F35DE28EA28E}" type="slidenum">
              <a:rPr lang="en-US" smtClean="0"/>
              <a:t>‹#›</a:t>
            </a:fld>
            <a:endParaRPr lang="en-US"/>
          </a:p>
        </p:txBody>
      </p:sp>
    </p:spTree>
    <p:extLst>
      <p:ext uri="{BB962C8B-B14F-4D97-AF65-F5344CB8AC3E}">
        <p14:creationId xmlns:p14="http://schemas.microsoft.com/office/powerpoint/2010/main" val="209539260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AC15443-6D2A-4065-B1EE-7099FC9BF6A9}" type="datetimeFigureOut">
              <a:rPr lang="en-US" smtClean="0"/>
              <a:t>7/28/2026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20B2FAC-7F6A-4574-A2D6-F35DE28EA28E}" type="slidenum">
              <a:rPr lang="en-US" smtClean="0"/>
              <a:t>‹#›</a:t>
            </a:fld>
            <a:endParaRPr lang="en-US"/>
          </a:p>
        </p:txBody>
      </p:sp>
    </p:spTree>
    <p:extLst>
      <p:ext uri="{BB962C8B-B14F-4D97-AF65-F5344CB8AC3E}">
        <p14:creationId xmlns:p14="http://schemas.microsoft.com/office/powerpoint/2010/main" val="361813897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AC15443-6D2A-4065-B1EE-7099FC9BF6A9}" type="datetimeFigureOut">
              <a:rPr lang="en-US" smtClean="0"/>
              <a:t>7/28/2026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20B2FAC-7F6A-4574-A2D6-F35DE28EA28E}" type="slidenum">
              <a:rPr lang="en-US" smtClean="0"/>
              <a:t>‹#›</a:t>
            </a:fld>
            <a:endParaRPr lang="en-US"/>
          </a:p>
        </p:txBody>
      </p:sp>
    </p:spTree>
    <p:extLst>
      <p:ext uri="{BB962C8B-B14F-4D97-AF65-F5344CB8AC3E}">
        <p14:creationId xmlns:p14="http://schemas.microsoft.com/office/powerpoint/2010/main" val="159655214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F1D95A2-623F-443A-A1E6-14E91B04AA9E}" type="datetime1">
              <a:rPr lang="en-US" smtClean="0"/>
              <a:t>7/28/2026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3C362F-97FB-4C1E-B0F0-C3069DD0CDD1}" type="slidenum">
              <a:rPr lang="en-US" smtClean="0"/>
              <a:t>‹#›</a:t>
            </a:fld>
            <a:endParaRPr lang="en-US"/>
          </a:p>
        </p:txBody>
      </p:sp>
    </p:spTree>
    <p:extLst>
      <p:ext uri="{BB962C8B-B14F-4D97-AF65-F5344CB8AC3E}">
        <p14:creationId xmlns:p14="http://schemas.microsoft.com/office/powerpoint/2010/main" val="26381441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US"/>
            </a:p>
          </p:txBody>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US"/>
            </a:p>
          </p:txBody>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US"/>
            </a:p>
          </p:txBody>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US"/>
            </a:p>
          </p:txBody>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US"/>
            </a:p>
          </p:txBody>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US"/>
            </a:p>
          </p:txBody>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CAC15443-6D2A-4065-B1EE-7099FC9BF6A9}" type="datetimeFigureOut">
              <a:rPr lang="en-US" smtClean="0"/>
              <a:t>7/28/2026</a:t>
            </a:fld>
            <a:endParaRPr lang="en-US"/>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E20B2FAC-7F6A-4574-A2D6-F35DE28EA28E}" type="slidenum">
              <a:rPr lang="en-US" smtClean="0"/>
              <a:t>‹#›</a:t>
            </a:fld>
            <a:endParaRPr lang="en-US"/>
          </a:p>
        </p:txBody>
      </p:sp>
    </p:spTree>
    <p:extLst>
      <p:ext uri="{BB962C8B-B14F-4D97-AF65-F5344CB8AC3E}">
        <p14:creationId xmlns:p14="http://schemas.microsoft.com/office/powerpoint/2010/main" val="268879613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 id="2147483690" r:id="rId18"/>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20.png"/><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NULL"/><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8" Type="http://schemas.openxmlformats.org/officeDocument/2006/relationships/image" Target="NULL"/><Relationship Id="rId7" Type="http://schemas.openxmlformats.org/officeDocument/2006/relationships/image" Target="NULL"/><Relationship Id="rId2" Type="http://schemas.openxmlformats.org/officeDocument/2006/relationships/image" Target="../media/image14.jpeg"/><Relationship Id="rId1" Type="http://schemas.openxmlformats.org/officeDocument/2006/relationships/slideLayout" Target="../slideLayouts/slideLayout18.xml"/><Relationship Id="rId6" Type="http://schemas.openxmlformats.org/officeDocument/2006/relationships/image" Target="NULL"/><Relationship Id="rId5" Type="http://schemas.openxmlformats.org/officeDocument/2006/relationships/image" Target="NULL"/></Relationships>
</file>

<file path=ppt/slides/_rels/slide11.xml.rels><?xml version="1.0" encoding="UTF-8" standalone="yes"?>
<Relationships xmlns="http://schemas.openxmlformats.org/package/2006/relationships"><Relationship Id="rId8" Type="http://schemas.openxmlformats.org/officeDocument/2006/relationships/image" Target="NULL"/><Relationship Id="rId7" Type="http://schemas.openxmlformats.org/officeDocument/2006/relationships/image" Target="../media/image16.png"/><Relationship Id="rId2" Type="http://schemas.openxmlformats.org/officeDocument/2006/relationships/image" Target="../media/image14.jpeg"/><Relationship Id="rId1" Type="http://schemas.openxmlformats.org/officeDocument/2006/relationships/slideLayout" Target="../slideLayouts/slideLayout18.xml"/><Relationship Id="rId6" Type="http://schemas.openxmlformats.org/officeDocument/2006/relationships/image" Target="NULL"/><Relationship Id="rId5" Type="http://schemas.openxmlformats.org/officeDocument/2006/relationships/image" Target="NUL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3" Type="http://schemas.openxmlformats.org/officeDocument/2006/relationships/customXml" Target="../ink/ink1.xml"/><Relationship Id="rId7" Type="http://schemas.openxmlformats.org/officeDocument/2006/relationships/image" Target="../media/image73.png"/><Relationship Id="rId2" Type="http://schemas.openxmlformats.org/officeDocument/2006/relationships/image" Target="../media/image17.png"/><Relationship Id="rId1" Type="http://schemas.openxmlformats.org/officeDocument/2006/relationships/slideLayout" Target="../slideLayouts/slideLayout6.xml"/><Relationship Id="rId6" Type="http://schemas.openxmlformats.org/officeDocument/2006/relationships/customXml" Target="../ink/ink2.xml"/><Relationship Id="rId5" Type="http://schemas.openxmlformats.org/officeDocument/2006/relationships/image" Target="../media/image18.jpeg"/><Relationship Id="rId4" Type="http://schemas.openxmlformats.org/officeDocument/2006/relationships/image" Target="../media/image210.png"/></Relationships>
</file>

<file path=ppt/slides/_rels/slide18.xml.rels><?xml version="1.0" encoding="UTF-8" standalone="yes"?>
<Relationships xmlns="http://schemas.openxmlformats.org/package/2006/relationships"><Relationship Id="rId2" Type="http://schemas.openxmlformats.org/officeDocument/2006/relationships/image" Target="../media/image19.gif"/><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png"/><Relationship Id="rId1" Type="http://schemas.openxmlformats.org/officeDocument/2006/relationships/slideLayout" Target="../slideLayouts/slideLayout6.xml"/><Relationship Id="rId6" Type="http://schemas.openxmlformats.org/officeDocument/2006/relationships/image" Target="../media/image84.png"/><Relationship Id="rId5" Type="http://schemas.openxmlformats.org/officeDocument/2006/relationships/customXml" Target="../ink/ink3.xml"/><Relationship Id="rId4" Type="http://schemas.openxmlformats.org/officeDocument/2006/relationships/image" Target="../media/image4810.png"/></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7.xml"/><Relationship Id="rId1" Type="http://schemas.openxmlformats.org/officeDocument/2006/relationships/slideLayout" Target="../slideLayouts/slideLayout6.xml"/><Relationship Id="rId4" Type="http://schemas.openxmlformats.org/officeDocument/2006/relationships/image" Target="../media/image22.wmf"/></Relationships>
</file>

<file path=ppt/slides/_rels/slide2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4.gif"/><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jpeg"/><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jpeg"/><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12.xml"/><Relationship Id="rId1" Type="http://schemas.openxmlformats.org/officeDocument/2006/relationships/slideLayout" Target="../slideLayouts/slideLayout18.xml"/><Relationship Id="rId4" Type="http://schemas.openxmlformats.org/officeDocument/2006/relationships/image" Target="../media/image29.wmf"/></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grpSp>
        <p:nvGrpSpPr>
          <p:cNvPr id="1043" name="Group 149">
            <a:extLst>
              <a:ext uri="{FF2B5EF4-FFF2-40B4-BE49-F238E27FC236}">
                <a16:creationId xmlns:a16="http://schemas.microsoft.com/office/drawing/2014/main" id="{A41F1421-EB4D-4FCC-84AA-B8EAB598DAE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0812" y="0"/>
            <a:ext cx="2436813" cy="6858001"/>
            <a:chOff x="1320800" y="0"/>
            <a:chExt cx="2436813" cy="6858001"/>
          </a:xfrm>
        </p:grpSpPr>
        <p:sp>
          <p:nvSpPr>
            <p:cNvPr id="151" name="Freeform 6">
              <a:extLst>
                <a:ext uri="{FF2B5EF4-FFF2-40B4-BE49-F238E27FC236}">
                  <a16:creationId xmlns:a16="http://schemas.microsoft.com/office/drawing/2014/main" id="{C2868A18-D0E4-4521-BA87-CE338DE4FB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US"/>
            </a:p>
          </p:txBody>
        </p:sp>
        <p:sp>
          <p:nvSpPr>
            <p:cNvPr id="152" name="Freeform 7">
              <a:extLst>
                <a:ext uri="{FF2B5EF4-FFF2-40B4-BE49-F238E27FC236}">
                  <a16:creationId xmlns:a16="http://schemas.microsoft.com/office/drawing/2014/main" id="{4F736B56-6631-4C1B-9CC6-D26C3DB9AE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US"/>
            </a:p>
          </p:txBody>
        </p:sp>
        <p:sp>
          <p:nvSpPr>
            <p:cNvPr id="153" name="Freeform 8">
              <a:extLst>
                <a:ext uri="{FF2B5EF4-FFF2-40B4-BE49-F238E27FC236}">
                  <a16:creationId xmlns:a16="http://schemas.microsoft.com/office/drawing/2014/main" id="{FF88E20D-A161-4C96-9EAE-6A421E59F5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US"/>
            </a:p>
          </p:txBody>
        </p:sp>
        <p:sp>
          <p:nvSpPr>
            <p:cNvPr id="154" name="Freeform 9">
              <a:extLst>
                <a:ext uri="{FF2B5EF4-FFF2-40B4-BE49-F238E27FC236}">
                  <a16:creationId xmlns:a16="http://schemas.microsoft.com/office/drawing/2014/main" id="{62838FE3-738E-4926-B12B-06CB84AB49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US"/>
            </a:p>
          </p:txBody>
        </p:sp>
        <p:sp>
          <p:nvSpPr>
            <p:cNvPr id="155" name="Freeform 10">
              <a:extLst>
                <a:ext uri="{FF2B5EF4-FFF2-40B4-BE49-F238E27FC236}">
                  <a16:creationId xmlns:a16="http://schemas.microsoft.com/office/drawing/2014/main" id="{0A3A990B-04D7-4B58-9819-692A71E0A0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US"/>
            </a:p>
          </p:txBody>
        </p:sp>
        <p:sp>
          <p:nvSpPr>
            <p:cNvPr id="156" name="Freeform 11">
              <a:extLst>
                <a:ext uri="{FF2B5EF4-FFF2-40B4-BE49-F238E27FC236}">
                  <a16:creationId xmlns:a16="http://schemas.microsoft.com/office/drawing/2014/main" id="{4FA6533A-5978-4C31-BE29-20D7F9502A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US"/>
            </a:p>
          </p:txBody>
        </p:sp>
      </p:grpSp>
      <p:sp>
        <p:nvSpPr>
          <p:cNvPr id="158" name="Freeform 37">
            <a:extLst>
              <a:ext uri="{FF2B5EF4-FFF2-40B4-BE49-F238E27FC236}">
                <a16:creationId xmlns:a16="http://schemas.microsoft.com/office/drawing/2014/main" id="{1C40522E-719B-4EF2-8100-DF20F317B4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2"/>
            <a:ext cx="8005382" cy="6857999"/>
          </a:xfrm>
          <a:custGeom>
            <a:avLst/>
            <a:gdLst>
              <a:gd name="connsiteX0" fmla="*/ 0 w 8005382"/>
              <a:gd name="connsiteY0" fmla="*/ 0 h 6857999"/>
              <a:gd name="connsiteX1" fmla="*/ 7723450 w 8005382"/>
              <a:gd name="connsiteY1" fmla="*/ 0 h 6857999"/>
              <a:gd name="connsiteX2" fmla="*/ 6859850 w 8005382"/>
              <a:gd name="connsiteY2" fmla="*/ 5223932 h 6857999"/>
              <a:gd name="connsiteX3" fmla="*/ 8005382 w 8005382"/>
              <a:gd name="connsiteY3" fmla="*/ 6857999 h 6857999"/>
              <a:gd name="connsiteX4" fmla="*/ 0 w 8005382"/>
              <a:gd name="connsiteY4" fmla="*/ 6857999 h 6857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5382" h="6857999">
                <a:moveTo>
                  <a:pt x="0" y="0"/>
                </a:moveTo>
                <a:lnTo>
                  <a:pt x="7723450" y="0"/>
                </a:lnTo>
                <a:lnTo>
                  <a:pt x="6859850" y="5223932"/>
                </a:lnTo>
                <a:lnTo>
                  <a:pt x="8005382" y="6857999"/>
                </a:lnTo>
                <a:lnTo>
                  <a:pt x="0" y="6857999"/>
                </a:lnTo>
                <a:close/>
              </a:path>
            </a:pathLst>
          </a:custGeom>
          <a:solidFill>
            <a:schemeClr val="tx1">
              <a:lumMod val="95000"/>
              <a:lumOff val="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a:p>
        </p:txBody>
      </p:sp>
      <p:grpSp>
        <p:nvGrpSpPr>
          <p:cNvPr id="160" name="Group 159">
            <a:extLst>
              <a:ext uri="{FF2B5EF4-FFF2-40B4-BE49-F238E27FC236}">
                <a16:creationId xmlns:a16="http://schemas.microsoft.com/office/drawing/2014/main" id="{DF0D92E7-0A68-42A1-97BB-A5E058ACB26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942930" y="0"/>
            <a:ext cx="2436813" cy="6858001"/>
            <a:chOff x="1320800" y="0"/>
            <a:chExt cx="2436813" cy="6858001"/>
          </a:xfrm>
        </p:grpSpPr>
        <p:sp>
          <p:nvSpPr>
            <p:cNvPr id="161" name="Freeform 6">
              <a:extLst>
                <a:ext uri="{FF2B5EF4-FFF2-40B4-BE49-F238E27FC236}">
                  <a16:creationId xmlns:a16="http://schemas.microsoft.com/office/drawing/2014/main" id="{31E5632C-4BB9-4CB9-868F-ED9953C91A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US"/>
            </a:p>
          </p:txBody>
        </p:sp>
        <p:sp>
          <p:nvSpPr>
            <p:cNvPr id="162" name="Freeform 7">
              <a:extLst>
                <a:ext uri="{FF2B5EF4-FFF2-40B4-BE49-F238E27FC236}">
                  <a16:creationId xmlns:a16="http://schemas.microsoft.com/office/drawing/2014/main" id="{550E49B5-8ACC-41C9-9BB3-42CDC03FEA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US"/>
            </a:p>
          </p:txBody>
        </p:sp>
        <p:sp>
          <p:nvSpPr>
            <p:cNvPr id="163" name="Freeform 8">
              <a:extLst>
                <a:ext uri="{FF2B5EF4-FFF2-40B4-BE49-F238E27FC236}">
                  <a16:creationId xmlns:a16="http://schemas.microsoft.com/office/drawing/2014/main" id="{9B7E2283-77D1-4DF1-9674-3DB62820AF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US"/>
            </a:p>
          </p:txBody>
        </p:sp>
        <p:sp>
          <p:nvSpPr>
            <p:cNvPr id="164" name="Freeform 9">
              <a:extLst>
                <a:ext uri="{FF2B5EF4-FFF2-40B4-BE49-F238E27FC236}">
                  <a16:creationId xmlns:a16="http://schemas.microsoft.com/office/drawing/2014/main" id="{4C274CA5-DADA-4D93-AD4A-B88C45A901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US"/>
            </a:p>
          </p:txBody>
        </p:sp>
        <p:sp>
          <p:nvSpPr>
            <p:cNvPr id="165" name="Freeform 10">
              <a:extLst>
                <a:ext uri="{FF2B5EF4-FFF2-40B4-BE49-F238E27FC236}">
                  <a16:creationId xmlns:a16="http://schemas.microsoft.com/office/drawing/2014/main" id="{82E630CC-3310-4FC9-9F36-93F4C0AAB1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US"/>
            </a:p>
          </p:txBody>
        </p:sp>
        <p:sp>
          <p:nvSpPr>
            <p:cNvPr id="166" name="Freeform 11">
              <a:extLst>
                <a:ext uri="{FF2B5EF4-FFF2-40B4-BE49-F238E27FC236}">
                  <a16:creationId xmlns:a16="http://schemas.microsoft.com/office/drawing/2014/main" id="{19C1530F-0480-4FA0-AA17-E3549B39F7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US"/>
            </a:p>
          </p:txBody>
        </p:sp>
      </p:grpSp>
      <p:sp>
        <p:nvSpPr>
          <p:cNvPr id="2" name="Title 1"/>
          <p:cNvSpPr>
            <a:spLocks noGrp="1"/>
          </p:cNvSpPr>
          <p:nvPr>
            <p:ph type="ctrTitle"/>
          </p:nvPr>
        </p:nvSpPr>
        <p:spPr>
          <a:xfrm>
            <a:off x="551997" y="2763128"/>
            <a:ext cx="5957961" cy="1202267"/>
          </a:xfrm>
          <a:effectLst/>
        </p:spPr>
        <p:txBody>
          <a:bodyPr vert="horz" lIns="91440" tIns="45720" rIns="91440" bIns="45720" rtlCol="0" anchor="ctr">
            <a:noAutofit/>
          </a:bodyPr>
          <a:lstStyle/>
          <a:p>
            <a:pPr algn="ctr">
              <a:lnSpc>
                <a:spcPct val="90000"/>
              </a:lnSpc>
            </a:pPr>
            <a:r>
              <a:rPr lang="en-US" sz="3200" b="1" dirty="0">
                <a:solidFill>
                  <a:schemeClr val="bg1"/>
                </a:solidFill>
              </a:rPr>
              <a:t>MAE 4425/5091</a:t>
            </a:r>
            <a:br>
              <a:rPr lang="en-US" sz="3200" b="1" dirty="0">
                <a:solidFill>
                  <a:schemeClr val="bg1"/>
                </a:solidFill>
              </a:rPr>
            </a:br>
            <a:br>
              <a:rPr lang="en-US" sz="3200" b="1" dirty="0">
                <a:solidFill>
                  <a:schemeClr val="bg1"/>
                </a:solidFill>
              </a:rPr>
            </a:br>
            <a:r>
              <a:rPr lang="en-US" sz="3200" b="1" dirty="0">
                <a:solidFill>
                  <a:schemeClr val="bg1"/>
                </a:solidFill>
              </a:rPr>
              <a:t>SPACE ENVIRONMENT</a:t>
            </a:r>
            <a:br>
              <a:rPr lang="en-US" sz="3200" b="1" dirty="0">
                <a:solidFill>
                  <a:schemeClr val="bg1"/>
                </a:solidFill>
              </a:rPr>
            </a:br>
            <a:r>
              <a:rPr lang="en-US" sz="3200" b="1" dirty="0">
                <a:solidFill>
                  <a:schemeClr val="bg1"/>
                </a:solidFill>
              </a:rPr>
              <a:t>LESSON 15 – REVIEW</a:t>
            </a:r>
            <a:br>
              <a:rPr lang="en-US" sz="3200" b="1" dirty="0">
                <a:solidFill>
                  <a:schemeClr val="bg1"/>
                </a:solidFill>
              </a:rPr>
            </a:br>
            <a:r>
              <a:rPr lang="en-US" sz="3200" b="1" dirty="0">
                <a:solidFill>
                  <a:schemeClr val="bg1"/>
                </a:solidFill>
              </a:rPr>
              <a:t>PART 2</a:t>
            </a:r>
            <a:br>
              <a:rPr lang="en-US" sz="3200" b="1" dirty="0">
                <a:solidFill>
                  <a:schemeClr val="bg1"/>
                </a:solidFill>
              </a:rPr>
            </a:br>
            <a:endParaRPr lang="en-US" sz="3200" b="1" dirty="0">
              <a:solidFill>
                <a:schemeClr val="bg1"/>
              </a:solidFill>
            </a:endParaRPr>
          </a:p>
        </p:txBody>
      </p:sp>
    </p:spTree>
    <p:extLst>
      <p:ext uri="{BB962C8B-B14F-4D97-AF65-F5344CB8AC3E}">
        <p14:creationId xmlns:p14="http://schemas.microsoft.com/office/powerpoint/2010/main" val="35544156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0CEF66-AFD2-4C84-99DA-1E957CE47316}"/>
              </a:ext>
            </a:extLst>
          </p:cNvPr>
          <p:cNvSpPr>
            <a:spLocks noGrp="1"/>
          </p:cNvSpPr>
          <p:nvPr>
            <p:ph type="title"/>
          </p:nvPr>
        </p:nvSpPr>
        <p:spPr>
          <a:xfrm>
            <a:off x="1567913" y="-233825"/>
            <a:ext cx="10018713" cy="1752599"/>
          </a:xfrm>
        </p:spPr>
        <p:txBody>
          <a:bodyPr/>
          <a:lstStyle/>
          <a:p>
            <a:r>
              <a:rPr lang="en-US" dirty="0"/>
              <a:t>COURSE REVIEW</a:t>
            </a:r>
          </a:p>
        </p:txBody>
      </p:sp>
      <p:sp>
        <p:nvSpPr>
          <p:cNvPr id="4" name="TextBox 3">
            <a:extLst>
              <a:ext uri="{FF2B5EF4-FFF2-40B4-BE49-F238E27FC236}">
                <a16:creationId xmlns:a16="http://schemas.microsoft.com/office/drawing/2014/main" id="{E41AF6CF-4B7F-4569-A514-90139AEF6D30}"/>
              </a:ext>
            </a:extLst>
          </p:cNvPr>
          <p:cNvSpPr txBox="1"/>
          <p:nvPr/>
        </p:nvSpPr>
        <p:spPr>
          <a:xfrm>
            <a:off x="2383437" y="1198676"/>
            <a:ext cx="8881436" cy="4589590"/>
          </a:xfrm>
          <a:prstGeom prst="rect">
            <a:avLst/>
          </a:prstGeom>
          <a:noFill/>
        </p:spPr>
        <p:txBody>
          <a:bodyPr wrap="square">
            <a:spAutoFit/>
          </a:bodyPr>
          <a:lstStyle/>
          <a:p>
            <a:pPr marL="457200" marR="0" indent="-457200">
              <a:lnSpc>
                <a:spcPct val="115000"/>
              </a:lnSpc>
              <a:spcBef>
                <a:spcPts val="0"/>
              </a:spcBef>
              <a:spcAft>
                <a:spcPts val="0"/>
              </a:spcAft>
              <a:buFont typeface="Wingdings" panose="05000000000000000000" pitchFamily="2" charset="2"/>
              <a:buChar char="ü"/>
            </a:pPr>
            <a:r>
              <a:rPr lang="en-US" sz="3200" dirty="0">
                <a:effectLst/>
                <a:latin typeface="Calibri" panose="020F0502020204030204" pitchFamily="34" charset="0"/>
                <a:ea typeface="Calibri" panose="020F0502020204030204" pitchFamily="34" charset="0"/>
                <a:cs typeface="Calibri" panose="020F0502020204030204" pitchFamily="34" charset="0"/>
              </a:rPr>
              <a:t>Chapter 1 – Course </a:t>
            </a:r>
            <a:r>
              <a:rPr lang="en-US" sz="3200" dirty="0">
                <a:latin typeface="Calibri" panose="020F0502020204030204" pitchFamily="34" charset="0"/>
                <a:ea typeface="Calibri" panose="020F0502020204030204" pitchFamily="34" charset="0"/>
                <a:cs typeface="Calibri" panose="020F0502020204030204" pitchFamily="34" charset="0"/>
              </a:rPr>
              <a:t>I</a:t>
            </a:r>
            <a:r>
              <a:rPr lang="en-US" sz="3200" dirty="0">
                <a:effectLst/>
                <a:latin typeface="Calibri" panose="020F0502020204030204" pitchFamily="34" charset="0"/>
                <a:ea typeface="Calibri" panose="020F0502020204030204" pitchFamily="34" charset="0"/>
                <a:cs typeface="Calibri" panose="020F0502020204030204" pitchFamily="34" charset="0"/>
              </a:rPr>
              <a:t>ntro</a:t>
            </a:r>
          </a:p>
          <a:p>
            <a:pPr marL="457200" marR="0" indent="-457200">
              <a:lnSpc>
                <a:spcPct val="115000"/>
              </a:lnSpc>
              <a:spcBef>
                <a:spcPts val="0"/>
              </a:spcBef>
              <a:spcAft>
                <a:spcPts val="0"/>
              </a:spcAft>
              <a:buFont typeface="Wingdings" panose="05000000000000000000" pitchFamily="2" charset="2"/>
              <a:buChar char="ü"/>
            </a:pPr>
            <a:r>
              <a:rPr lang="en-US" sz="3200" dirty="0">
                <a:latin typeface="Calibri" panose="020F0502020204030204" pitchFamily="34" charset="0"/>
                <a:ea typeface="Calibri" panose="020F0502020204030204" pitchFamily="34" charset="0"/>
                <a:cs typeface="Calibri" panose="020F0502020204030204" pitchFamily="34" charset="0"/>
              </a:rPr>
              <a:t>Chapter 2 – The Vacuum Environment</a:t>
            </a:r>
          </a:p>
          <a:p>
            <a:pPr marL="457200" marR="0" indent="-457200">
              <a:lnSpc>
                <a:spcPct val="115000"/>
              </a:lnSpc>
              <a:spcBef>
                <a:spcPts val="0"/>
              </a:spcBef>
              <a:spcAft>
                <a:spcPts val="0"/>
              </a:spcAft>
              <a:buFont typeface="Wingdings" panose="05000000000000000000" pitchFamily="2" charset="2"/>
              <a:buChar char="ü"/>
            </a:pPr>
            <a:r>
              <a:rPr lang="en-US" sz="3200" dirty="0">
                <a:effectLst/>
                <a:latin typeface="Calibri" panose="020F0502020204030204" pitchFamily="34" charset="0"/>
                <a:ea typeface="Calibri" panose="020F0502020204030204" pitchFamily="34" charset="0"/>
                <a:cs typeface="Calibri" panose="020F0502020204030204" pitchFamily="34" charset="0"/>
              </a:rPr>
              <a:t>Chapter 3 - Neutral Atmospheric Particles</a:t>
            </a:r>
          </a:p>
          <a:p>
            <a:pPr marL="457200" marR="0" indent="-457200">
              <a:lnSpc>
                <a:spcPct val="115000"/>
              </a:lnSpc>
              <a:spcBef>
                <a:spcPts val="0"/>
              </a:spcBef>
              <a:spcAft>
                <a:spcPts val="0"/>
              </a:spcAft>
              <a:buFont typeface="Wingdings" panose="05000000000000000000" pitchFamily="2" charset="2"/>
              <a:buChar char="q"/>
            </a:pPr>
            <a:r>
              <a:rPr lang="en-US" sz="3200" dirty="0">
                <a:effectLst/>
                <a:latin typeface="Calibri" panose="020F0502020204030204" pitchFamily="34" charset="0"/>
                <a:ea typeface="Calibri" panose="020F0502020204030204" pitchFamily="34" charset="0"/>
                <a:cs typeface="Calibri" panose="020F0502020204030204" pitchFamily="34" charset="0"/>
              </a:rPr>
              <a:t>Chapter 4 - </a:t>
            </a:r>
            <a:r>
              <a:rPr lang="en-US" sz="32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Charged particles and plasma interactions with the spacecraft</a:t>
            </a:r>
          </a:p>
          <a:p>
            <a:pPr marL="457200" marR="0" indent="-457200">
              <a:lnSpc>
                <a:spcPct val="115000"/>
              </a:lnSpc>
              <a:spcBef>
                <a:spcPts val="0"/>
              </a:spcBef>
              <a:spcAft>
                <a:spcPts val="0"/>
              </a:spcAft>
              <a:buFont typeface="Wingdings" panose="05000000000000000000" pitchFamily="2" charset="2"/>
              <a:buChar char="q"/>
            </a:pPr>
            <a:r>
              <a:rPr lang="en-US" sz="3200" dirty="0">
                <a:solidFill>
                  <a:srgbClr val="000000"/>
                </a:solidFill>
                <a:latin typeface="Calibri" panose="020F0502020204030204" pitchFamily="34" charset="0"/>
                <a:ea typeface="Times New Roman" panose="02020603050405020304" pitchFamily="18" charset="0"/>
                <a:cs typeface="Calibri" panose="020F0502020204030204" pitchFamily="34" charset="0"/>
              </a:rPr>
              <a:t>Chapter 5 - </a:t>
            </a:r>
            <a:r>
              <a:rPr lang="en-US" sz="32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The radiation environment</a:t>
            </a:r>
          </a:p>
          <a:p>
            <a:pPr marL="457200" marR="0" indent="-457200">
              <a:lnSpc>
                <a:spcPct val="115000"/>
              </a:lnSpc>
              <a:spcBef>
                <a:spcPts val="0"/>
              </a:spcBef>
              <a:spcAft>
                <a:spcPts val="0"/>
              </a:spcAft>
              <a:buFont typeface="Wingdings" panose="05000000000000000000" pitchFamily="2" charset="2"/>
              <a:buChar char="q"/>
            </a:pPr>
            <a:r>
              <a:rPr lang="en-US" sz="3200" dirty="0">
                <a:solidFill>
                  <a:srgbClr val="000000"/>
                </a:solidFill>
                <a:latin typeface="Calibri" panose="020F0502020204030204" pitchFamily="34" charset="0"/>
                <a:ea typeface="Calibri" panose="020F0502020204030204" pitchFamily="34" charset="0"/>
                <a:cs typeface="Calibri" panose="020F0502020204030204" pitchFamily="34" charset="0"/>
              </a:rPr>
              <a:t>Chapter 6 - </a:t>
            </a:r>
            <a:r>
              <a:rPr lang="en-US" sz="32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Orbital debris </a:t>
            </a:r>
          </a:p>
          <a:p>
            <a:pPr marL="457200" marR="0" indent="-457200">
              <a:lnSpc>
                <a:spcPct val="115000"/>
              </a:lnSpc>
              <a:spcBef>
                <a:spcPts val="0"/>
              </a:spcBef>
              <a:spcAft>
                <a:spcPts val="0"/>
              </a:spcAft>
              <a:buFont typeface="Wingdings" panose="05000000000000000000" pitchFamily="2" charset="2"/>
              <a:buChar char="q"/>
            </a:pPr>
            <a:r>
              <a:rPr lang="en-US" sz="3200" dirty="0">
                <a:solidFill>
                  <a:srgbClr val="000000"/>
                </a:solidFill>
                <a:latin typeface="Calibri" panose="020F0502020204030204" pitchFamily="34" charset="0"/>
                <a:ea typeface="Times New Roman" panose="02020603050405020304" pitchFamily="18" charset="0"/>
                <a:cs typeface="Calibri" panose="020F0502020204030204" pitchFamily="34" charset="0"/>
              </a:rPr>
              <a:t>Bio R</a:t>
            </a:r>
            <a:r>
              <a:rPr lang="en-US" sz="32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eadings - </a:t>
            </a:r>
            <a:r>
              <a:rPr lang="en-US" sz="32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Human Effects </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384384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8" name="Rectangle 4">
            <a:extLst>
              <a:ext uri="{FF2B5EF4-FFF2-40B4-BE49-F238E27FC236}">
                <a16:creationId xmlns:a16="http://schemas.microsoft.com/office/drawing/2014/main" id="{FC7BE635-EE15-4976-AFF3-E41FE830E4FD}"/>
              </a:ext>
            </a:extLst>
          </p:cNvPr>
          <p:cNvSpPr>
            <a:spLocks noGrp="1" noChangeArrowheads="1"/>
          </p:cNvSpPr>
          <p:nvPr>
            <p:ph type="title"/>
          </p:nvPr>
        </p:nvSpPr>
        <p:spPr>
          <a:xfrm>
            <a:off x="1966911" y="798785"/>
            <a:ext cx="8547100" cy="762000"/>
          </a:xfrm>
        </p:spPr>
        <p:txBody>
          <a:bodyPr/>
          <a:lstStyle/>
          <a:p>
            <a:pPr>
              <a:defRPr/>
            </a:pPr>
            <a:r>
              <a:rPr lang="en-US" altLang="en-US" sz="2600" dirty="0"/>
              <a:t>The Plasma Environment and Potential Effects</a:t>
            </a:r>
          </a:p>
        </p:txBody>
      </p:sp>
      <p:sp>
        <p:nvSpPr>
          <p:cNvPr id="2" name="Slide Number Placeholder 1">
            <a:extLst>
              <a:ext uri="{FF2B5EF4-FFF2-40B4-BE49-F238E27FC236}">
                <a16:creationId xmlns:a16="http://schemas.microsoft.com/office/drawing/2014/main" id="{047D4545-D910-4580-8990-593CE1CD0CB8}"/>
              </a:ext>
            </a:extLst>
          </p:cNvPr>
          <p:cNvSpPr>
            <a:spLocks noGrp="1"/>
          </p:cNvSpPr>
          <p:nvPr>
            <p:ph type="sldNum" sz="quarter" idx="12"/>
          </p:nvPr>
        </p:nvSpPr>
        <p:spPr/>
        <p:txBody>
          <a:bodyPr/>
          <a:lstStyle/>
          <a:p>
            <a:fld id="{C83C362F-97FB-4C1E-B0F0-C3069DD0CDD1}" type="slidenum">
              <a:rPr lang="en-US" smtClean="0"/>
              <a:t>3</a:t>
            </a:fld>
            <a:endParaRPr lang="en-US"/>
          </a:p>
        </p:txBody>
      </p:sp>
      <p:pic>
        <p:nvPicPr>
          <p:cNvPr id="4" name="Picture 3">
            <a:extLst>
              <a:ext uri="{FF2B5EF4-FFF2-40B4-BE49-F238E27FC236}">
                <a16:creationId xmlns:a16="http://schemas.microsoft.com/office/drawing/2014/main" id="{832EC82F-DBF7-46AE-8EF9-8D46931DB6D3}"/>
              </a:ext>
            </a:extLst>
          </p:cNvPr>
          <p:cNvPicPr>
            <a:picLocks noChangeAspect="1"/>
          </p:cNvPicPr>
          <p:nvPr/>
        </p:nvPicPr>
        <p:blipFill>
          <a:blip r:embed="rId3"/>
          <a:stretch>
            <a:fillRect/>
          </a:stretch>
        </p:blipFill>
        <p:spPr>
          <a:xfrm>
            <a:off x="2984105" y="1923394"/>
            <a:ext cx="6313582" cy="4981903"/>
          </a:xfrm>
          <a:prstGeom prst="rect">
            <a:avLst/>
          </a:prstGeom>
        </p:spPr>
      </p:pic>
    </p:spTree>
    <p:extLst>
      <p:ext uri="{BB962C8B-B14F-4D97-AF65-F5344CB8AC3E}">
        <p14:creationId xmlns:p14="http://schemas.microsoft.com/office/powerpoint/2010/main" val="29695694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a:extLst>
              <a:ext uri="{FF2B5EF4-FFF2-40B4-BE49-F238E27FC236}">
                <a16:creationId xmlns:a16="http://schemas.microsoft.com/office/drawing/2014/main" id="{206CF48C-4E69-477B-B040-7B6DECE9C459}"/>
              </a:ext>
            </a:extLst>
          </p:cNvPr>
          <p:cNvSpPr>
            <a:spLocks noGrp="1" noChangeArrowheads="1"/>
          </p:cNvSpPr>
          <p:nvPr>
            <p:ph type="title"/>
          </p:nvPr>
        </p:nvSpPr>
        <p:spPr>
          <a:xfrm>
            <a:off x="835987" y="-373467"/>
            <a:ext cx="10364451" cy="1596177"/>
          </a:xfrm>
        </p:spPr>
        <p:txBody>
          <a:bodyPr/>
          <a:lstStyle/>
          <a:p>
            <a:pPr>
              <a:defRPr/>
            </a:pPr>
            <a:r>
              <a:rPr lang="en-US" altLang="en-US" dirty="0"/>
              <a:t>The Van Allen Radiation Belts</a:t>
            </a:r>
          </a:p>
        </p:txBody>
      </p:sp>
      <p:pic>
        <p:nvPicPr>
          <p:cNvPr id="40962" name="Picture 38" descr="taos">
            <a:extLst>
              <a:ext uri="{FF2B5EF4-FFF2-40B4-BE49-F238E27FC236}">
                <a16:creationId xmlns:a16="http://schemas.microsoft.com/office/drawing/2014/main" id="{BFC96278-7297-4961-A2BE-FA3D6AEA25C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68713" y="4410075"/>
            <a:ext cx="4699000" cy="206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0963" name="Group 71">
            <a:extLst>
              <a:ext uri="{FF2B5EF4-FFF2-40B4-BE49-F238E27FC236}">
                <a16:creationId xmlns:a16="http://schemas.microsoft.com/office/drawing/2014/main" id="{581A220F-C8F8-4D3A-BFE0-7A8DB604AE3D}"/>
              </a:ext>
            </a:extLst>
          </p:cNvPr>
          <p:cNvGrpSpPr>
            <a:grpSpLocks/>
          </p:cNvGrpSpPr>
          <p:nvPr/>
        </p:nvGrpSpPr>
        <p:grpSpPr bwMode="auto">
          <a:xfrm>
            <a:off x="3954463" y="784225"/>
            <a:ext cx="4125912" cy="2192338"/>
            <a:chOff x="1531" y="494"/>
            <a:chExt cx="2599" cy="1381"/>
          </a:xfrm>
        </p:grpSpPr>
        <p:pic>
          <p:nvPicPr>
            <p:cNvPr id="40974" name="Picture 52" descr="belt2">
              <a:extLst>
                <a:ext uri="{FF2B5EF4-FFF2-40B4-BE49-F238E27FC236}">
                  <a16:creationId xmlns:a16="http://schemas.microsoft.com/office/drawing/2014/main" id="{96BB8457-35D9-4DA9-8628-311B6233961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3383" b="4510"/>
            <a:stretch>
              <a:fillRect/>
            </a:stretch>
          </p:blipFill>
          <p:spPr bwMode="auto">
            <a:xfrm>
              <a:off x="1564" y="494"/>
              <a:ext cx="2566" cy="1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13" name="Text Box 53">
              <a:extLst>
                <a:ext uri="{FF2B5EF4-FFF2-40B4-BE49-F238E27FC236}">
                  <a16:creationId xmlns:a16="http://schemas.microsoft.com/office/drawing/2014/main" id="{E1D6B2A1-3533-45CB-AF35-A84E0B33D900}"/>
                </a:ext>
              </a:extLst>
            </p:cNvPr>
            <p:cNvSpPr txBox="1">
              <a:spLocks noChangeArrowheads="1"/>
            </p:cNvSpPr>
            <p:nvPr/>
          </p:nvSpPr>
          <p:spPr bwMode="auto">
            <a:xfrm>
              <a:off x="2019" y="915"/>
              <a:ext cx="195" cy="21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0" tIns="0" rIns="0" bIns="36576">
              <a:spAutoFit/>
            </a:bodyPr>
            <a:lstStyle/>
            <a:p>
              <a:pPr algn="ctr">
                <a:defRPr/>
              </a:pPr>
              <a:r>
                <a:rPr lang="en-US" altLang="en-US" sz="1000">
                  <a:latin typeface="Arial" charset="0"/>
                </a:rPr>
                <a:t>Inner</a:t>
              </a:r>
            </a:p>
            <a:p>
              <a:pPr algn="ctr">
                <a:defRPr/>
              </a:pPr>
              <a:r>
                <a:rPr lang="en-US" altLang="en-US" sz="1000">
                  <a:latin typeface="Arial" charset="0"/>
                </a:rPr>
                <a:t>Belt</a:t>
              </a:r>
            </a:p>
          </p:txBody>
        </p:sp>
        <p:sp>
          <p:nvSpPr>
            <p:cNvPr id="92214" name="Text Box 54">
              <a:extLst>
                <a:ext uri="{FF2B5EF4-FFF2-40B4-BE49-F238E27FC236}">
                  <a16:creationId xmlns:a16="http://schemas.microsoft.com/office/drawing/2014/main" id="{491F616E-F30B-4CCA-AA5A-0030C8A1ECEA}"/>
                </a:ext>
              </a:extLst>
            </p:cNvPr>
            <p:cNvSpPr txBox="1">
              <a:spLocks noChangeArrowheads="1"/>
            </p:cNvSpPr>
            <p:nvPr/>
          </p:nvSpPr>
          <p:spPr bwMode="auto">
            <a:xfrm>
              <a:off x="3155" y="1475"/>
              <a:ext cx="323" cy="314"/>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0" tIns="0" rIns="0" bIns="36576">
              <a:spAutoFit/>
            </a:bodyPr>
            <a:lstStyle/>
            <a:p>
              <a:pPr algn="ctr">
                <a:defRPr/>
              </a:pPr>
              <a:r>
                <a:rPr lang="en-US" altLang="en-US" sz="1000">
                  <a:latin typeface="Arial" charset="0"/>
                </a:rPr>
                <a:t>South</a:t>
              </a:r>
            </a:p>
            <a:p>
              <a:pPr algn="ctr">
                <a:defRPr/>
              </a:pPr>
              <a:r>
                <a:rPr lang="en-US" altLang="en-US" sz="1000">
                  <a:latin typeface="Arial" charset="0"/>
                </a:rPr>
                <a:t>Atlantic</a:t>
              </a:r>
            </a:p>
            <a:p>
              <a:pPr algn="ctr">
                <a:defRPr/>
              </a:pPr>
              <a:r>
                <a:rPr lang="en-US" altLang="en-US" sz="1000">
                  <a:latin typeface="Arial" charset="0"/>
                </a:rPr>
                <a:t>Anomaly</a:t>
              </a:r>
            </a:p>
          </p:txBody>
        </p:sp>
        <p:sp>
          <p:nvSpPr>
            <p:cNvPr id="92215" name="Text Box 55">
              <a:extLst>
                <a:ext uri="{FF2B5EF4-FFF2-40B4-BE49-F238E27FC236}">
                  <a16:creationId xmlns:a16="http://schemas.microsoft.com/office/drawing/2014/main" id="{B4E365FD-3C39-43EA-BBAA-80ADAAB00402}"/>
                </a:ext>
              </a:extLst>
            </p:cNvPr>
            <p:cNvSpPr txBox="1">
              <a:spLocks noChangeArrowheads="1"/>
            </p:cNvSpPr>
            <p:nvPr/>
          </p:nvSpPr>
          <p:spPr bwMode="auto">
            <a:xfrm>
              <a:off x="1531" y="923"/>
              <a:ext cx="235" cy="21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0" tIns="0" rIns="0" bIns="36576">
              <a:spAutoFit/>
            </a:bodyPr>
            <a:lstStyle/>
            <a:p>
              <a:pPr algn="ctr">
                <a:defRPr/>
              </a:pPr>
              <a:r>
                <a:rPr lang="en-US" altLang="en-US" sz="1000">
                  <a:latin typeface="Arial" charset="0"/>
                </a:rPr>
                <a:t>Outer</a:t>
              </a:r>
            </a:p>
            <a:p>
              <a:pPr algn="ctr">
                <a:defRPr/>
              </a:pPr>
              <a:r>
                <a:rPr lang="en-US" altLang="en-US" sz="1000">
                  <a:latin typeface="Arial" charset="0"/>
                </a:rPr>
                <a:t>Belt</a:t>
              </a:r>
            </a:p>
          </p:txBody>
        </p:sp>
        <p:sp>
          <p:nvSpPr>
            <p:cNvPr id="92216" name="Text Box 56">
              <a:extLst>
                <a:ext uri="{FF2B5EF4-FFF2-40B4-BE49-F238E27FC236}">
                  <a16:creationId xmlns:a16="http://schemas.microsoft.com/office/drawing/2014/main" id="{5CDFEAF3-DD5A-4356-8ADC-DD4CB1C048F3}"/>
                </a:ext>
              </a:extLst>
            </p:cNvPr>
            <p:cNvSpPr txBox="1">
              <a:spLocks noChangeArrowheads="1"/>
            </p:cNvSpPr>
            <p:nvPr/>
          </p:nvSpPr>
          <p:spPr bwMode="auto">
            <a:xfrm>
              <a:off x="2027" y="803"/>
              <a:ext cx="315" cy="96"/>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0" tIns="0" rIns="0" bIns="0">
              <a:spAutoFit/>
            </a:bodyPr>
            <a:lstStyle/>
            <a:p>
              <a:pPr algn="ctr">
                <a:defRPr/>
              </a:pPr>
              <a:r>
                <a:rPr lang="en-US" altLang="en-US" sz="1000">
                  <a:latin typeface="Arial" charset="0"/>
                </a:rPr>
                <a:t>1200 km</a:t>
              </a:r>
            </a:p>
          </p:txBody>
        </p:sp>
        <p:sp>
          <p:nvSpPr>
            <p:cNvPr id="92217" name="Text Box 57">
              <a:extLst>
                <a:ext uri="{FF2B5EF4-FFF2-40B4-BE49-F238E27FC236}">
                  <a16:creationId xmlns:a16="http://schemas.microsoft.com/office/drawing/2014/main" id="{FD6AE3F1-E7C5-44EC-ABA2-B6C507E1A4F6}"/>
                </a:ext>
              </a:extLst>
            </p:cNvPr>
            <p:cNvSpPr txBox="1">
              <a:spLocks noChangeArrowheads="1"/>
            </p:cNvSpPr>
            <p:nvPr/>
          </p:nvSpPr>
          <p:spPr bwMode="auto">
            <a:xfrm>
              <a:off x="1963" y="1131"/>
              <a:ext cx="315" cy="96"/>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0" tIns="0" rIns="0" bIns="0">
              <a:spAutoFit/>
            </a:bodyPr>
            <a:lstStyle/>
            <a:p>
              <a:pPr algn="ctr">
                <a:defRPr/>
              </a:pPr>
              <a:r>
                <a:rPr lang="en-US" altLang="en-US" sz="1000">
                  <a:latin typeface="Arial" charset="0"/>
                </a:rPr>
                <a:t>1300 km</a:t>
              </a:r>
            </a:p>
          </p:txBody>
        </p:sp>
        <p:sp>
          <p:nvSpPr>
            <p:cNvPr id="92218" name="Text Box 58">
              <a:extLst>
                <a:ext uri="{FF2B5EF4-FFF2-40B4-BE49-F238E27FC236}">
                  <a16:creationId xmlns:a16="http://schemas.microsoft.com/office/drawing/2014/main" id="{2895CD3B-6545-460A-8FB4-132A9173D176}"/>
                </a:ext>
              </a:extLst>
            </p:cNvPr>
            <p:cNvSpPr txBox="1">
              <a:spLocks noChangeArrowheads="1"/>
            </p:cNvSpPr>
            <p:nvPr/>
          </p:nvSpPr>
          <p:spPr bwMode="auto">
            <a:xfrm>
              <a:off x="3427" y="1003"/>
              <a:ext cx="315" cy="96"/>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0" tIns="0" rIns="0" bIns="0">
              <a:spAutoFit/>
            </a:bodyPr>
            <a:lstStyle/>
            <a:p>
              <a:pPr algn="ctr">
                <a:defRPr/>
              </a:pPr>
              <a:r>
                <a:rPr lang="en-US" altLang="en-US" sz="1000">
                  <a:latin typeface="Arial" charset="0"/>
                </a:rPr>
                <a:t>800 km</a:t>
              </a:r>
            </a:p>
          </p:txBody>
        </p:sp>
        <p:sp>
          <p:nvSpPr>
            <p:cNvPr id="92219" name="Text Box 59">
              <a:extLst>
                <a:ext uri="{FF2B5EF4-FFF2-40B4-BE49-F238E27FC236}">
                  <a16:creationId xmlns:a16="http://schemas.microsoft.com/office/drawing/2014/main" id="{6E874238-42B7-4CF0-82B1-5607592E7FFE}"/>
                </a:ext>
              </a:extLst>
            </p:cNvPr>
            <p:cNvSpPr txBox="1">
              <a:spLocks noChangeArrowheads="1"/>
            </p:cNvSpPr>
            <p:nvPr/>
          </p:nvSpPr>
          <p:spPr bwMode="auto">
            <a:xfrm>
              <a:off x="3307" y="1299"/>
              <a:ext cx="315" cy="96"/>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0" tIns="0" rIns="0" bIns="0">
              <a:spAutoFit/>
            </a:bodyPr>
            <a:lstStyle/>
            <a:p>
              <a:pPr algn="ctr">
                <a:defRPr/>
              </a:pPr>
              <a:r>
                <a:rPr lang="en-US" altLang="en-US" sz="1000">
                  <a:latin typeface="Arial" charset="0"/>
                </a:rPr>
                <a:t>200 km</a:t>
              </a:r>
            </a:p>
          </p:txBody>
        </p:sp>
        <p:sp>
          <p:nvSpPr>
            <p:cNvPr id="92220" name="Text Box 60">
              <a:extLst>
                <a:ext uri="{FF2B5EF4-FFF2-40B4-BE49-F238E27FC236}">
                  <a16:creationId xmlns:a16="http://schemas.microsoft.com/office/drawing/2014/main" id="{45F1EAB1-19C5-428E-AC27-64FCD4B572D2}"/>
                </a:ext>
              </a:extLst>
            </p:cNvPr>
            <p:cNvSpPr txBox="1">
              <a:spLocks noChangeArrowheads="1"/>
            </p:cNvSpPr>
            <p:nvPr/>
          </p:nvSpPr>
          <p:spPr bwMode="auto">
            <a:xfrm>
              <a:off x="3059" y="515"/>
              <a:ext cx="515" cy="192"/>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0" tIns="0" rIns="0" bIns="0">
              <a:spAutoFit/>
            </a:bodyPr>
            <a:lstStyle/>
            <a:p>
              <a:pPr>
                <a:defRPr/>
              </a:pPr>
              <a:r>
                <a:rPr lang="en-US" altLang="en-US" sz="1000">
                  <a:latin typeface="Arial" charset="0"/>
                </a:rPr>
                <a:t>Magnetic</a:t>
              </a:r>
            </a:p>
            <a:p>
              <a:pPr>
                <a:defRPr/>
              </a:pPr>
              <a:r>
                <a:rPr lang="en-US" altLang="en-US" sz="1000">
                  <a:latin typeface="Arial" charset="0"/>
                </a:rPr>
                <a:t>Axis</a:t>
              </a:r>
            </a:p>
          </p:txBody>
        </p:sp>
        <p:sp>
          <p:nvSpPr>
            <p:cNvPr id="92221" name="Text Box 61">
              <a:extLst>
                <a:ext uri="{FF2B5EF4-FFF2-40B4-BE49-F238E27FC236}">
                  <a16:creationId xmlns:a16="http://schemas.microsoft.com/office/drawing/2014/main" id="{E3337185-88D2-4810-8D43-7748A0F5415A}"/>
                </a:ext>
              </a:extLst>
            </p:cNvPr>
            <p:cNvSpPr txBox="1">
              <a:spLocks noChangeArrowheads="1"/>
            </p:cNvSpPr>
            <p:nvPr/>
          </p:nvSpPr>
          <p:spPr bwMode="auto">
            <a:xfrm>
              <a:off x="2443" y="1683"/>
              <a:ext cx="707" cy="19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0" tIns="0" rIns="0" bIns="0">
              <a:spAutoFit/>
            </a:bodyPr>
            <a:lstStyle/>
            <a:p>
              <a:pPr>
                <a:defRPr/>
              </a:pPr>
              <a:r>
                <a:rPr lang="en-US" altLang="en-US" sz="1000">
                  <a:latin typeface="Arial" charset="0"/>
                </a:rPr>
                <a:t>Earth’s</a:t>
              </a:r>
            </a:p>
            <a:p>
              <a:pPr>
                <a:defRPr/>
              </a:pPr>
              <a:r>
                <a:rPr lang="en-US" altLang="en-US" sz="1000">
                  <a:latin typeface="Arial" charset="0"/>
                </a:rPr>
                <a:t>Rotational Axis</a:t>
              </a:r>
            </a:p>
          </p:txBody>
        </p:sp>
      </p:grpSp>
      <p:grpSp>
        <p:nvGrpSpPr>
          <p:cNvPr id="40964" name="Group 66">
            <a:extLst>
              <a:ext uri="{FF2B5EF4-FFF2-40B4-BE49-F238E27FC236}">
                <a16:creationId xmlns:a16="http://schemas.microsoft.com/office/drawing/2014/main" id="{4355A67F-81D5-43C6-B663-41F242914F88}"/>
              </a:ext>
            </a:extLst>
          </p:cNvPr>
          <p:cNvGrpSpPr>
            <a:grpSpLocks/>
          </p:cNvGrpSpPr>
          <p:nvPr/>
        </p:nvGrpSpPr>
        <p:grpSpPr bwMode="auto">
          <a:xfrm>
            <a:off x="1774825" y="1865313"/>
            <a:ext cx="2641600" cy="2532062"/>
            <a:chOff x="158" y="1247"/>
            <a:chExt cx="1664" cy="1595"/>
          </a:xfrm>
        </p:grpSpPr>
        <p:pic>
          <p:nvPicPr>
            <p:cNvPr id="40972" name="Picture 35" descr="vb1">
              <a:extLst>
                <a:ext uri="{FF2B5EF4-FFF2-40B4-BE49-F238E27FC236}">
                  <a16:creationId xmlns:a16="http://schemas.microsoft.com/office/drawing/2014/main" id="{712E121D-8633-45B9-A3B6-95FB3F1B122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 y="1247"/>
              <a:ext cx="1664" cy="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22" name="Text Box 62">
              <a:extLst>
                <a:ext uri="{FF2B5EF4-FFF2-40B4-BE49-F238E27FC236}">
                  <a16:creationId xmlns:a16="http://schemas.microsoft.com/office/drawing/2014/main" id="{61CE05AE-CF69-47B6-B3AF-543664A1D39A}"/>
                </a:ext>
              </a:extLst>
            </p:cNvPr>
            <p:cNvSpPr txBox="1">
              <a:spLocks noChangeArrowheads="1"/>
            </p:cNvSpPr>
            <p:nvPr/>
          </p:nvSpPr>
          <p:spPr bwMode="auto">
            <a:xfrm>
              <a:off x="325" y="2573"/>
              <a:ext cx="1329"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a:defRPr/>
              </a:pPr>
              <a:r>
                <a:rPr lang="en-US" altLang="en-US" sz="1200">
                  <a:latin typeface="Arial" charset="0"/>
                </a:rPr>
                <a:t>Electron Belts (E &gt; 0.5 MeV)</a:t>
              </a:r>
            </a:p>
            <a:p>
              <a:pPr algn="ctr">
                <a:defRPr/>
              </a:pPr>
              <a:r>
                <a:rPr lang="en-US" altLang="en-US" sz="1000">
                  <a:latin typeface="Arial" charset="0"/>
                </a:rPr>
                <a:t>SMAD, Fig 8.7</a:t>
              </a:r>
            </a:p>
          </p:txBody>
        </p:sp>
      </p:grpSp>
      <p:grpSp>
        <p:nvGrpSpPr>
          <p:cNvPr id="40965" name="Group 67">
            <a:extLst>
              <a:ext uri="{FF2B5EF4-FFF2-40B4-BE49-F238E27FC236}">
                <a16:creationId xmlns:a16="http://schemas.microsoft.com/office/drawing/2014/main" id="{20A2C1ED-AF6C-49E4-AA3C-913E27659813}"/>
              </a:ext>
            </a:extLst>
          </p:cNvPr>
          <p:cNvGrpSpPr>
            <a:grpSpLocks/>
          </p:cNvGrpSpPr>
          <p:nvPr/>
        </p:nvGrpSpPr>
        <p:grpSpPr bwMode="auto">
          <a:xfrm>
            <a:off x="8002588" y="1914525"/>
            <a:ext cx="2665412" cy="2482850"/>
            <a:chOff x="4081" y="1278"/>
            <a:chExt cx="1679" cy="1564"/>
          </a:xfrm>
        </p:grpSpPr>
        <p:pic>
          <p:nvPicPr>
            <p:cNvPr id="40970" name="Picture 36" descr="vb2">
              <a:extLst>
                <a:ext uri="{FF2B5EF4-FFF2-40B4-BE49-F238E27FC236}">
                  <a16:creationId xmlns:a16="http://schemas.microsoft.com/office/drawing/2014/main" id="{66ABAE24-CF32-495D-B501-DB2ADC2D854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81" y="1278"/>
              <a:ext cx="1679" cy="1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23" name="Text Box 63">
              <a:extLst>
                <a:ext uri="{FF2B5EF4-FFF2-40B4-BE49-F238E27FC236}">
                  <a16:creationId xmlns:a16="http://schemas.microsoft.com/office/drawing/2014/main" id="{BA5F287B-7AEE-4157-96BE-0FEB4983AC4B}"/>
                </a:ext>
              </a:extLst>
            </p:cNvPr>
            <p:cNvSpPr txBox="1">
              <a:spLocks noChangeArrowheads="1"/>
            </p:cNvSpPr>
            <p:nvPr/>
          </p:nvSpPr>
          <p:spPr bwMode="auto">
            <a:xfrm>
              <a:off x="4301" y="2573"/>
              <a:ext cx="1238"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a:defRPr/>
              </a:pPr>
              <a:r>
                <a:rPr lang="en-US" altLang="en-US" sz="1200">
                  <a:latin typeface="Arial" charset="0"/>
                </a:rPr>
                <a:t>Proton Belt (E &gt; 100 MeV)</a:t>
              </a:r>
            </a:p>
            <a:p>
              <a:pPr algn="ctr">
                <a:defRPr/>
              </a:pPr>
              <a:r>
                <a:rPr lang="en-US" altLang="en-US" sz="1000">
                  <a:latin typeface="Arial" charset="0"/>
                </a:rPr>
                <a:t>SMAD, Fig 8.8</a:t>
              </a:r>
            </a:p>
          </p:txBody>
        </p:sp>
      </p:grpSp>
      <p:sp>
        <p:nvSpPr>
          <p:cNvPr id="92224" name="Text Box 64">
            <a:extLst>
              <a:ext uri="{FF2B5EF4-FFF2-40B4-BE49-F238E27FC236}">
                <a16:creationId xmlns:a16="http://schemas.microsoft.com/office/drawing/2014/main" id="{A8DDAB9F-5364-4E2D-85F5-16C7752C77D1}"/>
              </a:ext>
            </a:extLst>
          </p:cNvPr>
          <p:cNvSpPr txBox="1">
            <a:spLocks noChangeArrowheads="1"/>
          </p:cNvSpPr>
          <p:nvPr/>
        </p:nvSpPr>
        <p:spPr bwMode="auto">
          <a:xfrm>
            <a:off x="8283576" y="4851401"/>
            <a:ext cx="2295525"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a:defRPr/>
            </a:pPr>
            <a:r>
              <a:rPr lang="en-US" altLang="en-US" sz="1200" b="1">
                <a:latin typeface="Arial" charset="0"/>
              </a:rPr>
              <a:t>The South Atlantic Anomaly:</a:t>
            </a:r>
            <a:r>
              <a:rPr lang="en-US" altLang="en-US" sz="1200">
                <a:latin typeface="Arial" charset="0"/>
              </a:rPr>
              <a:t>  Single Event Upsets</a:t>
            </a:r>
          </a:p>
          <a:p>
            <a:pPr algn="ctr">
              <a:defRPr/>
            </a:pPr>
            <a:r>
              <a:rPr lang="en-US" altLang="en-US" sz="1200">
                <a:latin typeface="Arial" charset="0"/>
              </a:rPr>
              <a:t>on the </a:t>
            </a:r>
          </a:p>
          <a:p>
            <a:pPr algn="ctr">
              <a:defRPr/>
            </a:pPr>
            <a:r>
              <a:rPr lang="en-US" altLang="en-US" sz="1200">
                <a:latin typeface="Arial" charset="0"/>
              </a:rPr>
              <a:t>USAF Technology Autonomous Operational Survivability (TAOS) satellite</a:t>
            </a:r>
          </a:p>
        </p:txBody>
      </p:sp>
      <p:sp>
        <p:nvSpPr>
          <p:cNvPr id="92225" name="Rectangle 65">
            <a:extLst>
              <a:ext uri="{FF2B5EF4-FFF2-40B4-BE49-F238E27FC236}">
                <a16:creationId xmlns:a16="http://schemas.microsoft.com/office/drawing/2014/main" id="{95F1BAA3-30F5-4049-A2C5-B49DAE8671A5}"/>
              </a:ext>
            </a:extLst>
          </p:cNvPr>
          <p:cNvSpPr>
            <a:spLocks noChangeArrowheads="1"/>
          </p:cNvSpPr>
          <p:nvPr/>
        </p:nvSpPr>
        <p:spPr bwMode="auto">
          <a:xfrm>
            <a:off x="4310064" y="3656014"/>
            <a:ext cx="3438525" cy="542925"/>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2075" tIns="46038" rIns="92075" bIns="46038">
            <a:spAutoFit/>
          </a:bodyPr>
          <a:lstStyle/>
          <a:p>
            <a:pPr algn="ctr">
              <a:defRPr/>
            </a:pPr>
            <a:r>
              <a:rPr lang="en-US" altLang="en-US" sz="1400" b="1">
                <a:latin typeface="Arial" charset="0"/>
              </a:rPr>
              <a:t>Radiation belts define a natural upper limit to “low-Earth orbit” of  ~ 900 km</a:t>
            </a:r>
          </a:p>
        </p:txBody>
      </p:sp>
      <p:sp>
        <p:nvSpPr>
          <p:cNvPr id="92228" name="Rectangle 68">
            <a:extLst>
              <a:ext uri="{FF2B5EF4-FFF2-40B4-BE49-F238E27FC236}">
                <a16:creationId xmlns:a16="http://schemas.microsoft.com/office/drawing/2014/main" id="{A3930CC1-0685-4077-8272-79DBAAFD9154}"/>
              </a:ext>
            </a:extLst>
          </p:cNvPr>
          <p:cNvSpPr>
            <a:spLocks noChangeArrowheads="1"/>
          </p:cNvSpPr>
          <p:nvPr/>
        </p:nvSpPr>
        <p:spPr bwMode="auto">
          <a:xfrm>
            <a:off x="4773613" y="3032126"/>
            <a:ext cx="24892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a:defRPr/>
            </a:pPr>
            <a:r>
              <a:rPr lang="en-US" altLang="en-US" sz="1000">
                <a:latin typeface="Arial" charset="0"/>
              </a:rPr>
              <a:t>http://aoss.engin.umich.edu/earth_space/</a:t>
            </a:r>
          </a:p>
          <a:p>
            <a:pPr algn="ctr">
              <a:defRPr/>
            </a:pPr>
            <a:r>
              <a:rPr lang="en-US" altLang="en-US" sz="1000">
                <a:latin typeface="Arial" charset="0"/>
              </a:rPr>
              <a:t>courtesy of The Aerospace Corporation</a:t>
            </a:r>
          </a:p>
        </p:txBody>
      </p:sp>
      <p:sp>
        <p:nvSpPr>
          <p:cNvPr id="92230" name="Rectangle 70">
            <a:extLst>
              <a:ext uri="{FF2B5EF4-FFF2-40B4-BE49-F238E27FC236}">
                <a16:creationId xmlns:a16="http://schemas.microsoft.com/office/drawing/2014/main" id="{AB1F394D-F082-43F2-88E0-1C3EA148D917}"/>
              </a:ext>
            </a:extLst>
          </p:cNvPr>
          <p:cNvSpPr>
            <a:spLocks noChangeArrowheads="1"/>
          </p:cNvSpPr>
          <p:nvPr/>
        </p:nvSpPr>
        <p:spPr bwMode="auto">
          <a:xfrm>
            <a:off x="8402638" y="6105526"/>
            <a:ext cx="20574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a:defRPr/>
            </a:pPr>
            <a:r>
              <a:rPr lang="en-US" altLang="en-US" sz="1000">
                <a:latin typeface="Arial" charset="0"/>
              </a:rPr>
              <a:t>http://envnet.gsfc.nasa.gov/</a:t>
            </a:r>
          </a:p>
          <a:p>
            <a:pPr algn="ctr">
              <a:defRPr/>
            </a:pPr>
            <a:r>
              <a:rPr lang="en-US" altLang="en-US" sz="1000">
                <a:latin typeface="Arial" charset="0"/>
              </a:rPr>
              <a:t>Papers/Reno98.html</a:t>
            </a:r>
          </a:p>
        </p:txBody>
      </p:sp>
      <p:sp>
        <p:nvSpPr>
          <p:cNvPr id="2" name="Slide Number Placeholder 1">
            <a:extLst>
              <a:ext uri="{FF2B5EF4-FFF2-40B4-BE49-F238E27FC236}">
                <a16:creationId xmlns:a16="http://schemas.microsoft.com/office/drawing/2014/main" id="{C2AE0990-FD84-44D0-B26A-7904E6C3C8E8}"/>
              </a:ext>
            </a:extLst>
          </p:cNvPr>
          <p:cNvSpPr>
            <a:spLocks noGrp="1"/>
          </p:cNvSpPr>
          <p:nvPr>
            <p:ph type="sldNum" sz="quarter" idx="12"/>
          </p:nvPr>
        </p:nvSpPr>
        <p:spPr/>
        <p:txBody>
          <a:bodyPr/>
          <a:lstStyle/>
          <a:p>
            <a:fld id="{C83C362F-97FB-4C1E-B0F0-C3069DD0CDD1}" type="slidenum">
              <a:rPr lang="en-US" smtClean="0"/>
              <a:t>4</a:t>
            </a:fld>
            <a:endParaRPr lang="en-US"/>
          </a:p>
        </p:txBody>
      </p:sp>
    </p:spTree>
    <p:extLst>
      <p:ext uri="{BB962C8B-B14F-4D97-AF65-F5344CB8AC3E}">
        <p14:creationId xmlns:p14="http://schemas.microsoft.com/office/powerpoint/2010/main" val="35058789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61481-6F9B-486A-B349-66531A8831B3}"/>
              </a:ext>
            </a:extLst>
          </p:cNvPr>
          <p:cNvSpPr>
            <a:spLocks noGrp="1"/>
          </p:cNvSpPr>
          <p:nvPr>
            <p:ph type="title"/>
          </p:nvPr>
        </p:nvSpPr>
        <p:spPr>
          <a:xfrm>
            <a:off x="913775" y="182099"/>
            <a:ext cx="10364451" cy="1596177"/>
          </a:xfrm>
        </p:spPr>
        <p:txBody>
          <a:bodyPr/>
          <a:lstStyle/>
          <a:p>
            <a:r>
              <a:rPr lang="en-US" dirty="0"/>
              <a:t>PLASMA DENSITY IN LEO</a:t>
            </a:r>
          </a:p>
        </p:txBody>
      </p:sp>
      <p:pic>
        <p:nvPicPr>
          <p:cNvPr id="6" name="Content Placeholder 5">
            <a:extLst>
              <a:ext uri="{FF2B5EF4-FFF2-40B4-BE49-F238E27FC236}">
                <a16:creationId xmlns:a16="http://schemas.microsoft.com/office/drawing/2014/main" id="{8422895E-D952-4B31-805C-B04ECAF8F74F}"/>
              </a:ext>
            </a:extLst>
          </p:cNvPr>
          <p:cNvPicPr>
            <a:picLocks noGrp="1" noChangeAspect="1"/>
          </p:cNvPicPr>
          <p:nvPr>
            <p:ph sz="quarter" idx="13"/>
          </p:nvPr>
        </p:nvPicPr>
        <p:blipFill>
          <a:blip r:embed="rId2"/>
          <a:stretch>
            <a:fillRect/>
          </a:stretch>
        </p:blipFill>
        <p:spPr>
          <a:xfrm>
            <a:off x="2082967" y="1937472"/>
            <a:ext cx="8431044" cy="4310928"/>
          </a:xfrm>
        </p:spPr>
      </p:pic>
      <p:sp>
        <p:nvSpPr>
          <p:cNvPr id="4" name="Slide Number Placeholder 3">
            <a:extLst>
              <a:ext uri="{FF2B5EF4-FFF2-40B4-BE49-F238E27FC236}">
                <a16:creationId xmlns:a16="http://schemas.microsoft.com/office/drawing/2014/main" id="{05406FAA-D763-46D1-A31E-D63040445C3C}"/>
              </a:ext>
            </a:extLst>
          </p:cNvPr>
          <p:cNvSpPr>
            <a:spLocks noGrp="1"/>
          </p:cNvSpPr>
          <p:nvPr>
            <p:ph type="sldNum" sz="quarter" idx="12"/>
          </p:nvPr>
        </p:nvSpPr>
        <p:spPr/>
        <p:txBody>
          <a:bodyPr/>
          <a:lstStyle/>
          <a:p>
            <a:fld id="{C83C362F-97FB-4C1E-B0F0-C3069DD0CDD1}" type="slidenum">
              <a:rPr lang="en-US" smtClean="0"/>
              <a:t>5</a:t>
            </a:fld>
            <a:endParaRPr lang="en-US"/>
          </a:p>
        </p:txBody>
      </p:sp>
    </p:spTree>
    <p:extLst>
      <p:ext uri="{BB962C8B-B14F-4D97-AF65-F5344CB8AC3E}">
        <p14:creationId xmlns:p14="http://schemas.microsoft.com/office/powerpoint/2010/main" val="31903843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44DD8279-E2C8-471D-BCDD-8302E254F95B}"/>
              </a:ext>
            </a:extLst>
          </p:cNvPr>
          <p:cNvPicPr>
            <a:picLocks noChangeAspect="1"/>
          </p:cNvPicPr>
          <p:nvPr/>
        </p:nvPicPr>
        <p:blipFill>
          <a:blip r:embed="rId2"/>
          <a:stretch>
            <a:fillRect/>
          </a:stretch>
        </p:blipFill>
        <p:spPr>
          <a:xfrm>
            <a:off x="2192633" y="568037"/>
            <a:ext cx="7680852" cy="3917234"/>
          </a:xfrm>
          <a:prstGeom prst="roundRect">
            <a:avLst>
              <a:gd name="adj" fmla="val 5301"/>
            </a:avLst>
          </a:prstGeom>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pic>
      <p:sp>
        <p:nvSpPr>
          <p:cNvPr id="2" name="Title 1">
            <a:extLst>
              <a:ext uri="{FF2B5EF4-FFF2-40B4-BE49-F238E27FC236}">
                <a16:creationId xmlns:a16="http://schemas.microsoft.com/office/drawing/2014/main" id="{83061481-6F9B-486A-B349-66531A8831B3}"/>
              </a:ext>
            </a:extLst>
          </p:cNvPr>
          <p:cNvSpPr>
            <a:spLocks noGrp="1"/>
          </p:cNvSpPr>
          <p:nvPr>
            <p:ph type="title"/>
          </p:nvPr>
        </p:nvSpPr>
        <p:spPr>
          <a:xfrm>
            <a:off x="635211" y="4562855"/>
            <a:ext cx="10916365" cy="1137554"/>
          </a:xfrm>
        </p:spPr>
        <p:txBody>
          <a:bodyPr vert="horz" lIns="91440" tIns="45720" rIns="91440" bIns="45720" rtlCol="0" anchor="b">
            <a:normAutofit fontScale="90000"/>
          </a:bodyPr>
          <a:lstStyle/>
          <a:p>
            <a:r>
              <a:rPr lang="en-US" sz="4800"/>
              <a:t>PLASMA DENSITY AT HIGHER ALTITUDES</a:t>
            </a:r>
          </a:p>
        </p:txBody>
      </p:sp>
      <p:sp>
        <p:nvSpPr>
          <p:cNvPr id="4" name="Slide Number Placeholder 3">
            <a:extLst>
              <a:ext uri="{FF2B5EF4-FFF2-40B4-BE49-F238E27FC236}">
                <a16:creationId xmlns:a16="http://schemas.microsoft.com/office/drawing/2014/main" id="{05406FAA-D763-46D1-A31E-D63040445C3C}"/>
              </a:ext>
            </a:extLst>
          </p:cNvPr>
          <p:cNvSpPr>
            <a:spLocks noGrp="1"/>
          </p:cNvSpPr>
          <p:nvPr>
            <p:ph type="sldNum" sz="quarter" idx="12"/>
          </p:nvPr>
        </p:nvSpPr>
        <p:spPr>
          <a:xfrm>
            <a:off x="10514011" y="6354825"/>
            <a:ext cx="764215" cy="365125"/>
          </a:xfrm>
        </p:spPr>
        <p:txBody>
          <a:bodyPr vert="horz" lIns="91440" tIns="45720" rIns="91440" bIns="45720" rtlCol="0" anchor="ctr">
            <a:normAutofit/>
          </a:bodyPr>
          <a:lstStyle/>
          <a:p>
            <a:pPr defTabSz="914400">
              <a:spcAft>
                <a:spcPts val="600"/>
              </a:spcAft>
            </a:pPr>
            <a:fld id="{C83C362F-97FB-4C1E-B0F0-C3069DD0CDD1}" type="slidenum">
              <a:rPr lang="en-US" smtClean="0"/>
              <a:pPr defTabSz="914400">
                <a:spcAft>
                  <a:spcPts val="600"/>
                </a:spcAft>
              </a:pPr>
              <a:t>6</a:t>
            </a:fld>
            <a:endParaRPr lang="en-US"/>
          </a:p>
        </p:txBody>
      </p:sp>
    </p:spTree>
    <p:extLst>
      <p:ext uri="{BB962C8B-B14F-4D97-AF65-F5344CB8AC3E}">
        <p14:creationId xmlns:p14="http://schemas.microsoft.com/office/powerpoint/2010/main" val="12453129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C194CC-AE4A-4814-85E0-A99477B55675}"/>
              </a:ext>
            </a:extLst>
          </p:cNvPr>
          <p:cNvSpPr>
            <a:spLocks noGrp="1"/>
          </p:cNvSpPr>
          <p:nvPr>
            <p:ph type="title"/>
          </p:nvPr>
        </p:nvSpPr>
        <p:spPr>
          <a:xfrm>
            <a:off x="1484310" y="257699"/>
            <a:ext cx="10018713" cy="1752599"/>
          </a:xfrm>
        </p:spPr>
        <p:txBody>
          <a:bodyPr/>
          <a:lstStyle/>
          <a:p>
            <a:r>
              <a:rPr lang="en-US" dirty="0"/>
              <a:t>Plasma frequency of oscillation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CFE9765-B6AA-40B8-8B58-ADA4619D1BB6}"/>
                  </a:ext>
                </a:extLst>
              </p:cNvPr>
              <p:cNvSpPr>
                <a:spLocks noGrp="1"/>
              </p:cNvSpPr>
              <p:nvPr>
                <p:ph sz="quarter" idx="13"/>
              </p:nvPr>
            </p:nvSpPr>
            <p:spPr>
              <a:xfrm>
                <a:off x="1134168" y="2329578"/>
                <a:ext cx="4561675" cy="3424107"/>
              </a:xfrm>
            </p:spPr>
            <p:txBody>
              <a:bodyPr/>
              <a:lstStyle/>
              <a:p>
                <a:pPr marL="0" indent="0">
                  <a:buNone/>
                </a:pPr>
                <a14:m>
                  <m:oMath xmlns:m="http://schemas.openxmlformats.org/officeDocument/2006/math">
                    <m:r>
                      <a:rPr lang="en-US" b="0" i="1" smtClean="0">
                        <a:latin typeface="Cambria Math" panose="02040503050406030204" pitchFamily="18" charset="0"/>
                      </a:rPr>
                      <m:t>𝑓</m:t>
                    </m:r>
                    <m:r>
                      <a:rPr lang="en-US" b="0" i="1" smtClean="0">
                        <a:latin typeface="Cambria Math" panose="02040503050406030204" pitchFamily="18" charset="0"/>
                      </a:rPr>
                      <m:t>= </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r>
                          <a:rPr lang="en-US" b="0" i="1" smtClean="0">
                            <a:latin typeface="Cambria Math" panose="02040503050406030204" pitchFamily="18" charset="0"/>
                            <a:ea typeface="Cambria Math" panose="02040503050406030204" pitchFamily="18" charset="0"/>
                          </a:rPr>
                          <m:t>𝜋</m:t>
                        </m:r>
                      </m:den>
                    </m:f>
                    <m:rad>
                      <m:radPr>
                        <m:degHide m:val="on"/>
                        <m:ctrlPr>
                          <a:rPr lang="en-US" b="0" i="1" smtClean="0">
                            <a:latin typeface="Cambria Math" panose="02040503050406030204" pitchFamily="18" charset="0"/>
                          </a:rPr>
                        </m:ctrlPr>
                      </m:radPr>
                      <m:deg/>
                      <m:e>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𝑛</m:t>
                                </m:r>
                              </m:e>
                              <m:sub>
                                <m:r>
                                  <a:rPr lang="en-US" i="1">
                                    <a:latin typeface="Cambria Math" panose="02040503050406030204" pitchFamily="18" charset="0"/>
                                  </a:rPr>
                                  <m:t>0</m:t>
                                </m:r>
                              </m:sub>
                            </m:sSub>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2</m:t>
                                </m:r>
                              </m:sup>
                            </m:sSup>
                          </m:num>
                          <m:den>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𝜀</m:t>
                                </m:r>
                              </m:e>
                              <m:sub>
                                <m:r>
                                  <a:rPr lang="en-US" i="1">
                                    <a:latin typeface="Cambria Math" panose="02040503050406030204" pitchFamily="18" charset="0"/>
                                    <a:ea typeface="Cambria Math" panose="02040503050406030204" pitchFamily="18" charset="0"/>
                                  </a:rPr>
                                  <m:t>𝑜</m:t>
                                </m:r>
                              </m:sub>
                            </m:sSub>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𝑚</m:t>
                                </m:r>
                              </m:e>
                              <m:sub>
                                <m:r>
                                  <a:rPr lang="en-US" i="1">
                                    <a:latin typeface="Cambria Math" panose="02040503050406030204" pitchFamily="18" charset="0"/>
                                    <a:ea typeface="Cambria Math" panose="02040503050406030204" pitchFamily="18" charset="0"/>
                                  </a:rPr>
                                  <m:t>𝑒</m:t>
                                </m:r>
                              </m:sub>
                            </m:sSub>
                          </m:den>
                        </m:f>
                      </m:e>
                    </m:rad>
                  </m:oMath>
                </a14:m>
                <a:r>
                  <a:rPr lang="en-US" dirty="0"/>
                  <a:t> Hz</a:t>
                </a:r>
              </a:p>
              <a:p>
                <a:pPr marL="0" indent="0">
                  <a:buNone/>
                </a:pPr>
                <a:r>
                  <a:rPr lang="en-US" dirty="0"/>
                  <a:t>This can be approximated by</a:t>
                </a:r>
              </a:p>
              <a:p>
                <a:pPr marL="0" indent="0">
                  <a:buNone/>
                </a:pPr>
                <a:endParaRPr lang="en-US" dirty="0"/>
              </a:p>
              <a:p>
                <a:pPr marL="0" indent="0">
                  <a:buNone/>
                </a:pPr>
                <a14:m>
                  <m:oMath xmlns:m="http://schemas.openxmlformats.org/officeDocument/2006/math">
                    <m:r>
                      <a:rPr lang="en-US" b="0" i="1" smtClean="0">
                        <a:latin typeface="Cambria Math" panose="02040503050406030204" pitchFamily="18" charset="0"/>
                      </a:rPr>
                      <m:t>𝑓</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rPr>
                      <m:t>8.969</m:t>
                    </m:r>
                    <m:rad>
                      <m:radPr>
                        <m:degHide m:val="on"/>
                        <m:ctrlPr>
                          <a:rPr lang="en-US" b="0" i="1" smtClean="0">
                            <a:latin typeface="Cambria Math" panose="02040503050406030204" pitchFamily="18" charset="0"/>
                          </a:rPr>
                        </m:ctrlPr>
                      </m:radPr>
                      <m:deg/>
                      <m:e>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𝑜</m:t>
                            </m:r>
                          </m:sub>
                        </m:sSub>
                      </m:e>
                    </m:rad>
                  </m:oMath>
                </a14:m>
                <a:r>
                  <a:rPr lang="en-US" dirty="0"/>
                  <a:t> hz</a:t>
                </a:r>
              </a:p>
              <a:p>
                <a:pPr marL="0" indent="0">
                  <a:buNone/>
                </a:pPr>
                <a:endParaRPr lang="en-US" dirty="0"/>
              </a:p>
            </p:txBody>
          </p:sp>
        </mc:Choice>
        <mc:Fallback xmlns="">
          <p:sp>
            <p:nvSpPr>
              <p:cNvPr id="3" name="Content Placeholder 2">
                <a:extLst>
                  <a:ext uri="{FF2B5EF4-FFF2-40B4-BE49-F238E27FC236}">
                    <a16:creationId xmlns:a16="http://schemas.microsoft.com/office/drawing/2014/main" id="{8CFE9765-B6AA-40B8-8B58-ADA4619D1BB6}"/>
                  </a:ext>
                </a:extLst>
              </p:cNvPr>
              <p:cNvSpPr>
                <a:spLocks noGrp="1" noRot="1" noChangeAspect="1" noMove="1" noResize="1" noEditPoints="1" noAdjustHandles="1" noChangeArrowheads="1" noChangeShapeType="1" noTextEdit="1"/>
              </p:cNvSpPr>
              <p:nvPr>
                <p:ph sz="quarter" idx="13"/>
              </p:nvPr>
            </p:nvSpPr>
            <p:spPr>
              <a:xfrm>
                <a:off x="1134168" y="2329578"/>
                <a:ext cx="4561675" cy="3424107"/>
              </a:xfrm>
              <a:blipFill>
                <a:blip r:embed="rId2"/>
                <a:stretch>
                  <a:fillRect l="-2005"/>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737B6023-5105-447E-A1F7-5DAB914DF045}"/>
              </a:ext>
            </a:extLst>
          </p:cNvPr>
          <p:cNvSpPr>
            <a:spLocks noGrp="1"/>
          </p:cNvSpPr>
          <p:nvPr>
            <p:ph type="sldNum" sz="quarter" idx="12"/>
          </p:nvPr>
        </p:nvSpPr>
        <p:spPr/>
        <p:txBody>
          <a:bodyPr/>
          <a:lstStyle/>
          <a:p>
            <a:fld id="{C83C362F-97FB-4C1E-B0F0-C3069DD0CDD1}" type="slidenum">
              <a:rPr lang="en-US" smtClean="0"/>
              <a:t>7</a:t>
            </a:fld>
            <a:endParaRPr lang="en-US"/>
          </a:p>
        </p:txBody>
      </p:sp>
      <p:pic>
        <p:nvPicPr>
          <p:cNvPr id="2050" name="Picture 2" descr="See the source image">
            <a:extLst>
              <a:ext uri="{FF2B5EF4-FFF2-40B4-BE49-F238E27FC236}">
                <a16:creationId xmlns:a16="http://schemas.microsoft.com/office/drawing/2014/main" id="{674E8847-AAA4-49F3-A8E4-60AF237FC2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37893" y="2116725"/>
            <a:ext cx="7054107" cy="39586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720089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04F6B1E8-1E7A-46F9-817D-8486FC8B96FA}"/>
              </a:ext>
            </a:extLst>
          </p:cNvPr>
          <p:cNvPicPr>
            <a:picLocks noGrp="1" noChangeAspect="1"/>
          </p:cNvPicPr>
          <p:nvPr>
            <p:ph sz="quarter" idx="13"/>
          </p:nvPr>
        </p:nvPicPr>
        <p:blipFill>
          <a:blip r:embed="rId2"/>
          <a:stretch>
            <a:fillRect/>
          </a:stretch>
        </p:blipFill>
        <p:spPr>
          <a:xfrm>
            <a:off x="2605452" y="957486"/>
            <a:ext cx="7027442" cy="3285330"/>
          </a:xfrm>
          <a:prstGeom prst="roundRect">
            <a:avLst>
              <a:gd name="adj" fmla="val 5301"/>
            </a:avLst>
          </a:prstGeom>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pic>
      <p:sp>
        <p:nvSpPr>
          <p:cNvPr id="2" name="Title 1">
            <a:extLst>
              <a:ext uri="{FF2B5EF4-FFF2-40B4-BE49-F238E27FC236}">
                <a16:creationId xmlns:a16="http://schemas.microsoft.com/office/drawing/2014/main" id="{906951B3-67A6-47B1-BEC0-60620862102A}"/>
              </a:ext>
            </a:extLst>
          </p:cNvPr>
          <p:cNvSpPr>
            <a:spLocks noGrp="1"/>
          </p:cNvSpPr>
          <p:nvPr>
            <p:ph type="title"/>
          </p:nvPr>
        </p:nvSpPr>
        <p:spPr>
          <a:xfrm>
            <a:off x="572866" y="4979698"/>
            <a:ext cx="10916365" cy="1137554"/>
          </a:xfrm>
        </p:spPr>
        <p:txBody>
          <a:bodyPr vert="horz" lIns="91440" tIns="45720" rIns="91440" bIns="45720" rtlCol="0" anchor="b">
            <a:normAutofit fontScale="90000"/>
          </a:bodyPr>
          <a:lstStyle/>
          <a:p>
            <a:r>
              <a:rPr lang="en-US" sz="4800" dirty="0"/>
              <a:t>Spacecraft charging</a:t>
            </a:r>
            <a:br>
              <a:rPr lang="en-US" sz="4800" dirty="0"/>
            </a:br>
            <a:r>
              <a:rPr lang="en-US" sz="4800" dirty="0"/>
              <a:t>ionosphere plasma characteristics</a:t>
            </a:r>
          </a:p>
        </p:txBody>
      </p:sp>
      <p:sp>
        <p:nvSpPr>
          <p:cNvPr id="4" name="Slide Number Placeholder 3">
            <a:extLst>
              <a:ext uri="{FF2B5EF4-FFF2-40B4-BE49-F238E27FC236}">
                <a16:creationId xmlns:a16="http://schemas.microsoft.com/office/drawing/2014/main" id="{CB00D6F4-09FA-43CF-B7F1-7AD475DE27D4}"/>
              </a:ext>
            </a:extLst>
          </p:cNvPr>
          <p:cNvSpPr>
            <a:spLocks noGrp="1"/>
          </p:cNvSpPr>
          <p:nvPr>
            <p:ph type="sldNum" sz="quarter" idx="12"/>
          </p:nvPr>
        </p:nvSpPr>
        <p:spPr>
          <a:xfrm>
            <a:off x="10514011" y="6354825"/>
            <a:ext cx="764215" cy="365125"/>
          </a:xfrm>
        </p:spPr>
        <p:txBody>
          <a:bodyPr vert="horz" lIns="91440" tIns="45720" rIns="91440" bIns="45720" rtlCol="0" anchor="ctr">
            <a:normAutofit/>
          </a:bodyPr>
          <a:lstStyle/>
          <a:p>
            <a:pPr defTabSz="914400">
              <a:spcAft>
                <a:spcPts val="600"/>
              </a:spcAft>
            </a:pPr>
            <a:fld id="{C83C362F-97FB-4C1E-B0F0-C3069DD0CDD1}" type="slidenum">
              <a:rPr lang="en-US" smtClean="0"/>
              <a:pPr defTabSz="914400">
                <a:spcAft>
                  <a:spcPts val="600"/>
                </a:spcAft>
              </a:pPr>
              <a:t>8</a:t>
            </a:fld>
            <a:endParaRPr lang="en-US"/>
          </a:p>
        </p:txBody>
      </p:sp>
    </p:spTree>
    <p:extLst>
      <p:ext uri="{BB962C8B-B14F-4D97-AF65-F5344CB8AC3E}">
        <p14:creationId xmlns:p14="http://schemas.microsoft.com/office/powerpoint/2010/main" val="16683220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CFC3DD-AB2E-411B-BEE9-F1DA591F9FFF}"/>
              </a:ext>
            </a:extLst>
          </p:cNvPr>
          <p:cNvSpPr>
            <a:spLocks noGrp="1"/>
          </p:cNvSpPr>
          <p:nvPr>
            <p:ph type="title"/>
          </p:nvPr>
        </p:nvSpPr>
        <p:spPr>
          <a:xfrm>
            <a:off x="1484310" y="204749"/>
            <a:ext cx="10018713" cy="1752599"/>
          </a:xfrm>
        </p:spPr>
        <p:txBody>
          <a:bodyPr/>
          <a:lstStyle/>
          <a:p>
            <a:r>
              <a:rPr lang="en-US" dirty="0"/>
              <a:t>Mean or average speed of electrons and protons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9702C42-D72B-4FC1-90D1-247A453ABF62}"/>
                  </a:ext>
                </a:extLst>
              </p:cNvPr>
              <p:cNvSpPr>
                <a:spLocks noGrp="1"/>
              </p:cNvSpPr>
              <p:nvPr>
                <p:ph sz="quarter" idx="13"/>
              </p:nvPr>
            </p:nvSpPr>
            <p:spPr/>
            <p:txBody>
              <a:bodyPr/>
              <a:lstStyle/>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𝑚𝑒𝑎𝑛</m:t>
                        </m:r>
                      </m:sub>
                    </m:sSub>
                    <m:r>
                      <a:rPr lang="en-US" i="1">
                        <a:latin typeface="Cambria Math" panose="02040503050406030204" pitchFamily="18" charset="0"/>
                      </a:rPr>
                      <m:t>= </m:t>
                    </m:r>
                    <m:rad>
                      <m:radPr>
                        <m:degHide m:val="on"/>
                        <m:ctrlPr>
                          <a:rPr lang="en-US" i="1">
                            <a:latin typeface="Cambria Math" panose="02040503050406030204" pitchFamily="18" charset="0"/>
                          </a:rPr>
                        </m:ctrlPr>
                      </m:radPr>
                      <m:deg/>
                      <m:e>
                        <m:f>
                          <m:fPr>
                            <m:ctrlPr>
                              <a:rPr lang="en-US" i="1">
                                <a:latin typeface="Cambria Math" panose="02040503050406030204" pitchFamily="18" charset="0"/>
                              </a:rPr>
                            </m:ctrlPr>
                          </m:fPr>
                          <m:num>
                            <m:r>
                              <a:rPr lang="en-US" i="1">
                                <a:latin typeface="Cambria Math" panose="02040503050406030204" pitchFamily="18" charset="0"/>
                              </a:rPr>
                              <m:t>8</m:t>
                            </m:r>
                            <m:sSub>
                              <m:sSubPr>
                                <m:ctrlPr>
                                  <a:rPr lang="en-US" i="1">
                                    <a:latin typeface="Cambria Math" panose="02040503050406030204" pitchFamily="18" charset="0"/>
                                  </a:rPr>
                                </m:ctrlPr>
                              </m:sSubPr>
                              <m:e>
                                <m:r>
                                  <a:rPr lang="en-US" i="1">
                                    <a:latin typeface="Cambria Math" panose="02040503050406030204" pitchFamily="18" charset="0"/>
                                  </a:rPr>
                                  <m:t>𝑘</m:t>
                                </m:r>
                              </m:e>
                              <m:sub>
                                <m:r>
                                  <a:rPr lang="en-US" i="1">
                                    <a:latin typeface="Cambria Math" panose="02040503050406030204" pitchFamily="18" charset="0"/>
                                  </a:rPr>
                                  <m:t>𝐵</m:t>
                                </m:r>
                              </m:sub>
                            </m:sSub>
                            <m:r>
                              <a:rPr lang="en-US" i="1">
                                <a:latin typeface="Cambria Math" panose="02040503050406030204" pitchFamily="18" charset="0"/>
                              </a:rPr>
                              <m:t>𝑇</m:t>
                            </m:r>
                          </m:num>
                          <m:den>
                            <m:r>
                              <a:rPr lang="en-US" i="1">
                                <a:latin typeface="Cambria Math" panose="02040503050406030204" pitchFamily="18" charset="0"/>
                                <a:ea typeface="Cambria Math" panose="02040503050406030204" pitchFamily="18" charset="0"/>
                              </a:rPr>
                              <m:t>𝜋</m:t>
                            </m:r>
                            <m:r>
                              <a:rPr lang="en-US" i="1">
                                <a:latin typeface="Cambria Math" panose="02040503050406030204" pitchFamily="18" charset="0"/>
                                <a:ea typeface="Cambria Math" panose="02040503050406030204" pitchFamily="18" charset="0"/>
                              </a:rPr>
                              <m:t>𝑚</m:t>
                            </m:r>
                          </m:den>
                        </m:f>
                      </m:e>
                    </m:rad>
                  </m:oMath>
                </a14:m>
                <a:r>
                  <a:rPr lang="en-US" dirty="0"/>
                  <a:t> </a:t>
                </a:r>
              </a:p>
              <a:p>
                <a:pPr marL="0" indent="0">
                  <a:buNone/>
                </a:pPr>
                <a:r>
                  <a:rPr lang="en-US" dirty="0"/>
                  <a:t>Where</a:t>
                </a:r>
              </a:p>
              <a:p>
                <a:pPr marL="0" indent="0">
                  <a:buNone/>
                </a:pPr>
                <a14:m>
                  <m:oMathPara xmlns:m="http://schemas.openxmlformats.org/officeDocument/2006/math">
                    <m:oMathParaPr>
                      <m:jc m:val="left"/>
                    </m:oMathParaPr>
                    <m:o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𝑘</m:t>
                          </m:r>
                        </m:e>
                        <m:sub>
                          <m:r>
                            <a:rPr lang="en-US" sz="2000" b="0" i="1" smtClean="0">
                              <a:latin typeface="Cambria Math" panose="02040503050406030204" pitchFamily="18" charset="0"/>
                            </a:rPr>
                            <m:t>𝑏</m:t>
                          </m:r>
                        </m:sub>
                      </m:sSub>
                      <m:r>
                        <a:rPr lang="en-US" sz="2000" b="0" i="1" smtClean="0">
                          <a:latin typeface="Cambria Math" panose="02040503050406030204" pitchFamily="18" charset="0"/>
                        </a:rPr>
                        <m:t>=</m:t>
                      </m:r>
                      <m:r>
                        <a:rPr lang="en-US" sz="2000" b="0" i="1" smtClean="0">
                          <a:latin typeface="Cambria Math" panose="02040503050406030204" pitchFamily="18" charset="0"/>
                        </a:rPr>
                        <m:t>𝐵𝑜𝑙𝑡𝑧𝑚𝑎𝑛</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𝑛</m:t>
                          </m:r>
                        </m:e>
                        <m:sup>
                          <m:r>
                            <a:rPr lang="en-US" sz="2000" b="0" i="1" smtClean="0">
                              <a:latin typeface="Cambria Math" panose="02040503050406030204" pitchFamily="18" charset="0"/>
                            </a:rPr>
                            <m:t>′</m:t>
                          </m:r>
                        </m:sup>
                      </m:sSup>
                      <m:r>
                        <a:rPr lang="en-US" sz="2000" b="0" i="1" smtClean="0">
                          <a:latin typeface="Cambria Math" panose="02040503050406030204" pitchFamily="18" charset="0"/>
                        </a:rPr>
                        <m:t>𝑠</m:t>
                      </m:r>
                      <m:r>
                        <a:rPr lang="en-US" sz="2000" b="0" i="1" smtClean="0">
                          <a:latin typeface="Cambria Math" panose="02040503050406030204" pitchFamily="18" charset="0"/>
                        </a:rPr>
                        <m:t> </m:t>
                      </m:r>
                      <m:r>
                        <a:rPr lang="en-US" sz="2000" b="0" i="1" smtClean="0">
                          <a:latin typeface="Cambria Math" panose="02040503050406030204" pitchFamily="18" charset="0"/>
                        </a:rPr>
                        <m:t>𝐶𝑜𝑛𝑠𝑡𝑎𝑛𝑡</m:t>
                      </m:r>
                      <m:r>
                        <a:rPr lang="en-US" sz="2000" b="0" i="1" smtClean="0">
                          <a:latin typeface="Cambria Math" panose="02040503050406030204" pitchFamily="18" charset="0"/>
                        </a:rPr>
                        <m:t>=1.3806452 </m:t>
                      </m:r>
                      <m:r>
                        <a:rPr lang="en-US" sz="2000" b="0" i="1" smtClean="0">
                          <a:latin typeface="Cambria Math" panose="02040503050406030204" pitchFamily="18" charset="0"/>
                        </a:rPr>
                        <m:t>𝑥</m:t>
                      </m:r>
                      <m:r>
                        <a:rPr lang="en-US" sz="2000" b="0" i="1" smtClean="0">
                          <a:latin typeface="Cambria Math" panose="02040503050406030204" pitchFamily="18" charset="0"/>
                        </a:rPr>
                        <m:t> </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10</m:t>
                          </m:r>
                        </m:e>
                        <m:sup>
                          <m:r>
                            <a:rPr lang="en-US" sz="2000" b="0" i="1" smtClean="0">
                              <a:latin typeface="Cambria Math" panose="02040503050406030204" pitchFamily="18" charset="0"/>
                            </a:rPr>
                            <m:t>−23</m:t>
                          </m:r>
                        </m:sup>
                      </m:sSup>
                      <m:r>
                        <a:rPr lang="en-US" sz="2000" b="0" i="1" smtClean="0">
                          <a:latin typeface="Cambria Math" panose="02040503050406030204" pitchFamily="18" charset="0"/>
                        </a:rPr>
                        <m:t>𝐽</m:t>
                      </m:r>
                      <m:r>
                        <a:rPr lang="en-US" sz="2000" b="0" i="1" smtClean="0">
                          <a:latin typeface="Cambria Math" panose="02040503050406030204" pitchFamily="18" charset="0"/>
                        </a:rPr>
                        <m:t>/</m:t>
                      </m:r>
                      <m:r>
                        <a:rPr lang="en-US" sz="2000" b="0" i="1" smtClean="0">
                          <a:latin typeface="Cambria Math" panose="02040503050406030204" pitchFamily="18" charset="0"/>
                        </a:rPr>
                        <m:t>𝐾</m:t>
                      </m:r>
                    </m:oMath>
                  </m:oMathPara>
                </a14:m>
                <a:endParaRPr lang="en-US" sz="2000" b="0" dirty="0"/>
              </a:p>
              <a:p>
                <a:pPr marL="0" indent="0">
                  <a:buNone/>
                </a:pPr>
                <a:r>
                  <a:rPr lang="en-US" dirty="0"/>
                  <a:t>T = Temperature (k)</a:t>
                </a:r>
              </a:p>
              <a:p>
                <a:pPr marL="0" indent="0">
                  <a:buNone/>
                </a:pPr>
                <a14:m>
                  <m:oMath xmlns:m="http://schemas.openxmlformats.org/officeDocument/2006/math">
                    <m:r>
                      <a:rPr lang="en-US" i="1" smtClean="0">
                        <a:latin typeface="Cambria Math" panose="02040503050406030204" pitchFamily="18" charset="0"/>
                        <a:ea typeface="Cambria Math" panose="02040503050406030204" pitchFamily="18" charset="0"/>
                      </a:rPr>
                      <m:t>𝑚</m:t>
                    </m:r>
                  </m:oMath>
                </a14:m>
                <a:r>
                  <a:rPr lang="en-US" sz="2000" b="0" dirty="0"/>
                  <a:t> = particle mass (kg)</a:t>
                </a:r>
              </a:p>
              <a:p>
                <a:pPr marL="0" indent="0">
                  <a:buNone/>
                </a:pPr>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49702C42-D72B-4FC1-90D1-247A453ABF62}"/>
                  </a:ext>
                </a:extLst>
              </p:cNvPr>
              <p:cNvSpPr>
                <a:spLocks noGrp="1" noRot="1" noChangeAspect="1" noMove="1" noResize="1" noEditPoints="1" noAdjustHandles="1" noChangeArrowheads="1" noChangeShapeType="1" noTextEdit="1"/>
              </p:cNvSpPr>
              <p:nvPr>
                <p:ph sz="quarter" idx="13"/>
              </p:nvPr>
            </p:nvSpPr>
            <p:spPr>
              <a:blipFill>
                <a:blip r:embed="rId2"/>
                <a:stretch>
                  <a:fillRect l="-647"/>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012DD6FB-816A-4F25-880C-4190AD085C2D}"/>
              </a:ext>
            </a:extLst>
          </p:cNvPr>
          <p:cNvSpPr>
            <a:spLocks noGrp="1"/>
          </p:cNvSpPr>
          <p:nvPr>
            <p:ph type="sldNum" sz="quarter" idx="12"/>
          </p:nvPr>
        </p:nvSpPr>
        <p:spPr/>
        <p:txBody>
          <a:bodyPr/>
          <a:lstStyle/>
          <a:p>
            <a:fld id="{C83C362F-97FB-4C1E-B0F0-C3069DD0CDD1}" type="slidenum">
              <a:rPr lang="en-US" smtClean="0"/>
              <a:t>9</a:t>
            </a:fld>
            <a:endParaRPr lang="en-US"/>
          </a:p>
        </p:txBody>
      </p:sp>
      <p:pic>
        <p:nvPicPr>
          <p:cNvPr id="3074" name="Picture 2" descr="See the source image">
            <a:extLst>
              <a:ext uri="{FF2B5EF4-FFF2-40B4-BE49-F238E27FC236}">
                <a16:creationId xmlns:a16="http://schemas.microsoft.com/office/drawing/2014/main" id="{E8DF39FE-DD45-41F7-8A94-E0E5C4EE68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70432" y="1957348"/>
            <a:ext cx="4473566" cy="44735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58012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See the source image">
            <a:extLst>
              <a:ext uri="{FF2B5EF4-FFF2-40B4-BE49-F238E27FC236}">
                <a16:creationId xmlns:a16="http://schemas.microsoft.com/office/drawing/2014/main" id="{25072193-FF75-4FA2-BF7A-4DB45B6AEB7D}"/>
              </a:ext>
            </a:extLst>
          </p:cNvPr>
          <p:cNvPicPr>
            <a:picLocks noGrp="1" noChangeAspect="1" noChangeArrowheads="1"/>
          </p:cNvPicPr>
          <p:nvPr>
            <p:ph sz="quarter" idx="13"/>
          </p:nvPr>
        </p:nvPicPr>
        <p:blipFill>
          <a:blip r:embed="rId2">
            <a:extLst>
              <a:ext uri="{28A0092B-C50C-407E-A947-70E740481C1C}">
                <a14:useLocalDpi xmlns:a14="http://schemas.microsoft.com/office/drawing/2010/main" val="0"/>
              </a:ext>
            </a:extLst>
          </a:blip>
          <a:stretch>
            <a:fillRect/>
          </a:stretch>
        </p:blipFill>
        <p:spPr bwMode="auto">
          <a:xfrm>
            <a:off x="472522" y="413085"/>
            <a:ext cx="6002432" cy="4006623"/>
          </a:xfrm>
          <a:prstGeom prst="roundRect">
            <a:avLst>
              <a:gd name="adj" fmla="val 530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148D58E8-0C2B-4AC7-A4E3-F6F7FED4B3F6}"/>
              </a:ext>
            </a:extLst>
          </p:cNvPr>
          <p:cNvSpPr>
            <a:spLocks noGrp="1"/>
          </p:cNvSpPr>
          <p:nvPr>
            <p:ph type="title"/>
          </p:nvPr>
        </p:nvSpPr>
        <p:spPr>
          <a:xfrm>
            <a:off x="7570382" y="201710"/>
            <a:ext cx="3707844" cy="1681805"/>
          </a:xfrm>
        </p:spPr>
        <p:txBody>
          <a:bodyPr vert="horz" lIns="91440" tIns="45720" rIns="91440" bIns="45720" rtlCol="0" anchor="b">
            <a:normAutofit/>
          </a:bodyPr>
          <a:lstStyle/>
          <a:p>
            <a:r>
              <a:rPr lang="en-US" sz="4800" dirty="0"/>
              <a:t>Biased object?</a:t>
            </a:r>
          </a:p>
        </p:txBody>
      </p:sp>
      <p:sp>
        <p:nvSpPr>
          <p:cNvPr id="4" name="Slide Number Placeholder 3">
            <a:extLst>
              <a:ext uri="{FF2B5EF4-FFF2-40B4-BE49-F238E27FC236}">
                <a16:creationId xmlns:a16="http://schemas.microsoft.com/office/drawing/2014/main" id="{5997DD76-4D10-4665-B1E8-88B1993E56DE}"/>
              </a:ext>
            </a:extLst>
          </p:cNvPr>
          <p:cNvSpPr>
            <a:spLocks noGrp="1"/>
          </p:cNvSpPr>
          <p:nvPr>
            <p:ph type="sldNum" sz="quarter" idx="12"/>
          </p:nvPr>
        </p:nvSpPr>
        <p:spPr>
          <a:xfrm>
            <a:off x="10514011" y="6126478"/>
            <a:ext cx="764215" cy="365125"/>
          </a:xfrm>
        </p:spPr>
        <p:txBody>
          <a:bodyPr vert="horz" lIns="91440" tIns="45720" rIns="91440" bIns="45720" rtlCol="0" anchor="ctr">
            <a:normAutofit/>
          </a:bodyPr>
          <a:lstStyle/>
          <a:p>
            <a:pPr defTabSz="914400">
              <a:spcAft>
                <a:spcPts val="600"/>
              </a:spcAft>
            </a:pPr>
            <a:fld id="{C83C362F-97FB-4C1E-B0F0-C3069DD0CDD1}" type="slidenum">
              <a:rPr lang="en-US" smtClean="0"/>
              <a:pPr defTabSz="914400">
                <a:spcAft>
                  <a:spcPts val="600"/>
                </a:spcAft>
              </a:pPr>
              <a:t>10</a:t>
            </a:fld>
            <a:endParaRPr lang="en-US"/>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247D4D24-AAA7-4BBF-83AC-672942A61992}"/>
                  </a:ext>
                </a:extLst>
              </p:cNvPr>
              <p:cNvSpPr txBox="1"/>
              <p:nvPr/>
            </p:nvSpPr>
            <p:spPr>
              <a:xfrm>
                <a:off x="7258929" y="3496069"/>
                <a:ext cx="4562807" cy="2597506"/>
              </a:xfrm>
              <a:prstGeom prst="rect">
                <a:avLst/>
              </a:prstGeom>
              <a:noFill/>
            </p:spPr>
            <p:txBody>
              <a:bodyPr wrap="square" rtlCol="0">
                <a:spAutoFit/>
              </a:bodyPr>
              <a:lstStyle/>
              <a:p>
                <a:pPr/>
                <a14:m>
                  <m:oMathPara xmlns:m="http://schemas.openxmlformats.org/officeDocument/2006/math">
                    <m:oMath>
                      <m:r>
                        <a:rPr lang="en-US" i="1" smtClean="0">
                          <a:latin typeface="Cambria Math" panose="02040503050406030204" pitchFamily="18" charset="0"/>
                        </a:rPr>
                        <m:t>𝑤</m:t>
                      </m:r>
                      <m:r>
                        <a:rPr lang="en-US" b="0" i="1" smtClean="0">
                          <a:latin typeface="Cambria Math" panose="02040503050406030204" pitchFamily="18" charset="0"/>
                        </a:rPr>
                        <m:t>ℎ𝑒𝑟𝑒</m:t>
                      </m:r>
                    </m:oMath>
                  </m:oMathPara>
                </a14:m>
                <a:endParaRPr lang="en-US" b="0" dirty="0"/>
              </a:p>
              <a:p>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𝑒</m:t>
                        </m:r>
                        <m:r>
                          <a:rPr lang="en-US" b="0" i="1" smtClean="0">
                            <a:latin typeface="Cambria Math" panose="02040503050406030204" pitchFamily="18" charset="0"/>
                          </a:rPr>
                          <m:t>,</m:t>
                        </m:r>
                        <m:r>
                          <a:rPr lang="en-US" b="0" i="1" smtClean="0">
                            <a:latin typeface="Cambria Math" panose="02040503050406030204" pitchFamily="18" charset="0"/>
                          </a:rPr>
                          <m:t>𝑜</m:t>
                        </m:r>
                      </m:sub>
                    </m:sSub>
                  </m:oMath>
                </a14:m>
                <a:r>
                  <a:rPr lang="en-US" dirty="0"/>
                  <a:t> = current density /m-3</a:t>
                </a:r>
              </a:p>
              <a:p>
                <a:r>
                  <a:rPr lang="en-US" b="0" i="1" dirty="0">
                    <a:latin typeface="Cambria Math" panose="02040503050406030204" pitchFamily="18" charset="0"/>
                  </a:rPr>
                  <a:t>V </a:t>
                </a:r>
                <a:r>
                  <a:rPr lang="en-US" b="0">
                    <a:latin typeface="Cambria Math" panose="02040503050406030204" pitchFamily="18" charset="0"/>
                  </a:rPr>
                  <a:t>= bias </a:t>
                </a:r>
                <a:r>
                  <a:rPr lang="en-US" b="0" dirty="0">
                    <a:latin typeface="Cambria Math" panose="02040503050406030204" pitchFamily="18" charset="0"/>
                  </a:rPr>
                  <a:t>voltage</a:t>
                </a:r>
                <a:endParaRPr lang="en-US" b="0" i="1" dirty="0">
                  <a:latin typeface="Cambria Math" panose="02040503050406030204" pitchFamily="18" charset="0"/>
                </a:endParaRPr>
              </a:p>
              <a:p>
                <a14:m>
                  <m:oMath xmlns:m="http://schemas.openxmlformats.org/officeDocument/2006/math">
                    <m:r>
                      <a:rPr lang="en-US" b="0" i="1" smtClean="0">
                        <a:latin typeface="Cambria Math" panose="02040503050406030204" pitchFamily="18" charset="0"/>
                        <a:ea typeface="Cambria Math" panose="02040503050406030204" pitchFamily="18" charset="0"/>
                      </a:rPr>
                      <m:t>𝑒</m:t>
                    </m:r>
                  </m:oMath>
                </a14:m>
                <a:r>
                  <a:rPr lang="en-US" dirty="0"/>
                  <a:t> = charge (C)</a:t>
                </a:r>
              </a:p>
              <a:p>
                <a:pPr/>
                <a14:m>
                  <m:oMathPara xmlns:m="http://schemas.openxmlformats.org/officeDocument/2006/math">
                    <m:oMathParaPr>
                      <m:jc m:val="left"/>
                    </m:oMathParaPr>
                    <m:o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𝑘</m:t>
                          </m:r>
                        </m:e>
                        <m:sub>
                          <m:r>
                            <a:rPr lang="en-US" sz="1800" b="0" i="1" smtClean="0">
                              <a:latin typeface="Cambria Math" panose="02040503050406030204" pitchFamily="18" charset="0"/>
                            </a:rPr>
                            <m:t>𝑏</m:t>
                          </m:r>
                        </m:sub>
                      </m:sSub>
                      <m:r>
                        <a:rPr lang="en-US" sz="1800" b="0" i="1" smtClean="0">
                          <a:latin typeface="Cambria Math" panose="02040503050406030204" pitchFamily="18" charset="0"/>
                        </a:rPr>
                        <m:t>=</m:t>
                      </m:r>
                      <m:r>
                        <a:rPr lang="en-US" sz="1800" b="0" i="1" smtClean="0">
                          <a:latin typeface="Cambria Math" panose="02040503050406030204" pitchFamily="18" charset="0"/>
                        </a:rPr>
                        <m:t>𝐵𝑜𝑙𝑡𝑧𝑚𝑎𝑛</m:t>
                      </m:r>
                      <m:sSup>
                        <m:sSupPr>
                          <m:ctrlPr>
                            <a:rPr lang="en-US" sz="1800" b="0" i="1" smtClean="0">
                              <a:latin typeface="Cambria Math" panose="02040503050406030204" pitchFamily="18" charset="0"/>
                            </a:rPr>
                          </m:ctrlPr>
                        </m:sSupPr>
                        <m:e>
                          <m:r>
                            <a:rPr lang="en-US" sz="1800" b="0" i="1" smtClean="0">
                              <a:latin typeface="Cambria Math" panose="02040503050406030204" pitchFamily="18" charset="0"/>
                            </a:rPr>
                            <m:t>𝑛</m:t>
                          </m:r>
                        </m:e>
                        <m:sup>
                          <m:r>
                            <a:rPr lang="en-US" sz="1800" b="0" i="1" smtClean="0">
                              <a:latin typeface="Cambria Math" panose="02040503050406030204" pitchFamily="18" charset="0"/>
                            </a:rPr>
                            <m:t>′</m:t>
                          </m:r>
                        </m:sup>
                      </m:sSup>
                      <m:r>
                        <a:rPr lang="en-US" sz="1800" b="0" i="1" smtClean="0">
                          <a:latin typeface="Cambria Math" panose="02040503050406030204" pitchFamily="18" charset="0"/>
                        </a:rPr>
                        <m:t>𝑠</m:t>
                      </m:r>
                      <m:r>
                        <a:rPr lang="en-US" sz="1800" b="0" i="1" smtClean="0">
                          <a:latin typeface="Cambria Math" panose="02040503050406030204" pitchFamily="18" charset="0"/>
                        </a:rPr>
                        <m:t> </m:t>
                      </m:r>
                      <m:r>
                        <a:rPr lang="en-US" sz="1800" b="0" i="1" smtClean="0">
                          <a:latin typeface="Cambria Math" panose="02040503050406030204" pitchFamily="18" charset="0"/>
                        </a:rPr>
                        <m:t>𝐶𝑜𝑛𝑠𝑡𝑎𝑛𝑡</m:t>
                      </m:r>
                      <m:r>
                        <a:rPr lang="en-US" sz="1800" b="0" i="1" smtClean="0">
                          <a:latin typeface="Cambria Math" panose="02040503050406030204" pitchFamily="18" charset="0"/>
                        </a:rPr>
                        <m:t> </m:t>
                      </m:r>
                    </m:oMath>
                  </m:oMathPara>
                </a14:m>
                <a:endParaRPr lang="en-US" sz="1800" b="0" i="1" dirty="0">
                  <a:latin typeface="Cambria Math" panose="02040503050406030204" pitchFamily="18" charset="0"/>
                </a:endParaRPr>
              </a:p>
              <a:p>
                <a:r>
                  <a:rPr lang="en-US" sz="1800" b="0" dirty="0"/>
                  <a:t>  </a:t>
                </a:r>
                <a14:m>
                  <m:oMath xmlns:m="http://schemas.openxmlformats.org/officeDocument/2006/math">
                    <m:r>
                      <a:rPr lang="en-US" sz="1800" b="0" i="1" smtClean="0">
                        <a:latin typeface="Cambria Math" panose="02040503050406030204" pitchFamily="18" charset="0"/>
                      </a:rPr>
                      <m:t>    =1.3806452 </m:t>
                    </m:r>
                    <m:r>
                      <a:rPr lang="en-US" sz="1800" b="0" i="1" smtClean="0">
                        <a:latin typeface="Cambria Math" panose="02040503050406030204" pitchFamily="18" charset="0"/>
                      </a:rPr>
                      <m:t>𝑥</m:t>
                    </m:r>
                    <m:r>
                      <a:rPr lang="en-US" sz="1800" b="0" i="1" smtClean="0">
                        <a:latin typeface="Cambria Math" panose="02040503050406030204" pitchFamily="18" charset="0"/>
                      </a:rPr>
                      <m:t> </m:t>
                    </m:r>
                    <m:sSup>
                      <m:sSupPr>
                        <m:ctrlPr>
                          <a:rPr lang="en-US" sz="1800" b="0" i="1" smtClean="0">
                            <a:latin typeface="Cambria Math" panose="02040503050406030204" pitchFamily="18" charset="0"/>
                          </a:rPr>
                        </m:ctrlPr>
                      </m:sSupPr>
                      <m:e>
                        <m:r>
                          <a:rPr lang="en-US" sz="1800" b="0" i="1" smtClean="0">
                            <a:latin typeface="Cambria Math" panose="02040503050406030204" pitchFamily="18" charset="0"/>
                          </a:rPr>
                          <m:t>10</m:t>
                        </m:r>
                      </m:e>
                      <m:sup>
                        <m:r>
                          <a:rPr lang="en-US" sz="1800" b="0" i="1" smtClean="0">
                            <a:latin typeface="Cambria Math" panose="02040503050406030204" pitchFamily="18" charset="0"/>
                          </a:rPr>
                          <m:t>−23</m:t>
                        </m:r>
                      </m:sup>
                    </m:sSup>
                    <m:r>
                      <a:rPr lang="en-US" sz="1800" b="0" i="1" smtClean="0">
                        <a:latin typeface="Cambria Math" panose="02040503050406030204" pitchFamily="18" charset="0"/>
                      </a:rPr>
                      <m:t>𝐽</m:t>
                    </m:r>
                    <m:r>
                      <a:rPr lang="en-US" sz="1800" b="0" i="1" smtClean="0">
                        <a:latin typeface="Cambria Math" panose="02040503050406030204" pitchFamily="18" charset="0"/>
                      </a:rPr>
                      <m:t>/</m:t>
                    </m:r>
                    <m:r>
                      <a:rPr lang="en-US" sz="1800" b="0" i="1" smtClean="0">
                        <a:latin typeface="Cambria Math" panose="02040503050406030204" pitchFamily="18" charset="0"/>
                      </a:rPr>
                      <m:t>𝐾</m:t>
                    </m:r>
                  </m:oMath>
                </a14:m>
                <a:endParaRPr lang="en-US" sz="1800" b="0" dirty="0"/>
              </a:p>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𝑒</m:t>
                        </m:r>
                      </m:sub>
                    </m:sSub>
                  </m:oMath>
                </a14:m>
                <a:r>
                  <a:rPr lang="en-US" dirty="0"/>
                  <a:t> = electron temperature (K)</a:t>
                </a:r>
              </a:p>
              <a:p>
                <a:endParaRPr lang="en-US" dirty="0"/>
              </a:p>
              <a:p>
                <a:endParaRPr lang="en-US" dirty="0"/>
              </a:p>
            </p:txBody>
          </p:sp>
        </mc:Choice>
        <mc:Fallback xmlns="">
          <p:sp>
            <p:nvSpPr>
              <p:cNvPr id="12" name="TextBox 11">
                <a:extLst>
                  <a:ext uri="{FF2B5EF4-FFF2-40B4-BE49-F238E27FC236}">
                    <a16:creationId xmlns:a16="http://schemas.microsoft.com/office/drawing/2014/main" id="{247D4D24-AAA7-4BBF-83AC-672942A61992}"/>
                  </a:ext>
                </a:extLst>
              </p:cNvPr>
              <p:cNvSpPr txBox="1">
                <a:spLocks noRot="1" noChangeAspect="1" noMove="1" noResize="1" noEditPoints="1" noAdjustHandles="1" noChangeArrowheads="1" noChangeShapeType="1" noTextEdit="1"/>
              </p:cNvSpPr>
              <p:nvPr/>
            </p:nvSpPr>
            <p:spPr>
              <a:xfrm>
                <a:off x="7258929" y="3496069"/>
                <a:ext cx="4562807" cy="2597506"/>
              </a:xfrm>
              <a:prstGeom prst="rect">
                <a:avLst/>
              </a:prstGeom>
              <a:blipFill>
                <a:blip r:embed="rId5"/>
                <a:stretch>
                  <a:fillRect l="-120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85628DB2-5162-418D-9A2D-280D5A05637A}"/>
                  </a:ext>
                </a:extLst>
              </p:cNvPr>
              <p:cNvSpPr txBox="1"/>
              <p:nvPr/>
            </p:nvSpPr>
            <p:spPr>
              <a:xfrm>
                <a:off x="7734644" y="1813974"/>
                <a:ext cx="4087091" cy="554447"/>
              </a:xfrm>
              <a:prstGeom prst="rect">
                <a:avLst/>
              </a:prstGeom>
              <a:noFill/>
            </p:spPr>
            <p:txBody>
              <a:bodyPr wrap="square" rtlCol="0">
                <a:spAutoFit/>
              </a:bodyPr>
              <a:lstStyle/>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𝐼</m:t>
                        </m:r>
                      </m:e>
                      <m:sub>
                        <m:r>
                          <a:rPr lang="en-US" b="0" i="1" smtClean="0">
                            <a:latin typeface="Cambria Math" panose="02040503050406030204" pitchFamily="18" charset="0"/>
                          </a:rPr>
                          <m:t>𝑒</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𝑒</m:t>
                        </m:r>
                        <m:r>
                          <a:rPr lang="en-US" b="0" i="1" smtClean="0">
                            <a:latin typeface="Cambria Math" panose="02040503050406030204" pitchFamily="18" charset="0"/>
                          </a:rPr>
                          <m:t>,</m:t>
                        </m:r>
                        <m:r>
                          <a:rPr lang="en-US" b="0" i="1" smtClean="0">
                            <a:latin typeface="Cambria Math" panose="02040503050406030204" pitchFamily="18" charset="0"/>
                          </a:rPr>
                          <m:t>𝑜</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𝑒</m:t>
                        </m:r>
                      </m:sub>
                    </m:sSub>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f>
                          <m:fPr>
                            <m:ctrlPr>
                              <a:rPr lang="en-US" b="0" i="1" smtClean="0">
                                <a:latin typeface="Cambria Math" panose="02040503050406030204" pitchFamily="18" charset="0"/>
                              </a:rPr>
                            </m:ctrlPr>
                          </m:fPr>
                          <m:num>
                            <m:r>
                              <a:rPr lang="en-US" b="0" i="1" smtClean="0">
                                <a:latin typeface="Cambria Math" panose="02040503050406030204" pitchFamily="18" charset="0"/>
                              </a:rPr>
                              <m:t>𝑒𝑉</m:t>
                            </m:r>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𝐵</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𝑒</m:t>
                                </m:r>
                              </m:sub>
                            </m:sSub>
                          </m:den>
                        </m:f>
                      </m:sup>
                    </m:sSup>
                  </m:oMath>
                </a14:m>
                <a:r>
                  <a:rPr lang="en-US" dirty="0"/>
                  <a:t> for V&lt;0 (repelled)</a:t>
                </a:r>
              </a:p>
            </p:txBody>
          </p:sp>
        </mc:Choice>
        <mc:Fallback xmlns="">
          <p:sp>
            <p:nvSpPr>
              <p:cNvPr id="15" name="TextBox 14">
                <a:extLst>
                  <a:ext uri="{FF2B5EF4-FFF2-40B4-BE49-F238E27FC236}">
                    <a16:creationId xmlns:a16="http://schemas.microsoft.com/office/drawing/2014/main" id="{85628DB2-5162-418D-9A2D-280D5A05637A}"/>
                  </a:ext>
                </a:extLst>
              </p:cNvPr>
              <p:cNvSpPr txBox="1">
                <a:spLocks noRot="1" noChangeAspect="1" noMove="1" noResize="1" noEditPoints="1" noAdjustHandles="1" noChangeArrowheads="1" noChangeShapeType="1" noTextEdit="1"/>
              </p:cNvSpPr>
              <p:nvPr/>
            </p:nvSpPr>
            <p:spPr>
              <a:xfrm>
                <a:off x="7734644" y="1813974"/>
                <a:ext cx="4087091" cy="554447"/>
              </a:xfrm>
              <a:prstGeom prst="rect">
                <a:avLst/>
              </a:prstGeom>
              <a:blipFill>
                <a:blip r:embed="rId6"/>
                <a:stretch>
                  <a:fillRect b="-12088"/>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C9DB1FC8-EC04-4FEF-96B8-0B39217D1CFF}"/>
              </a:ext>
            </a:extLst>
          </p:cNvPr>
          <p:cNvSpPr txBox="1"/>
          <p:nvPr/>
        </p:nvSpPr>
        <p:spPr>
          <a:xfrm>
            <a:off x="7922672" y="1403392"/>
            <a:ext cx="3854639" cy="480123"/>
          </a:xfrm>
          <a:prstGeom prst="rect">
            <a:avLst/>
          </a:prstGeom>
          <a:noFill/>
        </p:spPr>
        <p:txBody>
          <a:bodyPr wrap="square" rtlCol="0">
            <a:spAutoFit/>
          </a:bodyPr>
          <a:lstStyle/>
          <a:p>
            <a:endParaRPr lang="en-US" dirty="0"/>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D9234E3D-EC45-4DD5-BFCD-86325FCFD917}"/>
                  </a:ext>
                </a:extLst>
              </p:cNvPr>
              <p:cNvSpPr txBox="1"/>
              <p:nvPr/>
            </p:nvSpPr>
            <p:spPr>
              <a:xfrm>
                <a:off x="7734643" y="2416397"/>
                <a:ext cx="4087091" cy="585288"/>
              </a:xfrm>
              <a:prstGeom prst="rect">
                <a:avLst/>
              </a:prstGeom>
              <a:noFill/>
            </p:spPr>
            <p:txBody>
              <a:bodyPr wrap="square" rtlCol="0">
                <a:spAutoFit/>
              </a:bodyPr>
              <a:lstStyle/>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𝐼</m:t>
                        </m:r>
                      </m:e>
                      <m:sub>
                        <m:r>
                          <a:rPr lang="en-US" b="0" i="1" smtClean="0">
                            <a:latin typeface="Cambria Math" panose="02040503050406030204" pitchFamily="18" charset="0"/>
                          </a:rPr>
                          <m:t>𝑒</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𝑒</m:t>
                        </m:r>
                        <m:r>
                          <a:rPr lang="en-US" b="0" i="1" smtClean="0">
                            <a:latin typeface="Cambria Math" panose="02040503050406030204" pitchFamily="18" charset="0"/>
                          </a:rPr>
                          <m:t>,</m:t>
                        </m:r>
                        <m:r>
                          <a:rPr lang="en-US" b="0" i="1" smtClean="0">
                            <a:latin typeface="Cambria Math" panose="02040503050406030204" pitchFamily="18" charset="0"/>
                          </a:rPr>
                          <m:t>𝑜</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𝑒</m:t>
                        </m:r>
                      </m:sub>
                    </m:sSub>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1+</m:t>
                        </m:r>
                        <m:f>
                          <m:fPr>
                            <m:ctrlPr>
                              <a:rPr lang="en-US" b="0" i="1" smtClean="0">
                                <a:latin typeface="Cambria Math" panose="02040503050406030204" pitchFamily="18" charset="0"/>
                              </a:rPr>
                            </m:ctrlPr>
                          </m:fPr>
                          <m:num>
                            <m:r>
                              <a:rPr lang="en-US" b="0" i="1" smtClean="0">
                                <a:latin typeface="Cambria Math" panose="02040503050406030204" pitchFamily="18" charset="0"/>
                              </a:rPr>
                              <m:t>𝑒𝑉</m:t>
                            </m:r>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𝐵</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𝑒</m:t>
                                </m:r>
                              </m:sub>
                            </m:sSub>
                          </m:den>
                        </m:f>
                      </m:e>
                    </m:d>
                  </m:oMath>
                </a14:m>
                <a:r>
                  <a:rPr lang="en-US" dirty="0"/>
                  <a:t> for V&gt;0 (attracted)</a:t>
                </a:r>
              </a:p>
            </p:txBody>
          </p:sp>
        </mc:Choice>
        <mc:Fallback xmlns="">
          <p:sp>
            <p:nvSpPr>
              <p:cNvPr id="17" name="TextBox 16">
                <a:extLst>
                  <a:ext uri="{FF2B5EF4-FFF2-40B4-BE49-F238E27FC236}">
                    <a16:creationId xmlns:a16="http://schemas.microsoft.com/office/drawing/2014/main" id="{D9234E3D-EC45-4DD5-BFCD-86325FCFD917}"/>
                  </a:ext>
                </a:extLst>
              </p:cNvPr>
              <p:cNvSpPr txBox="1">
                <a:spLocks noRot="1" noChangeAspect="1" noMove="1" noResize="1" noEditPoints="1" noAdjustHandles="1" noChangeArrowheads="1" noChangeShapeType="1" noTextEdit="1"/>
              </p:cNvSpPr>
              <p:nvPr/>
            </p:nvSpPr>
            <p:spPr>
              <a:xfrm>
                <a:off x="7734643" y="2416397"/>
                <a:ext cx="4087091" cy="585288"/>
              </a:xfrm>
              <a:prstGeom prst="rect">
                <a:avLst/>
              </a:prstGeom>
              <a:blipFill>
                <a:blip r:embed="rId7"/>
                <a:stretch>
                  <a:fillRect r="-4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C5D2C5F2-3AFE-4F45-AFFB-0942FBDCF55D}"/>
                  </a:ext>
                </a:extLst>
              </p:cNvPr>
              <p:cNvSpPr txBox="1"/>
              <p:nvPr/>
            </p:nvSpPr>
            <p:spPr>
              <a:xfrm>
                <a:off x="1115794" y="4589855"/>
                <a:ext cx="4087091" cy="1441933"/>
              </a:xfrm>
              <a:prstGeom prst="rect">
                <a:avLst/>
              </a:prstGeom>
              <a:noFill/>
            </p:spPr>
            <p:txBody>
              <a:bodyPr wrap="square" rtlCol="0">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𝐼</m:t>
                          </m:r>
                        </m:e>
                        <m:sub>
                          <m:r>
                            <a:rPr lang="en-US" b="0" i="1" smtClean="0">
                              <a:latin typeface="Cambria Math" panose="02040503050406030204" pitchFamily="18" charset="0"/>
                            </a:rPr>
                            <m:t>𝑒</m:t>
                          </m:r>
                          <m:r>
                            <a:rPr lang="en-US" b="0" i="1" smtClean="0">
                              <a:latin typeface="Cambria Math" panose="02040503050406030204" pitchFamily="18" charset="0"/>
                            </a:rPr>
                            <m:t>,</m:t>
                          </m:r>
                          <m:r>
                            <a:rPr lang="en-US" b="0" i="1" smtClean="0">
                              <a:latin typeface="Cambria Math" panose="02040503050406030204" pitchFamily="18" charset="0"/>
                            </a:rPr>
                            <m:t>𝑜</m:t>
                          </m:r>
                        </m:sub>
                      </m:sSub>
                      <m:r>
                        <a:rPr lang="en-US" b="0" i="1" smtClean="0">
                          <a:latin typeface="Cambria Math" panose="02040503050406030204" pitchFamily="18" charset="0"/>
                        </a:rPr>
                        <m:t>=</m:t>
                      </m:r>
                      <m:f>
                        <m:fPr>
                          <m:ctrlPr>
                            <a:rPr lang="en-US" b="0" i="1" dirty="0" smtClean="0">
                              <a:latin typeface="Cambria Math" panose="02040503050406030204" pitchFamily="18" charset="0"/>
                            </a:rPr>
                          </m:ctrlPr>
                        </m:fPr>
                        <m:num>
                          <m:r>
                            <a:rPr lang="en-US" b="0" i="1" dirty="0" smtClean="0">
                              <a:latin typeface="Cambria Math" panose="02040503050406030204" pitchFamily="18" charset="0"/>
                            </a:rPr>
                            <m:t>1</m:t>
                          </m:r>
                        </m:num>
                        <m:den>
                          <m:r>
                            <a:rPr lang="en-US" b="0" i="1" dirty="0" smtClean="0">
                              <a:latin typeface="Cambria Math" panose="02040503050406030204" pitchFamily="18" charset="0"/>
                            </a:rPr>
                            <m:t>4</m:t>
                          </m:r>
                        </m:den>
                      </m:f>
                      <m:r>
                        <a:rPr lang="en-US" b="0" i="1" dirty="0" smtClean="0">
                          <a:latin typeface="Cambria Math" panose="02040503050406030204" pitchFamily="18" charset="0"/>
                        </a:rPr>
                        <m:t>𝑒</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𝑛</m:t>
                          </m:r>
                        </m:e>
                        <m:sub>
                          <m:r>
                            <a:rPr lang="en-US" b="0" i="1" dirty="0" smtClean="0">
                              <a:latin typeface="Cambria Math" panose="02040503050406030204" pitchFamily="18" charset="0"/>
                            </a:rPr>
                            <m:t>𝑒</m:t>
                          </m:r>
                        </m:sub>
                      </m:sSub>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𝑣</m:t>
                          </m:r>
                        </m:e>
                        <m:sub>
                          <m:r>
                            <a:rPr lang="en-US" b="0" i="1" dirty="0" smtClean="0">
                              <a:latin typeface="Cambria Math" panose="02040503050406030204" pitchFamily="18" charset="0"/>
                            </a:rPr>
                            <m:t>𝑒</m:t>
                          </m:r>
                          <m:r>
                            <a:rPr lang="en-US" b="0" i="1" dirty="0" smtClean="0">
                              <a:latin typeface="Cambria Math" panose="02040503050406030204" pitchFamily="18" charset="0"/>
                            </a:rPr>
                            <m:t>, </m:t>
                          </m:r>
                          <m:r>
                            <a:rPr lang="en-US" b="0" i="1" dirty="0" smtClean="0">
                              <a:latin typeface="Cambria Math" panose="02040503050406030204" pitchFamily="18" charset="0"/>
                            </a:rPr>
                            <m:t>𝑚𝑒𝑎𝑛</m:t>
                          </m:r>
                        </m:sub>
                      </m:sSub>
                    </m:oMath>
                  </m:oMathPara>
                </a14:m>
                <a:endParaRPr lang="en-US" dirty="0"/>
              </a:p>
              <a:p>
                <a:r>
                  <a:rPr lang="en-US" dirty="0"/>
                  <a:t>Where</a:t>
                </a:r>
              </a:p>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𝑒</m:t>
                        </m:r>
                      </m:sub>
                    </m:sSub>
                  </m:oMath>
                </a14:m>
                <a:r>
                  <a:rPr lang="en-US" dirty="0"/>
                  <a:t>=electron number density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𝑚</m:t>
                        </m:r>
                      </m:e>
                      <m:sup>
                        <m:r>
                          <a:rPr lang="en-US" b="0" i="1" smtClean="0">
                            <a:latin typeface="Cambria Math" panose="02040503050406030204" pitchFamily="18" charset="0"/>
                          </a:rPr>
                          <m:t>−3</m:t>
                        </m:r>
                      </m:sup>
                    </m:sSup>
                  </m:oMath>
                </a14:m>
                <a:endParaRPr lang="en-US" dirty="0"/>
              </a:p>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𝑒</m:t>
                        </m:r>
                      </m:sub>
                    </m:sSub>
                  </m:oMath>
                </a14:m>
                <a:r>
                  <a:rPr lang="en-US" dirty="0"/>
                  <a:t>= electron speed</a:t>
                </a:r>
              </a:p>
            </p:txBody>
          </p:sp>
        </mc:Choice>
        <mc:Fallback xmlns="">
          <p:sp>
            <p:nvSpPr>
              <p:cNvPr id="18" name="TextBox 17">
                <a:extLst>
                  <a:ext uri="{FF2B5EF4-FFF2-40B4-BE49-F238E27FC236}">
                    <a16:creationId xmlns:a16="http://schemas.microsoft.com/office/drawing/2014/main" id="{C5D2C5F2-3AFE-4F45-AFFB-0942FBDCF55D}"/>
                  </a:ext>
                </a:extLst>
              </p:cNvPr>
              <p:cNvSpPr txBox="1">
                <a:spLocks noRot="1" noChangeAspect="1" noMove="1" noResize="1" noEditPoints="1" noAdjustHandles="1" noChangeArrowheads="1" noChangeShapeType="1" noTextEdit="1"/>
              </p:cNvSpPr>
              <p:nvPr/>
            </p:nvSpPr>
            <p:spPr>
              <a:xfrm>
                <a:off x="1115794" y="4589855"/>
                <a:ext cx="4087091" cy="1441933"/>
              </a:xfrm>
              <a:prstGeom prst="rect">
                <a:avLst/>
              </a:prstGeom>
              <a:blipFill>
                <a:blip r:embed="rId8"/>
                <a:stretch>
                  <a:fillRect l="-1194" b="-6356"/>
                </a:stretch>
              </a:blipFill>
            </p:spPr>
            <p:txBody>
              <a:bodyPr/>
              <a:lstStyle/>
              <a:p>
                <a:r>
                  <a:rPr lang="en-US">
                    <a:noFill/>
                  </a:rPr>
                  <a:t> </a:t>
                </a:r>
              </a:p>
            </p:txBody>
          </p:sp>
        </mc:Fallback>
      </mc:AlternateContent>
    </p:spTree>
    <p:extLst>
      <p:ext uri="{BB962C8B-B14F-4D97-AF65-F5344CB8AC3E}">
        <p14:creationId xmlns:p14="http://schemas.microsoft.com/office/powerpoint/2010/main" val="32092788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See the source image">
            <a:extLst>
              <a:ext uri="{FF2B5EF4-FFF2-40B4-BE49-F238E27FC236}">
                <a16:creationId xmlns:a16="http://schemas.microsoft.com/office/drawing/2014/main" id="{25072193-FF75-4FA2-BF7A-4DB45B6AEB7D}"/>
              </a:ext>
            </a:extLst>
          </p:cNvPr>
          <p:cNvPicPr>
            <a:picLocks noGrp="1" noChangeAspect="1" noChangeArrowheads="1"/>
          </p:cNvPicPr>
          <p:nvPr>
            <p:ph sz="quarter" idx="13"/>
          </p:nvPr>
        </p:nvPicPr>
        <p:blipFill>
          <a:blip r:embed="rId2">
            <a:extLst>
              <a:ext uri="{28A0092B-C50C-407E-A947-70E740481C1C}">
                <a14:useLocalDpi xmlns:a14="http://schemas.microsoft.com/office/drawing/2010/main" val="0"/>
              </a:ext>
            </a:extLst>
          </a:blip>
          <a:stretch>
            <a:fillRect/>
          </a:stretch>
        </p:blipFill>
        <p:spPr bwMode="auto">
          <a:xfrm>
            <a:off x="472522" y="413085"/>
            <a:ext cx="6002432" cy="4006623"/>
          </a:xfrm>
          <a:prstGeom prst="roundRect">
            <a:avLst>
              <a:gd name="adj" fmla="val 530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148D58E8-0C2B-4AC7-A4E3-F6F7FED4B3F6}"/>
              </a:ext>
            </a:extLst>
          </p:cNvPr>
          <p:cNvSpPr>
            <a:spLocks noGrp="1"/>
          </p:cNvSpPr>
          <p:nvPr>
            <p:ph type="title"/>
          </p:nvPr>
        </p:nvSpPr>
        <p:spPr>
          <a:xfrm>
            <a:off x="7570382" y="201710"/>
            <a:ext cx="3707844" cy="1681805"/>
          </a:xfrm>
        </p:spPr>
        <p:txBody>
          <a:bodyPr vert="horz" lIns="91440" tIns="45720" rIns="91440" bIns="45720" rtlCol="0" anchor="b">
            <a:normAutofit/>
          </a:bodyPr>
          <a:lstStyle/>
          <a:p>
            <a:r>
              <a:rPr lang="en-US" sz="4800" dirty="0"/>
              <a:t>Biased object?</a:t>
            </a:r>
          </a:p>
        </p:txBody>
      </p:sp>
      <p:sp>
        <p:nvSpPr>
          <p:cNvPr id="4" name="Slide Number Placeholder 3">
            <a:extLst>
              <a:ext uri="{FF2B5EF4-FFF2-40B4-BE49-F238E27FC236}">
                <a16:creationId xmlns:a16="http://schemas.microsoft.com/office/drawing/2014/main" id="{5997DD76-4D10-4665-B1E8-88B1993E56DE}"/>
              </a:ext>
            </a:extLst>
          </p:cNvPr>
          <p:cNvSpPr>
            <a:spLocks noGrp="1"/>
          </p:cNvSpPr>
          <p:nvPr>
            <p:ph type="sldNum" sz="quarter" idx="12"/>
          </p:nvPr>
        </p:nvSpPr>
        <p:spPr>
          <a:xfrm>
            <a:off x="10514011" y="6126478"/>
            <a:ext cx="764215" cy="365125"/>
          </a:xfrm>
        </p:spPr>
        <p:txBody>
          <a:bodyPr vert="horz" lIns="91440" tIns="45720" rIns="91440" bIns="45720" rtlCol="0" anchor="ctr">
            <a:normAutofit/>
          </a:bodyPr>
          <a:lstStyle/>
          <a:p>
            <a:pPr defTabSz="914400">
              <a:spcAft>
                <a:spcPts val="600"/>
              </a:spcAft>
            </a:pPr>
            <a:fld id="{C83C362F-97FB-4C1E-B0F0-C3069DD0CDD1}" type="slidenum">
              <a:rPr lang="en-US" smtClean="0"/>
              <a:pPr defTabSz="914400">
                <a:spcAft>
                  <a:spcPts val="600"/>
                </a:spcAft>
              </a:pPr>
              <a:t>11</a:t>
            </a:fld>
            <a:endParaRPr lang="en-US"/>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247D4D24-AAA7-4BBF-83AC-672942A61992}"/>
                  </a:ext>
                </a:extLst>
              </p:cNvPr>
              <p:cNvSpPr txBox="1"/>
              <p:nvPr/>
            </p:nvSpPr>
            <p:spPr>
              <a:xfrm>
                <a:off x="7258929" y="3496069"/>
                <a:ext cx="4562807" cy="2652136"/>
              </a:xfrm>
              <a:prstGeom prst="rect">
                <a:avLst/>
              </a:prstGeom>
              <a:noFill/>
            </p:spPr>
            <p:txBody>
              <a:bodyPr wrap="square" rtlCol="0">
                <a:spAutoFit/>
              </a:bodyPr>
              <a:lstStyle/>
              <a:p>
                <a:pPr/>
                <a14:m>
                  <m:oMathPara xmlns:m="http://schemas.openxmlformats.org/officeDocument/2006/math">
                    <m:oMath>
                      <m:r>
                        <a:rPr lang="en-US" i="1" smtClean="0">
                          <a:latin typeface="Cambria Math" panose="02040503050406030204" pitchFamily="18" charset="0"/>
                        </a:rPr>
                        <m:t>𝑤</m:t>
                      </m:r>
                      <m:r>
                        <a:rPr lang="en-US" b="0" i="1" smtClean="0">
                          <a:latin typeface="Cambria Math" panose="02040503050406030204" pitchFamily="18" charset="0"/>
                        </a:rPr>
                        <m:t>ℎ𝑒𝑟𝑒</m:t>
                      </m:r>
                    </m:oMath>
                  </m:oMathPara>
                </a14:m>
                <a:endParaRPr lang="en-US" b="0" dirty="0"/>
              </a:p>
              <a:p>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𝑜</m:t>
                        </m:r>
                      </m:sub>
                    </m:sSub>
                  </m:oMath>
                </a14:m>
                <a:r>
                  <a:rPr lang="en-US" dirty="0"/>
                  <a:t> = current density</a:t>
                </a:r>
                <a14:m>
                  <m:oMath xmlns:m="http://schemas.openxmlformats.org/officeDocument/2006/math">
                    <m:r>
                      <a:rPr lang="en-US" b="0" i="0" smtClean="0">
                        <a:latin typeface="Cambria Math" panose="02040503050406030204" pitchFamily="18" charset="0"/>
                      </a:rPr>
                      <m:t> </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𝑚</m:t>
                        </m:r>
                      </m:e>
                      <m:sup>
                        <m:r>
                          <a:rPr lang="en-US" b="0" i="1" smtClean="0">
                            <a:latin typeface="Cambria Math" panose="02040503050406030204" pitchFamily="18" charset="0"/>
                          </a:rPr>
                          <m:t>−3</m:t>
                        </m:r>
                      </m:sup>
                    </m:sSup>
                  </m:oMath>
                </a14:m>
                <a:endParaRPr lang="en-US" dirty="0"/>
              </a:p>
              <a:p>
                <a:r>
                  <a:rPr lang="en-US" b="0" i="1" dirty="0">
                    <a:latin typeface="Cambria Math" panose="02040503050406030204" pitchFamily="18" charset="0"/>
                  </a:rPr>
                  <a:t>V </a:t>
                </a:r>
                <a:r>
                  <a:rPr lang="en-US" b="0" dirty="0">
                    <a:latin typeface="Cambria Math" panose="02040503050406030204" pitchFamily="18" charset="0"/>
                  </a:rPr>
                  <a:t>= value of  bias voltage</a:t>
                </a:r>
                <a:endParaRPr lang="en-US" b="0" i="1" dirty="0">
                  <a:latin typeface="Cambria Math" panose="02040503050406030204" pitchFamily="18" charset="0"/>
                </a:endParaRPr>
              </a:p>
              <a:p>
                <a14:m>
                  <m:oMath xmlns:m="http://schemas.openxmlformats.org/officeDocument/2006/math">
                    <m:r>
                      <a:rPr lang="en-US" b="0" i="1" smtClean="0">
                        <a:latin typeface="Cambria Math" panose="02040503050406030204" pitchFamily="18" charset="0"/>
                        <a:ea typeface="Cambria Math" panose="02040503050406030204" pitchFamily="18" charset="0"/>
                      </a:rPr>
                      <m:t>𝑒</m:t>
                    </m:r>
                  </m:oMath>
                </a14:m>
                <a:r>
                  <a:rPr lang="en-US" dirty="0"/>
                  <a:t> = charge (C)</a:t>
                </a:r>
              </a:p>
              <a:p>
                <a:pPr/>
                <a14:m>
                  <m:oMathPara xmlns:m="http://schemas.openxmlformats.org/officeDocument/2006/math">
                    <m:oMathParaPr>
                      <m:jc m:val="left"/>
                    </m:oMathParaPr>
                    <m:o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𝑘</m:t>
                          </m:r>
                        </m:e>
                        <m:sub>
                          <m:r>
                            <a:rPr lang="en-US" sz="1800" b="0" i="1" smtClean="0">
                              <a:latin typeface="Cambria Math" panose="02040503050406030204" pitchFamily="18" charset="0"/>
                            </a:rPr>
                            <m:t>𝑏</m:t>
                          </m:r>
                        </m:sub>
                      </m:sSub>
                      <m:r>
                        <a:rPr lang="en-US" sz="1800" b="0" i="1" smtClean="0">
                          <a:latin typeface="Cambria Math" panose="02040503050406030204" pitchFamily="18" charset="0"/>
                        </a:rPr>
                        <m:t>=</m:t>
                      </m:r>
                      <m:r>
                        <a:rPr lang="en-US" sz="1800" b="0" i="1" smtClean="0">
                          <a:latin typeface="Cambria Math" panose="02040503050406030204" pitchFamily="18" charset="0"/>
                        </a:rPr>
                        <m:t>𝐵𝑜𝑙𝑡𝑧𝑚𝑎𝑛</m:t>
                      </m:r>
                      <m:sSup>
                        <m:sSupPr>
                          <m:ctrlPr>
                            <a:rPr lang="en-US" sz="1800" b="0" i="1" smtClean="0">
                              <a:latin typeface="Cambria Math" panose="02040503050406030204" pitchFamily="18" charset="0"/>
                            </a:rPr>
                          </m:ctrlPr>
                        </m:sSupPr>
                        <m:e>
                          <m:r>
                            <a:rPr lang="en-US" sz="1800" b="0" i="1" smtClean="0">
                              <a:latin typeface="Cambria Math" panose="02040503050406030204" pitchFamily="18" charset="0"/>
                            </a:rPr>
                            <m:t>𝑛</m:t>
                          </m:r>
                        </m:e>
                        <m:sup>
                          <m:r>
                            <a:rPr lang="en-US" sz="1800" b="0" i="1" smtClean="0">
                              <a:latin typeface="Cambria Math" panose="02040503050406030204" pitchFamily="18" charset="0"/>
                            </a:rPr>
                            <m:t>′</m:t>
                          </m:r>
                        </m:sup>
                      </m:sSup>
                      <m:r>
                        <a:rPr lang="en-US" sz="1800" b="0" i="1" smtClean="0">
                          <a:latin typeface="Cambria Math" panose="02040503050406030204" pitchFamily="18" charset="0"/>
                        </a:rPr>
                        <m:t>𝑠</m:t>
                      </m:r>
                      <m:r>
                        <a:rPr lang="en-US" sz="1800" b="0" i="1" smtClean="0">
                          <a:latin typeface="Cambria Math" panose="02040503050406030204" pitchFamily="18" charset="0"/>
                        </a:rPr>
                        <m:t> </m:t>
                      </m:r>
                      <m:r>
                        <a:rPr lang="en-US" sz="1800" b="0" i="1" smtClean="0">
                          <a:latin typeface="Cambria Math" panose="02040503050406030204" pitchFamily="18" charset="0"/>
                        </a:rPr>
                        <m:t>𝐶𝑜𝑛𝑠𝑡𝑎𝑛𝑡</m:t>
                      </m:r>
                      <m:r>
                        <a:rPr lang="en-US" sz="1800" b="0" i="1" smtClean="0">
                          <a:latin typeface="Cambria Math" panose="02040503050406030204" pitchFamily="18" charset="0"/>
                        </a:rPr>
                        <m:t> </m:t>
                      </m:r>
                    </m:oMath>
                  </m:oMathPara>
                </a14:m>
                <a:endParaRPr lang="en-US" sz="1800" b="0" i="1" dirty="0">
                  <a:latin typeface="Cambria Math" panose="02040503050406030204" pitchFamily="18" charset="0"/>
                </a:endParaRPr>
              </a:p>
              <a:p>
                <a:r>
                  <a:rPr lang="en-US" sz="1800" b="0" dirty="0"/>
                  <a:t>  </a:t>
                </a:r>
                <a14:m>
                  <m:oMath xmlns:m="http://schemas.openxmlformats.org/officeDocument/2006/math">
                    <m:r>
                      <a:rPr lang="en-US" sz="1800" b="0" i="1" smtClean="0">
                        <a:latin typeface="Cambria Math" panose="02040503050406030204" pitchFamily="18" charset="0"/>
                      </a:rPr>
                      <m:t>    =1.3806452 </m:t>
                    </m:r>
                    <m:r>
                      <a:rPr lang="en-US" sz="1800" b="0" i="1" smtClean="0">
                        <a:latin typeface="Cambria Math" panose="02040503050406030204" pitchFamily="18" charset="0"/>
                      </a:rPr>
                      <m:t>𝑥</m:t>
                    </m:r>
                    <m:r>
                      <a:rPr lang="en-US" sz="1800" b="0" i="1" smtClean="0">
                        <a:latin typeface="Cambria Math" panose="02040503050406030204" pitchFamily="18" charset="0"/>
                      </a:rPr>
                      <m:t> </m:t>
                    </m:r>
                    <m:sSup>
                      <m:sSupPr>
                        <m:ctrlPr>
                          <a:rPr lang="en-US" sz="1800" b="0" i="1" smtClean="0">
                            <a:latin typeface="Cambria Math" panose="02040503050406030204" pitchFamily="18" charset="0"/>
                          </a:rPr>
                        </m:ctrlPr>
                      </m:sSupPr>
                      <m:e>
                        <m:r>
                          <a:rPr lang="en-US" sz="1800" b="0" i="1" smtClean="0">
                            <a:latin typeface="Cambria Math" panose="02040503050406030204" pitchFamily="18" charset="0"/>
                          </a:rPr>
                          <m:t>10</m:t>
                        </m:r>
                      </m:e>
                      <m:sup>
                        <m:r>
                          <a:rPr lang="en-US" sz="1800" b="0" i="1" smtClean="0">
                            <a:latin typeface="Cambria Math" panose="02040503050406030204" pitchFamily="18" charset="0"/>
                          </a:rPr>
                          <m:t>−23</m:t>
                        </m:r>
                      </m:sup>
                    </m:sSup>
                    <m:r>
                      <a:rPr lang="en-US" sz="1800" b="0" i="1" smtClean="0">
                        <a:latin typeface="Cambria Math" panose="02040503050406030204" pitchFamily="18" charset="0"/>
                      </a:rPr>
                      <m:t>𝐽</m:t>
                    </m:r>
                    <m:r>
                      <a:rPr lang="en-US" sz="1800" b="0" i="1" smtClean="0">
                        <a:latin typeface="Cambria Math" panose="02040503050406030204" pitchFamily="18" charset="0"/>
                      </a:rPr>
                      <m:t>/</m:t>
                    </m:r>
                    <m:r>
                      <a:rPr lang="en-US" sz="1800" b="0" i="1" smtClean="0">
                        <a:latin typeface="Cambria Math" panose="02040503050406030204" pitchFamily="18" charset="0"/>
                      </a:rPr>
                      <m:t>𝐾</m:t>
                    </m:r>
                  </m:oMath>
                </a14:m>
                <a:endParaRPr lang="en-US" sz="1800" b="0" dirty="0"/>
              </a:p>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𝑖</m:t>
                        </m:r>
                      </m:sub>
                    </m:sSub>
                  </m:oMath>
                </a14:m>
                <a:r>
                  <a:rPr lang="en-US" dirty="0"/>
                  <a:t> = ion temperature (K)</a:t>
                </a:r>
              </a:p>
              <a:p>
                <a:endParaRPr lang="en-US" dirty="0"/>
              </a:p>
              <a:p>
                <a:endParaRPr lang="en-US" dirty="0"/>
              </a:p>
            </p:txBody>
          </p:sp>
        </mc:Choice>
        <mc:Fallback xmlns="">
          <p:sp>
            <p:nvSpPr>
              <p:cNvPr id="12" name="TextBox 11">
                <a:extLst>
                  <a:ext uri="{FF2B5EF4-FFF2-40B4-BE49-F238E27FC236}">
                    <a16:creationId xmlns:a16="http://schemas.microsoft.com/office/drawing/2014/main" id="{247D4D24-AAA7-4BBF-83AC-672942A61992}"/>
                  </a:ext>
                </a:extLst>
              </p:cNvPr>
              <p:cNvSpPr txBox="1">
                <a:spLocks noRot="1" noChangeAspect="1" noMove="1" noResize="1" noEditPoints="1" noAdjustHandles="1" noChangeArrowheads="1" noChangeShapeType="1" noTextEdit="1"/>
              </p:cNvSpPr>
              <p:nvPr/>
            </p:nvSpPr>
            <p:spPr>
              <a:xfrm>
                <a:off x="7258929" y="3496069"/>
                <a:ext cx="4562807" cy="2652136"/>
              </a:xfrm>
              <a:prstGeom prst="rect">
                <a:avLst/>
              </a:prstGeom>
              <a:blipFill>
                <a:blip r:embed="rId5"/>
                <a:stretch>
                  <a:fillRect l="-120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85628DB2-5162-418D-9A2D-280D5A05637A}"/>
                  </a:ext>
                </a:extLst>
              </p:cNvPr>
              <p:cNvSpPr txBox="1"/>
              <p:nvPr/>
            </p:nvSpPr>
            <p:spPr>
              <a:xfrm>
                <a:off x="7734644" y="1813974"/>
                <a:ext cx="4087091" cy="554447"/>
              </a:xfrm>
              <a:prstGeom prst="rect">
                <a:avLst/>
              </a:prstGeom>
              <a:noFill/>
            </p:spPr>
            <p:txBody>
              <a:bodyPr wrap="square" rtlCol="0">
                <a:spAutoFit/>
              </a:bodyPr>
              <a:lstStyle/>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𝐼</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𝑜</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𝑖</m:t>
                        </m:r>
                      </m:sub>
                    </m:sSub>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f>
                          <m:fPr>
                            <m:ctrlPr>
                              <a:rPr lang="en-US" b="0" i="1" smtClean="0">
                                <a:latin typeface="Cambria Math" panose="02040503050406030204" pitchFamily="18" charset="0"/>
                              </a:rPr>
                            </m:ctrlPr>
                          </m:fPr>
                          <m:num>
                            <m:r>
                              <a:rPr lang="en-US" b="0" i="1" smtClean="0">
                                <a:latin typeface="Cambria Math" panose="02040503050406030204" pitchFamily="18" charset="0"/>
                              </a:rPr>
                              <m:t>𝑒𝑉</m:t>
                            </m:r>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𝐵</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𝑖</m:t>
                                </m:r>
                              </m:sub>
                            </m:sSub>
                          </m:den>
                        </m:f>
                      </m:sup>
                    </m:sSup>
                  </m:oMath>
                </a14:m>
                <a:r>
                  <a:rPr lang="en-US" dirty="0"/>
                  <a:t> for V&gt;0 (repelled)</a:t>
                </a:r>
              </a:p>
            </p:txBody>
          </p:sp>
        </mc:Choice>
        <mc:Fallback xmlns="">
          <p:sp>
            <p:nvSpPr>
              <p:cNvPr id="15" name="TextBox 14">
                <a:extLst>
                  <a:ext uri="{FF2B5EF4-FFF2-40B4-BE49-F238E27FC236}">
                    <a16:creationId xmlns:a16="http://schemas.microsoft.com/office/drawing/2014/main" id="{85628DB2-5162-418D-9A2D-280D5A05637A}"/>
                  </a:ext>
                </a:extLst>
              </p:cNvPr>
              <p:cNvSpPr txBox="1">
                <a:spLocks noRot="1" noChangeAspect="1" noMove="1" noResize="1" noEditPoints="1" noAdjustHandles="1" noChangeArrowheads="1" noChangeShapeType="1" noTextEdit="1"/>
              </p:cNvSpPr>
              <p:nvPr/>
            </p:nvSpPr>
            <p:spPr>
              <a:xfrm>
                <a:off x="7734644" y="1813974"/>
                <a:ext cx="4087091" cy="554447"/>
              </a:xfrm>
              <a:prstGeom prst="rect">
                <a:avLst/>
              </a:prstGeom>
              <a:blipFill>
                <a:blip r:embed="rId6"/>
                <a:stretch>
                  <a:fillRect b="-13187"/>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C9DB1FC8-EC04-4FEF-96B8-0B39217D1CFF}"/>
              </a:ext>
            </a:extLst>
          </p:cNvPr>
          <p:cNvSpPr txBox="1"/>
          <p:nvPr/>
        </p:nvSpPr>
        <p:spPr>
          <a:xfrm>
            <a:off x="7922672" y="1403392"/>
            <a:ext cx="3854639" cy="480123"/>
          </a:xfrm>
          <a:prstGeom prst="rect">
            <a:avLst/>
          </a:prstGeom>
          <a:noFill/>
        </p:spPr>
        <p:txBody>
          <a:bodyPr wrap="square" rtlCol="0">
            <a:spAutoFit/>
          </a:bodyPr>
          <a:lstStyle/>
          <a:p>
            <a:endParaRPr lang="en-US" dirty="0"/>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D9234E3D-EC45-4DD5-BFCD-86325FCFD917}"/>
                  </a:ext>
                </a:extLst>
              </p:cNvPr>
              <p:cNvSpPr txBox="1"/>
              <p:nvPr/>
            </p:nvSpPr>
            <p:spPr>
              <a:xfrm>
                <a:off x="7734643" y="2416397"/>
                <a:ext cx="4087091" cy="585288"/>
              </a:xfrm>
              <a:prstGeom prst="rect">
                <a:avLst/>
              </a:prstGeom>
              <a:noFill/>
            </p:spPr>
            <p:txBody>
              <a:bodyPr wrap="square" rtlCol="0">
                <a:spAutoFit/>
              </a:bodyPr>
              <a:lstStyle/>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𝐼</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𝑜</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𝑖</m:t>
                        </m:r>
                      </m:sub>
                    </m:sSub>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1+</m:t>
                        </m:r>
                        <m:f>
                          <m:fPr>
                            <m:ctrlPr>
                              <a:rPr lang="en-US" b="0" i="1" smtClean="0">
                                <a:latin typeface="Cambria Math" panose="02040503050406030204" pitchFamily="18" charset="0"/>
                              </a:rPr>
                            </m:ctrlPr>
                          </m:fPr>
                          <m:num>
                            <m:r>
                              <a:rPr lang="en-US" b="0" i="1" smtClean="0">
                                <a:latin typeface="Cambria Math" panose="02040503050406030204" pitchFamily="18" charset="0"/>
                              </a:rPr>
                              <m:t>𝑒𝑉</m:t>
                            </m:r>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𝐵</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𝑖</m:t>
                                </m:r>
                              </m:sub>
                            </m:sSub>
                          </m:den>
                        </m:f>
                      </m:e>
                    </m:d>
                  </m:oMath>
                </a14:m>
                <a:r>
                  <a:rPr lang="en-US" dirty="0"/>
                  <a:t> for V&lt;0 (attracted)</a:t>
                </a:r>
              </a:p>
            </p:txBody>
          </p:sp>
        </mc:Choice>
        <mc:Fallback xmlns="">
          <p:sp>
            <p:nvSpPr>
              <p:cNvPr id="17" name="TextBox 16">
                <a:extLst>
                  <a:ext uri="{FF2B5EF4-FFF2-40B4-BE49-F238E27FC236}">
                    <a16:creationId xmlns:a16="http://schemas.microsoft.com/office/drawing/2014/main" id="{D9234E3D-EC45-4DD5-BFCD-86325FCFD917}"/>
                  </a:ext>
                </a:extLst>
              </p:cNvPr>
              <p:cNvSpPr txBox="1">
                <a:spLocks noRot="1" noChangeAspect="1" noMove="1" noResize="1" noEditPoints="1" noAdjustHandles="1" noChangeArrowheads="1" noChangeShapeType="1" noTextEdit="1"/>
              </p:cNvSpPr>
              <p:nvPr/>
            </p:nvSpPr>
            <p:spPr>
              <a:xfrm>
                <a:off x="7734643" y="2416397"/>
                <a:ext cx="4087091" cy="585288"/>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C5D2C5F2-3AFE-4F45-AFFB-0942FBDCF55D}"/>
                  </a:ext>
                </a:extLst>
              </p:cNvPr>
              <p:cNvSpPr txBox="1"/>
              <p:nvPr/>
            </p:nvSpPr>
            <p:spPr>
              <a:xfrm>
                <a:off x="1115794" y="4589855"/>
                <a:ext cx="4087091" cy="1441933"/>
              </a:xfrm>
              <a:prstGeom prst="rect">
                <a:avLst/>
              </a:prstGeom>
              <a:noFill/>
            </p:spPr>
            <p:txBody>
              <a:bodyPr wrap="square" rtlCol="0">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𝐼</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𝑜</m:t>
                          </m:r>
                        </m:sub>
                      </m:sSub>
                      <m:r>
                        <a:rPr lang="en-US" b="0" i="1" smtClean="0">
                          <a:latin typeface="Cambria Math" panose="02040503050406030204" pitchFamily="18" charset="0"/>
                        </a:rPr>
                        <m:t>=</m:t>
                      </m:r>
                      <m:f>
                        <m:fPr>
                          <m:ctrlPr>
                            <a:rPr lang="en-US" b="0" i="1" dirty="0" smtClean="0">
                              <a:latin typeface="Cambria Math" panose="02040503050406030204" pitchFamily="18" charset="0"/>
                            </a:rPr>
                          </m:ctrlPr>
                        </m:fPr>
                        <m:num>
                          <m:r>
                            <a:rPr lang="en-US" b="0" i="1" dirty="0" smtClean="0">
                              <a:latin typeface="Cambria Math" panose="02040503050406030204" pitchFamily="18" charset="0"/>
                            </a:rPr>
                            <m:t>1</m:t>
                          </m:r>
                        </m:num>
                        <m:den>
                          <m:r>
                            <a:rPr lang="en-US" b="0" i="1" dirty="0" smtClean="0">
                              <a:latin typeface="Cambria Math" panose="02040503050406030204" pitchFamily="18" charset="0"/>
                            </a:rPr>
                            <m:t>4</m:t>
                          </m:r>
                        </m:den>
                      </m:f>
                      <m:r>
                        <a:rPr lang="en-US" b="0" i="1" dirty="0" smtClean="0">
                          <a:latin typeface="Cambria Math" panose="02040503050406030204" pitchFamily="18" charset="0"/>
                        </a:rPr>
                        <m:t>𝑒</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𝑛</m:t>
                          </m:r>
                        </m:e>
                        <m:sub>
                          <m:r>
                            <a:rPr lang="en-US" b="0" i="1" dirty="0" smtClean="0">
                              <a:latin typeface="Cambria Math" panose="02040503050406030204" pitchFamily="18" charset="0"/>
                            </a:rPr>
                            <m:t>𝑖</m:t>
                          </m:r>
                        </m:sub>
                      </m:sSub>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𝑣</m:t>
                          </m:r>
                        </m:e>
                        <m:sub>
                          <m:r>
                            <a:rPr lang="en-US" b="0" i="1" dirty="0" smtClean="0">
                              <a:latin typeface="Cambria Math" panose="02040503050406030204" pitchFamily="18" charset="0"/>
                            </a:rPr>
                            <m:t>𝑖</m:t>
                          </m:r>
                          <m:r>
                            <a:rPr lang="en-US" b="0" i="1" dirty="0" smtClean="0">
                              <a:latin typeface="Cambria Math" panose="02040503050406030204" pitchFamily="18" charset="0"/>
                            </a:rPr>
                            <m:t>, </m:t>
                          </m:r>
                          <m:r>
                            <a:rPr lang="en-US" b="0" i="1" dirty="0" smtClean="0">
                              <a:latin typeface="Cambria Math" panose="02040503050406030204" pitchFamily="18" charset="0"/>
                            </a:rPr>
                            <m:t>𝑚𝑒𝑎𝑛</m:t>
                          </m:r>
                        </m:sub>
                      </m:sSub>
                    </m:oMath>
                  </m:oMathPara>
                </a14:m>
                <a:endParaRPr lang="en-US" dirty="0"/>
              </a:p>
              <a:p>
                <a:r>
                  <a:rPr lang="en-US" dirty="0"/>
                  <a:t>Where</a:t>
                </a:r>
              </a:p>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𝑒</m:t>
                        </m:r>
                      </m:sub>
                    </m:sSub>
                  </m:oMath>
                </a14:m>
                <a:r>
                  <a:rPr lang="en-US" dirty="0"/>
                  <a:t>= ion number density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𝑚</m:t>
                        </m:r>
                      </m:e>
                      <m:sup>
                        <m:r>
                          <a:rPr lang="en-US" b="0" i="1" smtClean="0">
                            <a:latin typeface="Cambria Math" panose="02040503050406030204" pitchFamily="18" charset="0"/>
                          </a:rPr>
                          <m:t>−3</m:t>
                        </m:r>
                      </m:sup>
                    </m:sSup>
                  </m:oMath>
                </a14:m>
                <a:endParaRPr lang="en-US" dirty="0"/>
              </a:p>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𝑒</m:t>
                        </m:r>
                      </m:sub>
                    </m:sSub>
                  </m:oMath>
                </a14:m>
                <a:r>
                  <a:rPr lang="en-US" dirty="0"/>
                  <a:t>= ion speed</a:t>
                </a:r>
              </a:p>
            </p:txBody>
          </p:sp>
        </mc:Choice>
        <mc:Fallback xmlns="">
          <p:sp>
            <p:nvSpPr>
              <p:cNvPr id="18" name="TextBox 17">
                <a:extLst>
                  <a:ext uri="{FF2B5EF4-FFF2-40B4-BE49-F238E27FC236}">
                    <a16:creationId xmlns:a16="http://schemas.microsoft.com/office/drawing/2014/main" id="{C5D2C5F2-3AFE-4F45-AFFB-0942FBDCF55D}"/>
                  </a:ext>
                </a:extLst>
              </p:cNvPr>
              <p:cNvSpPr txBox="1">
                <a:spLocks noRot="1" noChangeAspect="1" noMove="1" noResize="1" noEditPoints="1" noAdjustHandles="1" noChangeArrowheads="1" noChangeShapeType="1" noTextEdit="1"/>
              </p:cNvSpPr>
              <p:nvPr/>
            </p:nvSpPr>
            <p:spPr>
              <a:xfrm>
                <a:off x="1115794" y="4589855"/>
                <a:ext cx="4087091" cy="1441933"/>
              </a:xfrm>
              <a:prstGeom prst="rect">
                <a:avLst/>
              </a:prstGeom>
              <a:blipFill>
                <a:blip r:embed="rId8"/>
                <a:stretch>
                  <a:fillRect l="-1194" b="-6356"/>
                </a:stretch>
              </a:blipFill>
            </p:spPr>
            <p:txBody>
              <a:bodyPr/>
              <a:lstStyle/>
              <a:p>
                <a:r>
                  <a:rPr lang="en-US">
                    <a:noFill/>
                  </a:rPr>
                  <a:t> </a:t>
                </a:r>
              </a:p>
            </p:txBody>
          </p:sp>
        </mc:Fallback>
      </mc:AlternateContent>
    </p:spTree>
    <p:extLst>
      <p:ext uri="{BB962C8B-B14F-4D97-AF65-F5344CB8AC3E}">
        <p14:creationId xmlns:p14="http://schemas.microsoft.com/office/powerpoint/2010/main" val="30626734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8" name="Rectangle 4">
            <a:extLst>
              <a:ext uri="{FF2B5EF4-FFF2-40B4-BE49-F238E27FC236}">
                <a16:creationId xmlns:a16="http://schemas.microsoft.com/office/drawing/2014/main" id="{FC7BE635-EE15-4976-AFF3-E41FE830E4FD}"/>
              </a:ext>
            </a:extLst>
          </p:cNvPr>
          <p:cNvSpPr>
            <a:spLocks noGrp="1" noChangeArrowheads="1"/>
          </p:cNvSpPr>
          <p:nvPr>
            <p:ph type="title"/>
          </p:nvPr>
        </p:nvSpPr>
        <p:spPr>
          <a:xfrm>
            <a:off x="1930400" y="398423"/>
            <a:ext cx="8547100" cy="762000"/>
          </a:xfrm>
        </p:spPr>
        <p:txBody>
          <a:bodyPr/>
          <a:lstStyle/>
          <a:p>
            <a:pPr>
              <a:defRPr/>
            </a:pPr>
            <a:r>
              <a:rPr lang="en-US" altLang="en-US" sz="2600" dirty="0"/>
              <a:t>The Plasma Environment and Potential Effects</a:t>
            </a:r>
          </a:p>
        </p:txBody>
      </p:sp>
      <p:sp>
        <p:nvSpPr>
          <p:cNvPr id="77829" name="Rectangle 5">
            <a:extLst>
              <a:ext uri="{FF2B5EF4-FFF2-40B4-BE49-F238E27FC236}">
                <a16:creationId xmlns:a16="http://schemas.microsoft.com/office/drawing/2014/main" id="{7834E1E3-BE43-4A3C-872B-1C232E7ACA24}"/>
              </a:ext>
            </a:extLst>
          </p:cNvPr>
          <p:cNvSpPr>
            <a:spLocks noGrp="1" noChangeArrowheads="1"/>
          </p:cNvSpPr>
          <p:nvPr>
            <p:ph sz="quarter" idx="13"/>
          </p:nvPr>
        </p:nvSpPr>
        <p:spPr>
          <a:xfrm>
            <a:off x="1689100" y="1246048"/>
            <a:ext cx="8788400" cy="4581172"/>
          </a:xfrm>
        </p:spPr>
        <p:txBody>
          <a:bodyPr>
            <a:normAutofit/>
          </a:bodyPr>
          <a:lstStyle/>
          <a:p>
            <a:pPr>
              <a:spcBef>
                <a:spcPct val="40000"/>
              </a:spcBef>
              <a:defRPr/>
            </a:pPr>
            <a:r>
              <a:rPr lang="en-US" altLang="en-US" sz="1800" dirty="0"/>
              <a:t>Problems include</a:t>
            </a:r>
            <a:endParaRPr lang="en-US" altLang="en-US" sz="2000" dirty="0"/>
          </a:p>
          <a:p>
            <a:pPr lvl="1">
              <a:spcBef>
                <a:spcPct val="15000"/>
              </a:spcBef>
              <a:defRPr/>
            </a:pPr>
            <a:r>
              <a:rPr lang="en-US" altLang="en-US" sz="1600" dirty="0">
                <a:solidFill>
                  <a:schemeClr val="accent2"/>
                </a:solidFill>
              </a:rPr>
              <a:t>Arcing </a:t>
            </a:r>
            <a:r>
              <a:rPr lang="en-US" altLang="en-US" sz="1600" dirty="0"/>
              <a:t>(the dominant concern)</a:t>
            </a:r>
            <a:endParaRPr lang="en-US" altLang="en-US" sz="1800" dirty="0"/>
          </a:p>
          <a:p>
            <a:pPr lvl="2">
              <a:spcBef>
                <a:spcPct val="5000"/>
              </a:spcBef>
              <a:defRPr/>
            </a:pPr>
            <a:r>
              <a:rPr lang="en-US" altLang="en-US" sz="1400" dirty="0"/>
              <a:t>Electrostatic Discharge (point-to-point arcing) – caused by large potential differences between conductors and dielectrics</a:t>
            </a:r>
          </a:p>
          <a:p>
            <a:pPr lvl="2">
              <a:spcBef>
                <a:spcPct val="5000"/>
              </a:spcBef>
              <a:defRPr/>
            </a:pPr>
            <a:r>
              <a:rPr lang="en-US" altLang="en-US" sz="1400" dirty="0"/>
              <a:t>Dielectric Breakdown (arcing through a material) – caused by large potential differences through surfaces</a:t>
            </a:r>
          </a:p>
          <a:p>
            <a:pPr lvl="2">
              <a:spcBef>
                <a:spcPct val="5000"/>
              </a:spcBef>
              <a:defRPr/>
            </a:pPr>
            <a:r>
              <a:rPr lang="en-US" altLang="en-US" sz="1400" dirty="0"/>
              <a:t>Generates electromagnetic interference (EMI) and damages surfaces (damage to solar arrays and electronics of greatest concern)</a:t>
            </a:r>
            <a:endParaRPr lang="en-US" altLang="en-US" sz="1600" dirty="0"/>
          </a:p>
          <a:p>
            <a:pPr lvl="1">
              <a:spcBef>
                <a:spcPct val="15000"/>
              </a:spcBef>
              <a:defRPr/>
            </a:pPr>
            <a:r>
              <a:rPr lang="en-US" altLang="en-US" sz="1600" dirty="0">
                <a:solidFill>
                  <a:schemeClr val="accent2"/>
                </a:solidFill>
              </a:rPr>
              <a:t>Increased currents</a:t>
            </a:r>
            <a:r>
              <a:rPr lang="en-US" altLang="en-US" sz="1600" dirty="0"/>
              <a:t>:  may alter floating potential or drain available power</a:t>
            </a:r>
            <a:endParaRPr lang="en-US" altLang="en-US" sz="1800" dirty="0"/>
          </a:p>
          <a:p>
            <a:pPr lvl="1">
              <a:spcBef>
                <a:spcPct val="15000"/>
              </a:spcBef>
              <a:defRPr/>
            </a:pPr>
            <a:r>
              <a:rPr lang="en-US" altLang="en-US" sz="1600" dirty="0"/>
              <a:t>Ion drag:  may add to orbit decay</a:t>
            </a:r>
            <a:endParaRPr lang="en-US" altLang="en-US" sz="1800" dirty="0"/>
          </a:p>
          <a:p>
            <a:pPr lvl="1">
              <a:spcBef>
                <a:spcPct val="15000"/>
              </a:spcBef>
              <a:defRPr/>
            </a:pPr>
            <a:r>
              <a:rPr lang="en-US" altLang="en-US" sz="1600" dirty="0"/>
              <a:t>Ion sputtering:  may increase erosion of surfaces</a:t>
            </a:r>
            <a:endParaRPr lang="en-US" altLang="en-US" sz="1800" dirty="0"/>
          </a:p>
          <a:p>
            <a:pPr lvl="1">
              <a:spcBef>
                <a:spcPct val="15000"/>
              </a:spcBef>
              <a:defRPr/>
            </a:pPr>
            <a:r>
              <a:rPr lang="en-US" altLang="en-US" sz="1600" dirty="0"/>
              <a:t>Re-attraction of contamination: may be significant in degrading surfaces</a:t>
            </a:r>
          </a:p>
        </p:txBody>
      </p:sp>
      <p:sp>
        <p:nvSpPr>
          <p:cNvPr id="2" name="Slide Number Placeholder 1">
            <a:extLst>
              <a:ext uri="{FF2B5EF4-FFF2-40B4-BE49-F238E27FC236}">
                <a16:creationId xmlns:a16="http://schemas.microsoft.com/office/drawing/2014/main" id="{047D4545-D910-4580-8990-593CE1CD0CB8}"/>
              </a:ext>
            </a:extLst>
          </p:cNvPr>
          <p:cNvSpPr>
            <a:spLocks noGrp="1"/>
          </p:cNvSpPr>
          <p:nvPr>
            <p:ph type="sldNum" sz="quarter" idx="12"/>
          </p:nvPr>
        </p:nvSpPr>
        <p:spPr/>
        <p:txBody>
          <a:bodyPr/>
          <a:lstStyle/>
          <a:p>
            <a:fld id="{C83C362F-97FB-4C1E-B0F0-C3069DD0CDD1}" type="slidenum">
              <a:rPr lang="en-US" smtClean="0"/>
              <a:t>12</a:t>
            </a:fld>
            <a:endParaRPr lang="en-US"/>
          </a:p>
        </p:txBody>
      </p:sp>
    </p:spTree>
    <p:extLst>
      <p:ext uri="{BB962C8B-B14F-4D97-AF65-F5344CB8AC3E}">
        <p14:creationId xmlns:p14="http://schemas.microsoft.com/office/powerpoint/2010/main" val="42376857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D685C853-B771-4DD5-AE32-1E4A92D2C8BC}"/>
              </a:ext>
            </a:extLst>
          </p:cNvPr>
          <p:cNvSpPr>
            <a:spLocks noGrp="1" noChangeArrowheads="1"/>
          </p:cNvSpPr>
          <p:nvPr>
            <p:ph type="title"/>
          </p:nvPr>
        </p:nvSpPr>
        <p:spPr>
          <a:xfrm>
            <a:off x="1775967" y="-88491"/>
            <a:ext cx="10364451" cy="1596177"/>
          </a:xfrm>
        </p:spPr>
        <p:txBody>
          <a:bodyPr/>
          <a:lstStyle/>
          <a:p>
            <a:pPr>
              <a:defRPr/>
            </a:pPr>
            <a:r>
              <a:rPr lang="en-US" altLang="en-US" dirty="0"/>
              <a:t>SUMMARY – PLASMA ENVIRONMENT</a:t>
            </a:r>
          </a:p>
        </p:txBody>
      </p:sp>
      <p:sp>
        <p:nvSpPr>
          <p:cNvPr id="12291" name="Rectangle 3">
            <a:extLst>
              <a:ext uri="{FF2B5EF4-FFF2-40B4-BE49-F238E27FC236}">
                <a16:creationId xmlns:a16="http://schemas.microsoft.com/office/drawing/2014/main" id="{BDEA1A40-6143-48D6-B3C9-C1D1992A08B1}"/>
              </a:ext>
            </a:extLst>
          </p:cNvPr>
          <p:cNvSpPr>
            <a:spLocks noChangeArrowheads="1"/>
          </p:cNvSpPr>
          <p:nvPr/>
        </p:nvSpPr>
        <p:spPr bwMode="auto">
          <a:xfrm>
            <a:off x="1488545" y="1151473"/>
            <a:ext cx="11005624" cy="4689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2075" tIns="46038" rIns="92075" bIns="46038"/>
          <a:lstStyle>
            <a:lvl1pPr marL="342900" indent="-342900">
              <a:defRPr sz="2400">
                <a:solidFill>
                  <a:schemeClr val="tx1"/>
                </a:solidFill>
                <a:latin typeface="Times New Roman" charset="0"/>
              </a:defRPr>
            </a:lvl1pPr>
            <a:lvl2pPr marL="742950" indent="-285750">
              <a:defRPr sz="2400">
                <a:solidFill>
                  <a:schemeClr val="tx1"/>
                </a:solidFill>
                <a:latin typeface="Times New Roman" charset="0"/>
              </a:defRPr>
            </a:lvl2pPr>
            <a:lvl3pPr marL="1143000" indent="-228600">
              <a:defRPr sz="2400">
                <a:solidFill>
                  <a:schemeClr val="tx1"/>
                </a:solidFill>
                <a:latin typeface="Times New Roman" charset="0"/>
              </a:defRPr>
            </a:lvl3pPr>
            <a:lvl4pPr marL="1600200" indent="-228600">
              <a:defRPr sz="2400">
                <a:solidFill>
                  <a:schemeClr val="tx1"/>
                </a:solidFill>
                <a:latin typeface="Times New Roman" charset="0"/>
              </a:defRPr>
            </a:lvl4pPr>
            <a:lvl5pPr marL="2057400" indent="-228600">
              <a:defRPr sz="2400">
                <a:solidFill>
                  <a:schemeClr val="tx1"/>
                </a:solidFill>
                <a:latin typeface="Times New Roman" charset="0"/>
              </a:defRPr>
            </a:lvl5pPr>
            <a:lvl6pPr marL="2514600" indent="-228600" eaLnBrk="0" fontAlgn="base" hangingPunct="0">
              <a:spcBef>
                <a:spcPct val="0"/>
              </a:spcBef>
              <a:spcAft>
                <a:spcPct val="0"/>
              </a:spcAft>
              <a:defRPr sz="2400">
                <a:solidFill>
                  <a:schemeClr val="tx1"/>
                </a:solidFill>
                <a:latin typeface="Times New Roman" charset="0"/>
              </a:defRPr>
            </a:lvl6pPr>
            <a:lvl7pPr marL="2971800" indent="-228600" eaLnBrk="0" fontAlgn="base" hangingPunct="0">
              <a:spcBef>
                <a:spcPct val="0"/>
              </a:spcBef>
              <a:spcAft>
                <a:spcPct val="0"/>
              </a:spcAft>
              <a:defRPr sz="2400">
                <a:solidFill>
                  <a:schemeClr val="tx1"/>
                </a:solidFill>
                <a:latin typeface="Times New Roman" charset="0"/>
              </a:defRPr>
            </a:lvl7pPr>
            <a:lvl8pPr marL="3429000" indent="-228600" eaLnBrk="0" fontAlgn="base" hangingPunct="0">
              <a:spcBef>
                <a:spcPct val="0"/>
              </a:spcBef>
              <a:spcAft>
                <a:spcPct val="0"/>
              </a:spcAft>
              <a:defRPr sz="2400">
                <a:solidFill>
                  <a:schemeClr val="tx1"/>
                </a:solidFill>
                <a:latin typeface="Times New Roman" charset="0"/>
              </a:defRPr>
            </a:lvl8pPr>
            <a:lvl9pPr marL="3886200" indent="-228600" eaLnBrk="0" fontAlgn="base" hangingPunct="0">
              <a:spcBef>
                <a:spcPct val="0"/>
              </a:spcBef>
              <a:spcAft>
                <a:spcPct val="0"/>
              </a:spcAft>
              <a:defRPr sz="2400">
                <a:solidFill>
                  <a:schemeClr val="tx1"/>
                </a:solidFill>
                <a:latin typeface="Times New Roman" charset="0"/>
              </a:defRPr>
            </a:lvl9pPr>
          </a:lstStyle>
          <a:p>
            <a:pPr>
              <a:lnSpc>
                <a:spcPct val="120000"/>
              </a:lnSpc>
              <a:spcBef>
                <a:spcPct val="20000"/>
              </a:spcBef>
              <a:buFontTx/>
              <a:buChar char="•"/>
              <a:defRPr/>
            </a:pPr>
            <a:r>
              <a:rPr lang="en-US" altLang="en-US" dirty="0">
                <a:latin typeface="Arial" charset="0"/>
              </a:rPr>
              <a:t>Know the effects of the plasma environment on spacecraft</a:t>
            </a:r>
          </a:p>
          <a:p>
            <a:pPr>
              <a:lnSpc>
                <a:spcPct val="120000"/>
              </a:lnSpc>
              <a:spcBef>
                <a:spcPct val="20000"/>
              </a:spcBef>
              <a:buFontTx/>
              <a:buChar char="•"/>
              <a:defRPr/>
            </a:pPr>
            <a:r>
              <a:rPr lang="en-US" altLang="en-US" dirty="0">
                <a:latin typeface="Arial" charset="0"/>
              </a:rPr>
              <a:t>Describe the causes of the Van Allen radiation belts</a:t>
            </a:r>
          </a:p>
          <a:p>
            <a:pPr>
              <a:lnSpc>
                <a:spcPct val="120000"/>
              </a:lnSpc>
              <a:spcBef>
                <a:spcPct val="20000"/>
              </a:spcBef>
              <a:buFontTx/>
              <a:buChar char="•"/>
              <a:defRPr/>
            </a:pPr>
            <a:r>
              <a:rPr lang="en-US" altLang="en-US" dirty="0">
                <a:latin typeface="Arial" charset="0"/>
              </a:rPr>
              <a:t>Understand the main characteristics of each plasma region (D E F1 F2) </a:t>
            </a:r>
          </a:p>
          <a:p>
            <a:pPr lvl="1">
              <a:lnSpc>
                <a:spcPct val="120000"/>
              </a:lnSpc>
              <a:spcBef>
                <a:spcPct val="20000"/>
              </a:spcBef>
              <a:buFontTx/>
              <a:buChar char="•"/>
              <a:defRPr/>
            </a:pPr>
            <a:r>
              <a:rPr lang="en-US" altLang="en-US" dirty="0">
                <a:latin typeface="Arial" charset="0"/>
              </a:rPr>
              <a:t>Describe how solar flares, CMEs and sunspot activity affect ionospheric density and electron content</a:t>
            </a:r>
          </a:p>
          <a:p>
            <a:pPr lvl="1">
              <a:lnSpc>
                <a:spcPct val="120000"/>
              </a:lnSpc>
              <a:spcBef>
                <a:spcPct val="20000"/>
              </a:spcBef>
              <a:buFontTx/>
              <a:buChar char="•"/>
              <a:defRPr/>
            </a:pPr>
            <a:r>
              <a:rPr lang="en-US" altLang="en-US" dirty="0">
                <a:latin typeface="Arial" charset="0"/>
              </a:rPr>
              <a:t>Calculate the plasma frequency of each level</a:t>
            </a:r>
          </a:p>
          <a:p>
            <a:pPr lvl="1">
              <a:lnSpc>
                <a:spcPct val="120000"/>
              </a:lnSpc>
              <a:spcBef>
                <a:spcPct val="20000"/>
              </a:spcBef>
              <a:buFontTx/>
              <a:buChar char="•"/>
              <a:defRPr/>
            </a:pPr>
            <a:r>
              <a:rPr lang="en-US" altLang="en-US" dirty="0">
                <a:latin typeface="Arial" charset="0"/>
              </a:rPr>
              <a:t>Know main effects on signals including time delays and excess range</a:t>
            </a:r>
          </a:p>
          <a:p>
            <a:pPr>
              <a:lnSpc>
                <a:spcPct val="120000"/>
              </a:lnSpc>
              <a:spcBef>
                <a:spcPct val="20000"/>
              </a:spcBef>
              <a:buFontTx/>
              <a:buChar char="•"/>
              <a:defRPr/>
            </a:pPr>
            <a:r>
              <a:rPr lang="en-US" altLang="en-US" dirty="0">
                <a:latin typeface="Arial" charset="0"/>
              </a:rPr>
              <a:t>Demonstrate an understanding of plasma effects on spacecraft</a:t>
            </a:r>
          </a:p>
          <a:p>
            <a:pPr lvl="1">
              <a:lnSpc>
                <a:spcPct val="120000"/>
              </a:lnSpc>
              <a:spcBef>
                <a:spcPct val="20000"/>
              </a:spcBef>
              <a:buFontTx/>
              <a:buChar char="•"/>
              <a:defRPr/>
            </a:pPr>
            <a:r>
              <a:rPr lang="en-US" altLang="en-US" dirty="0">
                <a:latin typeface="Arial" charset="0"/>
              </a:rPr>
              <a:t>Find expected induced currents due to the plasma environment</a:t>
            </a:r>
          </a:p>
          <a:p>
            <a:pPr lvl="1">
              <a:lnSpc>
                <a:spcPct val="120000"/>
              </a:lnSpc>
              <a:spcBef>
                <a:spcPct val="20000"/>
              </a:spcBef>
              <a:buFontTx/>
              <a:buChar char="•"/>
              <a:defRPr/>
            </a:pPr>
            <a:r>
              <a:rPr lang="en-US" altLang="en-US" dirty="0">
                <a:latin typeface="Arial" charset="0"/>
              </a:rPr>
              <a:t>Propose appropriate voltage biasing to reduce charging effects</a:t>
            </a:r>
          </a:p>
          <a:p>
            <a:pPr marL="457200" lvl="1" indent="0">
              <a:lnSpc>
                <a:spcPct val="120000"/>
              </a:lnSpc>
              <a:spcBef>
                <a:spcPct val="20000"/>
              </a:spcBef>
              <a:defRPr/>
            </a:pPr>
            <a:endParaRPr lang="en-US" altLang="en-US" dirty="0">
              <a:latin typeface="Arial" charset="0"/>
            </a:endParaRPr>
          </a:p>
          <a:p>
            <a:pPr lvl="1">
              <a:lnSpc>
                <a:spcPct val="120000"/>
              </a:lnSpc>
              <a:spcBef>
                <a:spcPct val="20000"/>
              </a:spcBef>
              <a:buFontTx/>
              <a:buChar char="•"/>
              <a:defRPr/>
            </a:pPr>
            <a:endParaRPr lang="en-US" altLang="en-US" dirty="0">
              <a:latin typeface="Arial" charset="0"/>
            </a:endParaRPr>
          </a:p>
          <a:p>
            <a:pPr marL="457200" lvl="1" indent="0">
              <a:lnSpc>
                <a:spcPct val="120000"/>
              </a:lnSpc>
              <a:spcBef>
                <a:spcPct val="20000"/>
              </a:spcBef>
              <a:defRPr/>
            </a:pPr>
            <a:endParaRPr lang="en-US" altLang="en-US" dirty="0">
              <a:latin typeface="Arial" charset="0"/>
            </a:endParaRPr>
          </a:p>
          <a:p>
            <a:pPr marL="457200" lvl="1" indent="0">
              <a:spcBef>
                <a:spcPct val="50000"/>
              </a:spcBef>
              <a:defRPr/>
            </a:pPr>
            <a:endParaRPr lang="en-US" altLang="en-US" dirty="0">
              <a:latin typeface="Arial" charset="0"/>
            </a:endParaRPr>
          </a:p>
          <a:p>
            <a:pPr lvl="1">
              <a:spcBef>
                <a:spcPct val="50000"/>
              </a:spcBef>
              <a:buFontTx/>
              <a:buChar char="–"/>
              <a:defRPr/>
            </a:pPr>
            <a:endParaRPr lang="en-US" altLang="en-US" dirty="0">
              <a:latin typeface="Arial" charset="0"/>
            </a:endParaRPr>
          </a:p>
        </p:txBody>
      </p:sp>
      <p:sp>
        <p:nvSpPr>
          <p:cNvPr id="2" name="Slide Number Placeholder 1">
            <a:extLst>
              <a:ext uri="{FF2B5EF4-FFF2-40B4-BE49-F238E27FC236}">
                <a16:creationId xmlns:a16="http://schemas.microsoft.com/office/drawing/2014/main" id="{6F9A403E-A6ED-40BF-B98C-1C626E3A2941}"/>
              </a:ext>
            </a:extLst>
          </p:cNvPr>
          <p:cNvSpPr>
            <a:spLocks noGrp="1"/>
          </p:cNvSpPr>
          <p:nvPr>
            <p:ph type="sldNum" sz="quarter" idx="12"/>
          </p:nvPr>
        </p:nvSpPr>
        <p:spPr/>
        <p:txBody>
          <a:bodyPr/>
          <a:lstStyle/>
          <a:p>
            <a:fld id="{C83C362F-97FB-4C1E-B0F0-C3069DD0CDD1}" type="slidenum">
              <a:rPr lang="en-US" smtClean="0"/>
              <a:t>13</a:t>
            </a:fld>
            <a:endParaRPr lang="en-US"/>
          </a:p>
        </p:txBody>
      </p:sp>
    </p:spTree>
    <p:extLst>
      <p:ext uri="{BB962C8B-B14F-4D97-AF65-F5344CB8AC3E}">
        <p14:creationId xmlns:p14="http://schemas.microsoft.com/office/powerpoint/2010/main" val="118881783"/>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0CEF66-AFD2-4C84-99DA-1E957CE47316}"/>
              </a:ext>
            </a:extLst>
          </p:cNvPr>
          <p:cNvSpPr>
            <a:spLocks noGrp="1"/>
          </p:cNvSpPr>
          <p:nvPr>
            <p:ph type="title"/>
          </p:nvPr>
        </p:nvSpPr>
        <p:spPr>
          <a:xfrm>
            <a:off x="1567913" y="-233825"/>
            <a:ext cx="10018713" cy="1752599"/>
          </a:xfrm>
        </p:spPr>
        <p:txBody>
          <a:bodyPr/>
          <a:lstStyle/>
          <a:p>
            <a:r>
              <a:rPr lang="en-US" dirty="0"/>
              <a:t>COURSE REVIEW</a:t>
            </a:r>
          </a:p>
        </p:txBody>
      </p:sp>
      <p:sp>
        <p:nvSpPr>
          <p:cNvPr id="4" name="TextBox 3">
            <a:extLst>
              <a:ext uri="{FF2B5EF4-FFF2-40B4-BE49-F238E27FC236}">
                <a16:creationId xmlns:a16="http://schemas.microsoft.com/office/drawing/2014/main" id="{E41AF6CF-4B7F-4569-A514-90139AEF6D30}"/>
              </a:ext>
            </a:extLst>
          </p:cNvPr>
          <p:cNvSpPr txBox="1"/>
          <p:nvPr/>
        </p:nvSpPr>
        <p:spPr>
          <a:xfrm>
            <a:off x="2383437" y="1198676"/>
            <a:ext cx="8881436" cy="4589590"/>
          </a:xfrm>
          <a:prstGeom prst="rect">
            <a:avLst/>
          </a:prstGeom>
          <a:noFill/>
        </p:spPr>
        <p:txBody>
          <a:bodyPr wrap="square">
            <a:spAutoFit/>
          </a:bodyPr>
          <a:lstStyle/>
          <a:p>
            <a:pPr marL="457200" marR="0" indent="-457200">
              <a:lnSpc>
                <a:spcPct val="115000"/>
              </a:lnSpc>
              <a:spcBef>
                <a:spcPts val="0"/>
              </a:spcBef>
              <a:spcAft>
                <a:spcPts val="0"/>
              </a:spcAft>
              <a:buFont typeface="Wingdings" panose="05000000000000000000" pitchFamily="2" charset="2"/>
              <a:buChar char="ü"/>
            </a:pPr>
            <a:r>
              <a:rPr lang="en-US" sz="3200" dirty="0">
                <a:effectLst/>
                <a:latin typeface="Calibri" panose="020F0502020204030204" pitchFamily="34" charset="0"/>
                <a:ea typeface="Calibri" panose="020F0502020204030204" pitchFamily="34" charset="0"/>
                <a:cs typeface="Calibri" panose="020F0502020204030204" pitchFamily="34" charset="0"/>
              </a:rPr>
              <a:t>Chapter 1 – Course </a:t>
            </a:r>
            <a:r>
              <a:rPr lang="en-US" sz="3200" dirty="0">
                <a:latin typeface="Calibri" panose="020F0502020204030204" pitchFamily="34" charset="0"/>
                <a:ea typeface="Calibri" panose="020F0502020204030204" pitchFamily="34" charset="0"/>
                <a:cs typeface="Calibri" panose="020F0502020204030204" pitchFamily="34" charset="0"/>
              </a:rPr>
              <a:t>I</a:t>
            </a:r>
            <a:r>
              <a:rPr lang="en-US" sz="3200" dirty="0">
                <a:effectLst/>
                <a:latin typeface="Calibri" panose="020F0502020204030204" pitchFamily="34" charset="0"/>
                <a:ea typeface="Calibri" panose="020F0502020204030204" pitchFamily="34" charset="0"/>
                <a:cs typeface="Calibri" panose="020F0502020204030204" pitchFamily="34" charset="0"/>
              </a:rPr>
              <a:t>ntro</a:t>
            </a:r>
          </a:p>
          <a:p>
            <a:pPr marL="457200" marR="0" indent="-457200">
              <a:lnSpc>
                <a:spcPct val="115000"/>
              </a:lnSpc>
              <a:spcBef>
                <a:spcPts val="0"/>
              </a:spcBef>
              <a:spcAft>
                <a:spcPts val="0"/>
              </a:spcAft>
              <a:buFont typeface="Wingdings" panose="05000000000000000000" pitchFamily="2" charset="2"/>
              <a:buChar char="ü"/>
            </a:pPr>
            <a:r>
              <a:rPr lang="en-US" sz="3200" dirty="0">
                <a:latin typeface="Calibri" panose="020F0502020204030204" pitchFamily="34" charset="0"/>
                <a:ea typeface="Calibri" panose="020F0502020204030204" pitchFamily="34" charset="0"/>
                <a:cs typeface="Calibri" panose="020F0502020204030204" pitchFamily="34" charset="0"/>
              </a:rPr>
              <a:t>Chapter 2 – The Vacuum Environment</a:t>
            </a:r>
          </a:p>
          <a:p>
            <a:pPr marL="457200" marR="0" indent="-457200">
              <a:lnSpc>
                <a:spcPct val="115000"/>
              </a:lnSpc>
              <a:spcBef>
                <a:spcPts val="0"/>
              </a:spcBef>
              <a:spcAft>
                <a:spcPts val="0"/>
              </a:spcAft>
              <a:buFont typeface="Wingdings" panose="05000000000000000000" pitchFamily="2" charset="2"/>
              <a:buChar char="ü"/>
            </a:pPr>
            <a:r>
              <a:rPr lang="en-US" sz="3200" dirty="0">
                <a:effectLst/>
                <a:latin typeface="Calibri" panose="020F0502020204030204" pitchFamily="34" charset="0"/>
                <a:ea typeface="Calibri" panose="020F0502020204030204" pitchFamily="34" charset="0"/>
                <a:cs typeface="Calibri" panose="020F0502020204030204" pitchFamily="34" charset="0"/>
              </a:rPr>
              <a:t>Chapter 3 - Neutral Atmospheric Particles</a:t>
            </a:r>
          </a:p>
          <a:p>
            <a:pPr marL="457200" marR="0" indent="-457200">
              <a:lnSpc>
                <a:spcPct val="115000"/>
              </a:lnSpc>
              <a:spcBef>
                <a:spcPts val="0"/>
              </a:spcBef>
              <a:spcAft>
                <a:spcPts val="0"/>
              </a:spcAft>
              <a:buFont typeface="Wingdings" panose="05000000000000000000" pitchFamily="2" charset="2"/>
              <a:buChar char="ü"/>
            </a:pPr>
            <a:r>
              <a:rPr lang="en-US" sz="3200" dirty="0">
                <a:effectLst/>
                <a:latin typeface="Calibri" panose="020F0502020204030204" pitchFamily="34" charset="0"/>
                <a:ea typeface="Calibri" panose="020F0502020204030204" pitchFamily="34" charset="0"/>
                <a:cs typeface="Calibri" panose="020F0502020204030204" pitchFamily="34" charset="0"/>
              </a:rPr>
              <a:t>Chapter 4 - </a:t>
            </a:r>
            <a:r>
              <a:rPr lang="en-US" sz="32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Charged particles and plasma interactions with the spacecraft</a:t>
            </a:r>
          </a:p>
          <a:p>
            <a:pPr marL="457200" marR="0" indent="-457200">
              <a:lnSpc>
                <a:spcPct val="115000"/>
              </a:lnSpc>
              <a:spcBef>
                <a:spcPts val="0"/>
              </a:spcBef>
              <a:spcAft>
                <a:spcPts val="0"/>
              </a:spcAft>
              <a:buFont typeface="Wingdings" panose="05000000000000000000" pitchFamily="2" charset="2"/>
              <a:buChar char="q"/>
            </a:pPr>
            <a:r>
              <a:rPr lang="en-US" sz="3200" dirty="0">
                <a:solidFill>
                  <a:srgbClr val="000000"/>
                </a:solidFill>
                <a:latin typeface="Calibri" panose="020F0502020204030204" pitchFamily="34" charset="0"/>
                <a:ea typeface="Times New Roman" panose="02020603050405020304" pitchFamily="18" charset="0"/>
                <a:cs typeface="Calibri" panose="020F0502020204030204" pitchFamily="34" charset="0"/>
              </a:rPr>
              <a:t>Chapter 5 - </a:t>
            </a:r>
            <a:r>
              <a:rPr lang="en-US" sz="32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The radiation environment</a:t>
            </a:r>
          </a:p>
          <a:p>
            <a:pPr marL="457200" marR="0" indent="-457200">
              <a:lnSpc>
                <a:spcPct val="115000"/>
              </a:lnSpc>
              <a:spcBef>
                <a:spcPts val="0"/>
              </a:spcBef>
              <a:spcAft>
                <a:spcPts val="0"/>
              </a:spcAft>
              <a:buFont typeface="Wingdings" panose="05000000000000000000" pitchFamily="2" charset="2"/>
              <a:buChar char="q"/>
            </a:pPr>
            <a:r>
              <a:rPr lang="en-US" sz="3200" dirty="0">
                <a:solidFill>
                  <a:srgbClr val="000000"/>
                </a:solidFill>
                <a:latin typeface="Calibri" panose="020F0502020204030204" pitchFamily="34" charset="0"/>
                <a:ea typeface="Calibri" panose="020F0502020204030204" pitchFamily="34" charset="0"/>
                <a:cs typeface="Calibri" panose="020F0502020204030204" pitchFamily="34" charset="0"/>
              </a:rPr>
              <a:t>Chapter 6 - </a:t>
            </a:r>
            <a:r>
              <a:rPr lang="en-US" sz="32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Orbital debris </a:t>
            </a:r>
          </a:p>
          <a:p>
            <a:pPr marL="457200" marR="0" indent="-457200">
              <a:lnSpc>
                <a:spcPct val="115000"/>
              </a:lnSpc>
              <a:spcBef>
                <a:spcPts val="0"/>
              </a:spcBef>
              <a:spcAft>
                <a:spcPts val="0"/>
              </a:spcAft>
              <a:buFont typeface="Wingdings" panose="05000000000000000000" pitchFamily="2" charset="2"/>
              <a:buChar char="q"/>
            </a:pPr>
            <a:r>
              <a:rPr lang="en-US" sz="3200" dirty="0">
                <a:solidFill>
                  <a:srgbClr val="000000"/>
                </a:solidFill>
                <a:latin typeface="Calibri" panose="020F0502020204030204" pitchFamily="34" charset="0"/>
                <a:ea typeface="Times New Roman" panose="02020603050405020304" pitchFamily="18" charset="0"/>
                <a:cs typeface="Calibri" panose="020F0502020204030204" pitchFamily="34" charset="0"/>
              </a:rPr>
              <a:t>Bio R</a:t>
            </a:r>
            <a:r>
              <a:rPr lang="en-US" sz="32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eadings - </a:t>
            </a:r>
            <a:r>
              <a:rPr lang="en-US" sz="32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Human Effects </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0299948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See the source image">
            <a:extLst>
              <a:ext uri="{FF2B5EF4-FFF2-40B4-BE49-F238E27FC236}">
                <a16:creationId xmlns:a16="http://schemas.microsoft.com/office/drawing/2014/main" id="{CAE42824-1D46-4405-B7CC-356A1DE4AC2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0182" r="7567" b="-1"/>
          <a:stretch/>
        </p:blipFill>
        <p:spPr bwMode="auto">
          <a:xfrm>
            <a:off x="1" y="10"/>
            <a:ext cx="7479157" cy="6857990"/>
          </a:xfrm>
          <a:prstGeom prst="rect">
            <a:avLst/>
          </a:prstGeom>
          <a:noFill/>
          <a:extLst>
            <a:ext uri="{909E8E84-426E-40DD-AFC4-6F175D3DCCD1}">
              <a14:hiddenFill xmlns:a14="http://schemas.microsoft.com/office/drawing/2010/main">
                <a:solidFill>
                  <a:srgbClr val="FFFFFF"/>
                </a:solidFill>
              </a14:hiddenFill>
            </a:ext>
          </a:extLst>
        </p:spPr>
      </p:pic>
      <p:sp>
        <p:nvSpPr>
          <p:cNvPr id="78852" name="Rectangle 4">
            <a:extLst>
              <a:ext uri="{FF2B5EF4-FFF2-40B4-BE49-F238E27FC236}">
                <a16:creationId xmlns:a16="http://schemas.microsoft.com/office/drawing/2014/main" id="{9B5BCB49-8CC0-42DD-97C6-7A3E126CD8B4}"/>
              </a:ext>
            </a:extLst>
          </p:cNvPr>
          <p:cNvSpPr>
            <a:spLocks noGrp="1" noChangeArrowheads="1"/>
          </p:cNvSpPr>
          <p:nvPr>
            <p:ph type="title"/>
          </p:nvPr>
        </p:nvSpPr>
        <p:spPr>
          <a:xfrm>
            <a:off x="8196408" y="640831"/>
            <a:ext cx="3352128" cy="1573863"/>
          </a:xfrm>
        </p:spPr>
        <p:txBody>
          <a:bodyPr>
            <a:normAutofit fontScale="90000"/>
          </a:bodyPr>
          <a:lstStyle/>
          <a:p>
            <a:pPr algn="l">
              <a:defRPr/>
            </a:pPr>
            <a:r>
              <a:rPr lang="en-US" altLang="en-US" dirty="0"/>
              <a:t>Radiation Environment and Its Effects</a:t>
            </a:r>
            <a:endParaRPr lang="en-US" altLang="en-US"/>
          </a:p>
        </p:txBody>
      </p:sp>
      <p:sp>
        <p:nvSpPr>
          <p:cNvPr id="78853" name="Rectangle 5">
            <a:extLst>
              <a:ext uri="{FF2B5EF4-FFF2-40B4-BE49-F238E27FC236}">
                <a16:creationId xmlns:a16="http://schemas.microsoft.com/office/drawing/2014/main" id="{D67D4191-E1E4-4E09-8977-474A1424D9A8}"/>
              </a:ext>
            </a:extLst>
          </p:cNvPr>
          <p:cNvSpPr>
            <a:spLocks noGrp="1" noChangeArrowheads="1"/>
          </p:cNvSpPr>
          <p:nvPr>
            <p:ph sz="quarter" idx="13"/>
          </p:nvPr>
        </p:nvSpPr>
        <p:spPr>
          <a:xfrm>
            <a:off x="8196408" y="2367092"/>
            <a:ext cx="3352128" cy="3881309"/>
          </a:xfrm>
        </p:spPr>
        <p:txBody>
          <a:bodyPr>
            <a:normAutofit/>
          </a:bodyPr>
          <a:lstStyle/>
          <a:p>
            <a:pPr>
              <a:defRPr/>
            </a:pPr>
            <a:r>
              <a:rPr lang="en-US" altLang="en-US" sz="1800"/>
              <a:t>Radiation is any object that deposits energy in a material</a:t>
            </a:r>
          </a:p>
          <a:p>
            <a:pPr lvl="1">
              <a:spcBef>
                <a:spcPct val="15000"/>
              </a:spcBef>
              <a:defRPr/>
            </a:pPr>
            <a:r>
              <a:rPr lang="en-US" altLang="en-US" dirty="0"/>
              <a:t>Charged particles (electrons, protons)</a:t>
            </a:r>
          </a:p>
          <a:p>
            <a:pPr lvl="1">
              <a:spcBef>
                <a:spcPct val="15000"/>
              </a:spcBef>
              <a:defRPr/>
            </a:pPr>
            <a:r>
              <a:rPr lang="en-US" altLang="en-US" dirty="0"/>
              <a:t>Uncharged particles (neutrons)</a:t>
            </a:r>
          </a:p>
          <a:p>
            <a:pPr lvl="1">
              <a:spcBef>
                <a:spcPct val="15000"/>
              </a:spcBef>
              <a:defRPr/>
            </a:pPr>
            <a:r>
              <a:rPr lang="en-US" altLang="en-US" dirty="0"/>
              <a:t>Photons (gamma rays, x-rays)</a:t>
            </a:r>
          </a:p>
          <a:p>
            <a:pPr marL="457200" lvl="1" indent="0">
              <a:spcBef>
                <a:spcPct val="15000"/>
              </a:spcBef>
              <a:buNone/>
              <a:defRPr/>
            </a:pPr>
            <a:endParaRPr lang="en-US" altLang="en-US" dirty="0"/>
          </a:p>
        </p:txBody>
      </p:sp>
      <p:sp>
        <p:nvSpPr>
          <p:cNvPr id="2" name="Slide Number Placeholder 1">
            <a:extLst>
              <a:ext uri="{FF2B5EF4-FFF2-40B4-BE49-F238E27FC236}">
                <a16:creationId xmlns:a16="http://schemas.microsoft.com/office/drawing/2014/main" id="{D38B54A8-B6E4-49AD-8038-64313FE1DC73}"/>
              </a:ext>
            </a:extLst>
          </p:cNvPr>
          <p:cNvSpPr>
            <a:spLocks noGrp="1"/>
          </p:cNvSpPr>
          <p:nvPr>
            <p:ph type="sldNum" sz="quarter" idx="12"/>
          </p:nvPr>
        </p:nvSpPr>
        <p:spPr>
          <a:xfrm>
            <a:off x="10514011" y="6265130"/>
            <a:ext cx="764215" cy="365125"/>
          </a:xfrm>
        </p:spPr>
        <p:txBody>
          <a:bodyPr>
            <a:normAutofit/>
          </a:bodyPr>
          <a:lstStyle/>
          <a:p>
            <a:pPr>
              <a:spcAft>
                <a:spcPts val="600"/>
              </a:spcAft>
            </a:pPr>
            <a:fld id="{C83C362F-97FB-4C1E-B0F0-C3069DD0CDD1}" type="slidenum">
              <a:rPr lang="en-US" smtClean="0"/>
              <a:pPr>
                <a:spcAft>
                  <a:spcPts val="600"/>
                </a:spcAft>
              </a:pPr>
              <a:t>15</a:t>
            </a:fld>
            <a:endParaRPr lang="en-US"/>
          </a:p>
        </p:txBody>
      </p:sp>
    </p:spTree>
    <p:extLst>
      <p:ext uri="{BB962C8B-B14F-4D97-AF65-F5344CB8AC3E}">
        <p14:creationId xmlns:p14="http://schemas.microsoft.com/office/powerpoint/2010/main" val="32008509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2" name="Rectangle 4">
            <a:extLst>
              <a:ext uri="{FF2B5EF4-FFF2-40B4-BE49-F238E27FC236}">
                <a16:creationId xmlns:a16="http://schemas.microsoft.com/office/drawing/2014/main" id="{9B5BCB49-8CC0-42DD-97C6-7A3E126CD8B4}"/>
              </a:ext>
            </a:extLst>
          </p:cNvPr>
          <p:cNvSpPr>
            <a:spLocks noGrp="1" noChangeArrowheads="1"/>
          </p:cNvSpPr>
          <p:nvPr>
            <p:ph type="title"/>
          </p:nvPr>
        </p:nvSpPr>
        <p:spPr>
          <a:xfrm>
            <a:off x="691524" y="0"/>
            <a:ext cx="10364451" cy="1596177"/>
          </a:xfrm>
        </p:spPr>
        <p:txBody>
          <a:bodyPr/>
          <a:lstStyle/>
          <a:p>
            <a:pPr>
              <a:defRPr/>
            </a:pPr>
            <a:r>
              <a:rPr lang="en-US" altLang="en-US" dirty="0"/>
              <a:t>Radiation Environment and Its Effects</a:t>
            </a:r>
          </a:p>
        </p:txBody>
      </p:sp>
      <p:sp>
        <p:nvSpPr>
          <p:cNvPr id="78853" name="Rectangle 5">
            <a:extLst>
              <a:ext uri="{FF2B5EF4-FFF2-40B4-BE49-F238E27FC236}">
                <a16:creationId xmlns:a16="http://schemas.microsoft.com/office/drawing/2014/main" id="{D67D4191-E1E4-4E09-8977-474A1424D9A8}"/>
              </a:ext>
            </a:extLst>
          </p:cNvPr>
          <p:cNvSpPr>
            <a:spLocks noGrp="1" noChangeArrowheads="1"/>
          </p:cNvSpPr>
          <p:nvPr>
            <p:ph sz="quarter" idx="13"/>
          </p:nvPr>
        </p:nvSpPr>
        <p:spPr>
          <a:xfrm>
            <a:off x="1587499" y="996950"/>
            <a:ext cx="8572500" cy="5861050"/>
          </a:xfrm>
        </p:spPr>
        <p:txBody>
          <a:bodyPr>
            <a:normAutofit fontScale="92500" lnSpcReduction="20000"/>
          </a:bodyPr>
          <a:lstStyle/>
          <a:p>
            <a:pPr>
              <a:defRPr/>
            </a:pPr>
            <a:r>
              <a:rPr lang="en-US" altLang="en-US" dirty="0"/>
              <a:t>Radiation is any object that deposits energy in a material</a:t>
            </a:r>
            <a:endParaRPr lang="en-US" altLang="en-US" sz="2000" dirty="0"/>
          </a:p>
          <a:p>
            <a:pPr lvl="1">
              <a:spcBef>
                <a:spcPct val="15000"/>
              </a:spcBef>
              <a:defRPr/>
            </a:pPr>
            <a:r>
              <a:rPr lang="en-US" altLang="en-US" dirty="0"/>
              <a:t>Charged particles (electrons, protons)</a:t>
            </a:r>
          </a:p>
          <a:p>
            <a:pPr lvl="1">
              <a:spcBef>
                <a:spcPct val="15000"/>
              </a:spcBef>
              <a:defRPr/>
            </a:pPr>
            <a:r>
              <a:rPr lang="en-US" altLang="en-US" dirty="0"/>
              <a:t>Uncharged particles (neutrons)</a:t>
            </a:r>
          </a:p>
          <a:p>
            <a:pPr lvl="1">
              <a:spcBef>
                <a:spcPct val="15000"/>
              </a:spcBef>
              <a:defRPr/>
            </a:pPr>
            <a:r>
              <a:rPr lang="en-US" altLang="en-US" dirty="0"/>
              <a:t>Photons (gamma rays, x-rays)</a:t>
            </a:r>
          </a:p>
          <a:p>
            <a:pPr>
              <a:spcBef>
                <a:spcPct val="60000"/>
              </a:spcBef>
              <a:defRPr/>
            </a:pPr>
            <a:r>
              <a:rPr lang="en-US" altLang="en-US" dirty="0"/>
              <a:t>Radiation sources</a:t>
            </a:r>
            <a:endParaRPr lang="en-US" altLang="en-US" sz="2000" dirty="0"/>
          </a:p>
          <a:p>
            <a:pPr lvl="1">
              <a:spcBef>
                <a:spcPct val="15000"/>
              </a:spcBef>
              <a:defRPr/>
            </a:pPr>
            <a:r>
              <a:rPr lang="en-US" altLang="en-US" dirty="0"/>
              <a:t>Solar particle events (SPE), highest during peaks in the solar cycle</a:t>
            </a:r>
          </a:p>
          <a:p>
            <a:pPr lvl="1">
              <a:spcBef>
                <a:spcPct val="15000"/>
              </a:spcBef>
              <a:defRPr/>
            </a:pPr>
            <a:r>
              <a:rPr lang="en-US" altLang="en-US" dirty="0"/>
              <a:t>Trapped radiation in the Van Allen Belts</a:t>
            </a:r>
          </a:p>
          <a:p>
            <a:pPr lvl="1">
              <a:spcBef>
                <a:spcPct val="15000"/>
              </a:spcBef>
              <a:defRPr/>
            </a:pPr>
            <a:r>
              <a:rPr lang="en-US" altLang="en-US" dirty="0"/>
              <a:t>Galactic cosmic rays (GCR):  mostly hydrogen and helium ions</a:t>
            </a:r>
          </a:p>
          <a:p>
            <a:pPr>
              <a:spcBef>
                <a:spcPct val="60000"/>
              </a:spcBef>
              <a:defRPr/>
            </a:pPr>
            <a:r>
              <a:rPr lang="en-US" altLang="en-US" dirty="0"/>
              <a:t>Important effects</a:t>
            </a:r>
            <a:endParaRPr lang="en-US" altLang="en-US" sz="2000" dirty="0"/>
          </a:p>
          <a:p>
            <a:pPr lvl="1">
              <a:spcBef>
                <a:spcPct val="15000"/>
              </a:spcBef>
              <a:defRPr/>
            </a:pPr>
            <a:r>
              <a:rPr lang="en-US" altLang="en-US" dirty="0">
                <a:solidFill>
                  <a:schemeClr val="accent2"/>
                </a:solidFill>
              </a:rPr>
              <a:t>Solar cell degradation</a:t>
            </a:r>
            <a:r>
              <a:rPr lang="en-US" altLang="en-US" dirty="0"/>
              <a:t> is a function of time</a:t>
            </a:r>
          </a:p>
          <a:p>
            <a:pPr lvl="2">
              <a:spcBef>
                <a:spcPct val="5000"/>
              </a:spcBef>
              <a:defRPr/>
            </a:pPr>
            <a:r>
              <a:rPr lang="en-US" altLang="en-US" dirty="0"/>
              <a:t>GaAs cells are more resistant than Si, but cost more</a:t>
            </a:r>
          </a:p>
          <a:p>
            <a:pPr lvl="1">
              <a:spcBef>
                <a:spcPct val="15000"/>
              </a:spcBef>
              <a:defRPr/>
            </a:pPr>
            <a:r>
              <a:rPr lang="en-US" altLang="en-US" dirty="0">
                <a:solidFill>
                  <a:schemeClr val="accent2"/>
                </a:solidFill>
              </a:rPr>
              <a:t>Degradation of electronics and materials</a:t>
            </a:r>
            <a:endParaRPr lang="en-US" altLang="en-US" dirty="0"/>
          </a:p>
          <a:p>
            <a:pPr lvl="2">
              <a:spcBef>
                <a:spcPct val="5000"/>
              </a:spcBef>
              <a:defRPr/>
            </a:pPr>
            <a:r>
              <a:rPr lang="en-US" altLang="en-US" dirty="0"/>
              <a:t>Can degrade mechanical, electrical and thermal properties of materials</a:t>
            </a:r>
          </a:p>
          <a:p>
            <a:pPr lvl="1">
              <a:spcBef>
                <a:spcPct val="15000"/>
              </a:spcBef>
              <a:defRPr/>
            </a:pPr>
            <a:r>
              <a:rPr lang="en-US" altLang="en-US" dirty="0">
                <a:solidFill>
                  <a:schemeClr val="accent2"/>
                </a:solidFill>
              </a:rPr>
              <a:t>Single event phenomena </a:t>
            </a:r>
            <a:r>
              <a:rPr lang="en-US" altLang="en-US" dirty="0"/>
              <a:t>(SEP)</a:t>
            </a:r>
          </a:p>
          <a:p>
            <a:pPr lvl="2">
              <a:spcBef>
                <a:spcPct val="5000"/>
              </a:spcBef>
              <a:defRPr/>
            </a:pPr>
            <a:r>
              <a:rPr lang="en-US" altLang="en-US" dirty="0"/>
              <a:t>Can result in upset, </a:t>
            </a:r>
            <a:r>
              <a:rPr lang="en-US" altLang="en-US" dirty="0" err="1"/>
              <a:t>latchup</a:t>
            </a:r>
            <a:r>
              <a:rPr lang="en-US" altLang="en-US" dirty="0"/>
              <a:t>, or burnout</a:t>
            </a:r>
          </a:p>
        </p:txBody>
      </p:sp>
      <p:sp>
        <p:nvSpPr>
          <p:cNvPr id="2" name="Slide Number Placeholder 1">
            <a:extLst>
              <a:ext uri="{FF2B5EF4-FFF2-40B4-BE49-F238E27FC236}">
                <a16:creationId xmlns:a16="http://schemas.microsoft.com/office/drawing/2014/main" id="{D38B54A8-B6E4-49AD-8038-64313FE1DC73}"/>
              </a:ext>
            </a:extLst>
          </p:cNvPr>
          <p:cNvSpPr>
            <a:spLocks noGrp="1"/>
          </p:cNvSpPr>
          <p:nvPr>
            <p:ph type="sldNum" sz="quarter" idx="12"/>
          </p:nvPr>
        </p:nvSpPr>
        <p:spPr/>
        <p:txBody>
          <a:bodyPr/>
          <a:lstStyle/>
          <a:p>
            <a:fld id="{C83C362F-97FB-4C1E-B0F0-C3069DD0CDD1}" type="slidenum">
              <a:rPr lang="en-US" smtClean="0"/>
              <a:t>16</a:t>
            </a:fld>
            <a:endParaRPr lang="en-US"/>
          </a:p>
        </p:txBody>
      </p:sp>
    </p:spTree>
    <p:extLst>
      <p:ext uri="{BB962C8B-B14F-4D97-AF65-F5344CB8AC3E}">
        <p14:creationId xmlns:p14="http://schemas.microsoft.com/office/powerpoint/2010/main" val="30112356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5CEDF5-1D25-4F39-A004-5B6FCF9DDAF3}"/>
              </a:ext>
            </a:extLst>
          </p:cNvPr>
          <p:cNvSpPr>
            <a:spLocks noGrp="1"/>
          </p:cNvSpPr>
          <p:nvPr>
            <p:ph type="title"/>
          </p:nvPr>
        </p:nvSpPr>
        <p:spPr/>
        <p:txBody>
          <a:bodyPr/>
          <a:lstStyle/>
          <a:p>
            <a:r>
              <a:rPr lang="en-US" dirty="0"/>
              <a:t>RADIATION EFFECTS ON HUMANS</a:t>
            </a:r>
          </a:p>
        </p:txBody>
      </p:sp>
      <p:sp>
        <p:nvSpPr>
          <p:cNvPr id="3" name="Slide Number Placeholder 2">
            <a:extLst>
              <a:ext uri="{FF2B5EF4-FFF2-40B4-BE49-F238E27FC236}">
                <a16:creationId xmlns:a16="http://schemas.microsoft.com/office/drawing/2014/main" id="{0F614C0B-5A3B-4FA0-AFC8-44CBD0E15DB4}"/>
              </a:ext>
            </a:extLst>
          </p:cNvPr>
          <p:cNvSpPr>
            <a:spLocks noGrp="1"/>
          </p:cNvSpPr>
          <p:nvPr>
            <p:ph type="sldNum" sz="quarter" idx="12"/>
          </p:nvPr>
        </p:nvSpPr>
        <p:spPr/>
        <p:txBody>
          <a:bodyPr/>
          <a:lstStyle/>
          <a:p>
            <a:fld id="{C83C362F-97FB-4C1E-B0F0-C3069DD0CDD1}" type="slidenum">
              <a:rPr lang="en-US" smtClean="0"/>
              <a:t>17</a:t>
            </a:fld>
            <a:endParaRPr lang="en-US"/>
          </a:p>
        </p:txBody>
      </p:sp>
      <p:pic>
        <p:nvPicPr>
          <p:cNvPr id="4" name="table">
            <a:extLst>
              <a:ext uri="{FF2B5EF4-FFF2-40B4-BE49-F238E27FC236}">
                <a16:creationId xmlns:a16="http://schemas.microsoft.com/office/drawing/2014/main" id="{1ECBBB88-02F8-4788-A8EC-A581BE7467D3}"/>
              </a:ext>
            </a:extLst>
          </p:cNvPr>
          <p:cNvPicPr/>
          <p:nvPr/>
        </p:nvPicPr>
        <p:blipFill>
          <a:blip r:embed="rId2"/>
          <a:stretch>
            <a:fillRect/>
          </a:stretch>
        </p:blipFill>
        <p:spPr>
          <a:xfrm>
            <a:off x="249382" y="3394364"/>
            <a:ext cx="5943600" cy="2095500"/>
          </a:xfrm>
          <a:prstGeom prst="rect">
            <a:avLst/>
          </a:prstGeom>
        </p:spPr>
      </p:pic>
      <p:sp>
        <p:nvSpPr>
          <p:cNvPr id="5" name="Rectangle 2">
            <a:extLst>
              <a:ext uri="{FF2B5EF4-FFF2-40B4-BE49-F238E27FC236}">
                <a16:creationId xmlns:a16="http://schemas.microsoft.com/office/drawing/2014/main" id="{71212432-2EB5-4C2A-A747-487712EA03E2}"/>
              </a:ext>
            </a:extLst>
          </p:cNvPr>
          <p:cNvSpPr>
            <a:spLocks noChangeArrowheads="1"/>
          </p:cNvSpPr>
          <p:nvPr/>
        </p:nvSpPr>
        <p:spPr bwMode="auto">
          <a:xfrm>
            <a:off x="6802582" y="0"/>
            <a:ext cx="538941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mc:AlternateContent xmlns:mc="http://schemas.openxmlformats.org/markup-compatibility/2006" xmlns:p14="http://schemas.microsoft.com/office/powerpoint/2010/main">
        <mc:Choice Requires="p14">
          <p:contentPart p14:bwMode="auto" r:id="rId3">
            <p14:nvContentPartPr>
              <p14:cNvPr id="10241" name="Ink 13">
                <a:extLst>
                  <a:ext uri="{FF2B5EF4-FFF2-40B4-BE49-F238E27FC236}">
                    <a16:creationId xmlns:a16="http://schemas.microsoft.com/office/drawing/2014/main" id="{AB160DDD-CDF8-4301-B844-BDB131CBF9E7}"/>
                  </a:ext>
                </a:extLst>
              </p14:cNvPr>
              <p14:cNvContentPartPr>
                <a14:cpLocks xmlns:a14="http://schemas.microsoft.com/office/drawing/2010/main" noRot="1" noChangeAspect="1" noEditPoints="1" noChangeArrowheads="1" noChangeShapeType="1"/>
              </p14:cNvContentPartPr>
              <p14:nvPr/>
            </p14:nvContentPartPr>
            <p14:xfrm>
              <a:off x="2359887" y="793750"/>
              <a:ext cx="938938" cy="79375"/>
            </p14:xfrm>
          </p:contentPart>
        </mc:Choice>
        <mc:Fallback xmlns="">
          <p:pic>
            <p:nvPicPr>
              <p:cNvPr id="10241" name="Ink 13">
                <a:extLst>
                  <a:ext uri="{FF2B5EF4-FFF2-40B4-BE49-F238E27FC236}">
                    <a16:creationId xmlns:a16="http://schemas.microsoft.com/office/drawing/2014/main" id="{AB160DDD-CDF8-4301-B844-BDB131CBF9E7}"/>
                  </a:ext>
                </a:extLst>
              </p:cNvPr>
              <p:cNvPicPr>
                <a:picLocks noRot="1" noChangeAspect="1" noEditPoints="1" noChangeArrowheads="1" noChangeShapeType="1"/>
              </p:cNvPicPr>
              <p:nvPr/>
            </p:nvPicPr>
            <p:blipFill>
              <a:blip r:embed="rId4"/>
              <a:stretch>
                <a:fillRect/>
              </a:stretch>
            </p:blipFill>
            <p:spPr>
              <a:xfrm>
                <a:off x="0" y="0"/>
                <a:ext cx="0" cy="0"/>
              </a:xfrm>
              <a:prstGeom prst="rect">
                <a:avLst/>
              </a:prstGeom>
            </p:spPr>
          </p:pic>
        </mc:Fallback>
      </mc:AlternateContent>
      <p:sp>
        <p:nvSpPr>
          <p:cNvPr id="6" name="Rectangle 3">
            <a:extLst>
              <a:ext uri="{FF2B5EF4-FFF2-40B4-BE49-F238E27FC236}">
                <a16:creationId xmlns:a16="http://schemas.microsoft.com/office/drawing/2014/main" id="{102CFFB0-6965-4966-8468-85953352CF25}"/>
              </a:ext>
            </a:extLst>
          </p:cNvPr>
          <p:cNvSpPr>
            <a:spLocks noChangeArrowheads="1"/>
          </p:cNvSpPr>
          <p:nvPr/>
        </p:nvSpPr>
        <p:spPr bwMode="auto">
          <a:xfrm>
            <a:off x="526473" y="2573696"/>
            <a:ext cx="538941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Typical radiation tolerance figures - These are example career effective dose limits in units of REM for 1 year missions.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0245" name="Picture 5" descr="See the source image">
            <a:extLst>
              <a:ext uri="{FF2B5EF4-FFF2-40B4-BE49-F238E27FC236}">
                <a16:creationId xmlns:a16="http://schemas.microsoft.com/office/drawing/2014/main" id="{EB6BD345-68D5-46E5-ADD2-3E45A0BD3DD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65601" y="2086284"/>
            <a:ext cx="5389418" cy="3753997"/>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7931F6CB-2F2B-4582-A57E-CC65A12DA6CE}"/>
                  </a:ext>
                </a:extLst>
              </p14:cNvPr>
              <p14:cNvContentPartPr/>
              <p14:nvPr/>
            </p14:nvContentPartPr>
            <p14:xfrm>
              <a:off x="7029360" y="4236480"/>
              <a:ext cx="1449000" cy="831960"/>
            </p14:xfrm>
          </p:contentPart>
        </mc:Choice>
        <mc:Fallback xmlns="">
          <p:pic>
            <p:nvPicPr>
              <p:cNvPr id="7" name="Ink 6">
                <a:extLst>
                  <a:ext uri="{FF2B5EF4-FFF2-40B4-BE49-F238E27FC236}">
                    <a16:creationId xmlns:a16="http://schemas.microsoft.com/office/drawing/2014/main" id="{7931F6CB-2F2B-4582-A57E-CC65A12DA6CE}"/>
                  </a:ext>
                </a:extLst>
              </p:cNvPr>
              <p:cNvPicPr/>
              <p:nvPr/>
            </p:nvPicPr>
            <p:blipFill>
              <a:blip r:embed="rId7"/>
              <a:stretch>
                <a:fillRect/>
              </a:stretch>
            </p:blipFill>
            <p:spPr>
              <a:xfrm>
                <a:off x="7020000" y="4227120"/>
                <a:ext cx="1467720" cy="850680"/>
              </a:xfrm>
              <a:prstGeom prst="rect">
                <a:avLst/>
              </a:prstGeom>
            </p:spPr>
          </p:pic>
        </mc:Fallback>
      </mc:AlternateContent>
    </p:spTree>
    <p:extLst>
      <p:ext uri="{BB962C8B-B14F-4D97-AF65-F5344CB8AC3E}">
        <p14:creationId xmlns:p14="http://schemas.microsoft.com/office/powerpoint/2010/main" val="34715558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B69BED-8A79-4996-88D4-B073C9DD214C}"/>
              </a:ext>
            </a:extLst>
          </p:cNvPr>
          <p:cNvSpPr>
            <a:spLocks noGrp="1"/>
          </p:cNvSpPr>
          <p:nvPr>
            <p:ph type="title"/>
          </p:nvPr>
        </p:nvSpPr>
        <p:spPr>
          <a:xfrm>
            <a:off x="1526951" y="535158"/>
            <a:ext cx="10018713" cy="1752599"/>
          </a:xfrm>
        </p:spPr>
        <p:txBody>
          <a:bodyPr/>
          <a:lstStyle/>
          <a:p>
            <a:r>
              <a:rPr lang="en-US" dirty="0"/>
              <a:t>ATTITUDE DETERMINATION AND CONTROL SYSTEM</a:t>
            </a:r>
          </a:p>
        </p:txBody>
      </p:sp>
      <p:pic>
        <p:nvPicPr>
          <p:cNvPr id="6" name="Content Placeholder 5" descr="A picture containing dark, night, night sky&#10;&#10;Description automatically generated">
            <a:extLst>
              <a:ext uri="{FF2B5EF4-FFF2-40B4-BE49-F238E27FC236}">
                <a16:creationId xmlns:a16="http://schemas.microsoft.com/office/drawing/2014/main" id="{C9C75E35-1093-44A3-BF5B-AFC13C762F1E}"/>
              </a:ext>
            </a:extLst>
          </p:cNvPr>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2444149" y="3037902"/>
            <a:ext cx="4572000" cy="2571750"/>
          </a:xfrm>
        </p:spPr>
      </p:pic>
      <p:sp>
        <p:nvSpPr>
          <p:cNvPr id="4" name="Slide Number Placeholder 3">
            <a:extLst>
              <a:ext uri="{FF2B5EF4-FFF2-40B4-BE49-F238E27FC236}">
                <a16:creationId xmlns:a16="http://schemas.microsoft.com/office/drawing/2014/main" id="{AF1041B2-EFCE-47FC-9B08-A744A317AA28}"/>
              </a:ext>
            </a:extLst>
          </p:cNvPr>
          <p:cNvSpPr>
            <a:spLocks noGrp="1"/>
          </p:cNvSpPr>
          <p:nvPr>
            <p:ph type="sldNum" sz="quarter" idx="12"/>
          </p:nvPr>
        </p:nvSpPr>
        <p:spPr/>
        <p:txBody>
          <a:bodyPr/>
          <a:lstStyle/>
          <a:p>
            <a:fld id="{C83C362F-97FB-4C1E-B0F0-C3069DD0CDD1}" type="slidenum">
              <a:rPr lang="en-US" smtClean="0"/>
              <a:t>18</a:t>
            </a:fld>
            <a:endParaRPr lang="en-US"/>
          </a:p>
        </p:txBody>
      </p:sp>
      <p:sp>
        <p:nvSpPr>
          <p:cNvPr id="7" name="TextBox 6">
            <a:extLst>
              <a:ext uri="{FF2B5EF4-FFF2-40B4-BE49-F238E27FC236}">
                <a16:creationId xmlns:a16="http://schemas.microsoft.com/office/drawing/2014/main" id="{E043909D-16B9-4254-AC26-64575D0630DB}"/>
              </a:ext>
            </a:extLst>
          </p:cNvPr>
          <p:cNvSpPr txBox="1"/>
          <p:nvPr/>
        </p:nvSpPr>
        <p:spPr>
          <a:xfrm>
            <a:off x="8178809" y="3378804"/>
            <a:ext cx="5935081" cy="1754326"/>
          </a:xfrm>
          <a:prstGeom prst="rect">
            <a:avLst/>
          </a:prstGeom>
          <a:noFill/>
        </p:spPr>
        <p:txBody>
          <a:bodyPr wrap="square" rtlCol="0">
            <a:spAutoFit/>
          </a:bodyPr>
          <a:lstStyle/>
          <a:p>
            <a:r>
              <a:rPr lang="en-US" dirty="0"/>
              <a:t>Four main Disturbances:</a:t>
            </a:r>
          </a:p>
          <a:p>
            <a:endParaRPr lang="en-US" dirty="0"/>
          </a:p>
          <a:p>
            <a:pPr marL="342900" indent="-342900">
              <a:buAutoNum type="arabicParenR"/>
            </a:pPr>
            <a:r>
              <a:rPr lang="en-US" dirty="0"/>
              <a:t>Gravity Gradient</a:t>
            </a:r>
          </a:p>
          <a:p>
            <a:pPr marL="342900" indent="-342900">
              <a:buAutoNum type="arabicParenR"/>
            </a:pPr>
            <a:r>
              <a:rPr lang="en-US" dirty="0"/>
              <a:t>Solar Radiation</a:t>
            </a:r>
          </a:p>
          <a:p>
            <a:pPr marL="342900" indent="-342900">
              <a:buAutoNum type="arabicParenR"/>
            </a:pPr>
            <a:r>
              <a:rPr lang="en-US" dirty="0"/>
              <a:t>Magnetic Field</a:t>
            </a:r>
          </a:p>
          <a:p>
            <a:pPr marL="342900" indent="-342900">
              <a:buAutoNum type="arabicParenR"/>
            </a:pPr>
            <a:r>
              <a:rPr lang="en-US" dirty="0"/>
              <a:t>Aerodynamic</a:t>
            </a:r>
          </a:p>
        </p:txBody>
      </p:sp>
    </p:spTree>
    <p:extLst>
      <p:ext uri="{BB962C8B-B14F-4D97-AF65-F5344CB8AC3E}">
        <p14:creationId xmlns:p14="http://schemas.microsoft.com/office/powerpoint/2010/main" val="30146882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EFC3008-61C6-446D-9521-E825C08B6584}"/>
              </a:ext>
            </a:extLst>
          </p:cNvPr>
          <p:cNvSpPr>
            <a:spLocks noGrp="1"/>
          </p:cNvSpPr>
          <p:nvPr>
            <p:ph type="sldNum" sz="quarter" idx="12"/>
          </p:nvPr>
        </p:nvSpPr>
        <p:spPr/>
        <p:txBody>
          <a:bodyPr/>
          <a:lstStyle/>
          <a:p>
            <a:fld id="{062D6987-FB6D-4DB8-81B8-AD0F35E3BB5F}" type="slidenum">
              <a:rPr lang="en-US" smtClean="0"/>
              <a:t>19</a:t>
            </a:fld>
            <a:endParaRPr lang="en-US"/>
          </a:p>
        </p:txBody>
      </p:sp>
      <p:sp>
        <p:nvSpPr>
          <p:cNvPr id="3" name="Title 2">
            <a:extLst>
              <a:ext uri="{FF2B5EF4-FFF2-40B4-BE49-F238E27FC236}">
                <a16:creationId xmlns:a16="http://schemas.microsoft.com/office/drawing/2014/main" id="{CA910516-6C48-4EBA-9F71-4BCDFFE10475}"/>
              </a:ext>
            </a:extLst>
          </p:cNvPr>
          <p:cNvSpPr>
            <a:spLocks noGrp="1"/>
          </p:cNvSpPr>
          <p:nvPr>
            <p:ph type="title"/>
          </p:nvPr>
        </p:nvSpPr>
        <p:spPr>
          <a:xfrm>
            <a:off x="3338051" y="276633"/>
            <a:ext cx="5107858" cy="1325563"/>
          </a:xfrm>
        </p:spPr>
        <p:txBody>
          <a:bodyPr>
            <a:normAutofit/>
          </a:bodyPr>
          <a:lstStyle/>
          <a:p>
            <a:pPr algn="ctr"/>
            <a:r>
              <a:rPr lang="en-US" dirty="0"/>
              <a:t>REACTION WHEEL SIZING</a:t>
            </a:r>
          </a:p>
        </p:txBody>
      </p:sp>
      <p:pic>
        <p:nvPicPr>
          <p:cNvPr id="4" name="Picture 3">
            <a:extLst>
              <a:ext uri="{FF2B5EF4-FFF2-40B4-BE49-F238E27FC236}">
                <a16:creationId xmlns:a16="http://schemas.microsoft.com/office/drawing/2014/main" id="{6733D960-4FC2-4E76-AFA0-4E750F68E188}"/>
              </a:ext>
            </a:extLst>
          </p:cNvPr>
          <p:cNvPicPr>
            <a:picLocks noChangeAspect="1"/>
          </p:cNvPicPr>
          <p:nvPr/>
        </p:nvPicPr>
        <p:blipFill>
          <a:blip r:embed="rId2"/>
          <a:stretch>
            <a:fillRect/>
          </a:stretch>
        </p:blipFill>
        <p:spPr>
          <a:xfrm>
            <a:off x="2752441" y="1544739"/>
            <a:ext cx="6762586" cy="1188575"/>
          </a:xfrm>
          <a:prstGeom prst="rect">
            <a:avLst/>
          </a:prstGeom>
        </p:spPr>
      </p:pic>
      <p:pic>
        <p:nvPicPr>
          <p:cNvPr id="12290" name="Picture 2" descr="http://file.scirp.org/Html/9-7900261/2863499a-e2ae-4609-955b-026ee6c8c14b.jpg">
            <a:extLst>
              <a:ext uri="{FF2B5EF4-FFF2-40B4-BE49-F238E27FC236}">
                <a16:creationId xmlns:a16="http://schemas.microsoft.com/office/drawing/2014/main" id="{8684412E-008D-4E35-8531-DA0EF53051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352" y="3637656"/>
            <a:ext cx="8429557" cy="2329836"/>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C1F86C91-63C5-4376-81C8-C0341BC430E8}"/>
                  </a:ext>
                </a:extLst>
              </p:cNvPr>
              <p:cNvSpPr txBox="1"/>
              <p:nvPr/>
            </p:nvSpPr>
            <p:spPr>
              <a:xfrm>
                <a:off x="8503554" y="4494797"/>
                <a:ext cx="3688446" cy="307777"/>
              </a:xfrm>
              <a:prstGeom prst="rect">
                <a:avLst/>
              </a:prstGeom>
              <a:noFill/>
            </p:spPr>
            <p:txBody>
              <a:bodyPr wrap="none" lIns="0" tIns="0" rIns="0" bIns="0" rtlCol="0">
                <a:spAutoFit/>
              </a:bodyPr>
              <a:lstStyle/>
              <a:p>
                <a:pPr/>
                <a14:m>
                  <m:oMathPara xmlns:m="http://schemas.openxmlformats.org/officeDocument/2006/math">
                    <m:oMath>
                      <m:sSub>
                        <m:sSubPr>
                          <m:ctrlPr>
                            <a:rPr lang="en-US" sz="2000" b="1" i="1" smtClean="0">
                              <a:latin typeface="Cambria Math" panose="02040503050406030204" pitchFamily="18" charset="0"/>
                            </a:rPr>
                          </m:ctrlPr>
                        </m:sSubPr>
                        <m:e>
                          <m:r>
                            <a:rPr lang="en-US" sz="2000" b="1" i="1" smtClean="0">
                              <a:latin typeface="Cambria Math" panose="02040503050406030204" pitchFamily="18" charset="0"/>
                            </a:rPr>
                            <m:t>𝑻</m:t>
                          </m:r>
                        </m:e>
                        <m:sub>
                          <m:r>
                            <a:rPr lang="en-US" sz="2000" b="1" i="1" smtClean="0">
                              <a:latin typeface="Cambria Math" panose="02040503050406030204" pitchFamily="18" charset="0"/>
                            </a:rPr>
                            <m:t>𝑫</m:t>
                          </m:r>
                        </m:sub>
                      </m:sSub>
                      <m:r>
                        <a:rPr lang="en-US" sz="2000" b="1" i="1" smtClean="0">
                          <a:latin typeface="Cambria Math" panose="02040503050406030204" pitchFamily="18" charset="0"/>
                        </a:rPr>
                        <m:t>=</m:t>
                      </m:r>
                      <m:r>
                        <a:rPr lang="en-US" sz="2000" b="1" i="1" smtClean="0">
                          <a:latin typeface="Cambria Math" panose="02040503050406030204" pitchFamily="18" charset="0"/>
                        </a:rPr>
                        <m:t>𝑫𝒊𝒔𝒕𝒖𝒓𝒃𝒂𝒏𝒄𝒆</m:t>
                      </m:r>
                      <m:r>
                        <a:rPr lang="en-US" sz="2000" b="1" i="1" smtClean="0">
                          <a:latin typeface="Cambria Math" panose="02040503050406030204" pitchFamily="18" charset="0"/>
                        </a:rPr>
                        <m:t> </m:t>
                      </m:r>
                      <m:r>
                        <a:rPr lang="en-US" sz="2000" b="1" i="1" smtClean="0">
                          <a:latin typeface="Cambria Math" panose="02040503050406030204" pitchFamily="18" charset="0"/>
                        </a:rPr>
                        <m:t>𝑻𝒐𝒓𝒒𝒖𝒆</m:t>
                      </m:r>
                      <m:r>
                        <a:rPr lang="en-US" sz="2000" b="1" i="1" smtClean="0">
                          <a:latin typeface="Cambria Math" panose="02040503050406030204" pitchFamily="18" charset="0"/>
                        </a:rPr>
                        <m:t>= ?</m:t>
                      </m:r>
                    </m:oMath>
                  </m:oMathPara>
                </a14:m>
                <a:endParaRPr lang="en-US" sz="2000" b="1" dirty="0"/>
              </a:p>
            </p:txBody>
          </p:sp>
        </mc:Choice>
        <mc:Fallback xmlns="">
          <p:sp>
            <p:nvSpPr>
              <p:cNvPr id="6" name="TextBox 5">
                <a:extLst>
                  <a:ext uri="{FF2B5EF4-FFF2-40B4-BE49-F238E27FC236}">
                    <a16:creationId xmlns:a16="http://schemas.microsoft.com/office/drawing/2014/main" id="{C1F86C91-63C5-4376-81C8-C0341BC430E8}"/>
                  </a:ext>
                </a:extLst>
              </p:cNvPr>
              <p:cNvSpPr txBox="1">
                <a:spLocks noRot="1" noChangeAspect="1" noMove="1" noResize="1" noEditPoints="1" noAdjustHandles="1" noChangeArrowheads="1" noChangeShapeType="1" noTextEdit="1"/>
              </p:cNvSpPr>
              <p:nvPr/>
            </p:nvSpPr>
            <p:spPr>
              <a:xfrm>
                <a:off x="8503554" y="4494797"/>
                <a:ext cx="3688446" cy="307777"/>
              </a:xfrm>
              <a:prstGeom prst="rect">
                <a:avLst/>
              </a:prstGeom>
              <a:blipFill>
                <a:blip r:embed="rId4"/>
                <a:stretch>
                  <a:fillRect l="-992" r="-992" b="-35294"/>
                </a:stretch>
              </a:blipFill>
            </p:spPr>
            <p:txBody>
              <a:bodyPr/>
              <a:lstStyle/>
              <a:p>
                <a:r>
                  <a:rPr lang="en-US">
                    <a:noFill/>
                  </a:rPr>
                  <a:t> </a:t>
                </a:r>
              </a:p>
            </p:txBody>
          </p:sp>
        </mc:Fallback>
      </mc:AlternateContent>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3F573EA6-CC26-480D-875E-5FA3986C9B44}"/>
                  </a:ext>
                </a:extLst>
              </p14:cNvPr>
              <p14:cNvContentPartPr/>
              <p14:nvPr/>
            </p14:nvContentPartPr>
            <p14:xfrm>
              <a:off x="2833560" y="1745640"/>
              <a:ext cx="19080" cy="4320"/>
            </p14:xfrm>
          </p:contentPart>
        </mc:Choice>
        <mc:Fallback xmlns="">
          <p:pic>
            <p:nvPicPr>
              <p:cNvPr id="5" name="Ink 4">
                <a:extLst>
                  <a:ext uri="{FF2B5EF4-FFF2-40B4-BE49-F238E27FC236}">
                    <a16:creationId xmlns:a16="http://schemas.microsoft.com/office/drawing/2014/main" id="{3F573EA6-CC26-480D-875E-5FA3986C9B44}"/>
                  </a:ext>
                </a:extLst>
              </p:cNvPr>
              <p:cNvPicPr/>
              <p:nvPr/>
            </p:nvPicPr>
            <p:blipFill>
              <a:blip r:embed="rId6"/>
              <a:stretch>
                <a:fillRect/>
              </a:stretch>
            </p:blipFill>
            <p:spPr>
              <a:xfrm>
                <a:off x="2824200" y="1736280"/>
                <a:ext cx="37800" cy="23040"/>
              </a:xfrm>
              <a:prstGeom prst="rect">
                <a:avLst/>
              </a:prstGeom>
            </p:spPr>
          </p:pic>
        </mc:Fallback>
      </mc:AlternateContent>
    </p:spTree>
    <p:extLst>
      <p:ext uri="{BB962C8B-B14F-4D97-AF65-F5344CB8AC3E}">
        <p14:creationId xmlns:p14="http://schemas.microsoft.com/office/powerpoint/2010/main" val="1483901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5">
            <a:extLst>
              <a:ext uri="{FF2B5EF4-FFF2-40B4-BE49-F238E27FC236}">
                <a16:creationId xmlns:a16="http://schemas.microsoft.com/office/drawing/2014/main" id="{0B321E84-E5A6-4E7A-A4E6-B93E301EC728}"/>
              </a:ext>
            </a:extLst>
          </p:cNvPr>
          <p:cNvSpPr>
            <a:spLocks noChangeArrowheads="1"/>
          </p:cNvSpPr>
          <p:nvPr/>
        </p:nvSpPr>
        <p:spPr bwMode="auto">
          <a:xfrm>
            <a:off x="1524000" y="5453064"/>
            <a:ext cx="9144000" cy="1189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285750" indent="-285750">
              <a:defRPr sz="2400">
                <a:solidFill>
                  <a:schemeClr val="tx1"/>
                </a:solidFill>
                <a:latin typeface="Times New Roman" panose="02020603050405020304" pitchFamily="18" charset="0"/>
              </a:defRPr>
            </a:lvl1pPr>
            <a:lvl2pPr marL="628650" indent="-22860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543050" indent="-171450">
              <a:defRPr sz="2400">
                <a:solidFill>
                  <a:schemeClr val="tx1"/>
                </a:solidFill>
                <a:latin typeface="Times New Roman" panose="02020603050405020304" pitchFamily="18" charset="0"/>
              </a:defRPr>
            </a:lvl4pPr>
            <a:lvl5pPr marL="2000250" indent="-171450">
              <a:defRPr sz="2400">
                <a:solidFill>
                  <a:schemeClr val="tx1"/>
                </a:solidFill>
                <a:latin typeface="Times New Roman" panose="02020603050405020304" pitchFamily="18" charset="0"/>
              </a:defRPr>
            </a:lvl5pPr>
            <a:lvl6pPr marL="2457450" indent="-171450" eaLnBrk="0" fontAlgn="base" hangingPunct="0">
              <a:spcBef>
                <a:spcPct val="0"/>
              </a:spcBef>
              <a:spcAft>
                <a:spcPct val="0"/>
              </a:spcAft>
              <a:defRPr sz="2400">
                <a:solidFill>
                  <a:schemeClr val="tx1"/>
                </a:solidFill>
                <a:latin typeface="Times New Roman" panose="02020603050405020304" pitchFamily="18" charset="0"/>
              </a:defRPr>
            </a:lvl6pPr>
            <a:lvl7pPr marL="2914650" indent="-171450" eaLnBrk="0" fontAlgn="base" hangingPunct="0">
              <a:spcBef>
                <a:spcPct val="0"/>
              </a:spcBef>
              <a:spcAft>
                <a:spcPct val="0"/>
              </a:spcAft>
              <a:defRPr sz="2400">
                <a:solidFill>
                  <a:schemeClr val="tx1"/>
                </a:solidFill>
                <a:latin typeface="Times New Roman" panose="02020603050405020304" pitchFamily="18" charset="0"/>
              </a:defRPr>
            </a:lvl7pPr>
            <a:lvl8pPr marL="3371850" indent="-171450" eaLnBrk="0" fontAlgn="base" hangingPunct="0">
              <a:spcBef>
                <a:spcPct val="0"/>
              </a:spcBef>
              <a:spcAft>
                <a:spcPct val="0"/>
              </a:spcAft>
              <a:defRPr sz="2400">
                <a:solidFill>
                  <a:schemeClr val="tx1"/>
                </a:solidFill>
                <a:latin typeface="Times New Roman" panose="02020603050405020304" pitchFamily="18" charset="0"/>
              </a:defRPr>
            </a:lvl8pPr>
            <a:lvl9pPr marL="3829050" indent="-171450" eaLnBrk="0" fontAlgn="base" hangingPunct="0">
              <a:spcBef>
                <a:spcPct val="0"/>
              </a:spcBef>
              <a:spcAft>
                <a:spcPct val="0"/>
              </a:spcAft>
              <a:defRPr sz="2400">
                <a:solidFill>
                  <a:schemeClr val="tx1"/>
                </a:solidFill>
                <a:latin typeface="Times New Roman" panose="02020603050405020304" pitchFamily="18" charset="0"/>
              </a:defRPr>
            </a:lvl9pPr>
          </a:lstStyle>
          <a:p>
            <a:pPr>
              <a:lnSpc>
                <a:spcPct val="90000"/>
              </a:lnSpc>
              <a:spcBef>
                <a:spcPct val="15000"/>
              </a:spcBef>
              <a:buFontTx/>
              <a:buChar char="•"/>
            </a:pPr>
            <a:r>
              <a:rPr lang="en-US" altLang="en-US" sz="1600" b="1" i="1">
                <a:solidFill>
                  <a:srgbClr val="CC0000"/>
                </a:solidFill>
                <a:latin typeface="Arial" panose="020B0604020202020204" pitchFamily="34" charset="0"/>
              </a:rPr>
              <a:t>Cyclic torques</a:t>
            </a:r>
            <a:r>
              <a:rPr lang="en-US" altLang="en-US" sz="1600" i="1">
                <a:latin typeface="Arial" panose="020B0604020202020204" pitchFamily="34" charset="0"/>
              </a:rPr>
              <a:t> </a:t>
            </a:r>
            <a:r>
              <a:rPr lang="en-US" altLang="en-US" sz="1600">
                <a:latin typeface="Arial" panose="020B0604020202020204" pitchFamily="34" charset="0"/>
              </a:rPr>
              <a:t>oscillate over an orbit.  Attitude control system must provide enough angular momentum storage to accommodate variations</a:t>
            </a:r>
          </a:p>
          <a:p>
            <a:pPr>
              <a:lnSpc>
                <a:spcPct val="90000"/>
              </a:lnSpc>
              <a:spcBef>
                <a:spcPct val="15000"/>
              </a:spcBef>
              <a:buFontTx/>
              <a:buChar char="•"/>
            </a:pPr>
            <a:r>
              <a:rPr lang="en-US" altLang="en-US" sz="1600" b="1" i="1">
                <a:solidFill>
                  <a:srgbClr val="CC0000"/>
                </a:solidFill>
                <a:latin typeface="Arial" panose="020B0604020202020204" pitchFamily="34" charset="0"/>
              </a:rPr>
              <a:t>Secular torques</a:t>
            </a:r>
            <a:r>
              <a:rPr lang="en-US" altLang="en-US" sz="1600" i="1">
                <a:latin typeface="Arial" panose="020B0604020202020204" pitchFamily="34" charset="0"/>
              </a:rPr>
              <a:t> </a:t>
            </a:r>
            <a:r>
              <a:rPr lang="en-US" altLang="en-US" sz="1600">
                <a:latin typeface="Arial" panose="020B0604020202020204" pitchFamily="34" charset="0"/>
              </a:rPr>
              <a:t>accumulate with time causing momentum storage devices to saturate.  Momentum must be </a:t>
            </a:r>
            <a:r>
              <a:rPr lang="en-US" altLang="en-US" sz="1600" i="1">
                <a:latin typeface="Arial" panose="020B0604020202020204" pitchFamily="34" charset="0"/>
              </a:rPr>
              <a:t>dumped</a:t>
            </a:r>
            <a:r>
              <a:rPr lang="en-US" altLang="en-US" sz="1600">
                <a:latin typeface="Arial" panose="020B0604020202020204" pitchFamily="34" charset="0"/>
              </a:rPr>
              <a:t> (using thrusters or magnetic torquers) to maintain control authority.</a:t>
            </a:r>
          </a:p>
        </p:txBody>
      </p:sp>
      <p:sp>
        <p:nvSpPr>
          <p:cNvPr id="25603" name="Rectangle 2">
            <a:extLst>
              <a:ext uri="{FF2B5EF4-FFF2-40B4-BE49-F238E27FC236}">
                <a16:creationId xmlns:a16="http://schemas.microsoft.com/office/drawing/2014/main" id="{6AEE4914-F8D9-4B4A-9079-570E69E8A8DB}"/>
              </a:ext>
            </a:extLst>
          </p:cNvPr>
          <p:cNvSpPr>
            <a:spLocks noGrp="1" noChangeArrowheads="1"/>
          </p:cNvSpPr>
          <p:nvPr>
            <p:ph type="title"/>
          </p:nvPr>
        </p:nvSpPr>
        <p:spPr>
          <a:xfrm>
            <a:off x="2184400" y="0"/>
            <a:ext cx="7962900" cy="762000"/>
          </a:xfrm>
          <a:noFill/>
        </p:spPr>
        <p:txBody>
          <a:bodyPr>
            <a:normAutofit fontScale="90000"/>
          </a:bodyPr>
          <a:lstStyle/>
          <a:p>
            <a:r>
              <a:rPr lang="en-US" altLang="en-US" sz="2400"/>
              <a:t>Estimating Worst-Case </a:t>
            </a:r>
            <a:br>
              <a:rPr lang="en-US" altLang="en-US" sz="2400"/>
            </a:br>
            <a:r>
              <a:rPr lang="en-US" altLang="en-US" sz="2400"/>
              <a:t>Environmental Disturbance Torques</a:t>
            </a:r>
          </a:p>
        </p:txBody>
      </p:sp>
      <p:graphicFrame>
        <p:nvGraphicFramePr>
          <p:cNvPr id="25604" name="Object 3">
            <a:extLst>
              <a:ext uri="{FF2B5EF4-FFF2-40B4-BE49-F238E27FC236}">
                <a16:creationId xmlns:a16="http://schemas.microsoft.com/office/drawing/2014/main" id="{63397FFE-5E05-4057-9977-9993BCAD4100}"/>
              </a:ext>
            </a:extLst>
          </p:cNvPr>
          <p:cNvGraphicFramePr>
            <a:graphicFrameLocks/>
          </p:cNvGraphicFramePr>
          <p:nvPr/>
        </p:nvGraphicFramePr>
        <p:xfrm>
          <a:off x="1743075" y="819151"/>
          <a:ext cx="8718550" cy="4722813"/>
        </p:xfrm>
        <a:graphic>
          <a:graphicData uri="http://schemas.openxmlformats.org/presentationml/2006/ole">
            <mc:AlternateContent xmlns:mc="http://schemas.openxmlformats.org/markup-compatibility/2006">
              <mc:Choice xmlns:v="urn:schemas-microsoft-com:vml" Requires="v">
                <p:oleObj name="Document" r:id="rId3" imgW="10078212" imgH="6370320" progId="Word.Document.8">
                  <p:embed/>
                </p:oleObj>
              </mc:Choice>
              <mc:Fallback>
                <p:oleObj name="Document" r:id="rId3" imgW="10078212" imgH="6370320" progId="Word.Document.8">
                  <p:embed/>
                  <p:pic>
                    <p:nvPicPr>
                      <p:cNvPr id="25604" name="Object 3">
                        <a:extLst>
                          <a:ext uri="{FF2B5EF4-FFF2-40B4-BE49-F238E27FC236}">
                            <a16:creationId xmlns:a16="http://schemas.microsoft.com/office/drawing/2014/main" id="{63397FFE-5E05-4057-9977-9993BCAD4100}"/>
                          </a:ext>
                        </a:extLst>
                      </p:cNvPr>
                      <p:cNvPicPr>
                        <a:picLocks noChangeArrowheads="1"/>
                      </p:cNvPicPr>
                      <p:nvPr/>
                    </p:nvPicPr>
                    <p:blipFill>
                      <a:blip r:embed="rId4">
                        <a:extLst>
                          <a:ext uri="{28A0092B-C50C-407E-A947-70E740481C1C}">
                            <a14:useLocalDpi xmlns:a14="http://schemas.microsoft.com/office/drawing/2010/main" val="0"/>
                          </a:ext>
                        </a:extLst>
                      </a:blip>
                      <a:srcRect l="3471" r="3691" b="1099"/>
                      <a:stretch>
                        <a:fillRect/>
                      </a:stretch>
                    </p:blipFill>
                    <p:spPr bwMode="auto">
                      <a:xfrm>
                        <a:off x="1743075" y="819151"/>
                        <a:ext cx="8718550" cy="4722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5605" name="Rectangle 4">
            <a:extLst>
              <a:ext uri="{FF2B5EF4-FFF2-40B4-BE49-F238E27FC236}">
                <a16:creationId xmlns:a16="http://schemas.microsoft.com/office/drawing/2014/main" id="{E9866346-5057-4A2C-9251-EEDA79F35B20}"/>
              </a:ext>
            </a:extLst>
          </p:cNvPr>
          <p:cNvSpPr>
            <a:spLocks noChangeArrowheads="1"/>
          </p:cNvSpPr>
          <p:nvPr/>
        </p:nvSpPr>
        <p:spPr bwMode="auto">
          <a:xfrm>
            <a:off x="9231313" y="5287964"/>
            <a:ext cx="1312860" cy="246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000">
                <a:latin typeface="Arial" panose="020B0604020202020204" pitchFamily="34" charset="0"/>
              </a:rPr>
              <a:t>SMAD, Table 11.9A</a:t>
            </a:r>
          </a:p>
        </p:txBody>
      </p:sp>
    </p:spTree>
    <p:extLst>
      <p:ext uri="{BB962C8B-B14F-4D97-AF65-F5344CB8AC3E}">
        <p14:creationId xmlns:p14="http://schemas.microsoft.com/office/powerpoint/2010/main" val="31646588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ontent Placeholder 13"/>
          <p:cNvSpPr>
            <a:spLocks noGrp="1"/>
          </p:cNvSpPr>
          <p:nvPr>
            <p:ph idx="1"/>
          </p:nvPr>
        </p:nvSpPr>
        <p:spPr>
          <a:xfrm>
            <a:off x="516835" y="1807029"/>
            <a:ext cx="3737113" cy="4351338"/>
          </a:xfrm>
        </p:spPr>
        <p:txBody>
          <a:bodyPr>
            <a:normAutofit/>
          </a:bodyPr>
          <a:lstStyle/>
          <a:p>
            <a:pPr lvl="0"/>
            <a:r>
              <a:rPr lang="en-US" dirty="0"/>
              <a:t>ADCS Design Process</a:t>
            </a:r>
          </a:p>
          <a:p>
            <a:pPr marL="457200" lvl="1" indent="0">
              <a:buNone/>
            </a:pPr>
            <a:endParaRPr lang="en-US" dirty="0"/>
          </a:p>
          <a:p>
            <a:pPr lvl="0"/>
            <a:r>
              <a:rPr lang="en-US" dirty="0"/>
              <a:t>Quantifying Disturbances</a:t>
            </a:r>
          </a:p>
          <a:p>
            <a:pPr marL="0" lvl="0" indent="0">
              <a:buNone/>
            </a:pPr>
            <a:endParaRPr lang="en-US" dirty="0"/>
          </a:p>
          <a:p>
            <a:pPr lvl="0"/>
            <a:r>
              <a:rPr lang="en-US" dirty="0"/>
              <a:t>Selecting and Sizing ADCS Hardware</a:t>
            </a:r>
          </a:p>
          <a:p>
            <a:pPr lvl="0"/>
            <a:endParaRPr lang="en-US" dirty="0"/>
          </a:p>
          <a:p>
            <a:pPr lvl="0"/>
            <a:endParaRPr lang="en-US" dirty="0"/>
          </a:p>
        </p:txBody>
      </p:sp>
      <p:sp>
        <p:nvSpPr>
          <p:cNvPr id="13" name="Title 12"/>
          <p:cNvSpPr>
            <a:spLocks noGrp="1"/>
          </p:cNvSpPr>
          <p:nvPr>
            <p:ph type="title"/>
          </p:nvPr>
        </p:nvSpPr>
        <p:spPr>
          <a:xfrm>
            <a:off x="838200" y="283483"/>
            <a:ext cx="10515600" cy="1325563"/>
          </a:xfrm>
        </p:spPr>
        <p:txBody>
          <a:bodyPr>
            <a:normAutofit/>
          </a:bodyPr>
          <a:lstStyle/>
          <a:p>
            <a:pPr algn="ctr"/>
            <a:r>
              <a:rPr lang="en-US" dirty="0"/>
              <a:t>SUMMARY</a:t>
            </a:r>
          </a:p>
        </p:txBody>
      </p:sp>
      <p:sp>
        <p:nvSpPr>
          <p:cNvPr id="2" name="Slide Number Placeholder 1">
            <a:extLst>
              <a:ext uri="{FF2B5EF4-FFF2-40B4-BE49-F238E27FC236}">
                <a16:creationId xmlns:a16="http://schemas.microsoft.com/office/drawing/2014/main" id="{8D86454E-386B-4CE9-9AE6-900E698CB763}"/>
              </a:ext>
            </a:extLst>
          </p:cNvPr>
          <p:cNvSpPr>
            <a:spLocks noGrp="1"/>
          </p:cNvSpPr>
          <p:nvPr>
            <p:ph type="sldNum" sz="quarter" idx="12"/>
          </p:nvPr>
        </p:nvSpPr>
        <p:spPr/>
        <p:txBody>
          <a:bodyPr/>
          <a:lstStyle/>
          <a:p>
            <a:fld id="{062D6987-FB6D-4DB8-81B8-AD0F35E3BB5F}" type="slidenum">
              <a:rPr lang="en-US" smtClean="0"/>
              <a:t>21</a:t>
            </a:fld>
            <a:endParaRPr lang="en-US"/>
          </a:p>
        </p:txBody>
      </p:sp>
      <p:pic>
        <p:nvPicPr>
          <p:cNvPr id="6" name="Picture 5">
            <a:extLst>
              <a:ext uri="{FF2B5EF4-FFF2-40B4-BE49-F238E27FC236}">
                <a16:creationId xmlns:a16="http://schemas.microsoft.com/office/drawing/2014/main" id="{4137A6A8-73C1-421F-BC63-1614C0730783}"/>
              </a:ext>
            </a:extLst>
          </p:cNvPr>
          <p:cNvPicPr>
            <a:picLocks noChangeAspect="1"/>
          </p:cNvPicPr>
          <p:nvPr/>
        </p:nvPicPr>
        <p:blipFill>
          <a:blip r:embed="rId2"/>
          <a:stretch>
            <a:fillRect/>
          </a:stretch>
        </p:blipFill>
        <p:spPr>
          <a:xfrm>
            <a:off x="4412974" y="1455621"/>
            <a:ext cx="7779026" cy="5402379"/>
          </a:xfrm>
          <a:prstGeom prst="rect">
            <a:avLst/>
          </a:prstGeom>
        </p:spPr>
      </p:pic>
    </p:spTree>
    <p:extLst>
      <p:ext uri="{BB962C8B-B14F-4D97-AF65-F5344CB8AC3E}">
        <p14:creationId xmlns:p14="http://schemas.microsoft.com/office/powerpoint/2010/main" val="35722541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D685C853-B771-4DD5-AE32-1E4A92D2C8BC}"/>
              </a:ext>
            </a:extLst>
          </p:cNvPr>
          <p:cNvSpPr>
            <a:spLocks noGrp="1" noChangeArrowheads="1"/>
          </p:cNvSpPr>
          <p:nvPr>
            <p:ph type="title"/>
          </p:nvPr>
        </p:nvSpPr>
        <p:spPr>
          <a:xfrm>
            <a:off x="1775967" y="-88491"/>
            <a:ext cx="10364451" cy="1596177"/>
          </a:xfrm>
        </p:spPr>
        <p:txBody>
          <a:bodyPr/>
          <a:lstStyle/>
          <a:p>
            <a:pPr>
              <a:defRPr/>
            </a:pPr>
            <a:r>
              <a:rPr lang="en-US" altLang="en-US" dirty="0"/>
              <a:t>SUMMARY – RADIATION ENVIRONMENT</a:t>
            </a:r>
          </a:p>
        </p:txBody>
      </p:sp>
      <p:sp>
        <p:nvSpPr>
          <p:cNvPr id="12291" name="Rectangle 3">
            <a:extLst>
              <a:ext uri="{FF2B5EF4-FFF2-40B4-BE49-F238E27FC236}">
                <a16:creationId xmlns:a16="http://schemas.microsoft.com/office/drawing/2014/main" id="{BDEA1A40-6143-48D6-B3C9-C1D1992A08B1}"/>
              </a:ext>
            </a:extLst>
          </p:cNvPr>
          <p:cNvSpPr>
            <a:spLocks noChangeArrowheads="1"/>
          </p:cNvSpPr>
          <p:nvPr/>
        </p:nvSpPr>
        <p:spPr bwMode="auto">
          <a:xfrm>
            <a:off x="1244764" y="1151473"/>
            <a:ext cx="11249405" cy="4689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2075" tIns="46038" rIns="92075" bIns="46038"/>
          <a:lstStyle>
            <a:lvl1pPr marL="342900" indent="-342900">
              <a:defRPr sz="2400">
                <a:solidFill>
                  <a:schemeClr val="tx1"/>
                </a:solidFill>
                <a:latin typeface="Times New Roman" charset="0"/>
              </a:defRPr>
            </a:lvl1pPr>
            <a:lvl2pPr marL="742950" indent="-285750">
              <a:defRPr sz="2400">
                <a:solidFill>
                  <a:schemeClr val="tx1"/>
                </a:solidFill>
                <a:latin typeface="Times New Roman" charset="0"/>
              </a:defRPr>
            </a:lvl2pPr>
            <a:lvl3pPr marL="1143000" indent="-228600">
              <a:defRPr sz="2400">
                <a:solidFill>
                  <a:schemeClr val="tx1"/>
                </a:solidFill>
                <a:latin typeface="Times New Roman" charset="0"/>
              </a:defRPr>
            </a:lvl3pPr>
            <a:lvl4pPr marL="1600200" indent="-228600">
              <a:defRPr sz="2400">
                <a:solidFill>
                  <a:schemeClr val="tx1"/>
                </a:solidFill>
                <a:latin typeface="Times New Roman" charset="0"/>
              </a:defRPr>
            </a:lvl4pPr>
            <a:lvl5pPr marL="2057400" indent="-228600">
              <a:defRPr sz="2400">
                <a:solidFill>
                  <a:schemeClr val="tx1"/>
                </a:solidFill>
                <a:latin typeface="Times New Roman" charset="0"/>
              </a:defRPr>
            </a:lvl5pPr>
            <a:lvl6pPr marL="2514600" indent="-228600" eaLnBrk="0" fontAlgn="base" hangingPunct="0">
              <a:spcBef>
                <a:spcPct val="0"/>
              </a:spcBef>
              <a:spcAft>
                <a:spcPct val="0"/>
              </a:spcAft>
              <a:defRPr sz="2400">
                <a:solidFill>
                  <a:schemeClr val="tx1"/>
                </a:solidFill>
                <a:latin typeface="Times New Roman" charset="0"/>
              </a:defRPr>
            </a:lvl6pPr>
            <a:lvl7pPr marL="2971800" indent="-228600" eaLnBrk="0" fontAlgn="base" hangingPunct="0">
              <a:spcBef>
                <a:spcPct val="0"/>
              </a:spcBef>
              <a:spcAft>
                <a:spcPct val="0"/>
              </a:spcAft>
              <a:defRPr sz="2400">
                <a:solidFill>
                  <a:schemeClr val="tx1"/>
                </a:solidFill>
                <a:latin typeface="Times New Roman" charset="0"/>
              </a:defRPr>
            </a:lvl7pPr>
            <a:lvl8pPr marL="3429000" indent="-228600" eaLnBrk="0" fontAlgn="base" hangingPunct="0">
              <a:spcBef>
                <a:spcPct val="0"/>
              </a:spcBef>
              <a:spcAft>
                <a:spcPct val="0"/>
              </a:spcAft>
              <a:defRPr sz="2400">
                <a:solidFill>
                  <a:schemeClr val="tx1"/>
                </a:solidFill>
                <a:latin typeface="Times New Roman" charset="0"/>
              </a:defRPr>
            </a:lvl8pPr>
            <a:lvl9pPr marL="3886200" indent="-228600" eaLnBrk="0" fontAlgn="base" hangingPunct="0">
              <a:spcBef>
                <a:spcPct val="0"/>
              </a:spcBef>
              <a:spcAft>
                <a:spcPct val="0"/>
              </a:spcAft>
              <a:defRPr sz="2400">
                <a:solidFill>
                  <a:schemeClr val="tx1"/>
                </a:solidFill>
                <a:latin typeface="Times New Roman" charset="0"/>
              </a:defRPr>
            </a:lvl9pPr>
          </a:lstStyle>
          <a:p>
            <a:pPr>
              <a:lnSpc>
                <a:spcPct val="120000"/>
              </a:lnSpc>
              <a:spcBef>
                <a:spcPct val="20000"/>
              </a:spcBef>
              <a:buFontTx/>
              <a:buChar char="•"/>
              <a:defRPr/>
            </a:pPr>
            <a:r>
              <a:rPr lang="en-US" altLang="en-US" dirty="0">
                <a:latin typeface="Arial" charset="0"/>
              </a:rPr>
              <a:t>Understand the effects of the radiation environment on spacecraft and humans</a:t>
            </a:r>
          </a:p>
          <a:p>
            <a:pPr>
              <a:lnSpc>
                <a:spcPct val="120000"/>
              </a:lnSpc>
              <a:spcBef>
                <a:spcPct val="20000"/>
              </a:spcBef>
              <a:buFontTx/>
              <a:buChar char="•"/>
              <a:defRPr/>
            </a:pPr>
            <a:r>
              <a:rPr lang="en-US" altLang="en-US" dirty="0">
                <a:latin typeface="Arial" charset="0"/>
              </a:rPr>
              <a:t>Describe the main sources of radiation in space</a:t>
            </a:r>
          </a:p>
          <a:p>
            <a:pPr>
              <a:lnSpc>
                <a:spcPct val="120000"/>
              </a:lnSpc>
              <a:spcBef>
                <a:spcPct val="20000"/>
              </a:spcBef>
              <a:buFontTx/>
              <a:buChar char="•"/>
              <a:defRPr/>
            </a:pPr>
            <a:r>
              <a:rPr lang="en-US" altLang="en-US" dirty="0">
                <a:latin typeface="Arial" charset="0"/>
              </a:rPr>
              <a:t>Know NASA recommended limits of radiation exposure to humans</a:t>
            </a:r>
          </a:p>
          <a:p>
            <a:pPr>
              <a:lnSpc>
                <a:spcPct val="120000"/>
              </a:lnSpc>
              <a:spcBef>
                <a:spcPct val="20000"/>
              </a:spcBef>
              <a:buFontTx/>
              <a:buChar char="•"/>
              <a:defRPr/>
            </a:pPr>
            <a:r>
              <a:rPr lang="en-US" altLang="en-US" dirty="0">
                <a:latin typeface="Arial" charset="0"/>
              </a:rPr>
              <a:t>Demonstrate an understanding of the effects of radiation on spacecraft design</a:t>
            </a:r>
          </a:p>
          <a:p>
            <a:pPr marL="0" indent="0">
              <a:lnSpc>
                <a:spcPct val="120000"/>
              </a:lnSpc>
              <a:spcBef>
                <a:spcPct val="20000"/>
              </a:spcBef>
              <a:defRPr/>
            </a:pPr>
            <a:endParaRPr lang="en-US" altLang="en-US" dirty="0">
              <a:latin typeface="Arial" charset="0"/>
            </a:endParaRPr>
          </a:p>
          <a:p>
            <a:pPr>
              <a:lnSpc>
                <a:spcPct val="120000"/>
              </a:lnSpc>
              <a:spcBef>
                <a:spcPct val="20000"/>
              </a:spcBef>
              <a:buFontTx/>
              <a:buChar char="•"/>
              <a:defRPr/>
            </a:pPr>
            <a:endParaRPr lang="en-US" altLang="en-US" dirty="0">
              <a:latin typeface="Arial" charset="0"/>
            </a:endParaRPr>
          </a:p>
          <a:p>
            <a:pPr marL="457200" lvl="1" indent="0">
              <a:lnSpc>
                <a:spcPct val="120000"/>
              </a:lnSpc>
              <a:spcBef>
                <a:spcPct val="20000"/>
              </a:spcBef>
              <a:defRPr/>
            </a:pPr>
            <a:endParaRPr lang="en-US" altLang="en-US" dirty="0">
              <a:latin typeface="Arial" charset="0"/>
            </a:endParaRPr>
          </a:p>
          <a:p>
            <a:pPr lvl="1">
              <a:lnSpc>
                <a:spcPct val="120000"/>
              </a:lnSpc>
              <a:spcBef>
                <a:spcPct val="20000"/>
              </a:spcBef>
              <a:buFontTx/>
              <a:buChar char="•"/>
              <a:defRPr/>
            </a:pPr>
            <a:endParaRPr lang="en-US" altLang="en-US" dirty="0">
              <a:latin typeface="Arial" charset="0"/>
            </a:endParaRPr>
          </a:p>
          <a:p>
            <a:pPr marL="457200" lvl="1" indent="0">
              <a:lnSpc>
                <a:spcPct val="120000"/>
              </a:lnSpc>
              <a:spcBef>
                <a:spcPct val="20000"/>
              </a:spcBef>
              <a:defRPr/>
            </a:pPr>
            <a:endParaRPr lang="en-US" altLang="en-US" dirty="0">
              <a:latin typeface="Arial" charset="0"/>
            </a:endParaRPr>
          </a:p>
          <a:p>
            <a:pPr marL="457200" lvl="1" indent="0">
              <a:spcBef>
                <a:spcPct val="50000"/>
              </a:spcBef>
              <a:defRPr/>
            </a:pPr>
            <a:endParaRPr lang="en-US" altLang="en-US" dirty="0">
              <a:latin typeface="Arial" charset="0"/>
            </a:endParaRPr>
          </a:p>
          <a:p>
            <a:pPr lvl="1">
              <a:spcBef>
                <a:spcPct val="50000"/>
              </a:spcBef>
              <a:buFontTx/>
              <a:buChar char="–"/>
              <a:defRPr/>
            </a:pPr>
            <a:endParaRPr lang="en-US" altLang="en-US" dirty="0">
              <a:latin typeface="Arial" charset="0"/>
            </a:endParaRPr>
          </a:p>
        </p:txBody>
      </p:sp>
      <p:sp>
        <p:nvSpPr>
          <p:cNvPr id="2" name="Slide Number Placeholder 1">
            <a:extLst>
              <a:ext uri="{FF2B5EF4-FFF2-40B4-BE49-F238E27FC236}">
                <a16:creationId xmlns:a16="http://schemas.microsoft.com/office/drawing/2014/main" id="{6F9A403E-A6ED-40BF-B98C-1C626E3A2941}"/>
              </a:ext>
            </a:extLst>
          </p:cNvPr>
          <p:cNvSpPr>
            <a:spLocks noGrp="1"/>
          </p:cNvSpPr>
          <p:nvPr>
            <p:ph type="sldNum" sz="quarter" idx="12"/>
          </p:nvPr>
        </p:nvSpPr>
        <p:spPr/>
        <p:txBody>
          <a:bodyPr/>
          <a:lstStyle/>
          <a:p>
            <a:fld id="{C83C362F-97FB-4C1E-B0F0-C3069DD0CDD1}" type="slidenum">
              <a:rPr lang="en-US" smtClean="0"/>
              <a:t>22</a:t>
            </a:fld>
            <a:endParaRPr lang="en-US"/>
          </a:p>
        </p:txBody>
      </p:sp>
    </p:spTree>
    <p:extLst>
      <p:ext uri="{BB962C8B-B14F-4D97-AF65-F5344CB8AC3E}">
        <p14:creationId xmlns:p14="http://schemas.microsoft.com/office/powerpoint/2010/main" val="105830944"/>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D685C853-B771-4DD5-AE32-1E4A92D2C8BC}"/>
              </a:ext>
            </a:extLst>
          </p:cNvPr>
          <p:cNvSpPr>
            <a:spLocks noGrp="1" noChangeArrowheads="1"/>
          </p:cNvSpPr>
          <p:nvPr>
            <p:ph type="title"/>
          </p:nvPr>
        </p:nvSpPr>
        <p:spPr>
          <a:xfrm>
            <a:off x="1775967" y="-88491"/>
            <a:ext cx="10364451" cy="1596177"/>
          </a:xfrm>
        </p:spPr>
        <p:txBody>
          <a:bodyPr/>
          <a:lstStyle/>
          <a:p>
            <a:pPr>
              <a:defRPr/>
            </a:pPr>
            <a:r>
              <a:rPr lang="en-US" altLang="en-US" dirty="0"/>
              <a:t>SUMMARY – ADACS</a:t>
            </a:r>
          </a:p>
        </p:txBody>
      </p:sp>
      <p:sp>
        <p:nvSpPr>
          <p:cNvPr id="12291" name="Rectangle 3">
            <a:extLst>
              <a:ext uri="{FF2B5EF4-FFF2-40B4-BE49-F238E27FC236}">
                <a16:creationId xmlns:a16="http://schemas.microsoft.com/office/drawing/2014/main" id="{BDEA1A40-6143-48D6-B3C9-C1D1992A08B1}"/>
              </a:ext>
            </a:extLst>
          </p:cNvPr>
          <p:cNvSpPr>
            <a:spLocks noChangeArrowheads="1"/>
          </p:cNvSpPr>
          <p:nvPr/>
        </p:nvSpPr>
        <p:spPr bwMode="auto">
          <a:xfrm>
            <a:off x="1498021" y="999862"/>
            <a:ext cx="11005624" cy="4689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2075" tIns="46038" rIns="92075" bIns="46038"/>
          <a:lstStyle>
            <a:lvl1pPr marL="342900" indent="-342900">
              <a:defRPr sz="2400">
                <a:solidFill>
                  <a:schemeClr val="tx1"/>
                </a:solidFill>
                <a:latin typeface="Times New Roman" charset="0"/>
              </a:defRPr>
            </a:lvl1pPr>
            <a:lvl2pPr marL="742950" indent="-285750">
              <a:defRPr sz="2400">
                <a:solidFill>
                  <a:schemeClr val="tx1"/>
                </a:solidFill>
                <a:latin typeface="Times New Roman" charset="0"/>
              </a:defRPr>
            </a:lvl2pPr>
            <a:lvl3pPr marL="1143000" indent="-228600">
              <a:defRPr sz="2400">
                <a:solidFill>
                  <a:schemeClr val="tx1"/>
                </a:solidFill>
                <a:latin typeface="Times New Roman" charset="0"/>
              </a:defRPr>
            </a:lvl3pPr>
            <a:lvl4pPr marL="1600200" indent="-228600">
              <a:defRPr sz="2400">
                <a:solidFill>
                  <a:schemeClr val="tx1"/>
                </a:solidFill>
                <a:latin typeface="Times New Roman" charset="0"/>
              </a:defRPr>
            </a:lvl4pPr>
            <a:lvl5pPr marL="2057400" indent="-228600">
              <a:defRPr sz="2400">
                <a:solidFill>
                  <a:schemeClr val="tx1"/>
                </a:solidFill>
                <a:latin typeface="Times New Roman" charset="0"/>
              </a:defRPr>
            </a:lvl5pPr>
            <a:lvl6pPr marL="2514600" indent="-228600" eaLnBrk="0" fontAlgn="base" hangingPunct="0">
              <a:spcBef>
                <a:spcPct val="0"/>
              </a:spcBef>
              <a:spcAft>
                <a:spcPct val="0"/>
              </a:spcAft>
              <a:defRPr sz="2400">
                <a:solidFill>
                  <a:schemeClr val="tx1"/>
                </a:solidFill>
                <a:latin typeface="Times New Roman" charset="0"/>
              </a:defRPr>
            </a:lvl6pPr>
            <a:lvl7pPr marL="2971800" indent="-228600" eaLnBrk="0" fontAlgn="base" hangingPunct="0">
              <a:spcBef>
                <a:spcPct val="0"/>
              </a:spcBef>
              <a:spcAft>
                <a:spcPct val="0"/>
              </a:spcAft>
              <a:defRPr sz="2400">
                <a:solidFill>
                  <a:schemeClr val="tx1"/>
                </a:solidFill>
                <a:latin typeface="Times New Roman" charset="0"/>
              </a:defRPr>
            </a:lvl7pPr>
            <a:lvl8pPr marL="3429000" indent="-228600" eaLnBrk="0" fontAlgn="base" hangingPunct="0">
              <a:spcBef>
                <a:spcPct val="0"/>
              </a:spcBef>
              <a:spcAft>
                <a:spcPct val="0"/>
              </a:spcAft>
              <a:defRPr sz="2400">
                <a:solidFill>
                  <a:schemeClr val="tx1"/>
                </a:solidFill>
                <a:latin typeface="Times New Roman" charset="0"/>
              </a:defRPr>
            </a:lvl8pPr>
            <a:lvl9pPr marL="3886200" indent="-228600" eaLnBrk="0" fontAlgn="base" hangingPunct="0">
              <a:spcBef>
                <a:spcPct val="0"/>
              </a:spcBef>
              <a:spcAft>
                <a:spcPct val="0"/>
              </a:spcAft>
              <a:defRPr sz="2400">
                <a:solidFill>
                  <a:schemeClr val="tx1"/>
                </a:solidFill>
                <a:latin typeface="Times New Roman" charset="0"/>
              </a:defRPr>
            </a:lvl9pPr>
          </a:lstStyle>
          <a:p>
            <a:pPr lvl="1">
              <a:lnSpc>
                <a:spcPct val="120000"/>
              </a:lnSpc>
              <a:spcBef>
                <a:spcPct val="20000"/>
              </a:spcBef>
              <a:buFontTx/>
              <a:buChar char="•"/>
              <a:defRPr/>
            </a:pPr>
            <a:r>
              <a:rPr lang="en-US" altLang="en-US" dirty="0">
                <a:latin typeface="Arial" charset="0"/>
              </a:rPr>
              <a:t>Describe typical satellite ADACS subsystems including </a:t>
            </a:r>
          </a:p>
          <a:p>
            <a:pPr lvl="2">
              <a:lnSpc>
                <a:spcPct val="120000"/>
              </a:lnSpc>
              <a:spcBef>
                <a:spcPct val="20000"/>
              </a:spcBef>
              <a:buFontTx/>
              <a:buChar char="•"/>
              <a:defRPr/>
            </a:pPr>
            <a:r>
              <a:rPr lang="en-US" altLang="en-US" dirty="0">
                <a:latin typeface="Arial" charset="0"/>
              </a:rPr>
              <a:t>Sensors and actuators</a:t>
            </a:r>
          </a:p>
          <a:p>
            <a:pPr lvl="2">
              <a:lnSpc>
                <a:spcPct val="120000"/>
              </a:lnSpc>
              <a:spcBef>
                <a:spcPct val="20000"/>
              </a:spcBef>
              <a:buFontTx/>
              <a:buChar char="•"/>
              <a:defRPr/>
            </a:pPr>
            <a:r>
              <a:rPr lang="en-US" altLang="en-US" dirty="0">
                <a:latin typeface="Arial" charset="0"/>
              </a:rPr>
              <a:t>Active and passive systems</a:t>
            </a:r>
          </a:p>
          <a:p>
            <a:pPr lvl="1">
              <a:lnSpc>
                <a:spcPct val="120000"/>
              </a:lnSpc>
              <a:spcBef>
                <a:spcPct val="20000"/>
              </a:spcBef>
              <a:buFontTx/>
              <a:buChar char="•"/>
              <a:defRPr/>
            </a:pPr>
            <a:r>
              <a:rPr lang="en-US" altLang="en-US" dirty="0">
                <a:latin typeface="Arial" charset="0"/>
              </a:rPr>
              <a:t>Calculate the magnitude of disturbances due to</a:t>
            </a:r>
          </a:p>
          <a:p>
            <a:pPr lvl="2">
              <a:lnSpc>
                <a:spcPct val="120000"/>
              </a:lnSpc>
              <a:spcBef>
                <a:spcPct val="20000"/>
              </a:spcBef>
              <a:buFontTx/>
              <a:buChar char="•"/>
              <a:defRPr/>
            </a:pPr>
            <a:r>
              <a:rPr lang="en-US" altLang="en-US" dirty="0">
                <a:latin typeface="Arial" charset="0"/>
              </a:rPr>
              <a:t>Gravity gradient</a:t>
            </a:r>
          </a:p>
          <a:p>
            <a:pPr lvl="2">
              <a:lnSpc>
                <a:spcPct val="120000"/>
              </a:lnSpc>
              <a:spcBef>
                <a:spcPct val="20000"/>
              </a:spcBef>
              <a:buFontTx/>
              <a:buChar char="•"/>
              <a:defRPr/>
            </a:pPr>
            <a:r>
              <a:rPr lang="en-US" altLang="en-US" dirty="0">
                <a:latin typeface="Arial" charset="0"/>
              </a:rPr>
              <a:t>Magnetic fields</a:t>
            </a:r>
          </a:p>
          <a:p>
            <a:pPr lvl="2">
              <a:lnSpc>
                <a:spcPct val="120000"/>
              </a:lnSpc>
              <a:spcBef>
                <a:spcPct val="20000"/>
              </a:spcBef>
              <a:buFontTx/>
              <a:buChar char="•"/>
              <a:defRPr/>
            </a:pPr>
            <a:r>
              <a:rPr lang="en-US" altLang="en-US" dirty="0">
                <a:latin typeface="Arial" charset="0"/>
              </a:rPr>
              <a:t>Solar radiation pressure</a:t>
            </a:r>
          </a:p>
          <a:p>
            <a:pPr lvl="2">
              <a:lnSpc>
                <a:spcPct val="120000"/>
              </a:lnSpc>
              <a:spcBef>
                <a:spcPct val="20000"/>
              </a:spcBef>
              <a:buFontTx/>
              <a:buChar char="•"/>
              <a:defRPr/>
            </a:pPr>
            <a:r>
              <a:rPr lang="en-US" altLang="en-US" dirty="0">
                <a:latin typeface="Arial" charset="0"/>
              </a:rPr>
              <a:t>Aerodynamics Drag</a:t>
            </a:r>
          </a:p>
          <a:p>
            <a:pPr lvl="2">
              <a:lnSpc>
                <a:spcPct val="120000"/>
              </a:lnSpc>
              <a:spcBef>
                <a:spcPct val="20000"/>
              </a:spcBef>
              <a:buFontTx/>
              <a:buChar char="•"/>
              <a:defRPr/>
            </a:pPr>
            <a:r>
              <a:rPr lang="en-US" altLang="en-US" dirty="0">
                <a:latin typeface="Arial" charset="0"/>
              </a:rPr>
              <a:t>Slew maneuvers</a:t>
            </a:r>
          </a:p>
          <a:p>
            <a:pPr lvl="1">
              <a:lnSpc>
                <a:spcPct val="120000"/>
              </a:lnSpc>
              <a:spcBef>
                <a:spcPct val="20000"/>
              </a:spcBef>
              <a:buFontTx/>
              <a:buChar char="•"/>
              <a:defRPr/>
            </a:pPr>
            <a:r>
              <a:rPr lang="en-US" altLang="en-US" dirty="0">
                <a:latin typeface="Arial" charset="0"/>
              </a:rPr>
              <a:t>Design an ADACS subsystem to meet your mission’s needs</a:t>
            </a:r>
          </a:p>
          <a:p>
            <a:pPr marL="457200" lvl="1" indent="0">
              <a:lnSpc>
                <a:spcPct val="120000"/>
              </a:lnSpc>
              <a:spcBef>
                <a:spcPct val="20000"/>
              </a:spcBef>
              <a:defRPr/>
            </a:pPr>
            <a:endParaRPr lang="en-US" altLang="en-US" dirty="0">
              <a:latin typeface="Arial" charset="0"/>
            </a:endParaRPr>
          </a:p>
          <a:p>
            <a:pPr lvl="1">
              <a:lnSpc>
                <a:spcPct val="120000"/>
              </a:lnSpc>
              <a:spcBef>
                <a:spcPct val="20000"/>
              </a:spcBef>
              <a:buFontTx/>
              <a:buChar char="•"/>
              <a:defRPr/>
            </a:pPr>
            <a:endParaRPr lang="en-US" altLang="en-US" dirty="0">
              <a:latin typeface="Arial" charset="0"/>
            </a:endParaRPr>
          </a:p>
          <a:p>
            <a:pPr marL="457200" lvl="1" indent="0">
              <a:lnSpc>
                <a:spcPct val="120000"/>
              </a:lnSpc>
              <a:spcBef>
                <a:spcPct val="20000"/>
              </a:spcBef>
              <a:defRPr/>
            </a:pPr>
            <a:endParaRPr lang="en-US" altLang="en-US" dirty="0">
              <a:latin typeface="Arial" charset="0"/>
            </a:endParaRPr>
          </a:p>
          <a:p>
            <a:pPr marL="457200" lvl="1" indent="0">
              <a:spcBef>
                <a:spcPct val="50000"/>
              </a:spcBef>
              <a:defRPr/>
            </a:pPr>
            <a:endParaRPr lang="en-US" altLang="en-US" dirty="0">
              <a:latin typeface="Arial" charset="0"/>
            </a:endParaRPr>
          </a:p>
          <a:p>
            <a:pPr lvl="1">
              <a:spcBef>
                <a:spcPct val="50000"/>
              </a:spcBef>
              <a:buFontTx/>
              <a:buChar char="–"/>
              <a:defRPr/>
            </a:pPr>
            <a:endParaRPr lang="en-US" altLang="en-US" dirty="0">
              <a:latin typeface="Arial" charset="0"/>
            </a:endParaRPr>
          </a:p>
        </p:txBody>
      </p:sp>
      <p:sp>
        <p:nvSpPr>
          <p:cNvPr id="2" name="Slide Number Placeholder 1">
            <a:extLst>
              <a:ext uri="{FF2B5EF4-FFF2-40B4-BE49-F238E27FC236}">
                <a16:creationId xmlns:a16="http://schemas.microsoft.com/office/drawing/2014/main" id="{6F9A403E-A6ED-40BF-B98C-1C626E3A2941}"/>
              </a:ext>
            </a:extLst>
          </p:cNvPr>
          <p:cNvSpPr>
            <a:spLocks noGrp="1"/>
          </p:cNvSpPr>
          <p:nvPr>
            <p:ph type="sldNum" sz="quarter" idx="12"/>
          </p:nvPr>
        </p:nvSpPr>
        <p:spPr/>
        <p:txBody>
          <a:bodyPr/>
          <a:lstStyle/>
          <a:p>
            <a:fld id="{C83C362F-97FB-4C1E-B0F0-C3069DD0CDD1}" type="slidenum">
              <a:rPr lang="en-US" smtClean="0"/>
              <a:t>23</a:t>
            </a:fld>
            <a:endParaRPr lang="en-US"/>
          </a:p>
        </p:txBody>
      </p:sp>
    </p:spTree>
    <p:extLst>
      <p:ext uri="{BB962C8B-B14F-4D97-AF65-F5344CB8AC3E}">
        <p14:creationId xmlns:p14="http://schemas.microsoft.com/office/powerpoint/2010/main" val="2692474966"/>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0CEF66-AFD2-4C84-99DA-1E957CE47316}"/>
              </a:ext>
            </a:extLst>
          </p:cNvPr>
          <p:cNvSpPr>
            <a:spLocks noGrp="1"/>
          </p:cNvSpPr>
          <p:nvPr>
            <p:ph type="title"/>
          </p:nvPr>
        </p:nvSpPr>
        <p:spPr>
          <a:xfrm>
            <a:off x="1567913" y="-233825"/>
            <a:ext cx="10018713" cy="1752599"/>
          </a:xfrm>
        </p:spPr>
        <p:txBody>
          <a:bodyPr/>
          <a:lstStyle/>
          <a:p>
            <a:r>
              <a:rPr lang="en-US" dirty="0"/>
              <a:t>COURSE REVIEW</a:t>
            </a:r>
          </a:p>
        </p:txBody>
      </p:sp>
      <p:sp>
        <p:nvSpPr>
          <p:cNvPr id="4" name="TextBox 3">
            <a:extLst>
              <a:ext uri="{FF2B5EF4-FFF2-40B4-BE49-F238E27FC236}">
                <a16:creationId xmlns:a16="http://schemas.microsoft.com/office/drawing/2014/main" id="{E41AF6CF-4B7F-4569-A514-90139AEF6D30}"/>
              </a:ext>
            </a:extLst>
          </p:cNvPr>
          <p:cNvSpPr txBox="1"/>
          <p:nvPr/>
        </p:nvSpPr>
        <p:spPr>
          <a:xfrm>
            <a:off x="2383437" y="1198676"/>
            <a:ext cx="8881436" cy="4589590"/>
          </a:xfrm>
          <a:prstGeom prst="rect">
            <a:avLst/>
          </a:prstGeom>
          <a:noFill/>
        </p:spPr>
        <p:txBody>
          <a:bodyPr wrap="square">
            <a:spAutoFit/>
          </a:bodyPr>
          <a:lstStyle/>
          <a:p>
            <a:pPr marL="457200" marR="0" indent="-457200">
              <a:lnSpc>
                <a:spcPct val="115000"/>
              </a:lnSpc>
              <a:spcBef>
                <a:spcPts val="0"/>
              </a:spcBef>
              <a:spcAft>
                <a:spcPts val="0"/>
              </a:spcAft>
              <a:buFont typeface="Wingdings" panose="05000000000000000000" pitchFamily="2" charset="2"/>
              <a:buChar char="ü"/>
            </a:pPr>
            <a:r>
              <a:rPr lang="en-US" sz="3200" dirty="0">
                <a:effectLst/>
                <a:latin typeface="Calibri" panose="020F0502020204030204" pitchFamily="34" charset="0"/>
                <a:ea typeface="Calibri" panose="020F0502020204030204" pitchFamily="34" charset="0"/>
                <a:cs typeface="Calibri" panose="020F0502020204030204" pitchFamily="34" charset="0"/>
              </a:rPr>
              <a:t>Chapter 1 – Course </a:t>
            </a:r>
            <a:r>
              <a:rPr lang="en-US" sz="3200" dirty="0">
                <a:latin typeface="Calibri" panose="020F0502020204030204" pitchFamily="34" charset="0"/>
                <a:ea typeface="Calibri" panose="020F0502020204030204" pitchFamily="34" charset="0"/>
                <a:cs typeface="Calibri" panose="020F0502020204030204" pitchFamily="34" charset="0"/>
              </a:rPr>
              <a:t>I</a:t>
            </a:r>
            <a:r>
              <a:rPr lang="en-US" sz="3200" dirty="0">
                <a:effectLst/>
                <a:latin typeface="Calibri" panose="020F0502020204030204" pitchFamily="34" charset="0"/>
                <a:ea typeface="Calibri" panose="020F0502020204030204" pitchFamily="34" charset="0"/>
                <a:cs typeface="Calibri" panose="020F0502020204030204" pitchFamily="34" charset="0"/>
              </a:rPr>
              <a:t>ntro</a:t>
            </a:r>
          </a:p>
          <a:p>
            <a:pPr marL="457200" marR="0" indent="-457200">
              <a:lnSpc>
                <a:spcPct val="115000"/>
              </a:lnSpc>
              <a:spcBef>
                <a:spcPts val="0"/>
              </a:spcBef>
              <a:spcAft>
                <a:spcPts val="0"/>
              </a:spcAft>
              <a:buFont typeface="Wingdings" panose="05000000000000000000" pitchFamily="2" charset="2"/>
              <a:buChar char="ü"/>
            </a:pPr>
            <a:r>
              <a:rPr lang="en-US" sz="3200" dirty="0">
                <a:latin typeface="Calibri" panose="020F0502020204030204" pitchFamily="34" charset="0"/>
                <a:ea typeface="Calibri" panose="020F0502020204030204" pitchFamily="34" charset="0"/>
                <a:cs typeface="Calibri" panose="020F0502020204030204" pitchFamily="34" charset="0"/>
              </a:rPr>
              <a:t>Chapter 2 – The Vacuum Environment</a:t>
            </a:r>
          </a:p>
          <a:p>
            <a:pPr marL="457200" marR="0" indent="-457200">
              <a:lnSpc>
                <a:spcPct val="115000"/>
              </a:lnSpc>
              <a:spcBef>
                <a:spcPts val="0"/>
              </a:spcBef>
              <a:spcAft>
                <a:spcPts val="0"/>
              </a:spcAft>
              <a:buFont typeface="Wingdings" panose="05000000000000000000" pitchFamily="2" charset="2"/>
              <a:buChar char="ü"/>
            </a:pPr>
            <a:r>
              <a:rPr lang="en-US" sz="3200" dirty="0">
                <a:effectLst/>
                <a:latin typeface="Calibri" panose="020F0502020204030204" pitchFamily="34" charset="0"/>
                <a:ea typeface="Calibri" panose="020F0502020204030204" pitchFamily="34" charset="0"/>
                <a:cs typeface="Calibri" panose="020F0502020204030204" pitchFamily="34" charset="0"/>
              </a:rPr>
              <a:t>Chapter 3 - Neutral Atmospheric Particles</a:t>
            </a:r>
          </a:p>
          <a:p>
            <a:pPr marL="457200" marR="0" indent="-457200">
              <a:lnSpc>
                <a:spcPct val="115000"/>
              </a:lnSpc>
              <a:spcBef>
                <a:spcPts val="0"/>
              </a:spcBef>
              <a:spcAft>
                <a:spcPts val="0"/>
              </a:spcAft>
              <a:buFont typeface="Wingdings" panose="05000000000000000000" pitchFamily="2" charset="2"/>
              <a:buChar char="ü"/>
            </a:pPr>
            <a:r>
              <a:rPr lang="en-US" sz="3200" dirty="0">
                <a:effectLst/>
                <a:latin typeface="Calibri" panose="020F0502020204030204" pitchFamily="34" charset="0"/>
                <a:ea typeface="Calibri" panose="020F0502020204030204" pitchFamily="34" charset="0"/>
                <a:cs typeface="Calibri" panose="020F0502020204030204" pitchFamily="34" charset="0"/>
              </a:rPr>
              <a:t>Chapter 4 - </a:t>
            </a:r>
            <a:r>
              <a:rPr lang="en-US" sz="32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Charged particles and plasma interactions with the spacecraft</a:t>
            </a:r>
          </a:p>
          <a:p>
            <a:pPr marL="457200" marR="0" indent="-457200">
              <a:lnSpc>
                <a:spcPct val="115000"/>
              </a:lnSpc>
              <a:spcBef>
                <a:spcPts val="0"/>
              </a:spcBef>
              <a:spcAft>
                <a:spcPts val="0"/>
              </a:spcAft>
              <a:buFont typeface="Wingdings" panose="05000000000000000000" pitchFamily="2" charset="2"/>
              <a:buChar char="ü"/>
            </a:pPr>
            <a:r>
              <a:rPr lang="en-US" sz="3200" dirty="0">
                <a:solidFill>
                  <a:srgbClr val="000000"/>
                </a:solidFill>
                <a:latin typeface="Calibri" panose="020F0502020204030204" pitchFamily="34" charset="0"/>
                <a:ea typeface="Times New Roman" panose="02020603050405020304" pitchFamily="18" charset="0"/>
                <a:cs typeface="Calibri" panose="020F0502020204030204" pitchFamily="34" charset="0"/>
              </a:rPr>
              <a:t>Chapter 5 - </a:t>
            </a:r>
            <a:r>
              <a:rPr lang="en-US" sz="32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The radiation environment</a:t>
            </a:r>
          </a:p>
          <a:p>
            <a:pPr marL="457200" marR="0" indent="-457200">
              <a:lnSpc>
                <a:spcPct val="115000"/>
              </a:lnSpc>
              <a:spcBef>
                <a:spcPts val="0"/>
              </a:spcBef>
              <a:spcAft>
                <a:spcPts val="0"/>
              </a:spcAft>
              <a:buFont typeface="Wingdings" panose="05000000000000000000" pitchFamily="2" charset="2"/>
              <a:buChar char="q"/>
            </a:pPr>
            <a:r>
              <a:rPr lang="en-US" sz="3200" dirty="0">
                <a:solidFill>
                  <a:srgbClr val="000000"/>
                </a:solidFill>
                <a:latin typeface="Calibri" panose="020F0502020204030204" pitchFamily="34" charset="0"/>
                <a:ea typeface="Calibri" panose="020F0502020204030204" pitchFamily="34" charset="0"/>
                <a:cs typeface="Calibri" panose="020F0502020204030204" pitchFamily="34" charset="0"/>
              </a:rPr>
              <a:t>Chapter 6 - </a:t>
            </a:r>
            <a:r>
              <a:rPr lang="en-US" sz="32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Orbital debris </a:t>
            </a:r>
          </a:p>
          <a:p>
            <a:pPr marL="457200" marR="0" indent="-457200">
              <a:lnSpc>
                <a:spcPct val="115000"/>
              </a:lnSpc>
              <a:spcBef>
                <a:spcPts val="0"/>
              </a:spcBef>
              <a:spcAft>
                <a:spcPts val="0"/>
              </a:spcAft>
              <a:buFont typeface="Wingdings" panose="05000000000000000000" pitchFamily="2" charset="2"/>
              <a:buChar char="q"/>
            </a:pPr>
            <a:r>
              <a:rPr lang="en-US" sz="3200" dirty="0">
                <a:solidFill>
                  <a:srgbClr val="000000"/>
                </a:solidFill>
                <a:latin typeface="Calibri" panose="020F0502020204030204" pitchFamily="34" charset="0"/>
                <a:ea typeface="Times New Roman" panose="02020603050405020304" pitchFamily="18" charset="0"/>
                <a:cs typeface="Calibri" panose="020F0502020204030204" pitchFamily="34" charset="0"/>
              </a:rPr>
              <a:t>Bio R</a:t>
            </a:r>
            <a:r>
              <a:rPr lang="en-US" sz="32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eadings - </a:t>
            </a:r>
            <a:r>
              <a:rPr lang="en-US" sz="32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Human Effects </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6801133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071DC6C3-5B3A-4417-9B37-7014D76E3AD4}"/>
              </a:ext>
            </a:extLst>
          </p:cNvPr>
          <p:cNvSpPr>
            <a:spLocks noGrp="1" noChangeArrowheads="1"/>
          </p:cNvSpPr>
          <p:nvPr>
            <p:ph type="title"/>
          </p:nvPr>
        </p:nvSpPr>
        <p:spPr>
          <a:xfrm>
            <a:off x="913775" y="223263"/>
            <a:ext cx="10364451" cy="1596177"/>
          </a:xfrm>
        </p:spPr>
        <p:txBody>
          <a:bodyPr/>
          <a:lstStyle/>
          <a:p>
            <a:pPr>
              <a:defRPr/>
            </a:pPr>
            <a:r>
              <a:rPr lang="en-US" altLang="en-US" dirty="0"/>
              <a:t>Micro-Meteoroids and Orbital Debris</a:t>
            </a:r>
          </a:p>
        </p:txBody>
      </p:sp>
      <p:sp>
        <p:nvSpPr>
          <p:cNvPr id="53252" name="Rectangle 4">
            <a:extLst>
              <a:ext uri="{FF2B5EF4-FFF2-40B4-BE49-F238E27FC236}">
                <a16:creationId xmlns:a16="http://schemas.microsoft.com/office/drawing/2014/main" id="{C5FC95BA-369A-4266-83CE-3146358247B0}"/>
              </a:ext>
            </a:extLst>
          </p:cNvPr>
          <p:cNvSpPr>
            <a:spLocks noChangeArrowheads="1"/>
          </p:cNvSpPr>
          <p:nvPr/>
        </p:nvSpPr>
        <p:spPr bwMode="auto">
          <a:xfrm>
            <a:off x="6558435" y="2591484"/>
            <a:ext cx="5044985" cy="5700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2075" tIns="46038" rIns="92075" bIns="46038"/>
          <a:lstStyle>
            <a:lvl1pPr marL="342900" indent="-342900">
              <a:defRPr sz="2400">
                <a:solidFill>
                  <a:schemeClr val="tx1"/>
                </a:solidFill>
                <a:latin typeface="Times New Roman" charset="0"/>
              </a:defRPr>
            </a:lvl1pPr>
            <a:lvl2pPr marL="742950" indent="-285750">
              <a:defRPr sz="2400">
                <a:solidFill>
                  <a:schemeClr val="tx1"/>
                </a:solidFill>
                <a:latin typeface="Times New Roman" charset="0"/>
              </a:defRPr>
            </a:lvl2pPr>
            <a:lvl3pPr marL="1143000" indent="-228600">
              <a:defRPr sz="2400">
                <a:solidFill>
                  <a:schemeClr val="tx1"/>
                </a:solidFill>
                <a:latin typeface="Times New Roman" charset="0"/>
              </a:defRPr>
            </a:lvl3pPr>
            <a:lvl4pPr marL="1600200" indent="-228600">
              <a:defRPr sz="2400">
                <a:solidFill>
                  <a:schemeClr val="tx1"/>
                </a:solidFill>
                <a:latin typeface="Times New Roman" charset="0"/>
              </a:defRPr>
            </a:lvl4pPr>
            <a:lvl5pPr marL="2057400" indent="-228600">
              <a:defRPr sz="2400">
                <a:solidFill>
                  <a:schemeClr val="tx1"/>
                </a:solidFill>
                <a:latin typeface="Times New Roman" charset="0"/>
              </a:defRPr>
            </a:lvl5pPr>
            <a:lvl6pPr marL="2514600" indent="-228600" eaLnBrk="0" fontAlgn="base" hangingPunct="0">
              <a:spcBef>
                <a:spcPct val="0"/>
              </a:spcBef>
              <a:spcAft>
                <a:spcPct val="0"/>
              </a:spcAft>
              <a:defRPr sz="2400">
                <a:solidFill>
                  <a:schemeClr val="tx1"/>
                </a:solidFill>
                <a:latin typeface="Times New Roman" charset="0"/>
              </a:defRPr>
            </a:lvl6pPr>
            <a:lvl7pPr marL="2971800" indent="-228600" eaLnBrk="0" fontAlgn="base" hangingPunct="0">
              <a:spcBef>
                <a:spcPct val="0"/>
              </a:spcBef>
              <a:spcAft>
                <a:spcPct val="0"/>
              </a:spcAft>
              <a:defRPr sz="2400">
                <a:solidFill>
                  <a:schemeClr val="tx1"/>
                </a:solidFill>
                <a:latin typeface="Times New Roman" charset="0"/>
              </a:defRPr>
            </a:lvl7pPr>
            <a:lvl8pPr marL="3429000" indent="-228600" eaLnBrk="0" fontAlgn="base" hangingPunct="0">
              <a:spcBef>
                <a:spcPct val="0"/>
              </a:spcBef>
              <a:spcAft>
                <a:spcPct val="0"/>
              </a:spcAft>
              <a:defRPr sz="2400">
                <a:solidFill>
                  <a:schemeClr val="tx1"/>
                </a:solidFill>
                <a:latin typeface="Times New Roman" charset="0"/>
              </a:defRPr>
            </a:lvl8pPr>
            <a:lvl9pPr marL="3886200" indent="-228600" eaLnBrk="0" fontAlgn="base" hangingPunct="0">
              <a:spcBef>
                <a:spcPct val="0"/>
              </a:spcBef>
              <a:spcAft>
                <a:spcPct val="0"/>
              </a:spcAft>
              <a:defRPr sz="2400">
                <a:solidFill>
                  <a:schemeClr val="tx1"/>
                </a:solidFill>
                <a:latin typeface="Times New Roman" charset="0"/>
              </a:defRPr>
            </a:lvl9pPr>
          </a:lstStyle>
          <a:p>
            <a:pPr>
              <a:spcBef>
                <a:spcPct val="100000"/>
              </a:spcBef>
              <a:buFontTx/>
              <a:buChar char="•"/>
              <a:defRPr/>
            </a:pPr>
            <a:r>
              <a:rPr lang="en-US" altLang="en-US" sz="2000" dirty="0">
                <a:latin typeface="Arial" charset="0"/>
              </a:rPr>
              <a:t>Natural and man-made objects with high velocities</a:t>
            </a:r>
          </a:p>
          <a:p>
            <a:pPr lvl="1">
              <a:spcBef>
                <a:spcPct val="20000"/>
              </a:spcBef>
              <a:buFontTx/>
              <a:buChar char="–"/>
              <a:defRPr/>
            </a:pPr>
            <a:r>
              <a:rPr lang="en-US" altLang="en-US" sz="1800" dirty="0">
                <a:latin typeface="Arial" charset="0"/>
              </a:rPr>
              <a:t>Typical meteoroid velocities – 10 to 20 km/s relative to Earth</a:t>
            </a:r>
          </a:p>
          <a:p>
            <a:pPr lvl="1">
              <a:spcBef>
                <a:spcPct val="20000"/>
              </a:spcBef>
              <a:buFontTx/>
              <a:buChar char="–"/>
              <a:defRPr/>
            </a:pPr>
            <a:r>
              <a:rPr lang="en-US" altLang="en-US" sz="1800" dirty="0">
                <a:latin typeface="Arial" charset="0"/>
              </a:rPr>
              <a:t>Relative velocities between satellites and man-made debris average 9 to 10 km/s in LEO and 100 to 500 m/s in GEO</a:t>
            </a:r>
          </a:p>
        </p:txBody>
      </p:sp>
      <p:sp>
        <p:nvSpPr>
          <p:cNvPr id="2" name="Slide Number Placeholder 1">
            <a:extLst>
              <a:ext uri="{FF2B5EF4-FFF2-40B4-BE49-F238E27FC236}">
                <a16:creationId xmlns:a16="http://schemas.microsoft.com/office/drawing/2014/main" id="{D055FE88-8B74-44D5-AE89-830A4ED43C1A}"/>
              </a:ext>
            </a:extLst>
          </p:cNvPr>
          <p:cNvSpPr>
            <a:spLocks noGrp="1"/>
          </p:cNvSpPr>
          <p:nvPr>
            <p:ph type="sldNum" sz="quarter" idx="12"/>
          </p:nvPr>
        </p:nvSpPr>
        <p:spPr/>
        <p:txBody>
          <a:bodyPr/>
          <a:lstStyle/>
          <a:p>
            <a:fld id="{C83C362F-97FB-4C1E-B0F0-C3069DD0CDD1}" type="slidenum">
              <a:rPr lang="en-US" smtClean="0"/>
              <a:t>25</a:t>
            </a:fld>
            <a:endParaRPr lang="en-US"/>
          </a:p>
        </p:txBody>
      </p:sp>
      <p:pic>
        <p:nvPicPr>
          <p:cNvPr id="21506" name="Picture 2" descr="Image result for space junk gif">
            <a:extLst>
              <a:ext uri="{FF2B5EF4-FFF2-40B4-BE49-F238E27FC236}">
                <a16:creationId xmlns:a16="http://schemas.microsoft.com/office/drawing/2014/main" id="{508236A1-EFC6-40CF-9B36-7B39659379BF}"/>
              </a:ext>
            </a:extLst>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279431" y="2250318"/>
            <a:ext cx="6022777" cy="41366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4092388"/>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Number Placeholder 3">
            <a:extLst>
              <a:ext uri="{FF2B5EF4-FFF2-40B4-BE49-F238E27FC236}">
                <a16:creationId xmlns:a16="http://schemas.microsoft.com/office/drawing/2014/main" id="{E613933D-4207-416A-83C8-F9A99BCD9D12}"/>
              </a:ext>
            </a:extLst>
          </p:cNvPr>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319DAAAB-9371-4601-AD65-E8E123C27516}" type="slidenum">
              <a:rPr lang="es-ES" altLang="en-US" sz="1400"/>
              <a:pPr>
                <a:spcBef>
                  <a:spcPct val="0"/>
                </a:spcBef>
                <a:buFontTx/>
                <a:buNone/>
              </a:pPr>
              <a:t>26</a:t>
            </a:fld>
            <a:endParaRPr lang="es-ES" altLang="en-US" sz="1400"/>
          </a:p>
        </p:txBody>
      </p:sp>
      <p:pic>
        <p:nvPicPr>
          <p:cNvPr id="48130" name="Picture 2" descr="https://tse1.mm.bing.net/th?id=OIP.jFJCWQI4kTJxYIkW4bcF2QDxEs&amp;pid=15.1&amp;P=0&amp;w=300&amp;h=300">
            <a:extLst>
              <a:ext uri="{FF2B5EF4-FFF2-40B4-BE49-F238E27FC236}">
                <a16:creationId xmlns:a16="http://schemas.microsoft.com/office/drawing/2014/main" id="{2595EB65-7CAC-4CF3-BDA5-F8872F54C66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1" y="2130425"/>
            <a:ext cx="3903663" cy="4859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2" name="Picture 4" descr="http://returntoflight.com/wp-content/uploads/2015/03/impact_orbiter.jpg">
            <a:extLst>
              <a:ext uri="{FF2B5EF4-FFF2-40B4-BE49-F238E27FC236}">
                <a16:creationId xmlns:a16="http://schemas.microsoft.com/office/drawing/2014/main" id="{5D94297C-5732-4800-A950-2030FBFECD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56126" y="-12700"/>
            <a:ext cx="6113463" cy="4075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6061040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8130"/>
                                        </p:tgtEl>
                                        <p:attrNameLst>
                                          <p:attrName>style.visibility</p:attrName>
                                        </p:attrNameLst>
                                      </p:cBhvr>
                                      <p:to>
                                        <p:strVal val="visible"/>
                                      </p:to>
                                    </p:set>
                                    <p:anim calcmode="lin" valueType="num">
                                      <p:cBhvr additive="base">
                                        <p:cTn id="7" dur="500" fill="hold"/>
                                        <p:tgtEl>
                                          <p:spTgt spid="48130"/>
                                        </p:tgtEl>
                                        <p:attrNameLst>
                                          <p:attrName>ppt_x</p:attrName>
                                        </p:attrNameLst>
                                      </p:cBhvr>
                                      <p:tavLst>
                                        <p:tav tm="0">
                                          <p:val>
                                            <p:strVal val="#ppt_x"/>
                                          </p:val>
                                        </p:tav>
                                        <p:tav tm="100000">
                                          <p:val>
                                            <p:strVal val="#ppt_x"/>
                                          </p:val>
                                        </p:tav>
                                      </p:tavLst>
                                    </p:anim>
                                    <p:anim calcmode="lin" valueType="num">
                                      <p:cBhvr additive="base">
                                        <p:cTn id="8" dur="500" fill="hold"/>
                                        <p:tgtEl>
                                          <p:spTgt spid="4813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Number Placeholder 3">
            <a:extLst>
              <a:ext uri="{FF2B5EF4-FFF2-40B4-BE49-F238E27FC236}">
                <a16:creationId xmlns:a16="http://schemas.microsoft.com/office/drawing/2014/main" id="{BBE6A2D1-6B23-44CC-9C44-8B364883ADE4}"/>
              </a:ext>
            </a:extLst>
          </p:cNvPr>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419B1EE0-ADF7-4477-9B78-CB537D94328C}" type="slidenum">
              <a:rPr lang="es-ES" altLang="en-US" sz="1400"/>
              <a:pPr>
                <a:spcBef>
                  <a:spcPct val="0"/>
                </a:spcBef>
                <a:buFontTx/>
                <a:buNone/>
              </a:pPr>
              <a:t>27</a:t>
            </a:fld>
            <a:endParaRPr lang="es-ES" altLang="en-US" sz="1400"/>
          </a:p>
        </p:txBody>
      </p:sp>
      <p:pic>
        <p:nvPicPr>
          <p:cNvPr id="8195" name="Picture 2" descr="http://spaceflightnow.com/wp-content/uploads/2016/08/Sentinel-1A_fragment_impact_in_space-copy.jpg">
            <a:extLst>
              <a:ext uri="{FF2B5EF4-FFF2-40B4-BE49-F238E27FC236}">
                <a16:creationId xmlns:a16="http://schemas.microsoft.com/office/drawing/2014/main" id="{843F0CDD-F53E-45E4-AF21-BCCBD88B14A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09712" y="-69850"/>
            <a:ext cx="9159876" cy="457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0422" name="Picture 6" descr="http://www.esa.int/var/esa/storage/images/esa_multimedia/images/2005/03/hubble_solar_panel_damage2/10215468-2-eng-GB/Hubble_solar_panel_damage_medium.jpg">
            <a:extLst>
              <a:ext uri="{FF2B5EF4-FFF2-40B4-BE49-F238E27FC236}">
                <a16:creationId xmlns:a16="http://schemas.microsoft.com/office/drawing/2014/main" id="{E2781320-6852-45C7-90C2-79A47EFF51E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35113" y="3284538"/>
            <a:ext cx="4724400" cy="3548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3810500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6" presetClass="entr" presetSubtype="16" fill="hold" nodeType="clickEffect">
                                  <p:stCondLst>
                                    <p:cond delay="0"/>
                                  </p:stCondLst>
                                  <p:childTnLst>
                                    <p:set>
                                      <p:cBhvr>
                                        <p:cTn id="6" dur="1" fill="hold">
                                          <p:stCondLst>
                                            <p:cond delay="0"/>
                                          </p:stCondLst>
                                        </p:cTn>
                                        <p:tgtEl>
                                          <p:spTgt spid="60422"/>
                                        </p:tgtEl>
                                        <p:attrNameLst>
                                          <p:attrName>style.visibility</p:attrName>
                                        </p:attrNameLst>
                                      </p:cBhvr>
                                      <p:to>
                                        <p:strVal val="visible"/>
                                      </p:to>
                                    </p:set>
                                    <p:animEffect transition="in" filter="circle(in)">
                                      <p:cBhvr>
                                        <p:cTn id="7" dur="2000"/>
                                        <p:tgtEl>
                                          <p:spTgt spid="604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CFF7B1-D9F0-47B2-AD5B-03222FECC884}"/>
              </a:ext>
            </a:extLst>
          </p:cNvPr>
          <p:cNvSpPr>
            <a:spLocks noGrp="1"/>
          </p:cNvSpPr>
          <p:nvPr>
            <p:ph type="title"/>
          </p:nvPr>
        </p:nvSpPr>
        <p:spPr/>
        <p:txBody>
          <a:bodyPr/>
          <a:lstStyle/>
          <a:p>
            <a:r>
              <a:rPr lang="en-US" dirty="0"/>
              <a:t>Spacecraft design implications</a:t>
            </a:r>
          </a:p>
        </p:txBody>
      </p:sp>
      <p:sp>
        <p:nvSpPr>
          <p:cNvPr id="3" name="Content Placeholder 2">
            <a:extLst>
              <a:ext uri="{FF2B5EF4-FFF2-40B4-BE49-F238E27FC236}">
                <a16:creationId xmlns:a16="http://schemas.microsoft.com/office/drawing/2014/main" id="{2DBAE26D-7E0C-40FD-BFC3-2E8FBCE780E7}"/>
              </a:ext>
            </a:extLst>
          </p:cNvPr>
          <p:cNvSpPr>
            <a:spLocks noGrp="1"/>
          </p:cNvSpPr>
          <p:nvPr>
            <p:ph idx="1"/>
          </p:nvPr>
        </p:nvSpPr>
        <p:spPr/>
        <p:txBody>
          <a:bodyPr>
            <a:normAutofit fontScale="85000" lnSpcReduction="20000"/>
          </a:bodyPr>
          <a:lstStyle/>
          <a:p>
            <a:pPr marL="0" indent="0">
              <a:buNone/>
            </a:pPr>
            <a:r>
              <a:rPr lang="en-US" dirty="0"/>
              <a:t>1) Enhance protection by using stronger materials or shielding</a:t>
            </a:r>
          </a:p>
          <a:p>
            <a:pPr marL="0" indent="0">
              <a:buNone/>
            </a:pPr>
            <a:r>
              <a:rPr lang="en-US" dirty="0"/>
              <a:t>2) Reduce area of vulnerable surface</a:t>
            </a:r>
          </a:p>
          <a:p>
            <a:pPr marL="0" indent="0">
              <a:buNone/>
            </a:pPr>
            <a:r>
              <a:rPr lang="en-US" dirty="0"/>
              <a:t>3) Relocate critical items</a:t>
            </a:r>
          </a:p>
          <a:p>
            <a:pPr marL="0" indent="0">
              <a:buNone/>
            </a:pPr>
            <a:r>
              <a:rPr lang="en-US" dirty="0"/>
              <a:t>4) Compartmentalize the interior</a:t>
            </a:r>
          </a:p>
          <a:p>
            <a:pPr marL="0" indent="0">
              <a:buNone/>
            </a:pPr>
            <a:r>
              <a:rPr lang="en-US" dirty="0"/>
              <a:t>5) Redundancy</a:t>
            </a:r>
          </a:p>
          <a:p>
            <a:pPr marL="0" indent="0">
              <a:buNone/>
            </a:pPr>
            <a:r>
              <a:rPr lang="en-US" dirty="0"/>
              <a:t>6) Automatic isolation</a:t>
            </a:r>
          </a:p>
          <a:p>
            <a:pPr marL="0" indent="0">
              <a:buNone/>
            </a:pPr>
            <a:r>
              <a:rPr lang="en-US" dirty="0"/>
              <a:t>7) Avoid orbits with large amounts of orbital debris</a:t>
            </a:r>
          </a:p>
          <a:p>
            <a:pPr marL="0" indent="0">
              <a:buNone/>
            </a:pPr>
            <a:r>
              <a:rPr lang="en-US" dirty="0"/>
              <a:t>8) Safe mode!</a:t>
            </a:r>
          </a:p>
        </p:txBody>
      </p:sp>
    </p:spTree>
    <p:extLst>
      <p:ext uri="{BB962C8B-B14F-4D97-AF65-F5344CB8AC3E}">
        <p14:creationId xmlns:p14="http://schemas.microsoft.com/office/powerpoint/2010/main" val="9400679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D685C853-B771-4DD5-AE32-1E4A92D2C8BC}"/>
              </a:ext>
            </a:extLst>
          </p:cNvPr>
          <p:cNvSpPr>
            <a:spLocks noGrp="1" noChangeArrowheads="1"/>
          </p:cNvSpPr>
          <p:nvPr>
            <p:ph type="title"/>
          </p:nvPr>
        </p:nvSpPr>
        <p:spPr>
          <a:xfrm>
            <a:off x="1775967" y="-88491"/>
            <a:ext cx="10364451" cy="1596177"/>
          </a:xfrm>
        </p:spPr>
        <p:txBody>
          <a:bodyPr/>
          <a:lstStyle/>
          <a:p>
            <a:pPr>
              <a:defRPr/>
            </a:pPr>
            <a:r>
              <a:rPr lang="en-US" altLang="en-US" dirty="0"/>
              <a:t>SUMMARY – MMOD</a:t>
            </a:r>
          </a:p>
        </p:txBody>
      </p:sp>
      <p:sp>
        <p:nvSpPr>
          <p:cNvPr id="12291" name="Rectangle 3">
            <a:extLst>
              <a:ext uri="{FF2B5EF4-FFF2-40B4-BE49-F238E27FC236}">
                <a16:creationId xmlns:a16="http://schemas.microsoft.com/office/drawing/2014/main" id="{BDEA1A40-6143-48D6-B3C9-C1D1992A08B1}"/>
              </a:ext>
            </a:extLst>
          </p:cNvPr>
          <p:cNvSpPr>
            <a:spLocks noChangeArrowheads="1"/>
          </p:cNvSpPr>
          <p:nvPr/>
        </p:nvSpPr>
        <p:spPr bwMode="auto">
          <a:xfrm>
            <a:off x="1134794" y="993962"/>
            <a:ext cx="11005624" cy="4689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2075" tIns="46038" rIns="92075" bIns="46038"/>
          <a:lstStyle>
            <a:lvl1pPr marL="342900" indent="-342900">
              <a:defRPr sz="2400">
                <a:solidFill>
                  <a:schemeClr val="tx1"/>
                </a:solidFill>
                <a:latin typeface="Times New Roman" charset="0"/>
              </a:defRPr>
            </a:lvl1pPr>
            <a:lvl2pPr marL="742950" indent="-285750">
              <a:defRPr sz="2400">
                <a:solidFill>
                  <a:schemeClr val="tx1"/>
                </a:solidFill>
                <a:latin typeface="Times New Roman" charset="0"/>
              </a:defRPr>
            </a:lvl2pPr>
            <a:lvl3pPr marL="1143000" indent="-228600">
              <a:defRPr sz="2400">
                <a:solidFill>
                  <a:schemeClr val="tx1"/>
                </a:solidFill>
                <a:latin typeface="Times New Roman" charset="0"/>
              </a:defRPr>
            </a:lvl3pPr>
            <a:lvl4pPr marL="1600200" indent="-228600">
              <a:defRPr sz="2400">
                <a:solidFill>
                  <a:schemeClr val="tx1"/>
                </a:solidFill>
                <a:latin typeface="Times New Roman" charset="0"/>
              </a:defRPr>
            </a:lvl4pPr>
            <a:lvl5pPr marL="2057400" indent="-228600">
              <a:defRPr sz="2400">
                <a:solidFill>
                  <a:schemeClr val="tx1"/>
                </a:solidFill>
                <a:latin typeface="Times New Roman" charset="0"/>
              </a:defRPr>
            </a:lvl5pPr>
            <a:lvl6pPr marL="2514600" indent="-228600" eaLnBrk="0" fontAlgn="base" hangingPunct="0">
              <a:spcBef>
                <a:spcPct val="0"/>
              </a:spcBef>
              <a:spcAft>
                <a:spcPct val="0"/>
              </a:spcAft>
              <a:defRPr sz="2400">
                <a:solidFill>
                  <a:schemeClr val="tx1"/>
                </a:solidFill>
                <a:latin typeface="Times New Roman" charset="0"/>
              </a:defRPr>
            </a:lvl6pPr>
            <a:lvl7pPr marL="2971800" indent="-228600" eaLnBrk="0" fontAlgn="base" hangingPunct="0">
              <a:spcBef>
                <a:spcPct val="0"/>
              </a:spcBef>
              <a:spcAft>
                <a:spcPct val="0"/>
              </a:spcAft>
              <a:defRPr sz="2400">
                <a:solidFill>
                  <a:schemeClr val="tx1"/>
                </a:solidFill>
                <a:latin typeface="Times New Roman" charset="0"/>
              </a:defRPr>
            </a:lvl7pPr>
            <a:lvl8pPr marL="3429000" indent="-228600" eaLnBrk="0" fontAlgn="base" hangingPunct="0">
              <a:spcBef>
                <a:spcPct val="0"/>
              </a:spcBef>
              <a:spcAft>
                <a:spcPct val="0"/>
              </a:spcAft>
              <a:defRPr sz="2400">
                <a:solidFill>
                  <a:schemeClr val="tx1"/>
                </a:solidFill>
                <a:latin typeface="Times New Roman" charset="0"/>
              </a:defRPr>
            </a:lvl8pPr>
            <a:lvl9pPr marL="3886200" indent="-228600" eaLnBrk="0" fontAlgn="base" hangingPunct="0">
              <a:spcBef>
                <a:spcPct val="0"/>
              </a:spcBef>
              <a:spcAft>
                <a:spcPct val="0"/>
              </a:spcAft>
              <a:defRPr sz="2400">
                <a:solidFill>
                  <a:schemeClr val="tx1"/>
                </a:solidFill>
                <a:latin typeface="Times New Roman" charset="0"/>
              </a:defRPr>
            </a:lvl9pPr>
          </a:lstStyle>
          <a:p>
            <a:pPr lvl="1">
              <a:lnSpc>
                <a:spcPct val="120000"/>
              </a:lnSpc>
              <a:spcBef>
                <a:spcPct val="20000"/>
              </a:spcBef>
              <a:buFontTx/>
              <a:buChar char="•"/>
              <a:defRPr/>
            </a:pPr>
            <a:r>
              <a:rPr lang="en-US" altLang="en-US" dirty="0">
                <a:latin typeface="Arial" charset="0"/>
              </a:rPr>
              <a:t>Know the main sources of space junk</a:t>
            </a:r>
          </a:p>
          <a:p>
            <a:pPr lvl="1">
              <a:lnSpc>
                <a:spcPct val="120000"/>
              </a:lnSpc>
              <a:spcBef>
                <a:spcPct val="20000"/>
              </a:spcBef>
              <a:buFontTx/>
              <a:buChar char="•"/>
              <a:defRPr/>
            </a:pPr>
            <a:r>
              <a:rPr lang="en-US" altLang="en-US" dirty="0">
                <a:latin typeface="Arial" charset="0"/>
              </a:rPr>
              <a:t>Understand risks to spacecraft due to very high speed objects</a:t>
            </a:r>
          </a:p>
          <a:p>
            <a:pPr lvl="1">
              <a:lnSpc>
                <a:spcPct val="120000"/>
              </a:lnSpc>
              <a:spcBef>
                <a:spcPct val="20000"/>
              </a:spcBef>
              <a:buFontTx/>
              <a:buChar char="•"/>
              <a:defRPr/>
            </a:pPr>
            <a:r>
              <a:rPr lang="en-US" altLang="en-US" dirty="0">
                <a:latin typeface="Arial" charset="0"/>
              </a:rPr>
              <a:t>Describe design implications to protect spacecraft from orbital debris</a:t>
            </a:r>
          </a:p>
          <a:p>
            <a:pPr marL="457200" lvl="1" indent="0">
              <a:lnSpc>
                <a:spcPct val="120000"/>
              </a:lnSpc>
              <a:spcBef>
                <a:spcPct val="20000"/>
              </a:spcBef>
              <a:defRPr/>
            </a:pPr>
            <a:endParaRPr lang="en-US" altLang="en-US" dirty="0">
              <a:latin typeface="Arial" charset="0"/>
            </a:endParaRPr>
          </a:p>
          <a:p>
            <a:pPr lvl="1">
              <a:lnSpc>
                <a:spcPct val="120000"/>
              </a:lnSpc>
              <a:spcBef>
                <a:spcPct val="20000"/>
              </a:spcBef>
              <a:buFontTx/>
              <a:buChar char="•"/>
              <a:defRPr/>
            </a:pPr>
            <a:endParaRPr lang="en-US" altLang="en-US" dirty="0">
              <a:latin typeface="Arial" charset="0"/>
            </a:endParaRPr>
          </a:p>
          <a:p>
            <a:pPr marL="457200" lvl="1" indent="0">
              <a:lnSpc>
                <a:spcPct val="120000"/>
              </a:lnSpc>
              <a:spcBef>
                <a:spcPct val="20000"/>
              </a:spcBef>
              <a:defRPr/>
            </a:pPr>
            <a:endParaRPr lang="en-US" altLang="en-US" dirty="0">
              <a:latin typeface="Arial" charset="0"/>
            </a:endParaRPr>
          </a:p>
          <a:p>
            <a:pPr marL="457200" lvl="1" indent="0">
              <a:spcBef>
                <a:spcPct val="50000"/>
              </a:spcBef>
              <a:defRPr/>
            </a:pPr>
            <a:endParaRPr lang="en-US" altLang="en-US" dirty="0">
              <a:latin typeface="Arial" charset="0"/>
            </a:endParaRPr>
          </a:p>
          <a:p>
            <a:pPr lvl="1">
              <a:spcBef>
                <a:spcPct val="50000"/>
              </a:spcBef>
              <a:buFontTx/>
              <a:buChar char="–"/>
              <a:defRPr/>
            </a:pPr>
            <a:endParaRPr lang="en-US" altLang="en-US" dirty="0">
              <a:latin typeface="Arial" charset="0"/>
            </a:endParaRPr>
          </a:p>
        </p:txBody>
      </p:sp>
      <p:sp>
        <p:nvSpPr>
          <p:cNvPr id="2" name="Slide Number Placeholder 1">
            <a:extLst>
              <a:ext uri="{FF2B5EF4-FFF2-40B4-BE49-F238E27FC236}">
                <a16:creationId xmlns:a16="http://schemas.microsoft.com/office/drawing/2014/main" id="{6F9A403E-A6ED-40BF-B98C-1C626E3A2941}"/>
              </a:ext>
            </a:extLst>
          </p:cNvPr>
          <p:cNvSpPr>
            <a:spLocks noGrp="1"/>
          </p:cNvSpPr>
          <p:nvPr>
            <p:ph type="sldNum" sz="quarter" idx="12"/>
          </p:nvPr>
        </p:nvSpPr>
        <p:spPr/>
        <p:txBody>
          <a:bodyPr/>
          <a:lstStyle/>
          <a:p>
            <a:fld id="{C83C362F-97FB-4C1E-B0F0-C3069DD0CDD1}" type="slidenum">
              <a:rPr lang="en-US" smtClean="0"/>
              <a:t>29</a:t>
            </a:fld>
            <a:endParaRPr lang="en-US"/>
          </a:p>
        </p:txBody>
      </p:sp>
    </p:spTree>
    <p:extLst>
      <p:ext uri="{BB962C8B-B14F-4D97-AF65-F5344CB8AC3E}">
        <p14:creationId xmlns:p14="http://schemas.microsoft.com/office/powerpoint/2010/main" val="3028832357"/>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3204ED90-B0B8-4BFA-9A4F-406CF8E03425}"/>
              </a:ext>
            </a:extLst>
          </p:cNvPr>
          <p:cNvSpPr>
            <a:spLocks noGrp="1" noChangeArrowheads="1"/>
          </p:cNvSpPr>
          <p:nvPr>
            <p:ph type="title"/>
          </p:nvPr>
        </p:nvSpPr>
        <p:spPr/>
        <p:txBody>
          <a:bodyPr/>
          <a:lstStyle/>
          <a:p>
            <a:pPr>
              <a:defRPr/>
            </a:pPr>
            <a:r>
              <a:rPr lang="en-US" altLang="en-US"/>
              <a:t>Summary of Environment Effects</a:t>
            </a:r>
          </a:p>
        </p:txBody>
      </p:sp>
      <p:graphicFrame>
        <p:nvGraphicFramePr>
          <p:cNvPr id="57346" name="Object 5">
            <a:extLst>
              <a:ext uri="{FF2B5EF4-FFF2-40B4-BE49-F238E27FC236}">
                <a16:creationId xmlns:a16="http://schemas.microsoft.com/office/drawing/2014/main" id="{42D8C7D7-46E5-44F4-A0F2-81661BC3E195}"/>
              </a:ext>
            </a:extLst>
          </p:cNvPr>
          <p:cNvGraphicFramePr>
            <a:graphicFrameLocks noGrp="1" noChangeAspect="1"/>
          </p:cNvGraphicFramePr>
          <p:nvPr>
            <p:ph sz="quarter" idx="13"/>
          </p:nvPr>
        </p:nvGraphicFramePr>
        <p:xfrm>
          <a:off x="1864386" y="1954924"/>
          <a:ext cx="7545547" cy="4701792"/>
        </p:xfrm>
        <a:graphic>
          <a:graphicData uri="http://schemas.openxmlformats.org/presentationml/2006/ole">
            <mc:AlternateContent xmlns:mc="http://schemas.openxmlformats.org/markup-compatibility/2006">
              <mc:Choice xmlns:v="urn:schemas-microsoft-com:vml" Requires="v">
                <p:oleObj name="Document" r:id="rId3" imgW="9581388" imgH="5972556" progId="Word.Document.8">
                  <p:embed/>
                </p:oleObj>
              </mc:Choice>
              <mc:Fallback>
                <p:oleObj name="Document" r:id="rId3" imgW="9581388" imgH="5972556" progId="Word.Document.8">
                  <p:embed/>
                  <p:pic>
                    <p:nvPicPr>
                      <p:cNvPr id="57346" name="Object 5">
                        <a:extLst>
                          <a:ext uri="{FF2B5EF4-FFF2-40B4-BE49-F238E27FC236}">
                            <a16:creationId xmlns:a16="http://schemas.microsoft.com/office/drawing/2014/main" id="{42D8C7D7-46E5-44F4-A0F2-81661BC3E19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21735" t="3186" r="21022" b="29446"/>
                      <a:stretch>
                        <a:fillRect/>
                      </a:stretch>
                    </p:blipFill>
                    <p:spPr bwMode="auto">
                      <a:xfrm>
                        <a:off x="1864386" y="1954924"/>
                        <a:ext cx="7545547" cy="4701792"/>
                      </a:xfrm>
                      <a:prstGeom prst="rect">
                        <a:avLst/>
                      </a:prstGeom>
                      <a:noFill/>
                      <a:ln>
                        <a:noFill/>
                      </a:ln>
                      <a:effectLst/>
                    </p:spPr>
                  </p:pic>
                </p:oleObj>
              </mc:Fallback>
            </mc:AlternateContent>
          </a:graphicData>
        </a:graphic>
      </p:graphicFrame>
      <p:sp>
        <p:nvSpPr>
          <p:cNvPr id="2" name="Slide Number Placeholder 1">
            <a:extLst>
              <a:ext uri="{FF2B5EF4-FFF2-40B4-BE49-F238E27FC236}">
                <a16:creationId xmlns:a16="http://schemas.microsoft.com/office/drawing/2014/main" id="{3B80D704-56F9-4376-A5A4-3E2577689A64}"/>
              </a:ext>
            </a:extLst>
          </p:cNvPr>
          <p:cNvSpPr>
            <a:spLocks noGrp="1"/>
          </p:cNvSpPr>
          <p:nvPr>
            <p:ph type="sldNum" sz="quarter" idx="12"/>
          </p:nvPr>
        </p:nvSpPr>
        <p:spPr/>
        <p:txBody>
          <a:bodyPr/>
          <a:lstStyle/>
          <a:p>
            <a:fld id="{C83C362F-97FB-4C1E-B0F0-C3069DD0CDD1}" type="slidenum">
              <a:rPr lang="en-US" smtClean="0"/>
              <a:t>30</a:t>
            </a:fld>
            <a:endParaRPr lang="en-US"/>
          </a:p>
        </p:txBody>
      </p:sp>
    </p:spTree>
    <p:extLst>
      <p:ext uri="{BB962C8B-B14F-4D97-AF65-F5344CB8AC3E}">
        <p14:creationId xmlns:p14="http://schemas.microsoft.com/office/powerpoint/2010/main" val="301473497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621B57E8-902A-4C03-97BD-A7A6B2AC0520}"/>
              </a:ext>
            </a:extLst>
          </p:cNvPr>
          <p:cNvSpPr>
            <a:spLocks noGrp="1" noChangeArrowheads="1"/>
          </p:cNvSpPr>
          <p:nvPr>
            <p:ph type="title"/>
          </p:nvPr>
        </p:nvSpPr>
        <p:spPr>
          <a:xfrm>
            <a:off x="2019300" y="0"/>
            <a:ext cx="8483600" cy="762000"/>
          </a:xfrm>
        </p:spPr>
        <p:txBody>
          <a:bodyPr>
            <a:normAutofit/>
          </a:bodyPr>
          <a:lstStyle/>
          <a:p>
            <a:pPr>
              <a:defRPr/>
            </a:pPr>
            <a:r>
              <a:rPr lang="en-US" altLang="en-US" sz="2400"/>
              <a:t>Impact of the Space Environment on Spacecraft Systems</a:t>
            </a:r>
          </a:p>
        </p:txBody>
      </p:sp>
      <p:graphicFrame>
        <p:nvGraphicFramePr>
          <p:cNvPr id="8198" name="Group 6">
            <a:extLst>
              <a:ext uri="{FF2B5EF4-FFF2-40B4-BE49-F238E27FC236}">
                <a16:creationId xmlns:a16="http://schemas.microsoft.com/office/drawing/2014/main" id="{49530EF0-FDCA-491E-8C4B-13CF6B56CDE0}"/>
              </a:ext>
            </a:extLst>
          </p:cNvPr>
          <p:cNvGraphicFramePr>
            <a:graphicFrameLocks noGrp="1"/>
          </p:cNvGraphicFramePr>
          <p:nvPr/>
        </p:nvGraphicFramePr>
        <p:xfrm>
          <a:off x="2565400" y="1308100"/>
          <a:ext cx="8051800" cy="368300"/>
        </p:xfrm>
        <a:graphic>
          <a:graphicData uri="http://schemas.openxmlformats.org/drawingml/2006/table">
            <a:tbl>
              <a:tblPr/>
              <a:tblGrid>
                <a:gridCol w="8051800">
                  <a:extLst>
                    <a:ext uri="{9D8B030D-6E8A-4147-A177-3AD203B41FA5}">
                      <a16:colId xmlns:a16="http://schemas.microsoft.com/office/drawing/2014/main" val="20000"/>
                    </a:ext>
                  </a:extLst>
                </a:gridCol>
              </a:tblGrid>
              <a:tr h="368300">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600" b="1" i="0" u="none" strike="noStrike" cap="none" normalizeH="0" baseline="0">
                          <a:ln>
                            <a:noFill/>
                          </a:ln>
                          <a:solidFill>
                            <a:schemeClr val="tx1"/>
                          </a:solidFill>
                          <a:effectLst/>
                          <a:latin typeface="Arial" charset="0"/>
                        </a:rPr>
                        <a:t>Space Environments</a:t>
                      </a:r>
                    </a:p>
                  </a:txBody>
                  <a:tcPr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8204" name="Group 12">
            <a:extLst>
              <a:ext uri="{FF2B5EF4-FFF2-40B4-BE49-F238E27FC236}">
                <a16:creationId xmlns:a16="http://schemas.microsoft.com/office/drawing/2014/main" id="{54669313-A1E6-4B94-B2BD-2C0670E5E4BE}"/>
              </a:ext>
            </a:extLst>
          </p:cNvPr>
          <p:cNvGraphicFramePr>
            <a:graphicFrameLocks noGrp="1"/>
          </p:cNvGraphicFramePr>
          <p:nvPr/>
        </p:nvGraphicFramePr>
        <p:xfrm>
          <a:off x="2565400" y="1676400"/>
          <a:ext cx="8051800" cy="304800"/>
        </p:xfrm>
        <a:graphic>
          <a:graphicData uri="http://schemas.openxmlformats.org/drawingml/2006/table">
            <a:tbl>
              <a:tblPr/>
              <a:tblGrid>
                <a:gridCol w="1435100">
                  <a:extLst>
                    <a:ext uri="{9D8B030D-6E8A-4147-A177-3AD203B41FA5}">
                      <a16:colId xmlns:a16="http://schemas.microsoft.com/office/drawing/2014/main" val="20000"/>
                    </a:ext>
                  </a:extLst>
                </a:gridCol>
                <a:gridCol w="2273300">
                  <a:extLst>
                    <a:ext uri="{9D8B030D-6E8A-4147-A177-3AD203B41FA5}">
                      <a16:colId xmlns:a16="http://schemas.microsoft.com/office/drawing/2014/main" val="20001"/>
                    </a:ext>
                  </a:extLst>
                </a:gridCol>
                <a:gridCol w="1841500">
                  <a:extLst>
                    <a:ext uri="{9D8B030D-6E8A-4147-A177-3AD203B41FA5}">
                      <a16:colId xmlns:a16="http://schemas.microsoft.com/office/drawing/2014/main" val="20002"/>
                    </a:ext>
                  </a:extLst>
                </a:gridCol>
                <a:gridCol w="1638300">
                  <a:extLst>
                    <a:ext uri="{9D8B030D-6E8A-4147-A177-3AD203B41FA5}">
                      <a16:colId xmlns:a16="http://schemas.microsoft.com/office/drawing/2014/main" val="20003"/>
                    </a:ext>
                  </a:extLst>
                </a:gridCol>
                <a:gridCol w="863600">
                  <a:extLst>
                    <a:ext uri="{9D8B030D-6E8A-4147-A177-3AD203B41FA5}">
                      <a16:colId xmlns:a16="http://schemas.microsoft.com/office/drawing/2014/main" val="20004"/>
                    </a:ext>
                  </a:extLst>
                </a:gridCol>
              </a:tblGrid>
              <a:tr h="304800">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200" b="1" i="0" u="none" strike="noStrike" cap="none" normalizeH="0" baseline="0">
                          <a:ln>
                            <a:noFill/>
                          </a:ln>
                          <a:solidFill>
                            <a:schemeClr val="tx1"/>
                          </a:solidFill>
                          <a:effectLst/>
                          <a:latin typeface="Arial" charset="0"/>
                        </a:rPr>
                        <a:t>Vacuum</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200" b="1" i="0" u="none" strike="noStrike" cap="none" normalizeH="0" baseline="0">
                          <a:ln>
                            <a:noFill/>
                          </a:ln>
                          <a:solidFill>
                            <a:schemeClr val="tx1"/>
                          </a:solidFill>
                          <a:effectLst/>
                          <a:latin typeface="Arial" charset="0"/>
                        </a:rPr>
                        <a:t>Neutral</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200" b="1" i="0" u="none" strike="noStrike" cap="none" normalizeH="0" baseline="0">
                          <a:ln>
                            <a:noFill/>
                          </a:ln>
                          <a:solidFill>
                            <a:schemeClr val="tx1"/>
                          </a:solidFill>
                          <a:effectLst/>
                          <a:latin typeface="Arial" charset="0"/>
                        </a:rPr>
                        <a:t>Plasma</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200" b="1" i="0" u="none" strike="noStrike" cap="none" normalizeH="0" baseline="0">
                          <a:ln>
                            <a:noFill/>
                          </a:ln>
                          <a:solidFill>
                            <a:schemeClr val="tx1"/>
                          </a:solidFill>
                          <a:effectLst/>
                          <a:latin typeface="Arial" charset="0"/>
                        </a:rPr>
                        <a:t>Radiation</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200" b="1" i="0" u="none" strike="noStrike" cap="none" normalizeH="0" baseline="0">
                          <a:ln>
                            <a:noFill/>
                          </a:ln>
                          <a:solidFill>
                            <a:schemeClr val="tx1"/>
                          </a:solidFill>
                          <a:effectLst/>
                          <a:latin typeface="Arial" charset="0"/>
                        </a:rPr>
                        <a:t>MM/OD</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8406" name="Group 214">
            <a:extLst>
              <a:ext uri="{FF2B5EF4-FFF2-40B4-BE49-F238E27FC236}">
                <a16:creationId xmlns:a16="http://schemas.microsoft.com/office/drawing/2014/main" id="{164A7846-F587-4F91-91F6-31E02662EFB3}"/>
              </a:ext>
            </a:extLst>
          </p:cNvPr>
          <p:cNvGraphicFramePr>
            <a:graphicFrameLocks noGrp="1"/>
          </p:cNvGraphicFramePr>
          <p:nvPr/>
        </p:nvGraphicFramePr>
        <p:xfrm>
          <a:off x="1574800" y="1981200"/>
          <a:ext cx="9042400" cy="4019630"/>
        </p:xfrm>
        <a:graphic>
          <a:graphicData uri="http://schemas.openxmlformats.org/drawingml/2006/table">
            <a:tbl>
              <a:tblPr/>
              <a:tblGrid>
                <a:gridCol w="990600">
                  <a:extLst>
                    <a:ext uri="{9D8B030D-6E8A-4147-A177-3AD203B41FA5}">
                      <a16:colId xmlns:a16="http://schemas.microsoft.com/office/drawing/2014/main" val="20000"/>
                    </a:ext>
                  </a:extLst>
                </a:gridCol>
                <a:gridCol w="482600">
                  <a:extLst>
                    <a:ext uri="{9D8B030D-6E8A-4147-A177-3AD203B41FA5}">
                      <a16:colId xmlns:a16="http://schemas.microsoft.com/office/drawing/2014/main" val="20001"/>
                    </a:ext>
                  </a:extLst>
                </a:gridCol>
                <a:gridCol w="9525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723900">
                  <a:extLst>
                    <a:ext uri="{9D8B030D-6E8A-4147-A177-3AD203B41FA5}">
                      <a16:colId xmlns:a16="http://schemas.microsoft.com/office/drawing/2014/main" val="20004"/>
                    </a:ext>
                  </a:extLst>
                </a:gridCol>
                <a:gridCol w="635000">
                  <a:extLst>
                    <a:ext uri="{9D8B030D-6E8A-4147-A177-3AD203B41FA5}">
                      <a16:colId xmlns:a16="http://schemas.microsoft.com/office/drawing/2014/main" val="20005"/>
                    </a:ext>
                  </a:extLst>
                </a:gridCol>
                <a:gridCol w="876300">
                  <a:extLst>
                    <a:ext uri="{9D8B030D-6E8A-4147-A177-3AD203B41FA5}">
                      <a16:colId xmlns:a16="http://schemas.microsoft.com/office/drawing/2014/main" val="20006"/>
                    </a:ext>
                  </a:extLst>
                </a:gridCol>
                <a:gridCol w="965200">
                  <a:extLst>
                    <a:ext uri="{9D8B030D-6E8A-4147-A177-3AD203B41FA5}">
                      <a16:colId xmlns:a16="http://schemas.microsoft.com/office/drawing/2014/main" val="20007"/>
                    </a:ext>
                  </a:extLst>
                </a:gridCol>
                <a:gridCol w="495300">
                  <a:extLst>
                    <a:ext uri="{9D8B030D-6E8A-4147-A177-3AD203B41FA5}">
                      <a16:colId xmlns:a16="http://schemas.microsoft.com/office/drawing/2014/main" val="20008"/>
                    </a:ext>
                  </a:extLst>
                </a:gridCol>
                <a:gridCol w="584200">
                  <a:extLst>
                    <a:ext uri="{9D8B030D-6E8A-4147-A177-3AD203B41FA5}">
                      <a16:colId xmlns:a16="http://schemas.microsoft.com/office/drawing/2014/main" val="20009"/>
                    </a:ext>
                  </a:extLst>
                </a:gridCol>
                <a:gridCol w="558800">
                  <a:extLst>
                    <a:ext uri="{9D8B030D-6E8A-4147-A177-3AD203B41FA5}">
                      <a16:colId xmlns:a16="http://schemas.microsoft.com/office/drawing/2014/main" val="20010"/>
                    </a:ext>
                  </a:extLst>
                </a:gridCol>
                <a:gridCol w="863600">
                  <a:extLst>
                    <a:ext uri="{9D8B030D-6E8A-4147-A177-3AD203B41FA5}">
                      <a16:colId xmlns:a16="http://schemas.microsoft.com/office/drawing/2014/main" val="20011"/>
                    </a:ext>
                  </a:extLst>
                </a:gridCol>
              </a:tblGrid>
              <a:tr h="533375">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l" defTabSz="914400" rtl="0" eaLnBrk="0" fontAlgn="base" latinLnBrk="0" hangingPunct="0">
                        <a:lnSpc>
                          <a:spcPct val="50000"/>
                        </a:lnSpc>
                        <a:spcBef>
                          <a:spcPct val="0"/>
                        </a:spcBef>
                        <a:spcAft>
                          <a:spcPct val="0"/>
                        </a:spcAft>
                        <a:buClrTx/>
                        <a:buSzTx/>
                        <a:buFontTx/>
                        <a:buNone/>
                        <a:tabLst/>
                      </a:pPr>
                      <a:endParaRPr kumimoji="0" lang="en-US" altLang="en-US" sz="1100" b="1" i="0" u="none" strike="noStrike" cap="none" normalizeH="0" baseline="0">
                        <a:ln>
                          <a:noFill/>
                        </a:ln>
                        <a:solidFill>
                          <a:schemeClr val="tx1"/>
                        </a:solidFill>
                        <a:effectLst/>
                        <a:latin typeface="Arial"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a:ln>
                            <a:noFill/>
                          </a:ln>
                          <a:solidFill>
                            <a:schemeClr val="tx1"/>
                          </a:solidFill>
                          <a:effectLst/>
                          <a:latin typeface="Arial" charset="0"/>
                        </a:rPr>
                        <a:t>Spacecraft Subsystems</a:t>
                      </a:r>
                    </a:p>
                  </a:txBody>
                  <a:tcPr marL="18288" marR="18288" marT="18287" marB="18287"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3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Solar UV</a:t>
                      </a:r>
                    </a:p>
                  </a:txBody>
                  <a:tcPr marL="18288" marR="18288" marT="18287" marB="18287"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3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Outgassing/</a:t>
                      </a:r>
                      <a:br>
                        <a:rPr kumimoji="0" lang="en-US" altLang="en-US" sz="1000" b="0" i="0" u="none" strike="noStrike" cap="none" normalizeH="0" baseline="0">
                          <a:ln>
                            <a:noFill/>
                          </a:ln>
                          <a:solidFill>
                            <a:schemeClr val="tx1"/>
                          </a:solidFill>
                          <a:effectLst/>
                          <a:latin typeface="Arial" charset="0"/>
                        </a:rPr>
                      </a:br>
                      <a:r>
                        <a:rPr kumimoji="0" lang="en-US" altLang="en-US" sz="1000" b="0" i="0" u="none" strike="noStrike" cap="none" normalizeH="0" baseline="0">
                          <a:ln>
                            <a:noFill/>
                          </a:ln>
                          <a:solidFill>
                            <a:schemeClr val="tx1"/>
                          </a:solidFill>
                          <a:effectLst/>
                          <a:latin typeface="Arial" charset="0"/>
                        </a:rPr>
                        <a:t>Contamination</a:t>
                      </a: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3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Aerodynamic Drag</a:t>
                      </a: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7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Sputtering</a:t>
                      </a: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3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Atomic Oxygen</a:t>
                      </a: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3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Spacecraft Glow</a:t>
                      </a: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3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Spacecraft Charging</a:t>
                      </a: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Van Allen Belts</a:t>
                      </a: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Galactic Cosmic Rays</a:t>
                      </a: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Solar Proton Events</a:t>
                      </a: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7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Impacts</a:t>
                      </a:r>
                    </a:p>
                  </a:txBody>
                  <a:tcPr marL="18288" marR="18288" marT="18287" marB="18287"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533375">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Attitude Determination &amp; Control</a:t>
                      </a:r>
                    </a:p>
                  </a:txBody>
                  <a:tcPr marL="18288" marR="18288" marT="18287" marB="18287"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3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Degradation of sensors</a:t>
                      </a: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3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Induced torques</a:t>
                      </a: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a:noFill/>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a:noFill/>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3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Interference with sensors</a:t>
                      </a: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Torques due to induced potentials</a:t>
                      </a: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solidFill>
                  </a:tcPr>
                </a:tc>
                <a:extLst>
                  <a:ext uri="{0D108BD9-81ED-4DB2-BD59-A6C34878D82A}">
                    <a16:rowId xmlns:a16="http://schemas.microsoft.com/office/drawing/2014/main" val="10001"/>
                  </a:ext>
                </a:extLst>
              </a:tr>
              <a:tr h="380982">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l" defTabSz="914400" rtl="0" eaLnBrk="0" fontAlgn="base" latinLnBrk="0" hangingPunct="0">
                        <a:lnSpc>
                          <a:spcPct val="3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Avionics</a:t>
                      </a:r>
                    </a:p>
                  </a:txBody>
                  <a:tcPr marL="18288" marR="18288" marT="18287" marB="18287"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Upsets due to EMI from arcing</a:t>
                      </a: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a:noFill/>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a:noFill/>
                    </a:lnL>
                    <a:lnR>
                      <a:noFill/>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a:noFill/>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EMI due to impacts</a:t>
                      </a:r>
                    </a:p>
                  </a:txBody>
                  <a:tcPr marL="18288" marR="18288" marT="18287" marB="18287"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646145">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Electrical Power</a:t>
                      </a:r>
                    </a:p>
                  </a:txBody>
                  <a:tcPr marL="18288" marR="18288" marT="18287" marB="18287"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28575" cap="flat" cmpd="sng" algn="ctr">
                      <a:solidFill>
                        <a:schemeClr val="tx1"/>
                      </a:solidFill>
                      <a:prstDash val="solid"/>
                      <a:round/>
                      <a:headEnd type="none" w="sm" len="sm"/>
                      <a:tailEnd type="none" w="sm" len="sm"/>
                    </a:lnL>
                    <a:lnR>
                      <a:noFill/>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a:noFill/>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a:noFill/>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a:noFill/>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Shift in floating potential, reattraction of contaminants</a:t>
                      </a: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a:noFill/>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a:noFill/>
                    </a:lnL>
                    <a:lnR>
                      <a:noFill/>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a:noFill/>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Destruction/</a:t>
                      </a:r>
                      <a:br>
                        <a:rPr kumimoji="0" lang="en-US" altLang="en-US" sz="1000" b="0" i="0" u="none" strike="noStrike" cap="none" normalizeH="0" baseline="0">
                          <a:ln>
                            <a:noFill/>
                          </a:ln>
                          <a:solidFill>
                            <a:schemeClr val="tx1"/>
                          </a:solidFill>
                          <a:effectLst/>
                          <a:latin typeface="Arial" charset="0"/>
                        </a:rPr>
                      </a:br>
                      <a:r>
                        <a:rPr kumimoji="0" lang="en-US" altLang="en-US" sz="1000" b="0" i="0" u="none" strike="noStrike" cap="none" normalizeH="0" baseline="0">
                          <a:ln>
                            <a:noFill/>
                          </a:ln>
                          <a:solidFill>
                            <a:schemeClr val="tx1"/>
                          </a:solidFill>
                          <a:effectLst/>
                          <a:latin typeface="Arial" charset="0"/>
                        </a:rPr>
                        <a:t>obscuration </a:t>
                      </a:r>
                      <a:br>
                        <a:rPr kumimoji="0" lang="en-US" altLang="en-US" sz="1000" b="0" i="0" u="none" strike="noStrike" cap="none" normalizeH="0" baseline="0">
                          <a:ln>
                            <a:noFill/>
                          </a:ln>
                          <a:solidFill>
                            <a:schemeClr val="tx1"/>
                          </a:solidFill>
                          <a:effectLst/>
                          <a:latin typeface="Arial" charset="0"/>
                        </a:rPr>
                      </a:br>
                      <a:r>
                        <a:rPr kumimoji="0" lang="en-US" altLang="en-US" sz="1000" b="0" i="0" u="none" strike="noStrike" cap="none" normalizeH="0" baseline="0">
                          <a:ln>
                            <a:noFill/>
                          </a:ln>
                          <a:solidFill>
                            <a:schemeClr val="tx1"/>
                          </a:solidFill>
                          <a:effectLst/>
                          <a:latin typeface="Arial" charset="0"/>
                        </a:rPr>
                        <a:t>of solar cells</a:t>
                      </a:r>
                    </a:p>
                  </a:txBody>
                  <a:tcPr marL="18288" marR="18288" marT="18287" marB="18287"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646145">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p>
                      <a:pPr marL="0" marR="0" lvl="0" indent="0" algn="l" defTabSz="914400" rtl="0" eaLnBrk="0" fontAlgn="base" latinLnBrk="0" hangingPunct="0">
                        <a:lnSpc>
                          <a:spcPct val="100000"/>
                        </a:lnSpc>
                        <a:spcBef>
                          <a:spcPct val="4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Propulsion</a:t>
                      </a:r>
                    </a:p>
                  </a:txBody>
                  <a:tcPr marL="18288" marR="18288" marT="18287" marB="18287"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Thruster plumes may be a contaminant source</a:t>
                      </a: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Drag makeup fuel requirement</a:t>
                      </a: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Shift in floating potential due to thruster firings</a:t>
                      </a: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Rupture of pressurized tanks</a:t>
                      </a:r>
                    </a:p>
                  </a:txBody>
                  <a:tcPr marL="18288" marR="18288" marT="18287" marB="18287"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r h="238114">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Structures</a:t>
                      </a:r>
                    </a:p>
                  </a:txBody>
                  <a:tcPr marL="18288" marR="18288" marT="18287" marB="18287"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Penetration</a:t>
                      </a:r>
                    </a:p>
                  </a:txBody>
                  <a:tcPr marL="18288" marR="18288" marT="18287" marB="18287"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5"/>
                  </a:ext>
                </a:extLst>
              </a:tr>
              <a:tr h="493753">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Telemetry, Tracking &amp; Communications</a:t>
                      </a:r>
                    </a:p>
                  </a:txBody>
                  <a:tcPr marL="18288" marR="18288" marT="18287" marB="18287"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2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Degradation of sensors</a:t>
                      </a: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a:noFill/>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a:noFill/>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2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Interference with sensors</a:t>
                      </a: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2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EMI due to arcing</a:t>
                      </a: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a:noFill/>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a:noFill/>
                    </a:lnL>
                    <a:lnR>
                      <a:noFill/>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a:noFill/>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2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EMI due to impacts</a:t>
                      </a:r>
                    </a:p>
                  </a:txBody>
                  <a:tcPr marL="18288" marR="18288" marT="18287" marB="18287"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6"/>
                  </a:ext>
                </a:extLst>
              </a:tr>
              <a:tr h="547662">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l" defTabSz="914400" rtl="0" eaLnBrk="0" fontAlgn="base" latinLnBrk="0" hangingPunct="0">
                        <a:lnSpc>
                          <a:spcPct val="75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Thermal Control</a:t>
                      </a:r>
                    </a:p>
                  </a:txBody>
                  <a:tcPr marL="18288" marR="18288" marT="18287" marB="18287"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28575" cap="flat" cmpd="sng" algn="ctr">
                      <a:solidFill>
                        <a:schemeClr val="tx1"/>
                      </a:solidFill>
                      <a:prstDash val="solid"/>
                      <a:round/>
                      <a:headEnd type="none" w="sm" len="sm"/>
                      <a:tailEnd type="none" w="sm" len="sm"/>
                    </a:lnL>
                    <a:lnR>
                      <a:noFill/>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a:noFill/>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a:noFill/>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a:noFill/>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2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Reattraction of comtaminants</a:t>
                      </a: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a:noFill/>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a:noFill/>
                    </a:lnL>
                    <a:lnR>
                      <a:noFill/>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a:noFill/>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Degradation of alpha/epsilon</a:t>
                      </a:r>
                    </a:p>
                  </a:txBody>
                  <a:tcPr marL="18288" marR="18288" marT="18287" marB="18287"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7"/>
                  </a:ext>
                </a:extLst>
              </a:tr>
            </a:tbl>
          </a:graphicData>
        </a:graphic>
      </p:graphicFrame>
      <p:grpSp>
        <p:nvGrpSpPr>
          <p:cNvPr id="8340" name="Group 202">
            <a:extLst>
              <a:ext uri="{FF2B5EF4-FFF2-40B4-BE49-F238E27FC236}">
                <a16:creationId xmlns:a16="http://schemas.microsoft.com/office/drawing/2014/main" id="{F9A4584C-06A3-429E-96E4-87241A38447E}"/>
              </a:ext>
            </a:extLst>
          </p:cNvPr>
          <p:cNvGrpSpPr>
            <a:grpSpLocks/>
          </p:cNvGrpSpPr>
          <p:nvPr/>
        </p:nvGrpSpPr>
        <p:grpSpPr bwMode="auto">
          <a:xfrm>
            <a:off x="2530475" y="2586039"/>
            <a:ext cx="7164388" cy="3317875"/>
            <a:chOff x="634" y="1629"/>
            <a:chExt cx="4513" cy="2090"/>
          </a:xfrm>
        </p:grpSpPr>
        <p:sp>
          <p:nvSpPr>
            <p:cNvPr id="8395" name="Text Box 203">
              <a:extLst>
                <a:ext uri="{FF2B5EF4-FFF2-40B4-BE49-F238E27FC236}">
                  <a16:creationId xmlns:a16="http://schemas.microsoft.com/office/drawing/2014/main" id="{08BAFD15-534E-498B-A3A7-34420FBD6194}"/>
                </a:ext>
              </a:extLst>
            </p:cNvPr>
            <p:cNvSpPr txBox="1">
              <a:spLocks noChangeArrowheads="1"/>
            </p:cNvSpPr>
            <p:nvPr/>
          </p:nvSpPr>
          <p:spPr bwMode="auto">
            <a:xfrm>
              <a:off x="2230" y="1629"/>
              <a:ext cx="729"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eaLnBrk="1" hangingPunct="1">
                <a:defRPr/>
              </a:pPr>
              <a:r>
                <a:rPr lang="en-US" altLang="en-US" sz="1000">
                  <a:latin typeface="Arial" charset="0"/>
                </a:rPr>
                <a:t>Change in sensor coatings</a:t>
              </a:r>
            </a:p>
          </p:txBody>
        </p:sp>
        <p:sp>
          <p:nvSpPr>
            <p:cNvPr id="8396" name="Text Box 204">
              <a:extLst>
                <a:ext uri="{FF2B5EF4-FFF2-40B4-BE49-F238E27FC236}">
                  <a16:creationId xmlns:a16="http://schemas.microsoft.com/office/drawing/2014/main" id="{26E4E614-DE64-4225-8213-079A61C44CC0}"/>
                </a:ext>
              </a:extLst>
            </p:cNvPr>
            <p:cNvSpPr txBox="1">
              <a:spLocks noChangeArrowheads="1"/>
            </p:cNvSpPr>
            <p:nvPr/>
          </p:nvSpPr>
          <p:spPr bwMode="auto">
            <a:xfrm>
              <a:off x="634" y="2245"/>
              <a:ext cx="94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eaLnBrk="1" hangingPunct="1">
                <a:defRPr/>
              </a:pPr>
              <a:r>
                <a:rPr lang="en-US" altLang="en-US" sz="1000">
                  <a:latin typeface="Arial" charset="0"/>
                </a:rPr>
                <a:t>Change in coverslide transmittance</a:t>
              </a:r>
            </a:p>
          </p:txBody>
        </p:sp>
        <p:sp>
          <p:nvSpPr>
            <p:cNvPr id="8397" name="Text Box 205">
              <a:extLst>
                <a:ext uri="{FF2B5EF4-FFF2-40B4-BE49-F238E27FC236}">
                  <a16:creationId xmlns:a16="http://schemas.microsoft.com/office/drawing/2014/main" id="{639DEF82-250A-4310-919C-CA5E64794917}"/>
                </a:ext>
              </a:extLst>
            </p:cNvPr>
            <p:cNvSpPr txBox="1">
              <a:spLocks noChangeArrowheads="1"/>
            </p:cNvSpPr>
            <p:nvPr/>
          </p:nvSpPr>
          <p:spPr bwMode="auto">
            <a:xfrm>
              <a:off x="2094" y="2237"/>
              <a:ext cx="94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eaLnBrk="1" hangingPunct="1">
                <a:defRPr/>
              </a:pPr>
              <a:r>
                <a:rPr lang="en-US" altLang="en-US" sz="1000">
                  <a:latin typeface="Arial" charset="0"/>
                </a:rPr>
                <a:t>Change in coverslide transmittance</a:t>
              </a:r>
            </a:p>
          </p:txBody>
        </p:sp>
        <p:sp>
          <p:nvSpPr>
            <p:cNvPr id="8398" name="Text Box 206">
              <a:extLst>
                <a:ext uri="{FF2B5EF4-FFF2-40B4-BE49-F238E27FC236}">
                  <a16:creationId xmlns:a16="http://schemas.microsoft.com/office/drawing/2014/main" id="{F4741016-A9C6-4531-AC30-4DA5B1AD37B9}"/>
                </a:ext>
              </a:extLst>
            </p:cNvPr>
            <p:cNvSpPr txBox="1">
              <a:spLocks noChangeArrowheads="1"/>
            </p:cNvSpPr>
            <p:nvPr/>
          </p:nvSpPr>
          <p:spPr bwMode="auto">
            <a:xfrm>
              <a:off x="4202" y="2237"/>
              <a:ext cx="94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eaLnBrk="1" hangingPunct="1">
                <a:defRPr/>
              </a:pPr>
              <a:r>
                <a:rPr lang="en-US" altLang="en-US" sz="1000">
                  <a:latin typeface="Arial" charset="0"/>
                </a:rPr>
                <a:t>Degradation of solar cell output</a:t>
              </a:r>
            </a:p>
          </p:txBody>
        </p:sp>
        <p:sp>
          <p:nvSpPr>
            <p:cNvPr id="8399" name="Text Box 207">
              <a:extLst>
                <a:ext uri="{FF2B5EF4-FFF2-40B4-BE49-F238E27FC236}">
                  <a16:creationId xmlns:a16="http://schemas.microsoft.com/office/drawing/2014/main" id="{3010EF75-8B73-40E3-91C0-51B2EA12BB25}"/>
                </a:ext>
              </a:extLst>
            </p:cNvPr>
            <p:cNvSpPr txBox="1">
              <a:spLocks noChangeArrowheads="1"/>
            </p:cNvSpPr>
            <p:nvPr/>
          </p:nvSpPr>
          <p:spPr bwMode="auto">
            <a:xfrm>
              <a:off x="4202" y="1917"/>
              <a:ext cx="94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eaLnBrk="1" hangingPunct="1">
                <a:defRPr/>
              </a:pPr>
              <a:r>
                <a:rPr lang="en-US" altLang="en-US" sz="1000">
                  <a:latin typeface="Arial" charset="0"/>
                </a:rPr>
                <a:t>Degradation:  SEUs, bit errors, …</a:t>
              </a:r>
            </a:p>
          </p:txBody>
        </p:sp>
        <p:sp>
          <p:nvSpPr>
            <p:cNvPr id="8400" name="Text Box 208">
              <a:extLst>
                <a:ext uri="{FF2B5EF4-FFF2-40B4-BE49-F238E27FC236}">
                  <a16:creationId xmlns:a16="http://schemas.microsoft.com/office/drawing/2014/main" id="{FE2EF1F1-652C-42E5-8765-E205D5A83D8C}"/>
                </a:ext>
              </a:extLst>
            </p:cNvPr>
            <p:cNvSpPr txBox="1">
              <a:spLocks noChangeArrowheads="1"/>
            </p:cNvSpPr>
            <p:nvPr/>
          </p:nvSpPr>
          <p:spPr bwMode="auto">
            <a:xfrm>
              <a:off x="2202" y="3173"/>
              <a:ext cx="729"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eaLnBrk="1" hangingPunct="1">
                <a:defRPr/>
              </a:pPr>
              <a:r>
                <a:rPr lang="en-US" altLang="en-US" sz="1000">
                  <a:latin typeface="Arial" charset="0"/>
                </a:rPr>
                <a:t>Change in sensor coatings</a:t>
              </a:r>
            </a:p>
          </p:txBody>
        </p:sp>
        <p:sp>
          <p:nvSpPr>
            <p:cNvPr id="8401" name="Text Box 209">
              <a:extLst>
                <a:ext uri="{FF2B5EF4-FFF2-40B4-BE49-F238E27FC236}">
                  <a16:creationId xmlns:a16="http://schemas.microsoft.com/office/drawing/2014/main" id="{6F941F3D-4E36-4E05-823A-F68E25BCDD05}"/>
                </a:ext>
              </a:extLst>
            </p:cNvPr>
            <p:cNvSpPr txBox="1">
              <a:spLocks noChangeArrowheads="1"/>
            </p:cNvSpPr>
            <p:nvPr/>
          </p:nvSpPr>
          <p:spPr bwMode="auto">
            <a:xfrm>
              <a:off x="4202" y="3173"/>
              <a:ext cx="94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eaLnBrk="1" hangingPunct="1">
                <a:defRPr/>
              </a:pPr>
              <a:r>
                <a:rPr lang="en-US" altLang="en-US" sz="1000">
                  <a:latin typeface="Arial" charset="0"/>
                </a:rPr>
                <a:t>Degradation of electronics</a:t>
              </a:r>
            </a:p>
          </p:txBody>
        </p:sp>
        <p:sp>
          <p:nvSpPr>
            <p:cNvPr id="8402" name="Text Box 210">
              <a:extLst>
                <a:ext uri="{FF2B5EF4-FFF2-40B4-BE49-F238E27FC236}">
                  <a16:creationId xmlns:a16="http://schemas.microsoft.com/office/drawing/2014/main" id="{B10C158C-D535-465F-921A-A51B7254CE0F}"/>
                </a:ext>
              </a:extLst>
            </p:cNvPr>
            <p:cNvSpPr txBox="1">
              <a:spLocks noChangeArrowheads="1"/>
            </p:cNvSpPr>
            <p:nvPr/>
          </p:nvSpPr>
          <p:spPr bwMode="auto">
            <a:xfrm>
              <a:off x="634" y="3469"/>
              <a:ext cx="94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eaLnBrk="1" hangingPunct="1">
                <a:defRPr/>
              </a:pPr>
              <a:r>
                <a:rPr lang="en-US" altLang="en-US" sz="1000">
                  <a:latin typeface="Arial" charset="0"/>
                </a:rPr>
                <a:t>Change in surface alpha/epsilon ratio</a:t>
              </a:r>
            </a:p>
          </p:txBody>
        </p:sp>
        <p:sp>
          <p:nvSpPr>
            <p:cNvPr id="8403" name="Text Box 211">
              <a:extLst>
                <a:ext uri="{FF2B5EF4-FFF2-40B4-BE49-F238E27FC236}">
                  <a16:creationId xmlns:a16="http://schemas.microsoft.com/office/drawing/2014/main" id="{E22870DD-8BE7-49E8-9327-26236FD2C33F}"/>
                </a:ext>
              </a:extLst>
            </p:cNvPr>
            <p:cNvSpPr txBox="1">
              <a:spLocks noChangeArrowheads="1"/>
            </p:cNvSpPr>
            <p:nvPr/>
          </p:nvSpPr>
          <p:spPr bwMode="auto">
            <a:xfrm>
              <a:off x="2094" y="3469"/>
              <a:ext cx="94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eaLnBrk="1" hangingPunct="1">
                <a:defRPr/>
              </a:pPr>
              <a:r>
                <a:rPr lang="en-US" altLang="en-US" sz="1000">
                  <a:latin typeface="Arial" charset="0"/>
                </a:rPr>
                <a:t>Change in surface alpha/epsilon ratio</a:t>
              </a:r>
            </a:p>
          </p:txBody>
        </p:sp>
        <p:sp>
          <p:nvSpPr>
            <p:cNvPr id="8404" name="Text Box 212">
              <a:extLst>
                <a:ext uri="{FF2B5EF4-FFF2-40B4-BE49-F238E27FC236}">
                  <a16:creationId xmlns:a16="http://schemas.microsoft.com/office/drawing/2014/main" id="{49FC661D-D6B6-4F8A-A0A5-3E6DB1639B30}"/>
                </a:ext>
              </a:extLst>
            </p:cNvPr>
            <p:cNvSpPr txBox="1">
              <a:spLocks noChangeArrowheads="1"/>
            </p:cNvSpPr>
            <p:nvPr/>
          </p:nvSpPr>
          <p:spPr bwMode="auto">
            <a:xfrm>
              <a:off x="4202" y="3469"/>
              <a:ext cx="94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eaLnBrk="1" hangingPunct="1">
                <a:defRPr/>
              </a:pPr>
              <a:r>
                <a:rPr lang="en-US" altLang="en-US" sz="1000">
                  <a:latin typeface="Arial" charset="0"/>
                </a:rPr>
                <a:t>Cold surfaces may experience heating</a:t>
              </a:r>
            </a:p>
          </p:txBody>
        </p:sp>
      </p:grpSp>
      <p:sp>
        <p:nvSpPr>
          <p:cNvPr id="8405" name="Rectangle 213">
            <a:extLst>
              <a:ext uri="{FF2B5EF4-FFF2-40B4-BE49-F238E27FC236}">
                <a16:creationId xmlns:a16="http://schemas.microsoft.com/office/drawing/2014/main" id="{311AA753-1161-43D0-9AF8-A52DC424F8E9}"/>
              </a:ext>
            </a:extLst>
          </p:cNvPr>
          <p:cNvSpPr>
            <a:spLocks noChangeArrowheads="1"/>
          </p:cNvSpPr>
          <p:nvPr/>
        </p:nvSpPr>
        <p:spPr bwMode="auto">
          <a:xfrm>
            <a:off x="9742488" y="6253164"/>
            <a:ext cx="925512" cy="246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2075" tIns="46038" rIns="92075" bIns="46038">
            <a:spAutoFit/>
          </a:bodyPr>
          <a:lstStyle/>
          <a:p>
            <a:pPr>
              <a:spcBef>
                <a:spcPct val="50000"/>
              </a:spcBef>
              <a:defRPr/>
            </a:pPr>
            <a:r>
              <a:rPr lang="en-US" altLang="en-US" sz="1000">
                <a:latin typeface="Arial" charset="0"/>
              </a:rPr>
              <a:t>TSE, Fig 7.1</a:t>
            </a:r>
          </a:p>
        </p:txBody>
      </p:sp>
      <p:sp>
        <p:nvSpPr>
          <p:cNvPr id="2" name="Slide Number Placeholder 1">
            <a:extLst>
              <a:ext uri="{FF2B5EF4-FFF2-40B4-BE49-F238E27FC236}">
                <a16:creationId xmlns:a16="http://schemas.microsoft.com/office/drawing/2014/main" id="{706F7035-5831-46D1-8F51-4D6752CAED29}"/>
              </a:ext>
            </a:extLst>
          </p:cNvPr>
          <p:cNvSpPr>
            <a:spLocks noGrp="1"/>
          </p:cNvSpPr>
          <p:nvPr>
            <p:ph type="sldNum" sz="quarter" idx="12"/>
          </p:nvPr>
        </p:nvSpPr>
        <p:spPr/>
        <p:txBody>
          <a:bodyPr/>
          <a:lstStyle/>
          <a:p>
            <a:fld id="{C83C362F-97FB-4C1E-B0F0-C3069DD0CDD1}" type="slidenum">
              <a:rPr lang="en-US" smtClean="0"/>
              <a:t>31</a:t>
            </a:fld>
            <a:endParaRPr lang="en-US"/>
          </a:p>
        </p:txBody>
      </p:sp>
    </p:spTree>
    <p:extLst>
      <p:ext uri="{BB962C8B-B14F-4D97-AF65-F5344CB8AC3E}">
        <p14:creationId xmlns:p14="http://schemas.microsoft.com/office/powerpoint/2010/main" val="1838523007"/>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0CEF66-AFD2-4C84-99DA-1E957CE47316}"/>
              </a:ext>
            </a:extLst>
          </p:cNvPr>
          <p:cNvSpPr>
            <a:spLocks noGrp="1"/>
          </p:cNvSpPr>
          <p:nvPr>
            <p:ph type="title"/>
          </p:nvPr>
        </p:nvSpPr>
        <p:spPr>
          <a:xfrm>
            <a:off x="1567913" y="-233825"/>
            <a:ext cx="10018713" cy="1752599"/>
          </a:xfrm>
        </p:spPr>
        <p:txBody>
          <a:bodyPr/>
          <a:lstStyle/>
          <a:p>
            <a:r>
              <a:rPr lang="en-US" dirty="0"/>
              <a:t>COURSE REVIEW</a:t>
            </a:r>
          </a:p>
        </p:txBody>
      </p:sp>
      <p:sp>
        <p:nvSpPr>
          <p:cNvPr id="4" name="TextBox 3">
            <a:extLst>
              <a:ext uri="{FF2B5EF4-FFF2-40B4-BE49-F238E27FC236}">
                <a16:creationId xmlns:a16="http://schemas.microsoft.com/office/drawing/2014/main" id="{E41AF6CF-4B7F-4569-A514-90139AEF6D30}"/>
              </a:ext>
            </a:extLst>
          </p:cNvPr>
          <p:cNvSpPr txBox="1"/>
          <p:nvPr/>
        </p:nvSpPr>
        <p:spPr>
          <a:xfrm>
            <a:off x="2383437" y="1198676"/>
            <a:ext cx="8881436" cy="4589590"/>
          </a:xfrm>
          <a:prstGeom prst="rect">
            <a:avLst/>
          </a:prstGeom>
          <a:noFill/>
        </p:spPr>
        <p:txBody>
          <a:bodyPr wrap="square">
            <a:spAutoFit/>
          </a:bodyPr>
          <a:lstStyle/>
          <a:p>
            <a:pPr marL="457200" marR="0" indent="-457200">
              <a:lnSpc>
                <a:spcPct val="115000"/>
              </a:lnSpc>
              <a:spcBef>
                <a:spcPts val="0"/>
              </a:spcBef>
              <a:spcAft>
                <a:spcPts val="0"/>
              </a:spcAft>
              <a:buFont typeface="Wingdings" panose="05000000000000000000" pitchFamily="2" charset="2"/>
              <a:buChar char="ü"/>
            </a:pPr>
            <a:r>
              <a:rPr lang="en-US" sz="3200" dirty="0">
                <a:effectLst/>
                <a:latin typeface="Calibri" panose="020F0502020204030204" pitchFamily="34" charset="0"/>
                <a:ea typeface="Calibri" panose="020F0502020204030204" pitchFamily="34" charset="0"/>
                <a:cs typeface="Calibri" panose="020F0502020204030204" pitchFamily="34" charset="0"/>
              </a:rPr>
              <a:t>Chapter 1 – Course </a:t>
            </a:r>
            <a:r>
              <a:rPr lang="en-US" sz="3200" dirty="0">
                <a:latin typeface="Calibri" panose="020F0502020204030204" pitchFamily="34" charset="0"/>
                <a:ea typeface="Calibri" panose="020F0502020204030204" pitchFamily="34" charset="0"/>
                <a:cs typeface="Calibri" panose="020F0502020204030204" pitchFamily="34" charset="0"/>
              </a:rPr>
              <a:t>I</a:t>
            </a:r>
            <a:r>
              <a:rPr lang="en-US" sz="3200" dirty="0">
                <a:effectLst/>
                <a:latin typeface="Calibri" panose="020F0502020204030204" pitchFamily="34" charset="0"/>
                <a:ea typeface="Calibri" panose="020F0502020204030204" pitchFamily="34" charset="0"/>
                <a:cs typeface="Calibri" panose="020F0502020204030204" pitchFamily="34" charset="0"/>
              </a:rPr>
              <a:t>ntro</a:t>
            </a:r>
          </a:p>
          <a:p>
            <a:pPr marL="457200" marR="0" indent="-457200">
              <a:lnSpc>
                <a:spcPct val="115000"/>
              </a:lnSpc>
              <a:spcBef>
                <a:spcPts val="0"/>
              </a:spcBef>
              <a:spcAft>
                <a:spcPts val="0"/>
              </a:spcAft>
              <a:buFont typeface="Wingdings" panose="05000000000000000000" pitchFamily="2" charset="2"/>
              <a:buChar char="ü"/>
            </a:pPr>
            <a:r>
              <a:rPr lang="en-US" sz="3200" dirty="0">
                <a:latin typeface="Calibri" panose="020F0502020204030204" pitchFamily="34" charset="0"/>
                <a:ea typeface="Calibri" panose="020F0502020204030204" pitchFamily="34" charset="0"/>
                <a:cs typeface="Calibri" panose="020F0502020204030204" pitchFamily="34" charset="0"/>
              </a:rPr>
              <a:t>Chapter 2 – The Vacuum Environment</a:t>
            </a:r>
          </a:p>
          <a:p>
            <a:pPr marL="457200" marR="0" indent="-457200">
              <a:lnSpc>
                <a:spcPct val="115000"/>
              </a:lnSpc>
              <a:spcBef>
                <a:spcPts val="0"/>
              </a:spcBef>
              <a:spcAft>
                <a:spcPts val="0"/>
              </a:spcAft>
              <a:buFont typeface="Wingdings" panose="05000000000000000000" pitchFamily="2" charset="2"/>
              <a:buChar char="ü"/>
            </a:pPr>
            <a:r>
              <a:rPr lang="en-US" sz="3200" dirty="0">
                <a:effectLst/>
                <a:latin typeface="Calibri" panose="020F0502020204030204" pitchFamily="34" charset="0"/>
                <a:ea typeface="Calibri" panose="020F0502020204030204" pitchFamily="34" charset="0"/>
                <a:cs typeface="Calibri" panose="020F0502020204030204" pitchFamily="34" charset="0"/>
              </a:rPr>
              <a:t>Chapter 3 - Neutral Atmospheric Particles</a:t>
            </a:r>
          </a:p>
          <a:p>
            <a:pPr marL="457200" marR="0" indent="-457200">
              <a:lnSpc>
                <a:spcPct val="115000"/>
              </a:lnSpc>
              <a:spcBef>
                <a:spcPts val="0"/>
              </a:spcBef>
              <a:spcAft>
                <a:spcPts val="0"/>
              </a:spcAft>
              <a:buFont typeface="Wingdings" panose="05000000000000000000" pitchFamily="2" charset="2"/>
              <a:buChar char="ü"/>
            </a:pPr>
            <a:r>
              <a:rPr lang="en-US" sz="3200" dirty="0">
                <a:effectLst/>
                <a:latin typeface="Calibri" panose="020F0502020204030204" pitchFamily="34" charset="0"/>
                <a:ea typeface="Calibri" panose="020F0502020204030204" pitchFamily="34" charset="0"/>
                <a:cs typeface="Calibri" panose="020F0502020204030204" pitchFamily="34" charset="0"/>
              </a:rPr>
              <a:t>Chapter 4 - </a:t>
            </a:r>
            <a:r>
              <a:rPr lang="en-US" sz="32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Charged particles and plasma interactions with the spacecraft</a:t>
            </a:r>
          </a:p>
          <a:p>
            <a:pPr marL="457200" marR="0" indent="-457200">
              <a:lnSpc>
                <a:spcPct val="115000"/>
              </a:lnSpc>
              <a:spcBef>
                <a:spcPts val="0"/>
              </a:spcBef>
              <a:spcAft>
                <a:spcPts val="0"/>
              </a:spcAft>
              <a:buFont typeface="Wingdings" panose="05000000000000000000" pitchFamily="2" charset="2"/>
              <a:buChar char="ü"/>
            </a:pPr>
            <a:r>
              <a:rPr lang="en-US" sz="3200" dirty="0">
                <a:solidFill>
                  <a:srgbClr val="000000"/>
                </a:solidFill>
                <a:latin typeface="Calibri" panose="020F0502020204030204" pitchFamily="34" charset="0"/>
                <a:ea typeface="Times New Roman" panose="02020603050405020304" pitchFamily="18" charset="0"/>
                <a:cs typeface="Calibri" panose="020F0502020204030204" pitchFamily="34" charset="0"/>
              </a:rPr>
              <a:t>Chapter 5 - </a:t>
            </a:r>
            <a:r>
              <a:rPr lang="en-US" sz="32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The radiation environment</a:t>
            </a:r>
          </a:p>
          <a:p>
            <a:pPr marL="457200" marR="0" indent="-457200">
              <a:lnSpc>
                <a:spcPct val="115000"/>
              </a:lnSpc>
              <a:spcBef>
                <a:spcPts val="0"/>
              </a:spcBef>
              <a:spcAft>
                <a:spcPts val="0"/>
              </a:spcAft>
              <a:buFont typeface="Wingdings" panose="05000000000000000000" pitchFamily="2" charset="2"/>
              <a:buChar char="ü"/>
            </a:pPr>
            <a:r>
              <a:rPr lang="en-US" sz="3200" dirty="0">
                <a:solidFill>
                  <a:srgbClr val="000000"/>
                </a:solidFill>
                <a:latin typeface="Calibri" panose="020F0502020204030204" pitchFamily="34" charset="0"/>
                <a:ea typeface="Calibri" panose="020F0502020204030204" pitchFamily="34" charset="0"/>
                <a:cs typeface="Calibri" panose="020F0502020204030204" pitchFamily="34" charset="0"/>
              </a:rPr>
              <a:t>Chapter 6 - </a:t>
            </a:r>
            <a:r>
              <a:rPr lang="en-US" sz="32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Orbital debris </a:t>
            </a:r>
          </a:p>
          <a:p>
            <a:pPr marL="457200" marR="0" indent="-457200">
              <a:lnSpc>
                <a:spcPct val="115000"/>
              </a:lnSpc>
              <a:spcBef>
                <a:spcPts val="0"/>
              </a:spcBef>
              <a:spcAft>
                <a:spcPts val="0"/>
              </a:spcAft>
              <a:buFont typeface="Wingdings" panose="05000000000000000000" pitchFamily="2" charset="2"/>
              <a:buChar char="q"/>
            </a:pPr>
            <a:r>
              <a:rPr lang="en-US" sz="3200" dirty="0">
                <a:solidFill>
                  <a:srgbClr val="000000"/>
                </a:solidFill>
                <a:latin typeface="Calibri" panose="020F0502020204030204" pitchFamily="34" charset="0"/>
                <a:ea typeface="Times New Roman" panose="02020603050405020304" pitchFamily="18" charset="0"/>
                <a:cs typeface="Calibri" panose="020F0502020204030204" pitchFamily="34" charset="0"/>
              </a:rPr>
              <a:t>Bio R</a:t>
            </a:r>
            <a:r>
              <a:rPr lang="en-US" sz="32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eadings - </a:t>
            </a:r>
            <a:r>
              <a:rPr lang="en-US" sz="32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Human Effects </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1899730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D685C853-B771-4DD5-AE32-1E4A92D2C8BC}"/>
              </a:ext>
            </a:extLst>
          </p:cNvPr>
          <p:cNvSpPr>
            <a:spLocks noGrp="1" noChangeArrowheads="1"/>
          </p:cNvSpPr>
          <p:nvPr>
            <p:ph type="title"/>
          </p:nvPr>
        </p:nvSpPr>
        <p:spPr>
          <a:xfrm>
            <a:off x="1775967" y="-88491"/>
            <a:ext cx="10364451" cy="1596177"/>
          </a:xfrm>
        </p:spPr>
        <p:txBody>
          <a:bodyPr/>
          <a:lstStyle/>
          <a:p>
            <a:pPr>
              <a:defRPr/>
            </a:pPr>
            <a:r>
              <a:rPr lang="en-US" altLang="en-US" dirty="0"/>
              <a:t>SUMMARY – BIO-ASTRONAUTICS</a:t>
            </a:r>
          </a:p>
        </p:txBody>
      </p:sp>
      <p:sp>
        <p:nvSpPr>
          <p:cNvPr id="12291" name="Rectangle 3">
            <a:extLst>
              <a:ext uri="{FF2B5EF4-FFF2-40B4-BE49-F238E27FC236}">
                <a16:creationId xmlns:a16="http://schemas.microsoft.com/office/drawing/2014/main" id="{BDEA1A40-6143-48D6-B3C9-C1D1992A08B1}"/>
              </a:ext>
            </a:extLst>
          </p:cNvPr>
          <p:cNvSpPr>
            <a:spLocks noChangeArrowheads="1"/>
          </p:cNvSpPr>
          <p:nvPr/>
        </p:nvSpPr>
        <p:spPr bwMode="auto">
          <a:xfrm>
            <a:off x="1134794" y="993962"/>
            <a:ext cx="11005624" cy="4689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2075" tIns="46038" rIns="92075" bIns="46038"/>
          <a:lstStyle>
            <a:lvl1pPr marL="342900" indent="-342900">
              <a:defRPr sz="2400">
                <a:solidFill>
                  <a:schemeClr val="tx1"/>
                </a:solidFill>
                <a:latin typeface="Times New Roman" charset="0"/>
              </a:defRPr>
            </a:lvl1pPr>
            <a:lvl2pPr marL="742950" indent="-285750">
              <a:defRPr sz="2400">
                <a:solidFill>
                  <a:schemeClr val="tx1"/>
                </a:solidFill>
                <a:latin typeface="Times New Roman" charset="0"/>
              </a:defRPr>
            </a:lvl2pPr>
            <a:lvl3pPr marL="1143000" indent="-228600">
              <a:defRPr sz="2400">
                <a:solidFill>
                  <a:schemeClr val="tx1"/>
                </a:solidFill>
                <a:latin typeface="Times New Roman" charset="0"/>
              </a:defRPr>
            </a:lvl3pPr>
            <a:lvl4pPr marL="1600200" indent="-228600">
              <a:defRPr sz="2400">
                <a:solidFill>
                  <a:schemeClr val="tx1"/>
                </a:solidFill>
                <a:latin typeface="Times New Roman" charset="0"/>
              </a:defRPr>
            </a:lvl4pPr>
            <a:lvl5pPr marL="2057400" indent="-228600">
              <a:defRPr sz="2400">
                <a:solidFill>
                  <a:schemeClr val="tx1"/>
                </a:solidFill>
                <a:latin typeface="Times New Roman" charset="0"/>
              </a:defRPr>
            </a:lvl5pPr>
            <a:lvl6pPr marL="2514600" indent="-228600" eaLnBrk="0" fontAlgn="base" hangingPunct="0">
              <a:spcBef>
                <a:spcPct val="0"/>
              </a:spcBef>
              <a:spcAft>
                <a:spcPct val="0"/>
              </a:spcAft>
              <a:defRPr sz="2400">
                <a:solidFill>
                  <a:schemeClr val="tx1"/>
                </a:solidFill>
                <a:latin typeface="Times New Roman" charset="0"/>
              </a:defRPr>
            </a:lvl6pPr>
            <a:lvl7pPr marL="2971800" indent="-228600" eaLnBrk="0" fontAlgn="base" hangingPunct="0">
              <a:spcBef>
                <a:spcPct val="0"/>
              </a:spcBef>
              <a:spcAft>
                <a:spcPct val="0"/>
              </a:spcAft>
              <a:defRPr sz="2400">
                <a:solidFill>
                  <a:schemeClr val="tx1"/>
                </a:solidFill>
                <a:latin typeface="Times New Roman" charset="0"/>
              </a:defRPr>
            </a:lvl7pPr>
            <a:lvl8pPr marL="3429000" indent="-228600" eaLnBrk="0" fontAlgn="base" hangingPunct="0">
              <a:spcBef>
                <a:spcPct val="0"/>
              </a:spcBef>
              <a:spcAft>
                <a:spcPct val="0"/>
              </a:spcAft>
              <a:defRPr sz="2400">
                <a:solidFill>
                  <a:schemeClr val="tx1"/>
                </a:solidFill>
                <a:latin typeface="Times New Roman" charset="0"/>
              </a:defRPr>
            </a:lvl8pPr>
            <a:lvl9pPr marL="3886200" indent="-228600" eaLnBrk="0" fontAlgn="base" hangingPunct="0">
              <a:spcBef>
                <a:spcPct val="0"/>
              </a:spcBef>
              <a:spcAft>
                <a:spcPct val="0"/>
              </a:spcAft>
              <a:defRPr sz="2400">
                <a:solidFill>
                  <a:schemeClr val="tx1"/>
                </a:solidFill>
                <a:latin typeface="Times New Roman" charset="0"/>
              </a:defRPr>
            </a:lvl9pPr>
          </a:lstStyle>
          <a:p>
            <a:pPr lvl="1">
              <a:lnSpc>
                <a:spcPct val="120000"/>
              </a:lnSpc>
              <a:spcBef>
                <a:spcPct val="20000"/>
              </a:spcBef>
              <a:buFontTx/>
              <a:buChar char="•"/>
              <a:defRPr/>
            </a:pPr>
            <a:r>
              <a:rPr lang="en-US" altLang="en-US" dirty="0">
                <a:latin typeface="Arial" charset="0"/>
              </a:rPr>
              <a:t>Be familiar with all of it!  </a:t>
            </a:r>
          </a:p>
          <a:p>
            <a:pPr lvl="1">
              <a:lnSpc>
                <a:spcPct val="120000"/>
              </a:lnSpc>
              <a:spcBef>
                <a:spcPct val="20000"/>
              </a:spcBef>
              <a:buFontTx/>
              <a:buChar char="•"/>
              <a:defRPr/>
            </a:pPr>
            <a:r>
              <a:rPr lang="en-US" altLang="en-US" dirty="0">
                <a:latin typeface="Arial" charset="0"/>
              </a:rPr>
              <a:t>~30% on bio-astronautics</a:t>
            </a:r>
          </a:p>
          <a:p>
            <a:pPr lvl="1">
              <a:lnSpc>
                <a:spcPct val="120000"/>
              </a:lnSpc>
              <a:spcBef>
                <a:spcPct val="20000"/>
              </a:spcBef>
              <a:buFontTx/>
              <a:buChar char="•"/>
              <a:defRPr/>
            </a:pPr>
            <a:r>
              <a:rPr lang="en-US" altLang="en-US" dirty="0">
                <a:latin typeface="Arial" charset="0"/>
              </a:rPr>
              <a:t>Know main effects on the human body of free-fall</a:t>
            </a:r>
          </a:p>
          <a:p>
            <a:pPr lvl="2">
              <a:lnSpc>
                <a:spcPct val="120000"/>
              </a:lnSpc>
              <a:spcBef>
                <a:spcPct val="20000"/>
              </a:spcBef>
              <a:buFontTx/>
              <a:buChar char="•"/>
              <a:defRPr/>
            </a:pPr>
            <a:r>
              <a:rPr lang="en-US" altLang="en-US" dirty="0">
                <a:latin typeface="Arial" charset="0"/>
              </a:rPr>
              <a:t>Hydrostatic gradient</a:t>
            </a:r>
          </a:p>
          <a:p>
            <a:pPr lvl="2">
              <a:lnSpc>
                <a:spcPct val="120000"/>
              </a:lnSpc>
              <a:spcBef>
                <a:spcPct val="20000"/>
              </a:spcBef>
              <a:buFontTx/>
              <a:buChar char="•"/>
              <a:defRPr/>
            </a:pPr>
            <a:r>
              <a:rPr lang="en-US" altLang="en-US" dirty="0">
                <a:latin typeface="Arial" charset="0"/>
              </a:rPr>
              <a:t>Reduced load on weight bearing tissues</a:t>
            </a:r>
          </a:p>
          <a:p>
            <a:pPr lvl="2">
              <a:lnSpc>
                <a:spcPct val="120000"/>
              </a:lnSpc>
              <a:spcBef>
                <a:spcPct val="20000"/>
              </a:spcBef>
              <a:buFontTx/>
              <a:buChar char="•"/>
              <a:defRPr/>
            </a:pPr>
            <a:r>
              <a:rPr lang="en-US" altLang="en-US" dirty="0">
                <a:latin typeface="Arial" charset="0"/>
              </a:rPr>
              <a:t>Altered vestibular functions</a:t>
            </a:r>
          </a:p>
          <a:p>
            <a:pPr lvl="1">
              <a:lnSpc>
                <a:spcPct val="120000"/>
              </a:lnSpc>
              <a:spcBef>
                <a:spcPct val="20000"/>
              </a:spcBef>
              <a:buFontTx/>
              <a:buChar char="•"/>
              <a:defRPr/>
            </a:pPr>
            <a:r>
              <a:rPr lang="en-US" altLang="en-US" dirty="0">
                <a:latin typeface="Arial" charset="0"/>
              </a:rPr>
              <a:t>History of human spaceflight</a:t>
            </a:r>
          </a:p>
          <a:p>
            <a:pPr lvl="1">
              <a:lnSpc>
                <a:spcPct val="120000"/>
              </a:lnSpc>
              <a:spcBef>
                <a:spcPct val="20000"/>
              </a:spcBef>
              <a:buFontTx/>
              <a:buChar char="•"/>
              <a:defRPr/>
            </a:pPr>
            <a:r>
              <a:rPr lang="en-US" altLang="en-US" dirty="0">
                <a:latin typeface="Arial" charset="0"/>
              </a:rPr>
              <a:t>Psychological considerations</a:t>
            </a:r>
          </a:p>
          <a:p>
            <a:pPr lvl="2">
              <a:lnSpc>
                <a:spcPct val="120000"/>
              </a:lnSpc>
              <a:spcBef>
                <a:spcPct val="20000"/>
              </a:spcBef>
              <a:buFontTx/>
              <a:buChar char="•"/>
              <a:defRPr/>
            </a:pPr>
            <a:endParaRPr lang="en-US" altLang="en-US" dirty="0">
              <a:latin typeface="Arial" charset="0"/>
            </a:endParaRPr>
          </a:p>
          <a:p>
            <a:pPr lvl="1">
              <a:lnSpc>
                <a:spcPct val="120000"/>
              </a:lnSpc>
              <a:spcBef>
                <a:spcPct val="20000"/>
              </a:spcBef>
              <a:buFontTx/>
              <a:buChar char="•"/>
              <a:defRPr/>
            </a:pPr>
            <a:endParaRPr lang="en-US" altLang="en-US" dirty="0">
              <a:latin typeface="Arial" charset="0"/>
            </a:endParaRPr>
          </a:p>
          <a:p>
            <a:pPr marL="457200" lvl="1" indent="0">
              <a:lnSpc>
                <a:spcPct val="120000"/>
              </a:lnSpc>
              <a:spcBef>
                <a:spcPct val="20000"/>
              </a:spcBef>
              <a:defRPr/>
            </a:pPr>
            <a:endParaRPr lang="en-US" altLang="en-US" dirty="0">
              <a:latin typeface="Arial" charset="0"/>
            </a:endParaRPr>
          </a:p>
          <a:p>
            <a:pPr marL="457200" lvl="1" indent="0">
              <a:spcBef>
                <a:spcPct val="50000"/>
              </a:spcBef>
              <a:defRPr/>
            </a:pPr>
            <a:endParaRPr lang="en-US" altLang="en-US" dirty="0">
              <a:latin typeface="Arial" charset="0"/>
            </a:endParaRPr>
          </a:p>
          <a:p>
            <a:pPr lvl="1">
              <a:spcBef>
                <a:spcPct val="50000"/>
              </a:spcBef>
              <a:buFontTx/>
              <a:buChar char="–"/>
              <a:defRPr/>
            </a:pPr>
            <a:endParaRPr lang="en-US" altLang="en-US" dirty="0">
              <a:latin typeface="Arial" charset="0"/>
            </a:endParaRPr>
          </a:p>
        </p:txBody>
      </p:sp>
      <p:sp>
        <p:nvSpPr>
          <p:cNvPr id="2" name="Slide Number Placeholder 1">
            <a:extLst>
              <a:ext uri="{FF2B5EF4-FFF2-40B4-BE49-F238E27FC236}">
                <a16:creationId xmlns:a16="http://schemas.microsoft.com/office/drawing/2014/main" id="{6F9A403E-A6ED-40BF-B98C-1C626E3A2941}"/>
              </a:ext>
            </a:extLst>
          </p:cNvPr>
          <p:cNvSpPr>
            <a:spLocks noGrp="1"/>
          </p:cNvSpPr>
          <p:nvPr>
            <p:ph type="sldNum" sz="quarter" idx="12"/>
          </p:nvPr>
        </p:nvSpPr>
        <p:spPr/>
        <p:txBody>
          <a:bodyPr/>
          <a:lstStyle/>
          <a:p>
            <a:fld id="{C83C362F-97FB-4C1E-B0F0-C3069DD0CDD1}" type="slidenum">
              <a:rPr lang="en-US" smtClean="0"/>
              <a:t>33</a:t>
            </a:fld>
            <a:endParaRPr lang="en-US"/>
          </a:p>
        </p:txBody>
      </p:sp>
    </p:spTree>
    <p:extLst>
      <p:ext uri="{BB962C8B-B14F-4D97-AF65-F5344CB8AC3E}">
        <p14:creationId xmlns:p14="http://schemas.microsoft.com/office/powerpoint/2010/main" val="2884978413"/>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descr="https://tse2.mm.bing.net/th?id=OIP.a18pL0BmeagdSQ-d7TKvPwEfEs&amp;pid=15.1&amp;P=0&amp;w=300&amp;h=300"/>
          <p:cNvPicPr>
            <a:picLocks noChangeAspect="1" noChangeArrowheads="1"/>
          </p:cNvPicPr>
          <p:nvPr/>
        </p:nvPicPr>
        <p:blipFill rotWithShape="1">
          <a:blip r:embed="rId2">
            <a:extLst>
              <a:ext uri="{28A0092B-C50C-407E-A947-70E740481C1C}">
                <a14:useLocalDpi xmlns:a14="http://schemas.microsoft.com/office/drawing/2010/main" val="0"/>
              </a:ext>
            </a:extLst>
          </a:blip>
          <a:srcRect l="15117" r="14256"/>
          <a:stretch/>
        </p:blipFill>
        <p:spPr bwMode="auto">
          <a:xfrm>
            <a:off x="-1" y="10"/>
            <a:ext cx="4634680" cy="6857990"/>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p:cNvSpPr>
            <a:spLocks noGrp="1"/>
          </p:cNvSpPr>
          <p:nvPr>
            <p:ph idx="1"/>
          </p:nvPr>
        </p:nvSpPr>
        <p:spPr>
          <a:xfrm>
            <a:off x="5110190" y="493850"/>
            <a:ext cx="6428667" cy="5952670"/>
          </a:xfrm>
        </p:spPr>
        <p:txBody>
          <a:bodyPr>
            <a:normAutofit/>
          </a:bodyPr>
          <a:lstStyle/>
          <a:p>
            <a:pPr marL="0" indent="0">
              <a:lnSpc>
                <a:spcPct val="80000"/>
              </a:lnSpc>
              <a:buNone/>
            </a:pPr>
            <a:r>
              <a:rPr lang="en-US" sz="4500" b="1" dirty="0"/>
              <a:t>Lesson 15 </a:t>
            </a:r>
          </a:p>
          <a:p>
            <a:pPr marL="0" indent="0">
              <a:lnSpc>
                <a:spcPct val="80000"/>
              </a:lnSpc>
              <a:buNone/>
            </a:pPr>
            <a:endParaRPr lang="en-US" sz="4000" b="1" dirty="0"/>
          </a:p>
          <a:p>
            <a:pPr>
              <a:lnSpc>
                <a:spcPct val="80000"/>
              </a:lnSpc>
              <a:buFont typeface="Wingdings" panose="05000000000000000000" pitchFamily="2" charset="2"/>
              <a:buChar char="ü"/>
            </a:pPr>
            <a:r>
              <a:rPr lang="en-US" sz="4000" dirty="0"/>
              <a:t>Current Events</a:t>
            </a:r>
          </a:p>
          <a:p>
            <a:pPr>
              <a:lnSpc>
                <a:spcPct val="80000"/>
              </a:lnSpc>
              <a:buFont typeface="Wingdings" panose="05000000000000000000" pitchFamily="2" charset="2"/>
              <a:buChar char="ü"/>
            </a:pPr>
            <a:r>
              <a:rPr lang="en-US" sz="4000" dirty="0"/>
              <a:t>Review course objectives</a:t>
            </a:r>
          </a:p>
          <a:p>
            <a:pPr>
              <a:lnSpc>
                <a:spcPct val="80000"/>
              </a:lnSpc>
              <a:buFont typeface="Wingdings" panose="05000000000000000000" pitchFamily="2" charset="2"/>
              <a:buChar char="ü"/>
            </a:pPr>
            <a:r>
              <a:rPr lang="en-US" sz="4000" dirty="0"/>
              <a:t>Space Resources</a:t>
            </a:r>
          </a:p>
          <a:p>
            <a:pPr>
              <a:lnSpc>
                <a:spcPct val="80000"/>
              </a:lnSpc>
              <a:buFont typeface="Wingdings" panose="05000000000000000000" pitchFamily="2" charset="2"/>
              <a:buChar char="ü"/>
            </a:pPr>
            <a:r>
              <a:rPr lang="en-US" sz="4000" dirty="0"/>
              <a:t>Course Review</a:t>
            </a:r>
          </a:p>
          <a:p>
            <a:pPr>
              <a:lnSpc>
                <a:spcPct val="80000"/>
              </a:lnSpc>
              <a:buFont typeface="Wingdings" panose="05000000000000000000" pitchFamily="2" charset="2"/>
              <a:buChar char="q"/>
            </a:pPr>
            <a:r>
              <a:rPr lang="en-US" sz="4000" dirty="0"/>
              <a:t>Final Logistics</a:t>
            </a:r>
          </a:p>
          <a:p>
            <a:pPr>
              <a:lnSpc>
                <a:spcPct val="80000"/>
              </a:lnSpc>
              <a:buFont typeface="Wingdings" panose="05000000000000000000" pitchFamily="2" charset="2"/>
              <a:buChar char="q"/>
            </a:pPr>
            <a:r>
              <a:rPr lang="en-US" sz="4000" dirty="0"/>
              <a:t>Final Project</a:t>
            </a:r>
          </a:p>
          <a:p>
            <a:pPr>
              <a:lnSpc>
                <a:spcPct val="80000"/>
              </a:lnSpc>
              <a:buFont typeface="Wingdings" panose="05000000000000000000" pitchFamily="2" charset="2"/>
              <a:buChar char="q"/>
            </a:pPr>
            <a:endParaRPr lang="en-US" sz="500" dirty="0"/>
          </a:p>
          <a:p>
            <a:pPr>
              <a:lnSpc>
                <a:spcPct val="80000"/>
              </a:lnSpc>
            </a:pPr>
            <a:endParaRPr lang="en-US" sz="500" dirty="0"/>
          </a:p>
        </p:txBody>
      </p:sp>
      <p:sp>
        <p:nvSpPr>
          <p:cNvPr id="4" name="Slide Number Placeholder 3"/>
          <p:cNvSpPr>
            <a:spLocks noGrp="1"/>
          </p:cNvSpPr>
          <p:nvPr>
            <p:ph type="sldNum" sz="quarter" idx="12"/>
          </p:nvPr>
        </p:nvSpPr>
        <p:spPr>
          <a:xfrm>
            <a:off x="10352540" y="295729"/>
            <a:ext cx="838199" cy="767687"/>
          </a:xfrm>
        </p:spPr>
        <p:txBody>
          <a:bodyPr>
            <a:normAutofit/>
          </a:bodyPr>
          <a:lstStyle/>
          <a:p>
            <a:fld id="{24520853-C384-4919-8F9A-9CB57A0B2B64}" type="slidenum">
              <a:rPr lang="en-US" smtClean="0"/>
              <a:t>34</a:t>
            </a:fld>
            <a:endParaRPr lang="en-US"/>
          </a:p>
        </p:txBody>
      </p:sp>
      <p:sp>
        <p:nvSpPr>
          <p:cNvPr id="2" name="TextBox 1"/>
          <p:cNvSpPr txBox="1"/>
          <p:nvPr/>
        </p:nvSpPr>
        <p:spPr>
          <a:xfrm>
            <a:off x="362857" y="6473371"/>
            <a:ext cx="3715657" cy="384629"/>
          </a:xfrm>
          <a:prstGeom prst="rect">
            <a:avLst/>
          </a:prstGeom>
          <a:solidFill>
            <a:schemeClr val="tx1"/>
          </a:solidFill>
        </p:spPr>
        <p:txBody>
          <a:bodyPr wrap="square" rtlCol="0">
            <a:spAutoFit/>
          </a:bodyPr>
          <a:lstStyle/>
          <a:p>
            <a:endParaRPr lang="en-US" dirty="0"/>
          </a:p>
        </p:txBody>
      </p:sp>
    </p:spTree>
    <p:extLst>
      <p:ext uri="{BB962C8B-B14F-4D97-AF65-F5344CB8AC3E}">
        <p14:creationId xmlns:p14="http://schemas.microsoft.com/office/powerpoint/2010/main" val="98025503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D685C853-B771-4DD5-AE32-1E4A92D2C8BC}"/>
              </a:ext>
            </a:extLst>
          </p:cNvPr>
          <p:cNvSpPr>
            <a:spLocks noGrp="1" noChangeArrowheads="1"/>
          </p:cNvSpPr>
          <p:nvPr>
            <p:ph type="title"/>
          </p:nvPr>
        </p:nvSpPr>
        <p:spPr>
          <a:xfrm>
            <a:off x="1775967" y="-88491"/>
            <a:ext cx="10364451" cy="1596177"/>
          </a:xfrm>
        </p:spPr>
        <p:txBody>
          <a:bodyPr/>
          <a:lstStyle/>
          <a:p>
            <a:pPr>
              <a:defRPr/>
            </a:pPr>
            <a:r>
              <a:rPr lang="en-US" altLang="en-US" dirty="0"/>
              <a:t>FINAL QUIZ</a:t>
            </a:r>
          </a:p>
        </p:txBody>
      </p:sp>
      <p:sp>
        <p:nvSpPr>
          <p:cNvPr id="12291" name="Rectangle 3">
            <a:extLst>
              <a:ext uri="{FF2B5EF4-FFF2-40B4-BE49-F238E27FC236}">
                <a16:creationId xmlns:a16="http://schemas.microsoft.com/office/drawing/2014/main" id="{BDEA1A40-6143-48D6-B3C9-C1D1992A08B1}"/>
              </a:ext>
            </a:extLst>
          </p:cNvPr>
          <p:cNvSpPr>
            <a:spLocks noChangeArrowheads="1"/>
          </p:cNvSpPr>
          <p:nvPr/>
        </p:nvSpPr>
        <p:spPr bwMode="auto">
          <a:xfrm>
            <a:off x="1134794" y="993962"/>
            <a:ext cx="11005624" cy="4689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2075" tIns="46038" rIns="92075" bIns="46038"/>
          <a:lstStyle>
            <a:lvl1pPr marL="342900" indent="-342900">
              <a:defRPr sz="2400">
                <a:solidFill>
                  <a:schemeClr val="tx1"/>
                </a:solidFill>
                <a:latin typeface="Times New Roman" charset="0"/>
              </a:defRPr>
            </a:lvl1pPr>
            <a:lvl2pPr marL="742950" indent="-285750">
              <a:defRPr sz="2400">
                <a:solidFill>
                  <a:schemeClr val="tx1"/>
                </a:solidFill>
                <a:latin typeface="Times New Roman" charset="0"/>
              </a:defRPr>
            </a:lvl2pPr>
            <a:lvl3pPr marL="1143000" indent="-228600">
              <a:defRPr sz="2400">
                <a:solidFill>
                  <a:schemeClr val="tx1"/>
                </a:solidFill>
                <a:latin typeface="Times New Roman" charset="0"/>
              </a:defRPr>
            </a:lvl3pPr>
            <a:lvl4pPr marL="1600200" indent="-228600">
              <a:defRPr sz="2400">
                <a:solidFill>
                  <a:schemeClr val="tx1"/>
                </a:solidFill>
                <a:latin typeface="Times New Roman" charset="0"/>
              </a:defRPr>
            </a:lvl4pPr>
            <a:lvl5pPr marL="2057400" indent="-228600">
              <a:defRPr sz="2400">
                <a:solidFill>
                  <a:schemeClr val="tx1"/>
                </a:solidFill>
                <a:latin typeface="Times New Roman" charset="0"/>
              </a:defRPr>
            </a:lvl5pPr>
            <a:lvl6pPr marL="2514600" indent="-228600" eaLnBrk="0" fontAlgn="base" hangingPunct="0">
              <a:spcBef>
                <a:spcPct val="0"/>
              </a:spcBef>
              <a:spcAft>
                <a:spcPct val="0"/>
              </a:spcAft>
              <a:defRPr sz="2400">
                <a:solidFill>
                  <a:schemeClr val="tx1"/>
                </a:solidFill>
                <a:latin typeface="Times New Roman" charset="0"/>
              </a:defRPr>
            </a:lvl6pPr>
            <a:lvl7pPr marL="2971800" indent="-228600" eaLnBrk="0" fontAlgn="base" hangingPunct="0">
              <a:spcBef>
                <a:spcPct val="0"/>
              </a:spcBef>
              <a:spcAft>
                <a:spcPct val="0"/>
              </a:spcAft>
              <a:defRPr sz="2400">
                <a:solidFill>
                  <a:schemeClr val="tx1"/>
                </a:solidFill>
                <a:latin typeface="Times New Roman" charset="0"/>
              </a:defRPr>
            </a:lvl7pPr>
            <a:lvl8pPr marL="3429000" indent="-228600" eaLnBrk="0" fontAlgn="base" hangingPunct="0">
              <a:spcBef>
                <a:spcPct val="0"/>
              </a:spcBef>
              <a:spcAft>
                <a:spcPct val="0"/>
              </a:spcAft>
              <a:defRPr sz="2400">
                <a:solidFill>
                  <a:schemeClr val="tx1"/>
                </a:solidFill>
                <a:latin typeface="Times New Roman" charset="0"/>
              </a:defRPr>
            </a:lvl8pPr>
            <a:lvl9pPr marL="3886200" indent="-228600" eaLnBrk="0" fontAlgn="base" hangingPunct="0">
              <a:spcBef>
                <a:spcPct val="0"/>
              </a:spcBef>
              <a:spcAft>
                <a:spcPct val="0"/>
              </a:spcAft>
              <a:defRPr sz="2400">
                <a:solidFill>
                  <a:schemeClr val="tx1"/>
                </a:solidFill>
                <a:latin typeface="Times New Roman" charset="0"/>
              </a:defRPr>
            </a:lvl9pPr>
          </a:lstStyle>
          <a:p>
            <a:pPr lvl="1">
              <a:lnSpc>
                <a:spcPct val="120000"/>
              </a:lnSpc>
              <a:spcBef>
                <a:spcPct val="20000"/>
              </a:spcBef>
              <a:buFontTx/>
              <a:buChar char="•"/>
              <a:defRPr/>
            </a:pPr>
            <a:r>
              <a:rPr lang="en-US" altLang="en-US" dirty="0">
                <a:latin typeface="Arial" charset="0"/>
              </a:rPr>
              <a:t>2.5 HOURS</a:t>
            </a:r>
          </a:p>
          <a:p>
            <a:pPr lvl="1">
              <a:lnSpc>
                <a:spcPct val="120000"/>
              </a:lnSpc>
              <a:spcBef>
                <a:spcPct val="20000"/>
              </a:spcBef>
              <a:buFontTx/>
              <a:buChar char="•"/>
              <a:defRPr/>
            </a:pPr>
            <a:r>
              <a:rPr lang="en-US" altLang="en-US">
                <a:latin typeface="Arial" charset="0"/>
              </a:rPr>
              <a:t>15 QUESTIONS</a:t>
            </a:r>
            <a:endParaRPr lang="en-US" altLang="en-US" dirty="0">
              <a:latin typeface="Arial" charset="0"/>
            </a:endParaRPr>
          </a:p>
          <a:p>
            <a:pPr lvl="2">
              <a:lnSpc>
                <a:spcPct val="120000"/>
              </a:lnSpc>
              <a:spcBef>
                <a:spcPct val="20000"/>
              </a:spcBef>
              <a:buFontTx/>
              <a:buChar char="•"/>
              <a:defRPr/>
            </a:pPr>
            <a:endParaRPr lang="en-US" altLang="en-US" dirty="0">
              <a:latin typeface="Arial" charset="0"/>
            </a:endParaRPr>
          </a:p>
          <a:p>
            <a:pPr lvl="1">
              <a:lnSpc>
                <a:spcPct val="120000"/>
              </a:lnSpc>
              <a:spcBef>
                <a:spcPct val="20000"/>
              </a:spcBef>
              <a:buFontTx/>
              <a:buChar char="•"/>
              <a:defRPr/>
            </a:pPr>
            <a:endParaRPr lang="en-US" altLang="en-US" dirty="0">
              <a:latin typeface="Arial" charset="0"/>
            </a:endParaRPr>
          </a:p>
          <a:p>
            <a:pPr marL="457200" lvl="1" indent="0">
              <a:lnSpc>
                <a:spcPct val="120000"/>
              </a:lnSpc>
              <a:spcBef>
                <a:spcPct val="20000"/>
              </a:spcBef>
              <a:defRPr/>
            </a:pPr>
            <a:endParaRPr lang="en-US" altLang="en-US" dirty="0">
              <a:latin typeface="Arial" charset="0"/>
            </a:endParaRPr>
          </a:p>
          <a:p>
            <a:pPr marL="457200" lvl="1" indent="0">
              <a:spcBef>
                <a:spcPct val="50000"/>
              </a:spcBef>
              <a:defRPr/>
            </a:pPr>
            <a:endParaRPr lang="en-US" altLang="en-US" dirty="0">
              <a:latin typeface="Arial" charset="0"/>
            </a:endParaRPr>
          </a:p>
          <a:p>
            <a:pPr lvl="1">
              <a:spcBef>
                <a:spcPct val="50000"/>
              </a:spcBef>
              <a:buFontTx/>
              <a:buChar char="–"/>
              <a:defRPr/>
            </a:pPr>
            <a:endParaRPr lang="en-US" altLang="en-US" dirty="0">
              <a:latin typeface="Arial" charset="0"/>
            </a:endParaRPr>
          </a:p>
        </p:txBody>
      </p:sp>
      <p:sp>
        <p:nvSpPr>
          <p:cNvPr id="2" name="Slide Number Placeholder 1">
            <a:extLst>
              <a:ext uri="{FF2B5EF4-FFF2-40B4-BE49-F238E27FC236}">
                <a16:creationId xmlns:a16="http://schemas.microsoft.com/office/drawing/2014/main" id="{6F9A403E-A6ED-40BF-B98C-1C626E3A2941}"/>
              </a:ext>
            </a:extLst>
          </p:cNvPr>
          <p:cNvSpPr>
            <a:spLocks noGrp="1"/>
          </p:cNvSpPr>
          <p:nvPr>
            <p:ph type="sldNum" sz="quarter" idx="12"/>
          </p:nvPr>
        </p:nvSpPr>
        <p:spPr/>
        <p:txBody>
          <a:bodyPr/>
          <a:lstStyle/>
          <a:p>
            <a:fld id="{C83C362F-97FB-4C1E-B0F0-C3069DD0CDD1}" type="slidenum">
              <a:rPr lang="en-US" smtClean="0"/>
              <a:t>35</a:t>
            </a:fld>
            <a:endParaRPr lang="en-US"/>
          </a:p>
        </p:txBody>
      </p:sp>
      <p:sp>
        <p:nvSpPr>
          <p:cNvPr id="5" name="Rectangle 2">
            <a:extLst>
              <a:ext uri="{FF2B5EF4-FFF2-40B4-BE49-F238E27FC236}">
                <a16:creationId xmlns:a16="http://schemas.microsoft.com/office/drawing/2014/main" id="{E9E140DA-4556-4C15-AF51-643BA3E9EFB6}"/>
              </a:ext>
            </a:extLst>
          </p:cNvPr>
          <p:cNvSpPr txBox="1">
            <a:spLocks noChangeArrowheads="1"/>
          </p:cNvSpPr>
          <p:nvPr/>
        </p:nvSpPr>
        <p:spPr>
          <a:xfrm>
            <a:off x="1775966" y="2540610"/>
            <a:ext cx="10364451" cy="1596177"/>
          </a:xfrm>
          <a:prstGeom prst="rect">
            <a:avLst/>
          </a:prstGeom>
          <a:effectLst/>
        </p:spPr>
        <p:txBody>
          <a:bodyPr vert="horz" lIns="91440" tIns="45720" rIns="91440" bIns="45720" rtlCol="0" anchor="ctr">
            <a:norm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defRPr/>
            </a:pPr>
            <a:r>
              <a:rPr lang="en-US" altLang="en-US" dirty="0"/>
              <a:t>FINAL PROJECT</a:t>
            </a:r>
          </a:p>
        </p:txBody>
      </p:sp>
      <p:sp>
        <p:nvSpPr>
          <p:cNvPr id="7" name="TextBox 6">
            <a:extLst>
              <a:ext uri="{FF2B5EF4-FFF2-40B4-BE49-F238E27FC236}">
                <a16:creationId xmlns:a16="http://schemas.microsoft.com/office/drawing/2014/main" id="{04293B65-7DD7-47DD-94CD-9CD5CFA922AB}"/>
              </a:ext>
            </a:extLst>
          </p:cNvPr>
          <p:cNvSpPr txBox="1"/>
          <p:nvPr/>
        </p:nvSpPr>
        <p:spPr>
          <a:xfrm>
            <a:off x="1699014" y="4075808"/>
            <a:ext cx="9515660" cy="923330"/>
          </a:xfrm>
          <a:prstGeom prst="rect">
            <a:avLst/>
          </a:prstGeom>
          <a:noFill/>
        </p:spPr>
        <p:txBody>
          <a:bodyPr wrap="square">
            <a:spAutoFit/>
          </a:bodyPr>
          <a:lstStyle/>
          <a:p>
            <a:pPr algn="just"/>
            <a:r>
              <a:rPr lang="en-US" b="1" dirty="0"/>
              <a:t>Write a report documenting your design process from beginning to end</a:t>
            </a:r>
            <a:r>
              <a:rPr lang="en-US" dirty="0"/>
              <a:t>. Your report must be clear, professional and well-organized. Write the report as if your design team is selling your design to win the contract for your selected mission. Include appropriate results to defend </a:t>
            </a:r>
            <a:r>
              <a:rPr lang="en-US"/>
              <a:t>your design.</a:t>
            </a:r>
            <a:endParaRPr lang="en-US" dirty="0"/>
          </a:p>
        </p:txBody>
      </p:sp>
    </p:spTree>
    <p:extLst>
      <p:ext uri="{BB962C8B-B14F-4D97-AF65-F5344CB8AC3E}">
        <p14:creationId xmlns:p14="http://schemas.microsoft.com/office/powerpoint/2010/main" val="2633092355"/>
      </p:ext>
    </p:extLst>
  </p:cSld>
  <p:clrMapOvr>
    <a:masterClrMapping/>
  </p:clrMapOvr>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TM03457496[[fn=Parallax]]</Template>
  <TotalTime>1017</TotalTime>
  <Words>2531</Words>
  <Application>Microsoft Office PowerPoint</Application>
  <PresentationFormat>Widescreen</PresentationFormat>
  <Paragraphs>440</Paragraphs>
  <Slides>35</Slides>
  <Notes>15</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35</vt:i4>
      </vt:variant>
    </vt:vector>
  </HeadingPairs>
  <TitlesOfParts>
    <vt:vector size="44" baseType="lpstr">
      <vt:lpstr>Arial</vt:lpstr>
      <vt:lpstr>Calibri</vt:lpstr>
      <vt:lpstr>Cambria Math</vt:lpstr>
      <vt:lpstr>Corbel</vt:lpstr>
      <vt:lpstr>Symbol</vt:lpstr>
      <vt:lpstr>Times New Roman</vt:lpstr>
      <vt:lpstr>Wingdings</vt:lpstr>
      <vt:lpstr>Parallax</vt:lpstr>
      <vt:lpstr>Document</vt:lpstr>
      <vt:lpstr>MAE 4425/5091  SPACE ENVIRONMENT LESSON 15 – REVIEW PART 2 </vt:lpstr>
      <vt:lpstr>COURSE REVIEW</vt:lpstr>
      <vt:lpstr>The Plasma Environment and Potential Effects</vt:lpstr>
      <vt:lpstr>The Van Allen Radiation Belts</vt:lpstr>
      <vt:lpstr>PLASMA DENSITY IN LEO</vt:lpstr>
      <vt:lpstr>PLASMA DENSITY AT HIGHER ALTITUDES</vt:lpstr>
      <vt:lpstr>Plasma frequency of oscillation</vt:lpstr>
      <vt:lpstr>Spacecraft charging ionosphere plasma characteristics</vt:lpstr>
      <vt:lpstr>Mean or average speed of electrons and protons</vt:lpstr>
      <vt:lpstr>Biased object?</vt:lpstr>
      <vt:lpstr>Biased object?</vt:lpstr>
      <vt:lpstr>The Plasma Environment and Potential Effects</vt:lpstr>
      <vt:lpstr>SUMMARY – PLASMA ENVIRONMENT</vt:lpstr>
      <vt:lpstr>COURSE REVIEW</vt:lpstr>
      <vt:lpstr>Radiation Environment and Its Effects</vt:lpstr>
      <vt:lpstr>Radiation Environment and Its Effects</vt:lpstr>
      <vt:lpstr>RADIATION EFFECTS ON HUMANS</vt:lpstr>
      <vt:lpstr>ATTITUDE DETERMINATION AND CONTROL SYSTEM</vt:lpstr>
      <vt:lpstr>REACTION WHEEL SIZING</vt:lpstr>
      <vt:lpstr>Estimating Worst-Case  Environmental Disturbance Torques</vt:lpstr>
      <vt:lpstr>SUMMARY</vt:lpstr>
      <vt:lpstr>SUMMARY – RADIATION ENVIRONMENT</vt:lpstr>
      <vt:lpstr>SUMMARY – ADACS</vt:lpstr>
      <vt:lpstr>COURSE REVIEW</vt:lpstr>
      <vt:lpstr>Micro-Meteoroids and Orbital Debris</vt:lpstr>
      <vt:lpstr>PowerPoint Presentation</vt:lpstr>
      <vt:lpstr>PowerPoint Presentation</vt:lpstr>
      <vt:lpstr>Spacecraft design implications</vt:lpstr>
      <vt:lpstr>SUMMARY – MMOD</vt:lpstr>
      <vt:lpstr>Summary of Environment Effects</vt:lpstr>
      <vt:lpstr>Impact of the Space Environment on Spacecraft Systems</vt:lpstr>
      <vt:lpstr>COURSE REVIEW</vt:lpstr>
      <vt:lpstr>SUMMARY – BIO-ASTRONAUTICS</vt:lpstr>
      <vt:lpstr>PowerPoint Presentation</vt:lpstr>
      <vt:lpstr>FINAL QUIZ</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SPACE MISSION ANALYSIS AND DESIGN PROCESS CHAPTER 1</dc:title>
  <dc:creator>Lynnane George</dc:creator>
  <cp:lastModifiedBy>Lynnane George</cp:lastModifiedBy>
  <cp:revision>57</cp:revision>
  <dcterms:created xsi:type="dcterms:W3CDTF">2017-04-01T05:43:46Z</dcterms:created>
  <dcterms:modified xsi:type="dcterms:W3CDTF">2026-07-29T02:44:25Z</dcterms:modified>
</cp:coreProperties>
</file>