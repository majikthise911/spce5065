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0"/>
  </p:notesMasterIdLst>
  <p:sldIdLst>
    <p:sldId id="616" r:id="rId2"/>
    <p:sldId id="617" r:id="rId3"/>
    <p:sldId id="634" r:id="rId4"/>
    <p:sldId id="618" r:id="rId5"/>
    <p:sldId id="635" r:id="rId6"/>
    <p:sldId id="619" r:id="rId7"/>
    <p:sldId id="620" r:id="rId8"/>
    <p:sldId id="621" r:id="rId9"/>
    <p:sldId id="622" r:id="rId10"/>
    <p:sldId id="623" r:id="rId11"/>
    <p:sldId id="384" r:id="rId12"/>
    <p:sldId id="385" r:id="rId13"/>
    <p:sldId id="386" r:id="rId14"/>
    <p:sldId id="624" r:id="rId15"/>
    <p:sldId id="393" r:id="rId16"/>
    <p:sldId id="372" r:id="rId17"/>
    <p:sldId id="282" r:id="rId18"/>
    <p:sldId id="29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B25B8-1074-417A-A27C-FBCA77B92B39}" v="5" dt="2026-07-29T02:09:47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4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custSel addSld delSld modSld">
      <pc:chgData name="Lynnane George" userId="065056628ae16e64" providerId="LiveId" clId="{1E9AE552-6B83-46CE-A2DC-1FB506DB1638}" dt="2026-07-29T21:55:17.851" v="201" actId="20577"/>
      <pc:docMkLst>
        <pc:docMk/>
      </pc:docMkLst>
      <pc:sldChg chg="del">
        <pc:chgData name="Lynnane George" userId="065056628ae16e64" providerId="LiveId" clId="{1E9AE552-6B83-46CE-A2DC-1FB506DB1638}" dt="2026-07-29T01:27:41.534" v="143" actId="2696"/>
        <pc:sldMkLst>
          <pc:docMk/>
          <pc:sldMk cId="4210796515" sldId="388"/>
        </pc:sldMkLst>
      </pc:sldChg>
      <pc:sldChg chg="modSp del mod">
        <pc:chgData name="Lynnane George" userId="065056628ae16e64" providerId="LiveId" clId="{1E9AE552-6B83-46CE-A2DC-1FB506DB1638}" dt="2026-07-29T21:53:52.317" v="175" actId="47"/>
        <pc:sldMkLst>
          <pc:docMk/>
          <pc:sldMk cId="1100958776" sldId="521"/>
        </pc:sldMkLst>
        <pc:spChg chg="mod">
          <ac:chgData name="Lynnane George" userId="065056628ae16e64" providerId="LiveId" clId="{1E9AE552-6B83-46CE-A2DC-1FB506DB1638}" dt="2026-07-29T00:25:49.057" v="24" actId="20577"/>
          <ac:spMkLst>
            <pc:docMk/>
            <pc:sldMk cId="1100958776" sldId="521"/>
            <ac:spMk id="3" creationId="{D75C54F0-B6B9-37F8-4EC9-7BADBFA2337C}"/>
          </ac:spMkLst>
        </pc:spChg>
      </pc:sldChg>
      <pc:sldChg chg="del">
        <pc:chgData name="Lynnane George" userId="065056628ae16e64" providerId="LiveId" clId="{1E9AE552-6B83-46CE-A2DC-1FB506DB1638}" dt="2026-07-29T00:24:40.335" v="12" actId="2696"/>
        <pc:sldMkLst>
          <pc:docMk/>
          <pc:sldMk cId="4073991336" sldId="614"/>
        </pc:sldMkLst>
      </pc:sldChg>
      <pc:sldChg chg="addSp modSp mod">
        <pc:chgData name="Lynnane George" userId="065056628ae16e64" providerId="LiveId" clId="{1E9AE552-6B83-46CE-A2DC-1FB506DB1638}" dt="2026-07-29T00:14:34.231" v="11" actId="113"/>
        <pc:sldMkLst>
          <pc:docMk/>
          <pc:sldMk cId="884117849" sldId="616"/>
        </pc:sldMkLst>
        <pc:spChg chg="add mod">
          <ac:chgData name="Lynnane George" userId="065056628ae16e64" providerId="LiveId" clId="{1E9AE552-6B83-46CE-A2DC-1FB506DB1638}" dt="2026-07-29T00:14:34.231" v="11" actId="113"/>
          <ac:spMkLst>
            <pc:docMk/>
            <pc:sldMk cId="884117849" sldId="616"/>
            <ac:spMk id="2" creationId="{11065F9B-610D-8A8A-8C19-06454DDE5794}"/>
          </ac:spMkLst>
        </pc:spChg>
        <pc:picChg chg="mod">
          <ac:chgData name="Lynnane George" userId="065056628ae16e64" providerId="LiveId" clId="{1E9AE552-6B83-46CE-A2DC-1FB506DB1638}" dt="2026-07-29T00:14:11.731" v="2" actId="1076"/>
          <ac:picMkLst>
            <pc:docMk/>
            <pc:sldMk cId="884117849" sldId="616"/>
            <ac:picMk id="1026" creationId="{182DEFAB-77C5-4B5C-B37B-5B98DAD7E860}"/>
          </ac:picMkLst>
        </pc:picChg>
      </pc:sldChg>
      <pc:sldChg chg="modSp mod">
        <pc:chgData name="Lynnane George" userId="065056628ae16e64" providerId="LiveId" clId="{1E9AE552-6B83-46CE-A2DC-1FB506DB1638}" dt="2026-07-29T21:55:17.851" v="201" actId="20577"/>
        <pc:sldMkLst>
          <pc:docMk/>
          <pc:sldMk cId="3206089322" sldId="624"/>
        </pc:sldMkLst>
        <pc:spChg chg="mod">
          <ac:chgData name="Lynnane George" userId="065056628ae16e64" providerId="LiveId" clId="{1E9AE552-6B83-46CE-A2DC-1FB506DB1638}" dt="2026-07-29T21:55:17.851" v="201" actId="20577"/>
          <ac:spMkLst>
            <pc:docMk/>
            <pc:sldMk cId="3206089322" sldId="624"/>
            <ac:spMk id="2" creationId="{0D00617A-18C1-45A5-B0FB-1C663E1E39AD}"/>
          </ac:spMkLst>
        </pc:spChg>
      </pc:sldChg>
      <pc:sldChg chg="del">
        <pc:chgData name="Lynnane George" userId="065056628ae16e64" providerId="LiveId" clId="{1E9AE552-6B83-46CE-A2DC-1FB506DB1638}" dt="2026-07-29T01:35:14.528" v="144" actId="2696"/>
        <pc:sldMkLst>
          <pc:docMk/>
          <pc:sldMk cId="2884870009" sldId="625"/>
        </pc:sldMkLst>
      </pc:sldChg>
      <pc:sldChg chg="del">
        <pc:chgData name="Lynnane George" userId="065056628ae16e64" providerId="LiveId" clId="{1E9AE552-6B83-46CE-A2DC-1FB506DB1638}" dt="2026-07-29T01:35:18.457" v="145" actId="2696"/>
        <pc:sldMkLst>
          <pc:docMk/>
          <pc:sldMk cId="2030292221" sldId="626"/>
        </pc:sldMkLst>
      </pc:sldChg>
      <pc:sldChg chg="modSp del">
        <pc:chgData name="Lynnane George" userId="065056628ae16e64" providerId="LiveId" clId="{1E9AE552-6B83-46CE-A2DC-1FB506DB1638}" dt="2026-07-29T02:33:50.010" v="171" actId="47"/>
        <pc:sldMkLst>
          <pc:docMk/>
          <pc:sldMk cId="4276415324" sldId="627"/>
        </pc:sldMkLst>
        <pc:spChg chg="mod">
          <ac:chgData name="Lynnane George" userId="065056628ae16e64" providerId="LiveId" clId="{1E9AE552-6B83-46CE-A2DC-1FB506DB1638}" dt="2026-07-29T01:49:38.043" v="146" actId="20577"/>
          <ac:spMkLst>
            <pc:docMk/>
            <pc:sldMk cId="4276415324" sldId="627"/>
            <ac:spMk id="5" creationId="{048A8499-B006-85D7-5D7F-622E8F2B8F9E}"/>
          </ac:spMkLst>
        </pc:spChg>
      </pc:sldChg>
      <pc:sldChg chg="del">
        <pc:chgData name="Lynnane George" userId="065056628ae16e64" providerId="LiveId" clId="{1E9AE552-6B83-46CE-A2DC-1FB506DB1638}" dt="2026-07-29T02:33:52.907" v="172" actId="47"/>
        <pc:sldMkLst>
          <pc:docMk/>
          <pc:sldMk cId="3493875156" sldId="628"/>
        </pc:sldMkLst>
      </pc:sldChg>
      <pc:sldChg chg="del">
        <pc:chgData name="Lynnane George" userId="065056628ae16e64" providerId="LiveId" clId="{1E9AE552-6B83-46CE-A2DC-1FB506DB1638}" dt="2026-07-29T02:28:09.918" v="169" actId="47"/>
        <pc:sldMkLst>
          <pc:docMk/>
          <pc:sldMk cId="3406912719" sldId="629"/>
        </pc:sldMkLst>
      </pc:sldChg>
      <pc:sldChg chg="addSp modSp del mod">
        <pc:chgData name="Lynnane George" userId="065056628ae16e64" providerId="LiveId" clId="{1E9AE552-6B83-46CE-A2DC-1FB506DB1638}" dt="2026-07-29T02:33:58.060" v="174" actId="47"/>
        <pc:sldMkLst>
          <pc:docMk/>
          <pc:sldMk cId="1981775804" sldId="630"/>
        </pc:sldMkLst>
        <pc:spChg chg="mod">
          <ac:chgData name="Lynnane George" userId="065056628ae16e64" providerId="LiveId" clId="{1E9AE552-6B83-46CE-A2DC-1FB506DB1638}" dt="2026-07-29T02:09:39.275" v="163" actId="1076"/>
          <ac:spMkLst>
            <pc:docMk/>
            <pc:sldMk cId="1981775804" sldId="630"/>
            <ac:spMk id="2" creationId="{03933DAD-157B-948F-132C-B2BD71CEE6B5}"/>
          </ac:spMkLst>
        </pc:spChg>
        <pc:spChg chg="mod">
          <ac:chgData name="Lynnane George" userId="065056628ae16e64" providerId="LiveId" clId="{1E9AE552-6B83-46CE-A2DC-1FB506DB1638}" dt="2026-07-29T02:09:46.386" v="165" actId="20577"/>
          <ac:spMkLst>
            <pc:docMk/>
            <pc:sldMk cId="1981775804" sldId="630"/>
            <ac:spMk id="3" creationId="{C1444E97-C869-90A2-6EAF-389B5EDACE60}"/>
          </ac:spMkLst>
        </pc:spChg>
        <pc:graphicFrameChg chg="add mod">
          <ac:chgData name="Lynnane George" userId="065056628ae16e64" providerId="LiveId" clId="{1E9AE552-6B83-46CE-A2DC-1FB506DB1638}" dt="2026-07-29T02:09:54.784" v="167" actId="1076"/>
          <ac:graphicFrameMkLst>
            <pc:docMk/>
            <pc:sldMk cId="1981775804" sldId="630"/>
            <ac:graphicFrameMk id="5" creationId="{C5AD4EE7-11B8-BA55-47CC-EF21C174BFC0}"/>
          </ac:graphicFrameMkLst>
        </pc:graphicFrameChg>
      </pc:sldChg>
      <pc:sldChg chg="del">
        <pc:chgData name="Lynnane George" userId="065056628ae16e64" providerId="LiveId" clId="{1E9AE552-6B83-46CE-A2DC-1FB506DB1638}" dt="2026-07-29T02:28:07.135" v="168" actId="47"/>
        <pc:sldMkLst>
          <pc:docMk/>
          <pc:sldMk cId="234915061" sldId="631"/>
        </pc:sldMkLst>
      </pc:sldChg>
      <pc:sldChg chg="modSp del mod">
        <pc:chgData name="Lynnane George" userId="065056628ae16e64" providerId="LiveId" clId="{1E9AE552-6B83-46CE-A2DC-1FB506DB1638}" dt="2026-07-29T02:28:24.448" v="170" actId="47"/>
        <pc:sldMkLst>
          <pc:docMk/>
          <pc:sldMk cId="1977780126" sldId="632"/>
        </pc:sldMkLst>
      </pc:sldChg>
      <pc:sldChg chg="addSp delSp modSp del mod">
        <pc:chgData name="Lynnane George" userId="065056628ae16e64" providerId="LiveId" clId="{1E9AE552-6B83-46CE-A2DC-1FB506DB1638}" dt="2026-07-29T02:33:55.551" v="173" actId="47"/>
        <pc:sldMkLst>
          <pc:docMk/>
          <pc:sldMk cId="3927275465" sldId="633"/>
        </pc:sldMkLst>
        <pc:graphicFrameChg chg="del">
          <ac:chgData name="Lynnane George" userId="065056628ae16e64" providerId="LiveId" clId="{1E9AE552-6B83-46CE-A2DC-1FB506DB1638}" dt="2026-07-29T01:58:06.062" v="147" actId="478"/>
          <ac:graphicFrameMkLst>
            <pc:docMk/>
            <pc:sldMk cId="3927275465" sldId="633"/>
            <ac:graphicFrameMk id="6" creationId="{8101A604-811E-9515-2967-DCD8FB49680A}"/>
          </ac:graphicFrameMkLst>
        </pc:graphicFrameChg>
        <pc:graphicFrameChg chg="del">
          <ac:chgData name="Lynnane George" userId="065056628ae16e64" providerId="LiveId" clId="{1E9AE552-6B83-46CE-A2DC-1FB506DB1638}" dt="2026-07-29T02:02:03.540" v="152" actId="478"/>
          <ac:graphicFrameMkLst>
            <pc:docMk/>
            <pc:sldMk cId="3927275465" sldId="633"/>
            <ac:graphicFrameMk id="7" creationId="{397AD2D1-6603-6051-BA07-2B4DD62A0B61}"/>
          </ac:graphicFrameMkLst>
        </pc:graphicFrameChg>
        <pc:picChg chg="add mod">
          <ac:chgData name="Lynnane George" userId="065056628ae16e64" providerId="LiveId" clId="{1E9AE552-6B83-46CE-A2DC-1FB506DB1638}" dt="2026-07-29T02:02:25.994" v="161" actId="1076"/>
          <ac:picMkLst>
            <pc:docMk/>
            <pc:sldMk cId="3927275465" sldId="633"/>
            <ac:picMk id="3" creationId="{4B0F4437-626A-7457-6EAA-4A222C318FE9}"/>
          </ac:picMkLst>
        </pc:picChg>
        <pc:picChg chg="add mod">
          <ac:chgData name="Lynnane George" userId="065056628ae16e64" providerId="LiveId" clId="{1E9AE552-6B83-46CE-A2DC-1FB506DB1638}" dt="2026-07-29T02:02:27.786" v="162" actId="1076"/>
          <ac:picMkLst>
            <pc:docMk/>
            <pc:sldMk cId="3927275465" sldId="633"/>
            <ac:picMk id="8" creationId="{F694B370-4FD8-AF27-C07E-9BA8EA913C96}"/>
          </ac:picMkLst>
        </pc:picChg>
      </pc:sldChg>
      <pc:sldChg chg="delSp modSp new mod">
        <pc:chgData name="Lynnane George" userId="065056628ae16e64" providerId="LiveId" clId="{1E9AE552-6B83-46CE-A2DC-1FB506DB1638}" dt="2026-07-29T00:34:31.239" v="48" actId="478"/>
        <pc:sldMkLst>
          <pc:docMk/>
          <pc:sldMk cId="3746540392" sldId="634"/>
        </pc:sldMkLst>
        <pc:spChg chg="mod">
          <ac:chgData name="Lynnane George" userId="065056628ae16e64" providerId="LiveId" clId="{1E9AE552-6B83-46CE-A2DC-1FB506DB1638}" dt="2026-07-29T00:34:17.752" v="47" actId="20577"/>
          <ac:spMkLst>
            <pc:docMk/>
            <pc:sldMk cId="3746540392" sldId="634"/>
            <ac:spMk id="2" creationId="{063A5196-E08D-EB54-5C8A-5B4B006D1017}"/>
          </ac:spMkLst>
        </pc:spChg>
        <pc:spChg chg="del">
          <ac:chgData name="Lynnane George" userId="065056628ae16e64" providerId="LiveId" clId="{1E9AE552-6B83-46CE-A2DC-1FB506DB1638}" dt="2026-07-29T00:34:31.239" v="48" actId="478"/>
          <ac:spMkLst>
            <pc:docMk/>
            <pc:sldMk cId="3746540392" sldId="634"/>
            <ac:spMk id="3" creationId="{07602E44-AD36-CC40-CD24-FFE248BBDD4B}"/>
          </ac:spMkLst>
        </pc:spChg>
      </pc:sldChg>
      <pc:sldChg chg="delSp modSp new mod">
        <pc:chgData name="Lynnane George" userId="065056628ae16e64" providerId="LiveId" clId="{1E9AE552-6B83-46CE-A2DC-1FB506DB1638}" dt="2026-07-29T00:43:58.966" v="142" actId="478"/>
        <pc:sldMkLst>
          <pc:docMk/>
          <pc:sldMk cId="1633761878" sldId="635"/>
        </pc:sldMkLst>
        <pc:spChg chg="mod">
          <ac:chgData name="Lynnane George" userId="065056628ae16e64" providerId="LiveId" clId="{1E9AE552-6B83-46CE-A2DC-1FB506DB1638}" dt="2026-07-29T00:41:51.050" v="141" actId="20577"/>
          <ac:spMkLst>
            <pc:docMk/>
            <pc:sldMk cId="1633761878" sldId="635"/>
            <ac:spMk id="2" creationId="{BBD05ADB-68EF-6C98-CB2F-78B196545111}"/>
          </ac:spMkLst>
        </pc:spChg>
        <pc:spChg chg="del">
          <ac:chgData name="Lynnane George" userId="065056628ae16e64" providerId="LiveId" clId="{1E9AE552-6B83-46CE-A2DC-1FB506DB1638}" dt="2026-07-29T00:43:58.966" v="142" actId="478"/>
          <ac:spMkLst>
            <pc:docMk/>
            <pc:sldMk cId="1633761878" sldId="635"/>
            <ac:spMk id="3" creationId="{9E034A3F-2FE7-8401-6C89-2C2889EF3854}"/>
          </ac:spMkLst>
        </pc:spChg>
      </pc:sldChg>
      <pc:sldChg chg="del">
        <pc:chgData name="Lynnane George" userId="065056628ae16e64" providerId="LiveId" clId="{1E9AE552-6B83-46CE-A2DC-1FB506DB1638}" dt="2026-07-29T00:25:56.391" v="25" actId="2696"/>
        <pc:sldMkLst>
          <pc:docMk/>
          <pc:sldMk cId="1377028017" sldId="638"/>
        </pc:sldMkLst>
      </pc:sldChg>
      <pc:sldMasterChg chg="delSldLayout">
        <pc:chgData name="Lynnane George" userId="065056628ae16e64" providerId="LiveId" clId="{1E9AE552-6B83-46CE-A2DC-1FB506DB1638}" dt="2026-07-29T21:53:52.317" v="175" actId="47"/>
        <pc:sldMasterMkLst>
          <pc:docMk/>
          <pc:sldMasterMk cId="1677590623" sldId="2147483732"/>
        </pc:sldMasterMkLst>
        <pc:sldLayoutChg chg="del">
          <pc:chgData name="Lynnane George" userId="065056628ae16e64" providerId="LiveId" clId="{1E9AE552-6B83-46CE-A2DC-1FB506DB1638}" dt="2026-07-29T21:53:52.317" v="175" actId="47"/>
          <pc:sldLayoutMkLst>
            <pc:docMk/>
            <pc:sldMasterMk cId="1677590623" sldId="2147483732"/>
            <pc:sldLayoutMk cId="3958756599" sldId="21474837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26BDA-DC63-4F1E-89FF-0162DDA85E0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E1DA9-70CD-4924-8F6B-D46BA6EEA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3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9E16A92-57F7-45AC-B6F7-B7C860C901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38B6D06A-869A-44C3-A2F0-71E0B76B6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378075"/>
            <a:ext cx="1420813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Energy transfer vs. charging</a:t>
            </a:r>
          </a:p>
        </p:txBody>
      </p:sp>
      <p:sp>
        <p:nvSpPr>
          <p:cNvPr id="110597" name="Line 5">
            <a:extLst>
              <a:ext uri="{FF2B5EF4-FFF2-40B4-BE49-F238E27FC236}">
                <a16:creationId xmlns:a16="http://schemas.microsoft.com/office/drawing/2014/main" id="{B6A0C391-ECE6-4393-ACF7-A17D8960B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238" y="2590800"/>
            <a:ext cx="768350" cy="793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0598" name="Text Box 6">
            <a:extLst>
              <a:ext uri="{FF2B5EF4-FFF2-40B4-BE49-F238E27FC236}">
                <a16:creationId xmlns:a16="http://schemas.microsoft.com/office/drawing/2014/main" id="{4D5FEE24-4026-4BD6-9C56-7E12E16B7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1714500"/>
            <a:ext cx="3379788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Energetic particles may displace or ionize material in their paths (also deposit energy to induce more low energy effects)</a:t>
            </a:r>
          </a:p>
        </p:txBody>
      </p:sp>
      <p:sp>
        <p:nvSpPr>
          <p:cNvPr id="110599" name="Text Box 7">
            <a:extLst>
              <a:ext uri="{FF2B5EF4-FFF2-40B4-BE49-F238E27FC236}">
                <a16:creationId xmlns:a16="http://schemas.microsoft.com/office/drawing/2014/main" id="{A6E0D19B-2161-4336-902A-23502367B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3694113"/>
            <a:ext cx="1687513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Dominant source depends on orbit</a:t>
            </a:r>
          </a:p>
        </p:txBody>
      </p:sp>
      <p:sp>
        <p:nvSpPr>
          <p:cNvPr id="110600" name="Line 8">
            <a:extLst>
              <a:ext uri="{FF2B5EF4-FFF2-40B4-BE49-F238E27FC236}">
                <a16:creationId xmlns:a16="http://schemas.microsoft.com/office/drawing/2014/main" id="{C4C0684A-6664-4C19-94F2-958958667E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9250" y="3786188"/>
            <a:ext cx="1120775" cy="150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0601" name="Text Box 9">
            <a:extLst>
              <a:ext uri="{FF2B5EF4-FFF2-40B4-BE49-F238E27FC236}">
                <a16:creationId xmlns:a16="http://schemas.microsoft.com/office/drawing/2014/main" id="{31C6082E-D71B-432E-88E9-C04C7610A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4950"/>
            <a:ext cx="141922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A variety of naturally occurring sources exist</a:t>
            </a:r>
          </a:p>
        </p:txBody>
      </p:sp>
      <p:sp>
        <p:nvSpPr>
          <p:cNvPr id="110602" name="Text Box 10">
            <a:extLst>
              <a:ext uri="{FF2B5EF4-FFF2-40B4-BE49-F238E27FC236}">
                <a16:creationId xmlns:a16="http://schemas.microsoft.com/office/drawing/2014/main" id="{9143603B-E1D5-4488-B65F-1A28C3F24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6054725"/>
            <a:ext cx="2268538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Ionization and atomic displacement reduce the current and power that a cell can produce</a:t>
            </a:r>
          </a:p>
        </p:txBody>
      </p:sp>
      <p:sp>
        <p:nvSpPr>
          <p:cNvPr id="110603" name="Line 11">
            <a:extLst>
              <a:ext uri="{FF2B5EF4-FFF2-40B4-BE49-F238E27FC236}">
                <a16:creationId xmlns:a16="http://schemas.microsoft.com/office/drawing/2014/main" id="{0AAD3C37-BE58-4EA8-8CE1-EDEA0A9EB3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5625" y="4992688"/>
            <a:ext cx="1181100" cy="1093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0604" name="Text Box 12">
            <a:extLst>
              <a:ext uri="{FF2B5EF4-FFF2-40B4-BE49-F238E27FC236}">
                <a16:creationId xmlns:a16="http://schemas.microsoft.com/office/drawing/2014/main" id="{BCE83C03-A0E1-4F51-B845-28ADE42A8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5653088"/>
            <a:ext cx="1597025" cy="20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Similar to solar cell degradation</a:t>
            </a:r>
          </a:p>
        </p:txBody>
      </p:sp>
      <p:sp>
        <p:nvSpPr>
          <p:cNvPr id="110606" name="Line 14">
            <a:extLst>
              <a:ext uri="{FF2B5EF4-FFF2-40B4-BE49-F238E27FC236}">
                <a16:creationId xmlns:a16="http://schemas.microsoft.com/office/drawing/2014/main" id="{9B1CCFC3-FA50-45D2-BFAC-2D818C5208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48100" y="5534025"/>
            <a:ext cx="425450" cy="211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0607" name="Text Box 15">
            <a:extLst>
              <a:ext uri="{FF2B5EF4-FFF2-40B4-BE49-F238E27FC236}">
                <a16:creationId xmlns:a16="http://schemas.microsoft.com/office/drawing/2014/main" id="{51B315C7-A571-49AA-B6E9-F03861C4F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6115050"/>
            <a:ext cx="1109662" cy="2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No response to inputs</a:t>
            </a:r>
          </a:p>
        </p:txBody>
      </p:sp>
      <p:sp>
        <p:nvSpPr>
          <p:cNvPr id="110608" name="Text Box 16">
            <a:extLst>
              <a:ext uri="{FF2B5EF4-FFF2-40B4-BE49-F238E27FC236}">
                <a16:creationId xmlns:a16="http://schemas.microsoft.com/office/drawing/2014/main" id="{628894B5-C465-489B-8E2F-176C102A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75" y="6516688"/>
            <a:ext cx="28162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Functions in a manner inconsistent with its design characteristics (e.g., memory register changes state)</a:t>
            </a:r>
          </a:p>
        </p:txBody>
      </p:sp>
      <p:sp>
        <p:nvSpPr>
          <p:cNvPr id="110609" name="Line 17">
            <a:extLst>
              <a:ext uri="{FF2B5EF4-FFF2-40B4-BE49-F238E27FC236}">
                <a16:creationId xmlns:a16="http://schemas.microsoft.com/office/drawing/2014/main" id="{40349246-9857-402F-8C55-11CFE34368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333750" y="5826125"/>
            <a:ext cx="858838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0610" name="Line 18">
            <a:extLst>
              <a:ext uri="{FF2B5EF4-FFF2-40B4-BE49-F238E27FC236}">
                <a16:creationId xmlns:a16="http://schemas.microsoft.com/office/drawing/2014/main" id="{16595B4B-6498-47C7-9B56-DB4C1A890F7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36850" y="5815013"/>
            <a:ext cx="1404938" cy="633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10611" name="Text Box 19">
            <a:extLst>
              <a:ext uri="{FF2B5EF4-FFF2-40B4-BE49-F238E27FC236}">
                <a16:creationId xmlns:a16="http://schemas.microsoft.com/office/drawing/2014/main" id="{8AE62511-7CEB-4673-AFFF-1BF45CC7D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7107238"/>
            <a:ext cx="14636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“soft”  -- bit flips</a:t>
            </a:r>
          </a:p>
          <a:p>
            <a:pPr>
              <a:defRPr/>
            </a:pPr>
            <a:r>
              <a:rPr lang="en-US" altLang="en-US" sz="900" i="1"/>
              <a:t>“hard” -- permanent damage</a:t>
            </a:r>
          </a:p>
        </p:txBody>
      </p:sp>
    </p:spTree>
    <p:extLst>
      <p:ext uri="{BB962C8B-B14F-4D97-AF65-F5344CB8AC3E}">
        <p14:creationId xmlns:p14="http://schemas.microsoft.com/office/powerpoint/2010/main" val="666404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2AA27312-55A5-4D5F-9900-50F36A85AC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5399FF19-803C-4A94-A63E-A093B138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8188" y="1092200"/>
            <a:ext cx="28511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i="1"/>
              <a:t>To summarize, here are the environmental effects you have to consider as you investigate spacecraft orbits</a:t>
            </a:r>
          </a:p>
        </p:txBody>
      </p:sp>
    </p:spTree>
    <p:extLst>
      <p:ext uri="{BB962C8B-B14F-4D97-AF65-F5344CB8AC3E}">
        <p14:creationId xmlns:p14="http://schemas.microsoft.com/office/powerpoint/2010/main" val="314507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C17F-596B-412C-AE68-CC509A3C8702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0A8D9-F451-45A3-AB03-98290EB86B39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0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633A-703A-4C3A-8BA6-087535FCF156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2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D4493-84B7-47ED-91E9-552869F3A9E9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9519C-D929-4E0B-B9D6-734094E22773}" type="datetime1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2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B030-8BA1-4E2B-8EA3-B443B3837843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D6AE5-AEF2-4358-8784-C04AE1FC6504}" type="datetime1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30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1292-D1AC-4E92-B838-FFDB060F729E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10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4CDBA-1186-42AC-9070-70A641681CD5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8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EDFD-1444-4F6F-876E-8A146227B986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7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9EF20-0854-42F6-950B-DF92B24F5651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09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324B0-3F54-4FA7-948B-EFBFC69A162B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43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AE26-8A65-4430-AD69-B70AA47F5010}" type="datetime1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2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6698-4B7D-428D-AEAC-60CE2202B2A2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5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7D0F3-8F4B-4E2C-B67D-A595EC2BBA89}" type="datetime1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49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FA80-4B06-44C6-9121-FE64174085D9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14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81A81-78F1-4167-AD10-2919FA8058C1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3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04B9E07-94F5-4BB2-BD51-DBC6C28E1C09}" type="datetime1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9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nasa.gov/feature/goddard/2020/nasa-sdo-sun-data-helps-new-model-predict-big-solar-flares" TargetMode="External"/><Relationship Id="rId5" Type="http://schemas.openxmlformats.org/officeDocument/2006/relationships/hyperlink" Target="https://www.realclearscience.com/blog/2020/01/14/the_largest_nuclear_test_in_outer_space_had_startling_effects_on_hawaii.html" TargetMode="External"/><Relationship Id="rId4" Type="http://schemas.openxmlformats.org/officeDocument/2006/relationships/hyperlink" Target="https://facilityexecutive.com/2013/11/web-exclusive-potential-impact-solar-flares/#:~:text=Solar%20flares%20occur%20when%20built%20up%20magnetic%20energy,When%20will%20the%20%E2%80%9Cthreat%E2%80%9D%20from%20solar%20flares%20dissipate%3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2">
            <a:extLst>
              <a:ext uri="{FF2B5EF4-FFF2-40B4-BE49-F238E27FC236}">
                <a16:creationId xmlns:a16="http://schemas.microsoft.com/office/drawing/2014/main" id="{B1981535-B5AA-4E0C-ACE5-925CC19B2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BF97D060-AA7E-4411-BA62-28BD1EBD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91937-1D8E-8C1F-6A88-642C721F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00316" y="588327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83C362F-97FB-4C1E-B0F0-C3069DD0CDD1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182DEFAB-77C5-4B5C-B37B-5B98DAD7E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1084" y="300340"/>
            <a:ext cx="9595129" cy="4797564"/>
          </a:xfrm>
          <a:prstGeom prst="roundRect">
            <a:avLst>
              <a:gd name="adj" fmla="val 5301"/>
            </a:avLst>
          </a:prstGeom>
          <a:noFill/>
          <a:ln w="19050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065F9B-610D-8A8A-8C19-06454DDE5794}"/>
              </a:ext>
            </a:extLst>
          </p:cNvPr>
          <p:cNvSpPr txBox="1"/>
          <p:nvPr/>
        </p:nvSpPr>
        <p:spPr>
          <a:xfrm>
            <a:off x="4020568" y="5758626"/>
            <a:ext cx="5102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884117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3FAD-53DF-A163-E25D-BDC16C6B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Emag</a:t>
            </a:r>
            <a:r>
              <a:rPr lang="en-US" dirty="0"/>
              <a:t> spectrum characteristics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A9E0A-4F7C-CB1D-BF46-8F415CCE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9F36148-29F6-9CDC-5AA9-128B3C97AC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183953"/>
              </p:ext>
            </p:extLst>
          </p:nvPr>
        </p:nvGraphicFramePr>
        <p:xfrm>
          <a:off x="1590542" y="2543783"/>
          <a:ext cx="8826500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826480" imgH="3695760" progId="PBrush">
                  <p:embed/>
                </p:oleObj>
              </mc:Choice>
              <mc:Fallback>
                <p:oleObj name="Bitmap Image" r:id="rId2" imgW="8826480" imgH="369576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9F36148-29F6-9CDC-5AA9-128B3C97AC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90542" y="2543783"/>
                        <a:ext cx="8826500" cy="369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9947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5196-E08D-EB54-5C8A-5B4B006D1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ENERGY RANGES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6F4D4-AD56-3B59-D8ED-397C7BDC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4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10231-B94D-8224-C55A-CE4A365C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F5899-884D-4343-327A-A174AD28D5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particular event produced radiation with an energy of 100 </a:t>
            </a:r>
            <a:r>
              <a:rPr lang="en-US" dirty="0" err="1"/>
              <a:t>kev</a:t>
            </a: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WHAT IS ITS FREQENCY?</a:t>
            </a:r>
          </a:p>
          <a:p>
            <a:pPr marL="457200" indent="-457200">
              <a:buAutoNum type="arabicParenR"/>
            </a:pPr>
            <a:r>
              <a:rPr lang="en-US" dirty="0"/>
              <a:t>WHAT IS ITS WAVELENTH?</a:t>
            </a:r>
          </a:p>
          <a:p>
            <a:pPr marL="457200" indent="-457200">
              <a:buAutoNum type="arabicParenR"/>
            </a:pPr>
            <a:r>
              <a:rPr lang="en-US" dirty="0"/>
              <a:t>WHAT IS ITS LIKELY SOURCE?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1724E-C757-9145-2EA2-0E70FDEB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12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05ADB-68EF-6C98-CB2F-78B19654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OF CHARGED PARTICLE FLUX DENSITY WITH SOLAR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43CDC-25F5-5CB4-C837-EE3227C2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61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95D3B-3E4D-0655-FD9B-58446EFDF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762" y="1227279"/>
            <a:ext cx="4328819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RADIOACTIVE SUBSTANCES</a:t>
            </a:r>
          </a:p>
        </p:txBody>
      </p:sp>
      <p:pic>
        <p:nvPicPr>
          <p:cNvPr id="2061" name="Picture 2060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 flipH="1">
            <a:off x="0" y="-1"/>
            <a:ext cx="2596444" cy="872709"/>
          </a:xfrm>
          <a:prstGeom prst="rect">
            <a:avLst/>
          </a:prstGeom>
        </p:spPr>
      </p:pic>
      <p:pic>
        <p:nvPicPr>
          <p:cNvPr id="2063" name="Picture 2062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10473994" y="5564567"/>
            <a:ext cx="1341545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2C048682-2C78-A651-F494-8AE4507C2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023254"/>
            <a:ext cx="5132324" cy="459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2064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 flipH="1">
            <a:off x="0" y="3142319"/>
            <a:ext cx="4605339" cy="37156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AA586-7824-07C7-7B44-E5967D57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2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31CA2540-FD07-4286-91E4-8D0DE4E5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B38D4-2C2D-A5BF-2716-72A81CDD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762" y="1227279"/>
            <a:ext cx="4328819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Interaction mechanisms - Photoelectric effect</a:t>
            </a:r>
          </a:p>
        </p:txBody>
      </p:sp>
      <p:pic>
        <p:nvPicPr>
          <p:cNvPr id="3085" name="Picture 3084">
            <a:extLst>
              <a:ext uri="{FF2B5EF4-FFF2-40B4-BE49-F238E27FC236}">
                <a16:creationId xmlns:a16="http://schemas.microsoft.com/office/drawing/2014/main" id="{214924F5-CDC2-4DFA-82F3-4843ADD6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95" t="89389" r="26987" b="24"/>
          <a:stretch/>
        </p:blipFill>
        <p:spPr>
          <a:xfrm flipH="1">
            <a:off x="0" y="-1"/>
            <a:ext cx="2596444" cy="872709"/>
          </a:xfrm>
          <a:prstGeom prst="rect">
            <a:avLst/>
          </a:prstGeom>
        </p:spPr>
      </p:pic>
      <p:pic>
        <p:nvPicPr>
          <p:cNvPr id="3087" name="Picture 3086">
            <a:extLst>
              <a:ext uri="{FF2B5EF4-FFF2-40B4-BE49-F238E27FC236}">
                <a16:creationId xmlns:a16="http://schemas.microsoft.com/office/drawing/2014/main" id="{AED59812-6820-446C-B994-0D059C97D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7" t="72411" b="13751"/>
          <a:stretch/>
        </p:blipFill>
        <p:spPr>
          <a:xfrm>
            <a:off x="10473994" y="5564567"/>
            <a:ext cx="1341545" cy="1293433"/>
          </a:xfrm>
          <a:custGeom>
            <a:avLst/>
            <a:gdLst>
              <a:gd name="connsiteX0" fmla="*/ 0 w 1341545"/>
              <a:gd name="connsiteY0" fmla="*/ 0 h 1293433"/>
              <a:gd name="connsiteX1" fmla="*/ 1341545 w 1341545"/>
              <a:gd name="connsiteY1" fmla="*/ 0 h 1293433"/>
              <a:gd name="connsiteX2" fmla="*/ 1341545 w 1341545"/>
              <a:gd name="connsiteY2" fmla="*/ 1293433 h 1293433"/>
              <a:gd name="connsiteX3" fmla="*/ 150847 w 1341545"/>
              <a:gd name="connsiteY3" fmla="*/ 1293433 h 1293433"/>
              <a:gd name="connsiteX4" fmla="*/ 66240 w 1341545"/>
              <a:gd name="connsiteY4" fmla="*/ 1183451 h 1293433"/>
              <a:gd name="connsiteX5" fmla="*/ 0 w 1341545"/>
              <a:gd name="connsiteY5" fmla="*/ 1061841 h 1293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1545" h="1293433">
                <a:moveTo>
                  <a:pt x="0" y="0"/>
                </a:moveTo>
                <a:lnTo>
                  <a:pt x="1341545" y="0"/>
                </a:lnTo>
                <a:lnTo>
                  <a:pt x="1341545" y="1293433"/>
                </a:lnTo>
                <a:lnTo>
                  <a:pt x="150847" y="1293433"/>
                </a:lnTo>
                <a:lnTo>
                  <a:pt x="66240" y="1183451"/>
                </a:lnTo>
                <a:lnTo>
                  <a:pt x="0" y="1061841"/>
                </a:lnTo>
                <a:close/>
              </a:path>
            </a:pathLst>
          </a:custGeom>
        </p:spPr>
      </p:pic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A97614BE-D397-E51C-FB7D-0E5CEF9FFE20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395347"/>
            <a:ext cx="5132324" cy="3849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9" name="Picture 3088">
            <a:extLst>
              <a:ext uri="{FF2B5EF4-FFF2-40B4-BE49-F238E27FC236}">
                <a16:creationId xmlns:a16="http://schemas.microsoft.com/office/drawing/2014/main" id="{E844ED7C-1917-40D8-8B42-1B1C27BC5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3" t="43915" r="1" b="18252"/>
          <a:stretch/>
        </p:blipFill>
        <p:spPr>
          <a:xfrm flipH="1">
            <a:off x="0" y="3142319"/>
            <a:ext cx="4605339" cy="37156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4FCBF-A20E-3648-C342-64703393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6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4104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2BFD9BBE-CACA-434E-973B-903707B17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ounded Rectangle 5">
            <a:extLst>
              <a:ext uri="{FF2B5EF4-FFF2-40B4-BE49-F238E27FC236}">
                <a16:creationId xmlns:a16="http://schemas.microsoft.com/office/drawing/2014/main" id="{DA335373-4C5E-45BD-8EFF-190A1E76C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7439" y="1215213"/>
            <a:ext cx="6005039" cy="4940394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sz="3200" cap="all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098" name="Picture 2" descr="See the source image">
            <a:extLst>
              <a:ext uri="{FF2B5EF4-FFF2-40B4-BE49-F238E27FC236}">
                <a16:creationId xmlns:a16="http://schemas.microsoft.com/office/drawing/2014/main" id="{3C9C18F2-52A3-61A1-B0F6-8B1461AE9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1419" y="1752431"/>
            <a:ext cx="5037079" cy="386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4110">
            <a:extLst>
              <a:ext uri="{FF2B5EF4-FFF2-40B4-BE49-F238E27FC236}">
                <a16:creationId xmlns:a16="http://schemas.microsoft.com/office/drawing/2014/main" id="{FC559A65-05EE-4AF2-8C3B-B051D7A2A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07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1B38D4-2C2D-A5BF-2716-72A81CDD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957486"/>
            <a:ext cx="3707844" cy="31319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Interaction mechanisms – COMPTOM SCATTERING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4FCBF-A20E-3648-C342-64703393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80909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5128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See the source image">
            <a:extLst>
              <a:ext uri="{FF2B5EF4-FFF2-40B4-BE49-F238E27FC236}">
                <a16:creationId xmlns:a16="http://schemas.microsoft.com/office/drawing/2014/main" id="{8585904F-6B49-E4E6-92FD-EDFC6BE58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0423" y="957486"/>
            <a:ext cx="6677500" cy="3285330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3" name="Picture 5132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349623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1B38D4-2C2D-A5BF-2716-72A81CDD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11" y="4562855"/>
            <a:ext cx="10916365" cy="11375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Interaction mechanisms – PAIR PRODUCTION</a:t>
            </a:r>
          </a:p>
        </p:txBody>
      </p:sp>
      <p:pic>
        <p:nvPicPr>
          <p:cNvPr id="5135" name="Picture 5134">
            <a:extLst>
              <a:ext uri="{FF2B5EF4-FFF2-40B4-BE49-F238E27FC236}">
                <a16:creationId xmlns:a16="http://schemas.microsoft.com/office/drawing/2014/main" id="{A73B520B-D7E7-436A-B263-0682940B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9600237" cy="26190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4FCBF-A20E-3648-C342-64703393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5482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4334-6637-43CC-19D2-A4607235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relative importance of three photon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D18C0-9D3E-1F08-C4BC-AA5B04B2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10</a:t>
            </a:fld>
            <a:endParaRPr lang="en-US"/>
          </a:p>
        </p:txBody>
      </p:sp>
      <p:sp>
        <p:nvSpPr>
          <p:cNvPr id="5" name="AutoShape 2" descr="See the source image">
            <a:extLst>
              <a:ext uri="{FF2B5EF4-FFF2-40B4-BE49-F238E27FC236}">
                <a16:creationId xmlns:a16="http://schemas.microsoft.com/office/drawing/2014/main" id="{A86AB66B-F146-F25A-992B-63933AAA62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03BF070-A8DB-84E6-9C64-B1631920A4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4098937"/>
              </p:ext>
            </p:extLst>
          </p:nvPr>
        </p:nvGraphicFramePr>
        <p:xfrm>
          <a:off x="1423877" y="2108200"/>
          <a:ext cx="8763000" cy="47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763120" imgH="4749840" progId="PBrush">
                  <p:embed/>
                </p:oleObj>
              </mc:Choice>
              <mc:Fallback>
                <p:oleObj name="Bitmap Image" r:id="rId2" imgW="8763120" imgH="474984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03BF070-A8DB-84E6-9C64-B1631920A4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3877" y="2108200"/>
                        <a:ext cx="8763000" cy="474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3877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16CF-2B43-4A90-A65D-B2E7C34E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FLUX DENSITY ATTENUATION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73981-E1F6-4852-B146-A938A070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E222B1-478F-4BC0-A735-26F447DD879C}"/>
                  </a:ext>
                </a:extLst>
              </p:cNvPr>
              <p:cNvSpPr txBox="1"/>
              <p:nvPr/>
            </p:nvSpPr>
            <p:spPr>
              <a:xfrm>
                <a:off x="1576017" y="1968472"/>
                <a:ext cx="6560642" cy="3647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𝑑𝐼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𝐼𝑛𝑑𝑥</m:t>
                      </m:r>
                    </m:oMath>
                  </m:oMathPara>
                </a14:m>
                <a:endParaRPr lang="en-US" sz="3200" b="0" dirty="0">
                  <a:ea typeface="Cambria Math" panose="02040503050406030204" pitchFamily="18" charset="0"/>
                </a:endParaRPr>
              </a:p>
              <a:p>
                <a:endParaRPr lang="en-US" sz="3200" dirty="0"/>
              </a:p>
              <a:p>
                <a:r>
                  <a:rPr lang="en-US" sz="3200" dirty="0"/>
                  <a:t>I = photon flux density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𝑝ℎ𝑜𝑡𝑜𝑛𝑠</m:t>
                        </m:r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/>
                  <a:t> = scattering cross section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𝑎𝑡𝑜𝑚</m:t>
                        </m:r>
                      </m:den>
                    </m:f>
                  </m:oMath>
                </a14:m>
                <a:endParaRPr lang="en-US" sz="3200" dirty="0"/>
              </a:p>
              <a:p>
                <a:r>
                  <a:rPr lang="en-US" sz="3200" dirty="0"/>
                  <a:t>n = number density of target atom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𝑎𝑡𝑜𝑚</m:t>
                        </m:r>
                      </m:num>
                      <m:den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/>
              </a:p>
              <a:p>
                <a:r>
                  <a:rPr lang="en-US" sz="3200" dirty="0"/>
                  <a:t>dx = target thickness cm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E222B1-478F-4BC0-A735-26F447DD8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017" y="1968472"/>
                <a:ext cx="6560642" cy="3647793"/>
              </a:xfrm>
              <a:prstGeom prst="rect">
                <a:avLst/>
              </a:prstGeom>
              <a:blipFill>
                <a:blip r:embed="rId2"/>
                <a:stretch>
                  <a:fillRect l="-3810" b="-5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780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16CF-2B43-4A90-A65D-B2E7C34E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FLUX DENSITY ATTENUATION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73981-E1F6-4852-B146-A938A070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12</a:t>
            </a:fld>
            <a:endParaRPr lang="en-US"/>
          </a:p>
        </p:txBody>
      </p:sp>
      <p:pic>
        <p:nvPicPr>
          <p:cNvPr id="11266" name="Picture 2" descr="See the source image">
            <a:extLst>
              <a:ext uri="{FF2B5EF4-FFF2-40B4-BE49-F238E27FC236}">
                <a16:creationId xmlns:a16="http://schemas.microsoft.com/office/drawing/2014/main" id="{38212751-A321-4512-9DDF-87CEBC7F3B97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297" y="3732178"/>
            <a:ext cx="49339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B5F0D8-2C8F-49FC-A6EB-E04718D8D71A}"/>
                  </a:ext>
                </a:extLst>
              </p:cNvPr>
              <p:cNvSpPr txBox="1"/>
              <p:nvPr/>
            </p:nvSpPr>
            <p:spPr>
              <a:xfrm>
                <a:off x="2769208" y="1942546"/>
                <a:ext cx="6096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𝐼𝑛𝑑𝑥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B5F0D8-2C8F-49FC-A6EB-E04718D8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208" y="1942546"/>
                <a:ext cx="609691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6A851B-9F44-43F3-85F2-A3126D6BA743}"/>
                  </a:ext>
                </a:extLst>
              </p:cNvPr>
              <p:cNvSpPr txBox="1"/>
              <p:nvPr/>
            </p:nvSpPr>
            <p:spPr>
              <a:xfrm>
                <a:off x="4747214" y="2926804"/>
                <a:ext cx="198945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6A851B-9F44-43F3-85F2-A3126D6BA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14" y="2926804"/>
                <a:ext cx="198945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200B0-2265-44F2-B746-0F18CABC6D35}"/>
                  </a:ext>
                </a:extLst>
              </p:cNvPr>
              <p:cNvSpPr txBox="1"/>
              <p:nvPr/>
            </p:nvSpPr>
            <p:spPr>
              <a:xfrm>
                <a:off x="4873980" y="5344915"/>
                <a:ext cx="1862689" cy="7781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HVL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⁡(2)</m:t>
                        </m:r>
                      </m:num>
                      <m:den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200B0-2265-44F2-B746-0F18CABC6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980" y="5344915"/>
                <a:ext cx="1862689" cy="778162"/>
              </a:xfrm>
              <a:prstGeom prst="rect">
                <a:avLst/>
              </a:prstGeom>
              <a:blipFill>
                <a:blip r:embed="rId5"/>
                <a:stretch>
                  <a:fillRect l="-13443" b="-1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4238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617A-18C1-45A5-B0FB-1C663E1E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5A32-E260-4445-A792-1D960A8D3F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Determine the fraction remaining of the flux density of 1-MeV gamma rays that travel 1 and 10 cm in Lead.   Assume the half value layer for 1 MeV gamma rays in Lead is 0.85 cm.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73550-AB97-44D4-96E3-D72D397E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59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617A-18C1-45A5-B0FB-1C663E1E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problem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75A32-E260-4445-A792-1D960A8D3F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159617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 the fraction remaining of the flux density of 10 MeV gamma rays that travel 1 and 10 cm in Lucite.  Assume the half value layer for 10 MeV gamma rays in Lucite is 20 cm.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73550-AB97-44D4-96E3-D72D397E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08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5789-38B4-4E9D-99AD-9E1A3ABD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92156-6CD8-477C-B706-124A9312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15</a:t>
            </a:fld>
            <a:endParaRPr lang="en-US"/>
          </a:p>
        </p:txBody>
      </p:sp>
      <p:pic>
        <p:nvPicPr>
          <p:cNvPr id="13314" name="Picture 2" descr="See the source image">
            <a:extLst>
              <a:ext uri="{FF2B5EF4-FFF2-40B4-BE49-F238E27FC236}">
                <a16:creationId xmlns:a16="http://schemas.microsoft.com/office/drawing/2014/main" id="{00424904-C683-4E82-87F8-B787701D2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03" y="1979948"/>
            <a:ext cx="2667716" cy="413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4986480-0292-4D0F-B71F-4647A32CF9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3231286"/>
                  </p:ext>
                </p:extLst>
              </p:nvPr>
            </p:nvGraphicFramePr>
            <p:xfrm>
              <a:off x="4205145" y="2104955"/>
              <a:ext cx="736204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98045">
                      <a:extLst>
                        <a:ext uri="{9D8B030D-6E8A-4147-A177-3AD203B41FA5}">
                          <a16:colId xmlns:a16="http://schemas.microsoft.com/office/drawing/2014/main" val="132258555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830904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ELECTRONIC TECHNOLOGIES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TOTAL DOSE (RADS)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5690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NMOS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3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MNOS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970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CMOS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1884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TTL/STTL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&gt;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6632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4986480-0292-4D0F-B71F-4647A32CF9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3231286"/>
                  </p:ext>
                </p:extLst>
              </p:nvPr>
            </p:nvGraphicFramePr>
            <p:xfrm>
              <a:off x="4205145" y="2104955"/>
              <a:ext cx="736204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98045">
                      <a:extLst>
                        <a:ext uri="{9D8B030D-6E8A-4147-A177-3AD203B41FA5}">
                          <a16:colId xmlns:a16="http://schemas.microsoft.com/office/drawing/2014/main" val="132258555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830904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ELECTRONIC TECHNOLOGIES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TOTAL DOSE (RADS)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5690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NMOS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1409" t="-108197" r="-600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3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MNOS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1409" t="-208197" r="-600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970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CMOS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1409" t="-308197" r="-600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1884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TTL/STTL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1409" t="-408197" r="-600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66324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864B166D-F669-468F-BB2C-7626A6871B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4629867"/>
                  </p:ext>
                </p:extLst>
              </p:nvPr>
            </p:nvGraphicFramePr>
            <p:xfrm>
              <a:off x="4205145" y="4379052"/>
              <a:ext cx="736204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98045">
                      <a:extLst>
                        <a:ext uri="{9D8B030D-6E8A-4147-A177-3AD203B41FA5}">
                          <a16:colId xmlns:a16="http://schemas.microsoft.com/office/drawing/2014/main" val="132258555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830904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POLYMER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USABLE DOSE (RAD)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5690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TEFLON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73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NYLON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8970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MYLAR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1884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KAPTON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66632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5">
                <a:extLst>
                  <a:ext uri="{FF2B5EF4-FFF2-40B4-BE49-F238E27FC236}">
                    <a16:creationId xmlns:a16="http://schemas.microsoft.com/office/drawing/2014/main" id="{864B166D-F669-468F-BB2C-7626A6871B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94629867"/>
                  </p:ext>
                </p:extLst>
              </p:nvPr>
            </p:nvGraphicFramePr>
            <p:xfrm>
              <a:off x="4205145" y="4379052"/>
              <a:ext cx="736204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98045">
                      <a:extLst>
                        <a:ext uri="{9D8B030D-6E8A-4147-A177-3AD203B41FA5}">
                          <a16:colId xmlns:a16="http://schemas.microsoft.com/office/drawing/2014/main" val="1322585558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8309049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POLYMER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USABLE DOSE (RAD)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56902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TEFLON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409" t="-108197" r="-600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7393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NYLON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409" t="-208197" r="-6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970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MYLAR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409" t="-308197" r="-60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1884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KAPTON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1409" t="-408197" r="-600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66324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55436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4">
            <a:extLst>
              <a:ext uri="{FF2B5EF4-FFF2-40B4-BE49-F238E27FC236}">
                <a16:creationId xmlns:a16="http://schemas.microsoft.com/office/drawing/2014/main" id="{9B5BCB49-8CC0-42DD-97C6-7A3E126CD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1524" y="0"/>
            <a:ext cx="10364451" cy="159617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Radiation Environment and Its Effects</a:t>
            </a:r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D67D4191-E1E4-4E09-8977-474A1424D9A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87499" y="996950"/>
            <a:ext cx="8572500" cy="5861050"/>
          </a:xfrm>
        </p:spPr>
        <p:txBody>
          <a:bodyPr>
            <a:normAutofit/>
          </a:bodyPr>
          <a:lstStyle/>
          <a:p>
            <a:pPr>
              <a:spcBef>
                <a:spcPct val="60000"/>
              </a:spcBef>
              <a:defRPr/>
            </a:pPr>
            <a:r>
              <a:rPr lang="en-US" altLang="en-US" dirty="0"/>
              <a:t>Important effects</a:t>
            </a:r>
            <a:endParaRPr lang="en-US" altLang="en-US" sz="20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dirty="0">
                <a:solidFill>
                  <a:schemeClr val="accent2"/>
                </a:solidFill>
              </a:rPr>
              <a:t>Degradation of electronics and materials</a:t>
            </a:r>
            <a:endParaRPr lang="en-US" altLang="en-US" dirty="0"/>
          </a:p>
          <a:p>
            <a:pPr lvl="2">
              <a:spcBef>
                <a:spcPct val="5000"/>
              </a:spcBef>
              <a:defRPr/>
            </a:pPr>
            <a:r>
              <a:rPr lang="en-US" altLang="en-US" dirty="0"/>
              <a:t>Can degrade mechanical, electrical and thermal properties of materials</a:t>
            </a:r>
          </a:p>
          <a:p>
            <a:pPr marL="914400" lvl="2" indent="0">
              <a:spcBef>
                <a:spcPct val="5000"/>
              </a:spcBef>
              <a:buNone/>
              <a:defRPr/>
            </a:pPr>
            <a:endParaRPr lang="en-US" altLang="en-US" dirty="0"/>
          </a:p>
          <a:p>
            <a:pPr lvl="1">
              <a:spcBef>
                <a:spcPct val="5000"/>
              </a:spcBef>
              <a:defRPr/>
            </a:pPr>
            <a:r>
              <a:rPr lang="en-US" altLang="en-US" dirty="0">
                <a:solidFill>
                  <a:srgbClr val="00B050"/>
                </a:solidFill>
              </a:rPr>
              <a:t>SOLAR RADIATION PRESSURE</a:t>
            </a:r>
          </a:p>
          <a:p>
            <a:pPr lvl="2">
              <a:spcBef>
                <a:spcPct val="5000"/>
              </a:spcBef>
              <a:defRPr/>
            </a:pPr>
            <a:r>
              <a:rPr lang="en-US" altLang="en-US" dirty="0"/>
              <a:t>CAN AFFECT ADACS SYSTEM DESIGN</a:t>
            </a:r>
          </a:p>
          <a:p>
            <a:pPr lvl="2">
              <a:spcBef>
                <a:spcPct val="5000"/>
              </a:spcBef>
              <a:defRPr/>
            </a:pPr>
            <a:endParaRPr lang="en-US" altLang="en-US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dirty="0">
                <a:solidFill>
                  <a:schemeClr val="accent2"/>
                </a:solidFill>
              </a:rPr>
              <a:t>Single event phenomena </a:t>
            </a:r>
            <a:r>
              <a:rPr lang="en-US" altLang="en-US" dirty="0"/>
              <a:t>(SEP)</a:t>
            </a:r>
          </a:p>
          <a:p>
            <a:pPr lvl="2">
              <a:spcBef>
                <a:spcPct val="5000"/>
              </a:spcBef>
              <a:defRPr/>
            </a:pPr>
            <a:r>
              <a:rPr lang="en-US" altLang="en-US" dirty="0"/>
              <a:t>Can result in upset, </a:t>
            </a:r>
            <a:r>
              <a:rPr lang="en-US" altLang="en-US" dirty="0" err="1"/>
              <a:t>latchup</a:t>
            </a:r>
            <a:r>
              <a:rPr lang="en-US" altLang="en-US" dirty="0"/>
              <a:t>, or burnout</a:t>
            </a:r>
          </a:p>
          <a:p>
            <a:pPr marL="914400" lvl="2" indent="0">
              <a:spcBef>
                <a:spcPct val="5000"/>
              </a:spcBef>
              <a:buNone/>
              <a:defRPr/>
            </a:pPr>
            <a:endParaRPr lang="en-US" altLang="en-US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dirty="0">
                <a:solidFill>
                  <a:schemeClr val="accent2"/>
                </a:solidFill>
              </a:rPr>
              <a:t>Solar cell degradation</a:t>
            </a:r>
            <a:r>
              <a:rPr lang="en-US" altLang="en-US" dirty="0"/>
              <a:t> is a function of time</a:t>
            </a:r>
          </a:p>
          <a:p>
            <a:pPr lvl="2">
              <a:spcBef>
                <a:spcPct val="5000"/>
              </a:spcBef>
              <a:defRPr/>
            </a:pPr>
            <a:r>
              <a:rPr lang="en-US" altLang="en-US" dirty="0"/>
              <a:t>GaAs cells are more resistant than Si, but cost more</a:t>
            </a:r>
          </a:p>
          <a:p>
            <a:pPr marL="914400" lvl="2" indent="0">
              <a:spcBef>
                <a:spcPct val="5000"/>
              </a:spcBef>
              <a:buNone/>
              <a:defRPr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8B54A8-B6E4-49AD-8038-64313FE1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61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204ED90-B0B8-4BFA-9A4F-406CF8E03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Summary of Environment Effects</a:t>
            </a:r>
          </a:p>
        </p:txBody>
      </p:sp>
      <p:graphicFrame>
        <p:nvGraphicFramePr>
          <p:cNvPr id="57346" name="Object 5">
            <a:extLst>
              <a:ext uri="{FF2B5EF4-FFF2-40B4-BE49-F238E27FC236}">
                <a16:creationId xmlns:a16="http://schemas.microsoft.com/office/drawing/2014/main" id="{42D8C7D7-46E5-44F4-A0F2-81661BC3E195}"/>
              </a:ext>
            </a:extLst>
          </p:cNvPr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02002048"/>
              </p:ext>
            </p:extLst>
          </p:nvPr>
        </p:nvGraphicFramePr>
        <p:xfrm>
          <a:off x="1864386" y="1954924"/>
          <a:ext cx="7545547" cy="4701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9581388" imgH="5972556" progId="Word.Document.8">
                  <p:embed/>
                </p:oleObj>
              </mc:Choice>
              <mc:Fallback>
                <p:oleObj name="Document" r:id="rId3" imgW="9581388" imgH="5972556" progId="Word.Document.8">
                  <p:embed/>
                  <p:pic>
                    <p:nvPicPr>
                      <p:cNvPr id="57346" name="Object 5">
                        <a:extLst>
                          <a:ext uri="{FF2B5EF4-FFF2-40B4-BE49-F238E27FC236}">
                            <a16:creationId xmlns:a16="http://schemas.microsoft.com/office/drawing/2014/main" id="{42D8C7D7-46E5-44F4-A0F2-81661BC3E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1735" t="3186" r="21022" b="29446"/>
                      <a:stretch>
                        <a:fillRect/>
                      </a:stretch>
                    </p:blipFill>
                    <p:spPr bwMode="auto">
                      <a:xfrm>
                        <a:off x="1864386" y="1954924"/>
                        <a:ext cx="7545547" cy="4701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80D704-56F9-4376-A5A4-3E257768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34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chemeClr val="bg1">
                  <a:tint val="90000"/>
                  <a:lumMod val="110000"/>
                </a:schemeClr>
              </a:gs>
              <a:gs pos="100000">
                <a:schemeClr val="bg1">
                  <a:shade val="64000"/>
                  <a:lumMod val="88000"/>
                </a:schemeClr>
              </a:gs>
            </a:gsLst>
            <a:lin ang="5400000" scaled="0"/>
          </a:gradFill>
          <a:ln>
            <a:noFill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1" name="Picture 2" descr="A picture containing electronics&#10;&#10;Description generated with high confidence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picture containing thing&#10;&#10;Description generated with high confidence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1387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88900" dist="254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A picture containing thing&#10;&#10;Description generated with high confidence"/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037" b="73004"/>
          <a:stretch/>
        </p:blipFill>
        <p:spPr>
          <a:xfrm>
            <a:off x="1" y="-2"/>
            <a:ext cx="3321978" cy="2196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AF3C92-8B92-49DC-A7B4-5BD37964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896" y="960814"/>
            <a:ext cx="2732249" cy="49129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98A346-860C-40AF-9268-05BB4DF5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5779" y="5883275"/>
            <a:ext cx="84102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C83C362F-97FB-4C1E-B0F0-C3069DD0CDD1}" type="slidenum"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/>
              <a:t>18</a:t>
            </a:fld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B62D9-EFF1-454D-B1A7-39368DFC01DC}"/>
              </a:ext>
            </a:extLst>
          </p:cNvPr>
          <p:cNvSpPr txBox="1"/>
          <p:nvPr/>
        </p:nvSpPr>
        <p:spPr>
          <a:xfrm>
            <a:off x="4979078" y="960814"/>
            <a:ext cx="6247722" cy="4830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n-US" dirty="0" err="1"/>
              <a:t>Braeunig</a:t>
            </a:r>
            <a:r>
              <a:rPr lang="en-US" dirty="0"/>
              <a:t>, Robert A.  (2013.) Rocket and Space Technology.   </a:t>
            </a:r>
            <a:r>
              <a:rPr lang="en-US" i="1" dirty="0"/>
              <a:t>Atmospheric Properties.  </a:t>
            </a:r>
          </a:p>
          <a:p>
            <a:endParaRPr lang="en-US" i="1" dirty="0"/>
          </a:p>
          <a:p>
            <a:r>
              <a:rPr lang="en-US" dirty="0">
                <a:effectLst/>
              </a:rPr>
              <a:t>Cosgrove, A. (2014, September 12). </a:t>
            </a:r>
            <a:r>
              <a:rPr lang="en-US" i="1" dirty="0">
                <a:effectLst/>
              </a:rPr>
              <a:t>Web exclusive: Potential impact of solar flares</a:t>
            </a:r>
            <a:r>
              <a:rPr lang="en-US" dirty="0">
                <a:effectLst/>
              </a:rPr>
              <a:t>. Facility Executive. Retrieved July 10, 2022, from </a:t>
            </a:r>
            <a:r>
              <a:rPr lang="en-US" dirty="0">
                <a:effectLst/>
                <a:hlinkClick r:id="rId4"/>
              </a:rPr>
              <a:t>https://facilityexecutive.com/2013/11/web-exclusive-potential-impact-solar-flares/#:~:text=Solar%20flares%20occur%20when%20built%20up%20magnetic%20energy,When%20will%20the%20%E2%80%9Cthreat%E2%80%9D%20from%20solar%20flares%20dissipate%3F</a:t>
            </a:r>
            <a:endParaRPr lang="en-US" dirty="0">
              <a:effectLst/>
            </a:endParaRPr>
          </a:p>
          <a:p>
            <a:endParaRPr lang="en-US" dirty="0"/>
          </a:p>
          <a:p>
            <a:r>
              <a:rPr lang="en-US" dirty="0"/>
              <a:t>ESA.  (19 June 2017.) </a:t>
            </a:r>
            <a:r>
              <a:rPr lang="en-US" i="1" dirty="0"/>
              <a:t>Magnetic Space Tug Could Target Dead Satellites.</a:t>
            </a:r>
          </a:p>
          <a:p>
            <a:endParaRPr lang="en-US" i="1" dirty="0"/>
          </a:p>
          <a:p>
            <a:r>
              <a:rPr lang="en-US" i="1" dirty="0">
                <a:effectLst/>
              </a:rPr>
              <a:t>The largest nuclear test in outer space had startling effects on Hawaii</a:t>
            </a:r>
            <a:r>
              <a:rPr lang="en-US" dirty="0">
                <a:effectLst/>
              </a:rPr>
              <a:t>. (n.d.). Retrieved July 11, 2022, from </a:t>
            </a:r>
            <a:r>
              <a:rPr lang="en-US" dirty="0">
                <a:effectLst/>
                <a:hlinkClick r:id="rId5"/>
              </a:rPr>
              <a:t>https://www.realclearscience.com/blog/2020/01/14/the_largest_nuclear_test_in_outer_space_had_startling_effects_on_hawaii.html</a:t>
            </a:r>
            <a:endParaRPr lang="en-US" dirty="0">
              <a:effectLst/>
            </a:endParaRPr>
          </a:p>
          <a:p>
            <a:endParaRPr lang="en-US" cap="all" dirty="0"/>
          </a:p>
          <a:p>
            <a:r>
              <a:rPr lang="en-US" cap="all" dirty="0"/>
              <a:t>Nasa Biosphere Science Research Portal. (2 June 2017.)  Research Highlights Feb 2016.</a:t>
            </a:r>
          </a:p>
          <a:p>
            <a:endParaRPr lang="en-US" i="1" dirty="0"/>
          </a:p>
          <a:p>
            <a:r>
              <a:rPr lang="en-US" dirty="0"/>
              <a:t>Space Propulsion.  (2017.)  Propellant Tanks.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Tran, L. (2020, July 31). </a:t>
            </a:r>
            <a:r>
              <a:rPr lang="en-US" i="1" dirty="0">
                <a:effectLst/>
              </a:rPr>
              <a:t>NASA Sun Data helps new model predict big solar flares</a:t>
            </a:r>
            <a:r>
              <a:rPr lang="en-US" dirty="0">
                <a:effectLst/>
              </a:rPr>
              <a:t>. NASA. Retrieved July 10, 2022, from </a:t>
            </a:r>
            <a:r>
              <a:rPr lang="en-US" dirty="0">
                <a:effectLst/>
                <a:hlinkClick r:id="rId6"/>
              </a:rPr>
              <a:t>https://www.nasa.gov/feature/goddard/2020/nasa-sdo-sun-data-helps-new-model-predict-big-solar-flares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 </a:t>
            </a:r>
          </a:p>
          <a:p>
            <a:endParaRPr lang="en-US" dirty="0"/>
          </a:p>
          <a:p>
            <a:pPr defTabSz="914400">
              <a:lnSpc>
                <a:spcPct val="120000"/>
              </a:lnSpc>
              <a:buClr>
                <a:schemeClr val="tx1"/>
              </a:buClr>
            </a:pP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59846105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1975</TotalTime>
  <Words>682</Words>
  <Application>Microsoft Office PowerPoint</Application>
  <PresentationFormat>Widescreen</PresentationFormat>
  <Paragraphs>108</Paragraphs>
  <Slides>18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Times New Roman</vt:lpstr>
      <vt:lpstr>Tw Cen MT</vt:lpstr>
      <vt:lpstr>Droplet</vt:lpstr>
      <vt:lpstr>Bitmap Image</vt:lpstr>
      <vt:lpstr>Document</vt:lpstr>
      <vt:lpstr>PowerPoint Presentation</vt:lpstr>
      <vt:lpstr>Emag spectrum characteristics</vt:lpstr>
      <vt:lpstr>TYPICAL ENERGY RANGES</vt:lpstr>
      <vt:lpstr>EXAMPLE 1</vt:lpstr>
      <vt:lpstr>CORRELATION OF CHARGED PARTICLE FLUX DENSITY WITH SOLAR ACTIVITY</vt:lpstr>
      <vt:lpstr>RADIOACTIVE SUBSTANCES</vt:lpstr>
      <vt:lpstr>Interaction mechanisms - Photoelectric effect</vt:lpstr>
      <vt:lpstr>Interaction mechanisms – COMPTOM SCATTERING</vt:lpstr>
      <vt:lpstr>Interaction mechanisms – PAIR PRODUCTION</vt:lpstr>
      <vt:lpstr>Summary of relative importance of three photon interactions</vt:lpstr>
      <vt:lpstr>FLUX DENSITY ATTENUATION</vt:lpstr>
      <vt:lpstr>FLUX DENSITY ATTENUATION</vt:lpstr>
      <vt:lpstr>EXAMPLE 2</vt:lpstr>
      <vt:lpstr>HOMEWORK problem 3</vt:lpstr>
      <vt:lpstr>DISPLACEMENT</vt:lpstr>
      <vt:lpstr>Radiation Environment and Its Effects</vt:lpstr>
      <vt:lpstr>Summary of Environment Effects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Lynnane George</dc:creator>
  <cp:lastModifiedBy>Lynnane George</cp:lastModifiedBy>
  <cp:revision>66</cp:revision>
  <dcterms:created xsi:type="dcterms:W3CDTF">2017-06-12T22:04:21Z</dcterms:created>
  <dcterms:modified xsi:type="dcterms:W3CDTF">2026-07-29T21:55:26Z</dcterms:modified>
</cp:coreProperties>
</file>