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30"/>
  </p:notesMasterIdLst>
  <p:sldIdLst>
    <p:sldId id="326" r:id="rId2"/>
    <p:sldId id="521" r:id="rId3"/>
    <p:sldId id="626" r:id="rId4"/>
    <p:sldId id="629" r:id="rId5"/>
    <p:sldId id="630" r:id="rId6"/>
    <p:sldId id="258" r:id="rId7"/>
    <p:sldId id="272" r:id="rId8"/>
    <p:sldId id="628" r:id="rId9"/>
    <p:sldId id="373" r:id="rId10"/>
    <p:sldId id="375" r:id="rId11"/>
    <p:sldId id="273" r:id="rId12"/>
    <p:sldId id="274" r:id="rId13"/>
    <p:sldId id="524" r:id="rId14"/>
    <p:sldId id="376" r:id="rId15"/>
    <p:sldId id="377" r:id="rId16"/>
    <p:sldId id="378" r:id="rId17"/>
    <p:sldId id="617" r:id="rId18"/>
    <p:sldId id="611" r:id="rId19"/>
    <p:sldId id="619" r:id="rId20"/>
    <p:sldId id="618" r:id="rId21"/>
    <p:sldId id="612" r:id="rId22"/>
    <p:sldId id="613" r:id="rId23"/>
    <p:sldId id="614" r:id="rId24"/>
    <p:sldId id="621" r:id="rId25"/>
    <p:sldId id="622" r:id="rId26"/>
    <p:sldId id="623" r:id="rId27"/>
    <p:sldId id="625" r:id="rId28"/>
    <p:sldId id="29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69C1B8-6B75-4399-A7A8-F1FF9727B544}" v="2" dt="2026-07-29T21:17:40.4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416" autoAdjust="0"/>
  </p:normalViewPr>
  <p:slideViewPr>
    <p:cSldViewPr snapToGrid="0">
      <p:cViewPr varScale="1">
        <p:scale>
          <a:sx n="59" d="100"/>
          <a:sy n="59" d="100"/>
        </p:scale>
        <p:origin x="80" y="580"/>
      </p:cViewPr>
      <p:guideLst/>
    </p:cSldViewPr>
  </p:slideViewPr>
  <p:outlineViewPr>
    <p:cViewPr>
      <p:scale>
        <a:sx n="33" d="100"/>
        <a:sy n="33" d="100"/>
      </p:scale>
      <p:origin x="0" y="-521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ane George" userId="065056628ae16e64" providerId="LiveId" clId="{1E9AE552-6B83-46CE-A2DC-1FB506DB1638}"/>
    <pc:docChg chg="undo custSel addSld delSld modSld sldOrd">
      <pc:chgData name="Lynnane George" userId="065056628ae16e64" providerId="LiveId" clId="{1E9AE552-6B83-46CE-A2DC-1FB506DB1638}" dt="2026-07-29T21:49:43.335" v="629" actId="20577"/>
      <pc:docMkLst>
        <pc:docMk/>
      </pc:docMkLst>
      <pc:sldChg chg="modSp mod">
        <pc:chgData name="Lynnane George" userId="065056628ae16e64" providerId="LiveId" clId="{1E9AE552-6B83-46CE-A2DC-1FB506DB1638}" dt="2026-07-25T15:27:03.398" v="164" actId="13238"/>
        <pc:sldMkLst>
          <pc:docMk/>
          <pc:sldMk cId="1838523007" sldId="258"/>
        </pc:sldMkLst>
        <pc:spChg chg="mod">
          <ac:chgData name="Lynnane George" userId="065056628ae16e64" providerId="LiveId" clId="{1E9AE552-6B83-46CE-A2DC-1FB506DB1638}" dt="2026-07-25T15:15:12.718" v="119" actId="1076"/>
          <ac:spMkLst>
            <pc:docMk/>
            <pc:sldMk cId="1838523007" sldId="258"/>
            <ac:spMk id="8194" creationId="{621B57E8-902A-4C03-97BD-A7A6B2AC0520}"/>
          </ac:spMkLst>
        </pc:spChg>
        <pc:grpChg chg="mod">
          <ac:chgData name="Lynnane George" userId="065056628ae16e64" providerId="LiveId" clId="{1E9AE552-6B83-46CE-A2DC-1FB506DB1638}" dt="2026-07-25T15:16:33.395" v="121" actId="962"/>
          <ac:grpSpMkLst>
            <pc:docMk/>
            <pc:sldMk cId="1838523007" sldId="258"/>
            <ac:grpSpMk id="8340" creationId="{F9A4584C-06A3-429E-96E4-87241A38447E}"/>
          </ac:grpSpMkLst>
        </pc:grpChg>
        <pc:graphicFrameChg chg="modGraphic">
          <ac:chgData name="Lynnane George" userId="065056628ae16e64" providerId="LiveId" clId="{1E9AE552-6B83-46CE-A2DC-1FB506DB1638}" dt="2026-07-25T15:26:47.910" v="161" actId="13238"/>
          <ac:graphicFrameMkLst>
            <pc:docMk/>
            <pc:sldMk cId="1838523007" sldId="258"/>
            <ac:graphicFrameMk id="8198" creationId="{49530EF0-FDCA-491E-8C4B-13CF6B56CDE0}"/>
          </ac:graphicFrameMkLst>
        </pc:graphicFrameChg>
        <pc:graphicFrameChg chg="modGraphic">
          <ac:chgData name="Lynnane George" userId="065056628ae16e64" providerId="LiveId" clId="{1E9AE552-6B83-46CE-A2DC-1FB506DB1638}" dt="2026-07-25T15:26:51.165" v="162" actId="13238"/>
          <ac:graphicFrameMkLst>
            <pc:docMk/>
            <pc:sldMk cId="1838523007" sldId="258"/>
            <ac:graphicFrameMk id="8204" creationId="{54669313-A1E6-4B94-B2BD-2C0670E5E4BE}"/>
          </ac:graphicFrameMkLst>
        </pc:graphicFrameChg>
        <pc:graphicFrameChg chg="modGraphic">
          <ac:chgData name="Lynnane George" userId="065056628ae16e64" providerId="LiveId" clId="{1E9AE552-6B83-46CE-A2DC-1FB506DB1638}" dt="2026-07-25T15:27:03.398" v="164" actId="13238"/>
          <ac:graphicFrameMkLst>
            <pc:docMk/>
            <pc:sldMk cId="1838523007" sldId="258"/>
            <ac:graphicFrameMk id="8406" creationId="{164A7846-F587-4F91-91F6-31E02662EFB3}"/>
          </ac:graphicFrameMkLst>
        </pc:graphicFrameChg>
      </pc:sldChg>
      <pc:sldChg chg="ord">
        <pc:chgData name="Lynnane George" userId="065056628ae16e64" providerId="LiveId" clId="{1E9AE552-6B83-46CE-A2DC-1FB506DB1638}" dt="2026-07-25T19:27:08.390" v="411"/>
        <pc:sldMkLst>
          <pc:docMk/>
          <pc:sldMk cId="3430854971" sldId="272"/>
        </pc:sldMkLst>
      </pc:sldChg>
      <pc:sldChg chg="addSp delSp modSp mod">
        <pc:chgData name="Lynnane George" userId="065056628ae16e64" providerId="LiveId" clId="{1E9AE552-6B83-46CE-A2DC-1FB506DB1638}" dt="2026-07-25T15:26:59.295" v="163" actId="13238"/>
        <pc:sldMkLst>
          <pc:docMk/>
          <pc:sldMk cId="732098927" sldId="273"/>
        </pc:sldMkLst>
        <pc:spChg chg="add mod">
          <ac:chgData name="Lynnane George" userId="065056628ae16e64" providerId="LiveId" clId="{1E9AE552-6B83-46CE-A2DC-1FB506DB1638}" dt="2026-07-25T15:18:59.121" v="133" actId="1076"/>
          <ac:spMkLst>
            <pc:docMk/>
            <pc:sldMk cId="732098927" sldId="273"/>
            <ac:spMk id="6" creationId="{9CB23EEC-D63A-32AD-4205-495AD1AAAAB7}"/>
          </ac:spMkLst>
        </pc:spChg>
        <pc:spChg chg="mod">
          <ac:chgData name="Lynnane George" userId="065056628ae16e64" providerId="LiveId" clId="{1E9AE552-6B83-46CE-A2DC-1FB506DB1638}" dt="2026-07-25T15:18:30.473" v="127" actId="1076"/>
          <ac:spMkLst>
            <pc:docMk/>
            <pc:sldMk cId="732098927" sldId="273"/>
            <ac:spMk id="128033" creationId="{6274C18F-3DA6-4F06-98AF-7BEFEE4AFD55}"/>
          </ac:spMkLst>
        </pc:spChg>
        <pc:spChg chg="mod">
          <ac:chgData name="Lynnane George" userId="065056628ae16e64" providerId="LiveId" clId="{1E9AE552-6B83-46CE-A2DC-1FB506DB1638}" dt="2026-07-25T15:18:30.473" v="127" actId="1076"/>
          <ac:spMkLst>
            <pc:docMk/>
            <pc:sldMk cId="732098927" sldId="273"/>
            <ac:spMk id="128035" creationId="{735C4FDD-3328-48F6-9381-64A33EA099C4}"/>
          </ac:spMkLst>
        </pc:spChg>
        <pc:spChg chg="mod">
          <ac:chgData name="Lynnane George" userId="065056628ae16e64" providerId="LiveId" clId="{1E9AE552-6B83-46CE-A2DC-1FB506DB1638}" dt="2026-07-25T15:18:30.473" v="127" actId="1076"/>
          <ac:spMkLst>
            <pc:docMk/>
            <pc:sldMk cId="732098927" sldId="273"/>
            <ac:spMk id="128037" creationId="{CAB5C242-E2A9-4324-962B-FB1997D61750}"/>
          </ac:spMkLst>
        </pc:spChg>
        <pc:spChg chg="mod">
          <ac:chgData name="Lynnane George" userId="065056628ae16e64" providerId="LiveId" clId="{1E9AE552-6B83-46CE-A2DC-1FB506DB1638}" dt="2026-07-25T15:18:30.473" v="127" actId="1076"/>
          <ac:spMkLst>
            <pc:docMk/>
            <pc:sldMk cId="732098927" sldId="273"/>
            <ac:spMk id="128040" creationId="{5B0D36F8-9888-40B7-8B95-D2CB70BC0320}"/>
          </ac:spMkLst>
        </pc:spChg>
        <pc:spChg chg="mod">
          <ac:chgData name="Lynnane George" userId="065056628ae16e64" providerId="LiveId" clId="{1E9AE552-6B83-46CE-A2DC-1FB506DB1638}" dt="2026-07-25T15:18:30.473" v="127" actId="1076"/>
          <ac:spMkLst>
            <pc:docMk/>
            <pc:sldMk cId="732098927" sldId="273"/>
            <ac:spMk id="128041" creationId="{175E56A1-98CE-4D39-89C6-720A1FF8453E}"/>
          </ac:spMkLst>
        </pc:spChg>
        <pc:spChg chg="mod">
          <ac:chgData name="Lynnane George" userId="065056628ae16e64" providerId="LiveId" clId="{1E9AE552-6B83-46CE-A2DC-1FB506DB1638}" dt="2026-07-25T15:18:30.473" v="127" actId="1076"/>
          <ac:spMkLst>
            <pc:docMk/>
            <pc:sldMk cId="732098927" sldId="273"/>
            <ac:spMk id="128042" creationId="{94D6D12C-A77C-4E79-9E2E-3C76DC2EB25A}"/>
          </ac:spMkLst>
        </pc:spChg>
        <pc:spChg chg="mod">
          <ac:chgData name="Lynnane George" userId="065056628ae16e64" providerId="LiveId" clId="{1E9AE552-6B83-46CE-A2DC-1FB506DB1638}" dt="2026-07-25T15:18:30.473" v="127" actId="1076"/>
          <ac:spMkLst>
            <pc:docMk/>
            <pc:sldMk cId="732098927" sldId="273"/>
            <ac:spMk id="128043" creationId="{23299960-2AE0-46EB-AABC-3497671FCC4A}"/>
          </ac:spMkLst>
        </pc:spChg>
        <pc:spChg chg="mod">
          <ac:chgData name="Lynnane George" userId="065056628ae16e64" providerId="LiveId" clId="{1E9AE552-6B83-46CE-A2DC-1FB506DB1638}" dt="2026-07-25T15:18:30.473" v="127" actId="1076"/>
          <ac:spMkLst>
            <pc:docMk/>
            <pc:sldMk cId="732098927" sldId="273"/>
            <ac:spMk id="128045" creationId="{D3C8BA5B-3A7F-4EF8-B72C-15E739015F39}"/>
          </ac:spMkLst>
        </pc:spChg>
        <pc:spChg chg="mod">
          <ac:chgData name="Lynnane George" userId="065056628ae16e64" providerId="LiveId" clId="{1E9AE552-6B83-46CE-A2DC-1FB506DB1638}" dt="2026-07-25T15:18:30.473" v="127" actId="1076"/>
          <ac:spMkLst>
            <pc:docMk/>
            <pc:sldMk cId="732098927" sldId="273"/>
            <ac:spMk id="128049" creationId="{B24A3E80-A40D-43CD-9694-87B3471AE061}"/>
          </ac:spMkLst>
        </pc:spChg>
        <pc:spChg chg="mod">
          <ac:chgData name="Lynnane George" userId="065056628ae16e64" providerId="LiveId" clId="{1E9AE552-6B83-46CE-A2DC-1FB506DB1638}" dt="2026-07-25T15:18:30.473" v="127" actId="1076"/>
          <ac:spMkLst>
            <pc:docMk/>
            <pc:sldMk cId="732098927" sldId="273"/>
            <ac:spMk id="128052" creationId="{111E7544-A601-485D-BA6A-8485FDE0A33C}"/>
          </ac:spMkLst>
        </pc:spChg>
        <pc:spChg chg="mod">
          <ac:chgData name="Lynnane George" userId="065056628ae16e64" providerId="LiveId" clId="{1E9AE552-6B83-46CE-A2DC-1FB506DB1638}" dt="2026-07-25T15:19:02.747" v="134" actId="1076"/>
          <ac:spMkLst>
            <pc:docMk/>
            <pc:sldMk cId="732098927" sldId="273"/>
            <ac:spMk id="128053" creationId="{E3FB7CCA-CAD0-409C-AD6C-BE3D2F3F11AB}"/>
          </ac:spMkLst>
        </pc:spChg>
        <pc:grpChg chg="mod">
          <ac:chgData name="Lynnane George" userId="065056628ae16e64" providerId="LiveId" clId="{1E9AE552-6B83-46CE-A2DC-1FB506DB1638}" dt="2026-07-25T15:19:28.033" v="136" actId="962"/>
          <ac:grpSpMkLst>
            <pc:docMk/>
            <pc:sldMk cId="732098927" sldId="273"/>
            <ac:grpSpMk id="38940" creationId="{B83AAA29-67CA-4D8C-A968-D593E8B95782}"/>
          </ac:grpSpMkLst>
        </pc:grpChg>
        <pc:graphicFrameChg chg="modGraphic">
          <ac:chgData name="Lynnane George" userId="065056628ae16e64" providerId="LiveId" clId="{1E9AE552-6B83-46CE-A2DC-1FB506DB1638}" dt="2026-07-25T15:26:59.295" v="163" actId="13238"/>
          <ac:graphicFrameMkLst>
            <pc:docMk/>
            <pc:sldMk cId="732098927" sldId="273"/>
            <ac:graphicFrameMk id="128004" creationId="{E64C2397-20D6-453E-8FA5-EC4070A0A485}"/>
          </ac:graphicFrameMkLst>
        </pc:graphicFrameChg>
      </pc:sldChg>
      <pc:sldChg chg="modSp">
        <pc:chgData name="Lynnane George" userId="065056628ae16e64" providerId="LiveId" clId="{1E9AE552-6B83-46CE-A2DC-1FB506DB1638}" dt="2026-07-25T15:21:38.658" v="142" actId="962"/>
        <pc:sldMkLst>
          <pc:docMk/>
          <pc:sldMk cId="3505878988" sldId="274"/>
        </pc:sldMkLst>
        <pc:grpChg chg="mod">
          <ac:chgData name="Lynnane George" userId="065056628ae16e64" providerId="LiveId" clId="{1E9AE552-6B83-46CE-A2DC-1FB506DB1638}" dt="2026-07-25T15:20:36.934" v="138" actId="962"/>
          <ac:grpSpMkLst>
            <pc:docMk/>
            <pc:sldMk cId="3505878988" sldId="274"/>
            <ac:grpSpMk id="40963" creationId="{581A220F-C8F8-4D3A-BFE0-7A8DB604AE3D}"/>
          </ac:grpSpMkLst>
        </pc:grpChg>
        <pc:grpChg chg="mod">
          <ac:chgData name="Lynnane George" userId="065056628ae16e64" providerId="LiveId" clId="{1E9AE552-6B83-46CE-A2DC-1FB506DB1638}" dt="2026-07-25T15:21:07.979" v="140" actId="962"/>
          <ac:grpSpMkLst>
            <pc:docMk/>
            <pc:sldMk cId="3505878988" sldId="274"/>
            <ac:grpSpMk id="40964" creationId="{4355A67F-81D5-43C6-B663-41F242914F88}"/>
          </ac:grpSpMkLst>
        </pc:grpChg>
        <pc:grpChg chg="mod">
          <ac:chgData name="Lynnane George" userId="065056628ae16e64" providerId="LiveId" clId="{1E9AE552-6B83-46CE-A2DC-1FB506DB1638}" dt="2026-07-25T15:21:38.658" v="142" actId="962"/>
          <ac:grpSpMkLst>
            <pc:docMk/>
            <pc:sldMk cId="3505878988" sldId="274"/>
            <ac:grpSpMk id="40965" creationId="{20A2C1ED-AF6C-49E4-AA3C-913E27659813}"/>
          </ac:grpSpMkLst>
        </pc:grpChg>
      </pc:sldChg>
      <pc:sldChg chg="modSp mod">
        <pc:chgData name="Lynnane George" userId="065056628ae16e64" providerId="LiveId" clId="{1E9AE552-6B83-46CE-A2DC-1FB506DB1638}" dt="2026-07-25T19:45:01.751" v="423" actId="20577"/>
        <pc:sldMkLst>
          <pc:docMk/>
          <pc:sldMk cId="1598461053" sldId="291"/>
        </pc:sldMkLst>
        <pc:spChg chg="mod">
          <ac:chgData name="Lynnane George" userId="065056628ae16e64" providerId="LiveId" clId="{1E9AE552-6B83-46CE-A2DC-1FB506DB1638}" dt="2026-07-25T19:45:01.751" v="423" actId="20577"/>
          <ac:spMkLst>
            <pc:docMk/>
            <pc:sldMk cId="1598461053" sldId="291"/>
            <ac:spMk id="4" creationId="{17DB62D9-EFF1-454D-B1A7-39368DFC01DC}"/>
          </ac:spMkLst>
        </pc:spChg>
        <pc:spChg chg="mod">
          <ac:chgData name="Lynnane George" userId="065056628ae16e64" providerId="LiveId" clId="{1E9AE552-6B83-46CE-A2DC-1FB506DB1638}" dt="2026-07-25T15:14:15.414" v="116" actId="962"/>
          <ac:spMkLst>
            <pc:docMk/>
            <pc:sldMk cId="1598461053" sldId="291"/>
            <ac:spMk id="9" creationId="{00000000-0000-0000-0000-000000000000}"/>
          </ac:spMkLst>
        </pc:spChg>
        <pc:spChg chg="mod">
          <ac:chgData name="Lynnane George" userId="065056628ae16e64" providerId="LiveId" clId="{1E9AE552-6B83-46CE-A2DC-1FB506DB1638}" dt="2026-07-25T15:14:28.418" v="117" actId="962"/>
          <ac:spMkLst>
            <pc:docMk/>
            <pc:sldMk cId="1598461053" sldId="291"/>
            <ac:spMk id="15" creationId="{00000000-0000-0000-0000-000000000000}"/>
          </ac:spMkLst>
        </pc:spChg>
        <pc:spChg chg="mod">
          <ac:chgData name="Lynnane George" userId="065056628ae16e64" providerId="LiveId" clId="{1E9AE552-6B83-46CE-A2DC-1FB506DB1638}" dt="2026-07-25T15:14:28.420" v="118" actId="962"/>
          <ac:spMkLst>
            <pc:docMk/>
            <pc:sldMk cId="1598461053" sldId="291"/>
            <ac:spMk id="17" creationId="{00000000-0000-0000-0000-000000000000}"/>
          </ac:spMkLst>
        </pc:spChg>
      </pc:sldChg>
      <pc:sldChg chg="modSp mod">
        <pc:chgData name="Lynnane George" userId="065056628ae16e64" providerId="LiveId" clId="{1E9AE552-6B83-46CE-A2DC-1FB506DB1638}" dt="2026-07-29T21:25:28.586" v="589" actId="20577"/>
        <pc:sldMkLst>
          <pc:docMk/>
          <pc:sldMk cId="3619411020" sldId="326"/>
        </pc:sldMkLst>
        <pc:spChg chg="mod">
          <ac:chgData name="Lynnane George" userId="065056628ae16e64" providerId="LiveId" clId="{1E9AE552-6B83-46CE-A2DC-1FB506DB1638}" dt="2026-07-29T19:17:00.086" v="459" actId="20577"/>
          <ac:spMkLst>
            <pc:docMk/>
            <pc:sldMk cId="3619411020" sldId="326"/>
            <ac:spMk id="2" creationId="{00000000-0000-0000-0000-000000000000}"/>
          </ac:spMkLst>
        </pc:spChg>
        <pc:spChg chg="mod">
          <ac:chgData name="Lynnane George" userId="065056628ae16e64" providerId="LiveId" clId="{1E9AE552-6B83-46CE-A2DC-1FB506DB1638}" dt="2026-07-29T21:25:28.586" v="589" actId="20577"/>
          <ac:spMkLst>
            <pc:docMk/>
            <pc:sldMk cId="3619411020" sldId="326"/>
            <ac:spMk id="3" creationId="{A429CBCB-C58E-DD02-81C4-E572E6394A76}"/>
          </ac:spMkLst>
        </pc:spChg>
      </pc:sldChg>
      <pc:sldChg chg="addSp delSp modSp">
        <pc:chgData name="Lynnane George" userId="065056628ae16e64" providerId="LiveId" clId="{1E9AE552-6B83-46CE-A2DC-1FB506DB1638}" dt="2026-07-25T15:30:24.936" v="228" actId="20577"/>
        <pc:sldMkLst>
          <pc:docMk/>
          <pc:sldMk cId="600070609" sldId="373"/>
        </pc:sldMkLst>
        <pc:spChg chg="add del mod">
          <ac:chgData name="Lynnane George" userId="065056628ae16e64" providerId="LiveId" clId="{1E9AE552-6B83-46CE-A2DC-1FB506DB1638}" dt="2026-07-25T15:30:24.936" v="228" actId="20577"/>
          <ac:spMkLst>
            <pc:docMk/>
            <pc:sldMk cId="600070609" sldId="373"/>
            <ac:spMk id="78852" creationId="{9B5BCB49-8CC0-42DD-97C6-7A3E126CD8B4}"/>
          </ac:spMkLst>
        </pc:spChg>
      </pc:sldChg>
      <pc:sldChg chg="addSp delSp modSp add del mod">
        <pc:chgData name="Lynnane George" userId="065056628ae16e64" providerId="LiveId" clId="{1E9AE552-6B83-46CE-A2DC-1FB506DB1638}" dt="2026-07-25T19:46:01.756" v="433" actId="14100"/>
        <pc:sldMkLst>
          <pc:docMk/>
          <pc:sldMk cId="2926861740" sldId="375"/>
        </pc:sldMkLst>
        <pc:picChg chg="add mod">
          <ac:chgData name="Lynnane George" userId="065056628ae16e64" providerId="LiveId" clId="{1E9AE552-6B83-46CE-A2DC-1FB506DB1638}" dt="2026-07-25T19:46:01.756" v="433" actId="14100"/>
          <ac:picMkLst>
            <pc:docMk/>
            <pc:sldMk cId="2926861740" sldId="375"/>
            <ac:picMk id="6" creationId="{7484B486-F34B-1B7E-5879-CA4CCD6D9492}"/>
          </ac:picMkLst>
        </pc:picChg>
      </pc:sldChg>
      <pc:sldChg chg="addSp delSp modSp mod">
        <pc:chgData name="Lynnane George" userId="065056628ae16e64" providerId="LiveId" clId="{1E9AE552-6B83-46CE-A2DC-1FB506DB1638}" dt="2026-07-29T21:17:21.012" v="522" actId="20577"/>
        <pc:sldMkLst>
          <pc:docMk/>
          <pc:sldMk cId="1100958776" sldId="521"/>
        </pc:sldMkLst>
        <pc:spChg chg="mod">
          <ac:chgData name="Lynnane George" userId="065056628ae16e64" providerId="LiveId" clId="{1E9AE552-6B83-46CE-A2DC-1FB506DB1638}" dt="2026-07-29T21:12:16.926" v="484" actId="20577"/>
          <ac:spMkLst>
            <pc:docMk/>
            <pc:sldMk cId="1100958776" sldId="521"/>
            <ac:spMk id="2" creationId="{4D56062A-1275-A2D9-F902-5A1CD37BE905}"/>
          </ac:spMkLst>
        </pc:spChg>
        <pc:spChg chg="mod">
          <ac:chgData name="Lynnane George" userId="065056628ae16e64" providerId="LiveId" clId="{1E9AE552-6B83-46CE-A2DC-1FB506DB1638}" dt="2026-07-29T21:17:21.012" v="522" actId="20577"/>
          <ac:spMkLst>
            <pc:docMk/>
            <pc:sldMk cId="1100958776" sldId="521"/>
            <ac:spMk id="4" creationId="{85705547-0D64-4E8B-ABC3-B75751765CF3}"/>
          </ac:spMkLst>
        </pc:spChg>
      </pc:sldChg>
      <pc:sldChg chg="addSp delSp mod">
        <pc:chgData name="Lynnane George" userId="065056628ae16e64" providerId="LiveId" clId="{1E9AE552-6B83-46CE-A2DC-1FB506DB1638}" dt="2026-07-29T21:26:12.143" v="592" actId="478"/>
        <pc:sldMkLst>
          <pc:docMk/>
          <pc:sldMk cId="2904615096" sldId="611"/>
        </pc:sldMkLst>
        <pc:inkChg chg="add del">
          <ac:chgData name="Lynnane George" userId="065056628ae16e64" providerId="LiveId" clId="{1E9AE552-6B83-46CE-A2DC-1FB506DB1638}" dt="2026-07-29T21:26:12.143" v="592" actId="478"/>
          <ac:inkMkLst>
            <pc:docMk/>
            <pc:sldMk cId="2904615096" sldId="611"/>
            <ac:inkMk id="4" creationId="{DA5834F8-B742-C563-AC91-FC930ED1D427}"/>
          </ac:inkMkLst>
        </pc:inkChg>
      </pc:sldChg>
      <pc:sldChg chg="modSp mod">
        <pc:chgData name="Lynnane George" userId="065056628ae16e64" providerId="LiveId" clId="{1E9AE552-6B83-46CE-A2DC-1FB506DB1638}" dt="2026-07-25T21:10:03.925" v="439" actId="1036"/>
        <pc:sldMkLst>
          <pc:docMk/>
          <pc:sldMk cId="1196840914" sldId="612"/>
        </pc:sldMkLst>
        <pc:spChg chg="mod">
          <ac:chgData name="Lynnane George" userId="065056628ae16e64" providerId="LiveId" clId="{1E9AE552-6B83-46CE-A2DC-1FB506DB1638}" dt="2026-07-25T21:10:03.925" v="439" actId="1036"/>
          <ac:spMkLst>
            <pc:docMk/>
            <pc:sldMk cId="1196840914" sldId="612"/>
            <ac:spMk id="2" creationId="{53A175AC-24F4-7039-90D6-2FAEE09F4D0D}"/>
          </ac:spMkLst>
        </pc:spChg>
      </pc:sldChg>
      <pc:sldChg chg="addSp delSp mod">
        <pc:chgData name="Lynnane George" userId="065056628ae16e64" providerId="LiveId" clId="{1E9AE552-6B83-46CE-A2DC-1FB506DB1638}" dt="2026-07-29T21:26:20.722" v="593" actId="478"/>
        <pc:sldMkLst>
          <pc:docMk/>
          <pc:sldMk cId="1001243880" sldId="613"/>
        </pc:sldMkLst>
        <pc:inkChg chg="add del">
          <ac:chgData name="Lynnane George" userId="065056628ae16e64" providerId="LiveId" clId="{1E9AE552-6B83-46CE-A2DC-1FB506DB1638}" dt="2026-07-29T21:26:20.722" v="593" actId="478"/>
          <ac:inkMkLst>
            <pc:docMk/>
            <pc:sldMk cId="1001243880" sldId="613"/>
            <ac:inkMk id="3" creationId="{3F3E1EEF-9BD6-6E8F-0D43-D1207821A1EE}"/>
          </ac:inkMkLst>
        </pc:inkChg>
      </pc:sldChg>
      <pc:sldChg chg="addSp delSp modSp mod">
        <pc:chgData name="Lynnane George" userId="065056628ae16e64" providerId="LiveId" clId="{1E9AE552-6B83-46CE-A2DC-1FB506DB1638}" dt="2026-07-29T21:26:09.378" v="591" actId="478"/>
        <pc:sldMkLst>
          <pc:docMk/>
          <pc:sldMk cId="2473192058" sldId="617"/>
        </pc:sldMkLst>
        <pc:graphicFrameChg chg="mod">
          <ac:chgData name="Lynnane George" userId="065056628ae16e64" providerId="LiveId" clId="{1E9AE552-6B83-46CE-A2DC-1FB506DB1638}" dt="2026-07-25T15:22:07.146" v="144" actId="962"/>
          <ac:graphicFrameMkLst>
            <pc:docMk/>
            <pc:sldMk cId="2473192058" sldId="617"/>
            <ac:graphicFrameMk id="4" creationId="{8D62FEF2-7F44-13E1-1311-3E29F15E6653}"/>
          </ac:graphicFrameMkLst>
        </pc:graphicFrameChg>
        <pc:inkChg chg="add del">
          <ac:chgData name="Lynnane George" userId="065056628ae16e64" providerId="LiveId" clId="{1E9AE552-6B83-46CE-A2DC-1FB506DB1638}" dt="2026-07-29T21:26:09.378" v="591" actId="478"/>
          <ac:inkMkLst>
            <pc:docMk/>
            <pc:sldMk cId="2473192058" sldId="617"/>
            <ac:inkMk id="6" creationId="{B9E2C35F-0EE6-FFCE-AA09-C18ADBEA1B03}"/>
          </ac:inkMkLst>
        </pc:inkChg>
        <pc:inkChg chg="add del">
          <ac:chgData name="Lynnane George" userId="065056628ae16e64" providerId="LiveId" clId="{1E9AE552-6B83-46CE-A2DC-1FB506DB1638}" dt="2026-07-29T21:26:07.481" v="590" actId="478"/>
          <ac:inkMkLst>
            <pc:docMk/>
            <pc:sldMk cId="2473192058" sldId="617"/>
            <ac:inkMk id="7" creationId="{21EF5F81-F32F-D819-3201-897CD47F07F2}"/>
          </ac:inkMkLst>
        </pc:inkChg>
      </pc:sldChg>
      <pc:sldChg chg="addSp delSp modSp mod">
        <pc:chgData name="Lynnane George" userId="065056628ae16e64" providerId="LiveId" clId="{1E9AE552-6B83-46CE-A2DC-1FB506DB1638}" dt="2026-07-29T21:24:28.127" v="569" actId="478"/>
        <pc:sldMkLst>
          <pc:docMk/>
          <pc:sldMk cId="3867880752" sldId="618"/>
        </pc:sldMkLst>
        <pc:spChg chg="mod">
          <ac:chgData name="Lynnane George" userId="065056628ae16e64" providerId="LiveId" clId="{1E9AE552-6B83-46CE-A2DC-1FB506DB1638}" dt="2026-07-25T15:30:55.256" v="296" actId="20577"/>
          <ac:spMkLst>
            <pc:docMk/>
            <pc:sldMk cId="3867880752" sldId="618"/>
            <ac:spMk id="2" creationId="{F5E2CA4A-7672-C4AD-D325-40C92A92BE24}"/>
          </ac:spMkLst>
        </pc:spChg>
        <pc:spChg chg="mod">
          <ac:chgData name="Lynnane George" userId="065056628ae16e64" providerId="LiveId" clId="{1E9AE552-6B83-46CE-A2DC-1FB506DB1638}" dt="2026-07-25T21:00:10.750" v="436" actId="27636"/>
          <ac:spMkLst>
            <pc:docMk/>
            <pc:sldMk cId="3867880752" sldId="618"/>
            <ac:spMk id="3" creationId="{FB47D473-92A9-959C-E91C-E88D98EA0357}"/>
          </ac:spMkLst>
        </pc:spChg>
        <pc:inkChg chg="add del">
          <ac:chgData name="Lynnane George" userId="065056628ae16e64" providerId="LiveId" clId="{1E9AE552-6B83-46CE-A2DC-1FB506DB1638}" dt="2026-07-29T21:24:28.127" v="569" actId="478"/>
          <ac:inkMkLst>
            <pc:docMk/>
            <pc:sldMk cId="3867880752" sldId="618"/>
            <ac:inkMk id="4" creationId="{7B1EA818-1BE0-7F74-E95B-106FC90CA5BB}"/>
          </ac:inkMkLst>
        </pc:inkChg>
      </pc:sldChg>
      <pc:sldChg chg="addSp delSp modSp mod">
        <pc:chgData name="Lynnane George" userId="065056628ae16e64" providerId="LiveId" clId="{1E9AE552-6B83-46CE-A2DC-1FB506DB1638}" dt="2026-07-29T21:24:20.934" v="568" actId="478"/>
        <pc:sldMkLst>
          <pc:docMk/>
          <pc:sldMk cId="293474582" sldId="619"/>
        </pc:sldMkLst>
        <pc:inkChg chg="add del">
          <ac:chgData name="Lynnane George" userId="065056628ae16e64" providerId="LiveId" clId="{1E9AE552-6B83-46CE-A2DC-1FB506DB1638}" dt="2026-07-29T21:24:20.934" v="568" actId="478"/>
          <ac:inkMkLst>
            <pc:docMk/>
            <pc:sldMk cId="293474582" sldId="619"/>
            <ac:inkMk id="4" creationId="{189D62C0-48AC-FA10-6264-9FD0B592321A}"/>
          </ac:inkMkLst>
        </pc:inkChg>
      </pc:sldChg>
      <pc:sldChg chg="addSp delSp modSp mod">
        <pc:chgData name="Lynnane George" userId="065056628ae16e64" providerId="LiveId" clId="{1E9AE552-6B83-46CE-A2DC-1FB506DB1638}" dt="2026-07-29T21:49:16.744" v="615" actId="1076"/>
        <pc:sldMkLst>
          <pc:docMk/>
          <pc:sldMk cId="148312752" sldId="621"/>
        </pc:sldMkLst>
        <pc:spChg chg="add del mod">
          <ac:chgData name="Lynnane George" userId="065056628ae16e64" providerId="LiveId" clId="{1E9AE552-6B83-46CE-A2DC-1FB506DB1638}" dt="2026-07-29T21:40:55.822" v="595" actId="478"/>
          <ac:spMkLst>
            <pc:docMk/>
            <pc:sldMk cId="148312752" sldId="621"/>
            <ac:spMk id="5" creationId="{75786DDC-6413-C443-02CC-5BC8C543B4B2}"/>
          </ac:spMkLst>
        </pc:spChg>
        <pc:picChg chg="add mod">
          <ac:chgData name="Lynnane George" userId="065056628ae16e64" providerId="LiveId" clId="{1E9AE552-6B83-46CE-A2DC-1FB506DB1638}" dt="2026-07-29T21:43:21.342" v="598" actId="1076"/>
          <ac:picMkLst>
            <pc:docMk/>
            <pc:sldMk cId="148312752" sldId="621"/>
            <ac:picMk id="6" creationId="{F240688D-51B0-FF47-920D-649CE62902F8}"/>
          </ac:picMkLst>
        </pc:picChg>
        <pc:picChg chg="add del mod">
          <ac:chgData name="Lynnane George" userId="065056628ae16e64" providerId="LiveId" clId="{1E9AE552-6B83-46CE-A2DC-1FB506DB1638}" dt="2026-07-29T21:43:37.790" v="604" actId="478"/>
          <ac:picMkLst>
            <pc:docMk/>
            <pc:sldMk cId="148312752" sldId="621"/>
            <ac:picMk id="8" creationId="{34779636-6827-E0A2-75FF-8EE956E90E3D}"/>
          </ac:picMkLst>
        </pc:picChg>
        <pc:picChg chg="add del mod">
          <ac:chgData name="Lynnane George" userId="065056628ae16e64" providerId="LiveId" clId="{1E9AE552-6B83-46CE-A2DC-1FB506DB1638}" dt="2026-07-29T21:48:35.021" v="609" actId="478"/>
          <ac:picMkLst>
            <pc:docMk/>
            <pc:sldMk cId="148312752" sldId="621"/>
            <ac:picMk id="9" creationId="{0C0CAF3D-1517-9523-EE0C-DC74D61870D0}"/>
          </ac:picMkLst>
        </pc:picChg>
        <pc:picChg chg="add mod">
          <ac:chgData name="Lynnane George" userId="065056628ae16e64" providerId="LiveId" clId="{1E9AE552-6B83-46CE-A2DC-1FB506DB1638}" dt="2026-07-29T21:49:11.391" v="613" actId="14100"/>
          <ac:picMkLst>
            <pc:docMk/>
            <pc:sldMk cId="148312752" sldId="621"/>
            <ac:picMk id="10" creationId="{874A101A-F982-DA29-3A3E-8D32A2FCBA17}"/>
          </ac:picMkLst>
        </pc:picChg>
        <pc:picChg chg="add mod">
          <ac:chgData name="Lynnane George" userId="065056628ae16e64" providerId="LiveId" clId="{1E9AE552-6B83-46CE-A2DC-1FB506DB1638}" dt="2026-07-29T21:49:16.744" v="615" actId="1076"/>
          <ac:picMkLst>
            <pc:docMk/>
            <pc:sldMk cId="148312752" sldId="621"/>
            <ac:picMk id="12" creationId="{67C69012-5D75-29D8-7E39-D3B6DEFD0EFE}"/>
          </ac:picMkLst>
        </pc:picChg>
        <pc:inkChg chg="add del mod">
          <ac:chgData name="Lynnane George" userId="065056628ae16e64" providerId="LiveId" clId="{1E9AE552-6B83-46CE-A2DC-1FB506DB1638}" dt="2026-07-29T21:43:27.997" v="601" actId="478"/>
          <ac:inkMkLst>
            <pc:docMk/>
            <pc:sldMk cId="148312752" sldId="621"/>
            <ac:inkMk id="2" creationId="{32D1AC47-41F0-CB8A-F77A-6C0C9E0A4B3F}"/>
          </ac:inkMkLst>
        </pc:inkChg>
      </pc:sldChg>
      <pc:sldChg chg="addSp delSp modSp add del mod">
        <pc:chgData name="Lynnane George" userId="065056628ae16e64" providerId="LiveId" clId="{1E9AE552-6B83-46CE-A2DC-1FB506DB1638}" dt="2026-07-29T21:49:24.863" v="617" actId="20577"/>
        <pc:sldMkLst>
          <pc:docMk/>
          <pc:sldMk cId="2882529578" sldId="622"/>
        </pc:sldMkLst>
        <pc:spChg chg="mod">
          <ac:chgData name="Lynnane George" userId="065056628ae16e64" providerId="LiveId" clId="{1E9AE552-6B83-46CE-A2DC-1FB506DB1638}" dt="2026-07-29T21:49:24.863" v="617" actId="20577"/>
          <ac:spMkLst>
            <pc:docMk/>
            <pc:sldMk cId="2882529578" sldId="622"/>
            <ac:spMk id="2" creationId="{400DACD5-A378-5568-43C1-F9912A464431}"/>
          </ac:spMkLst>
        </pc:spChg>
        <pc:picChg chg="add mod">
          <ac:chgData name="Lynnane George" userId="065056628ae16e64" providerId="LiveId" clId="{1E9AE552-6B83-46CE-A2DC-1FB506DB1638}" dt="2026-07-25T15:26:15.854" v="156" actId="962"/>
          <ac:picMkLst>
            <pc:docMk/>
            <pc:sldMk cId="2882529578" sldId="622"/>
            <ac:picMk id="6" creationId="{C581D661-3BDB-F80A-1EB3-14BBC0202EFA}"/>
          </ac:picMkLst>
        </pc:picChg>
        <pc:picChg chg="add mod">
          <ac:chgData name="Lynnane George" userId="065056628ae16e64" providerId="LiveId" clId="{1E9AE552-6B83-46CE-A2DC-1FB506DB1638}" dt="2026-07-25T15:26:16.746" v="157" actId="962"/>
          <ac:picMkLst>
            <pc:docMk/>
            <pc:sldMk cId="2882529578" sldId="622"/>
            <ac:picMk id="8" creationId="{331790E4-7FEA-5B94-C0E1-3C64C49AE3DD}"/>
          </ac:picMkLst>
        </pc:picChg>
        <pc:picChg chg="add mod">
          <ac:chgData name="Lynnane George" userId="065056628ae16e64" providerId="LiveId" clId="{1E9AE552-6B83-46CE-A2DC-1FB506DB1638}" dt="2026-07-25T15:24:10.343" v="150" actId="962"/>
          <ac:picMkLst>
            <pc:docMk/>
            <pc:sldMk cId="2882529578" sldId="622"/>
            <ac:picMk id="11" creationId="{BDBAD745-C8E8-8C22-A471-4B6F2DB07245}"/>
          </ac:picMkLst>
        </pc:picChg>
        <pc:inkChg chg="add del">
          <ac:chgData name="Lynnane George" userId="065056628ae16e64" providerId="LiveId" clId="{1E9AE552-6B83-46CE-A2DC-1FB506DB1638}" dt="2026-07-29T21:24:38.385" v="570" actId="478"/>
          <ac:inkMkLst>
            <pc:docMk/>
            <pc:sldMk cId="2882529578" sldId="622"/>
            <ac:inkMk id="3" creationId="{DA0A3524-385F-4CAF-BF9F-70F453AD6695}"/>
          </ac:inkMkLst>
        </pc:inkChg>
      </pc:sldChg>
      <pc:sldChg chg="addSp delSp modSp mod">
        <pc:chgData name="Lynnane George" userId="065056628ae16e64" providerId="LiveId" clId="{1E9AE552-6B83-46CE-A2DC-1FB506DB1638}" dt="2026-07-29T21:49:34.778" v="627" actId="20577"/>
        <pc:sldMkLst>
          <pc:docMk/>
          <pc:sldMk cId="3449330489" sldId="623"/>
        </pc:sldMkLst>
        <pc:spChg chg="add mod">
          <ac:chgData name="Lynnane George" userId="065056628ae16e64" providerId="LiveId" clId="{1E9AE552-6B83-46CE-A2DC-1FB506DB1638}" dt="2026-07-29T21:49:34.778" v="627" actId="20577"/>
          <ac:spMkLst>
            <pc:docMk/>
            <pc:sldMk cId="3449330489" sldId="623"/>
            <ac:spMk id="16" creationId="{E6745823-1981-E4C9-4478-5DCFFF20CDB2}"/>
          </ac:spMkLst>
        </pc:spChg>
        <pc:picChg chg="add mod">
          <ac:chgData name="Lynnane George" userId="065056628ae16e64" providerId="LiveId" clId="{1E9AE552-6B83-46CE-A2DC-1FB506DB1638}" dt="2026-07-25T15:26:17.834" v="158" actId="962"/>
          <ac:picMkLst>
            <pc:docMk/>
            <pc:sldMk cId="3449330489" sldId="623"/>
            <ac:picMk id="5" creationId="{C566FB17-BBD7-2F02-A25E-97D7243ABC00}"/>
          </ac:picMkLst>
        </pc:picChg>
        <pc:picChg chg="add mod">
          <ac:chgData name="Lynnane George" userId="065056628ae16e64" providerId="LiveId" clId="{1E9AE552-6B83-46CE-A2DC-1FB506DB1638}" dt="2026-07-25T15:24:45.690" v="152" actId="962"/>
          <ac:picMkLst>
            <pc:docMk/>
            <pc:sldMk cId="3449330489" sldId="623"/>
            <ac:picMk id="8" creationId="{F56CFD60-7660-D726-112D-9F6F02E216DB}"/>
          </ac:picMkLst>
        </pc:picChg>
      </pc:sldChg>
      <pc:sldChg chg="addSp delSp modSp mod">
        <pc:chgData name="Lynnane George" userId="065056628ae16e64" providerId="LiveId" clId="{1E9AE552-6B83-46CE-A2DC-1FB506DB1638}" dt="2026-07-29T21:49:43.335" v="629" actId="20577"/>
        <pc:sldMkLst>
          <pc:docMk/>
          <pc:sldMk cId="2121253253" sldId="625"/>
        </pc:sldMkLst>
        <pc:spChg chg="add mod">
          <ac:chgData name="Lynnane George" userId="065056628ae16e64" providerId="LiveId" clId="{1E9AE552-6B83-46CE-A2DC-1FB506DB1638}" dt="2026-07-29T21:49:43.335" v="629" actId="20577"/>
          <ac:spMkLst>
            <pc:docMk/>
            <pc:sldMk cId="2121253253" sldId="625"/>
            <ac:spMk id="11" creationId="{7CD21A69-B77A-D01C-7282-74A87231DAF4}"/>
          </ac:spMkLst>
        </pc:spChg>
        <pc:picChg chg="add mod">
          <ac:chgData name="Lynnane George" userId="065056628ae16e64" providerId="LiveId" clId="{1E9AE552-6B83-46CE-A2DC-1FB506DB1638}" dt="2026-07-25T15:26:19.681" v="159" actId="962"/>
          <ac:picMkLst>
            <pc:docMk/>
            <pc:sldMk cId="2121253253" sldId="625"/>
            <ac:picMk id="3" creationId="{824EBC3D-FF91-F245-A014-6032D33E4273}"/>
          </ac:picMkLst>
        </pc:picChg>
        <pc:picChg chg="add mod">
          <ac:chgData name="Lynnane George" userId="065056628ae16e64" providerId="LiveId" clId="{1E9AE552-6B83-46CE-A2DC-1FB506DB1638}" dt="2026-07-25T15:25:26.986" v="154" actId="962"/>
          <ac:picMkLst>
            <pc:docMk/>
            <pc:sldMk cId="2121253253" sldId="625"/>
            <ac:picMk id="7" creationId="{762DD1AA-84A3-875D-F175-6640F53CC8A6}"/>
          </ac:picMkLst>
        </pc:picChg>
        <pc:picChg chg="add mod">
          <ac:chgData name="Lynnane George" userId="065056628ae16e64" providerId="LiveId" clId="{1E9AE552-6B83-46CE-A2DC-1FB506DB1638}" dt="2026-07-25T15:26:20.685" v="160" actId="962"/>
          <ac:picMkLst>
            <pc:docMk/>
            <pc:sldMk cId="2121253253" sldId="625"/>
            <ac:picMk id="10" creationId="{0961C8D9-843C-B12D-9E93-C140911FD0A8}"/>
          </ac:picMkLst>
        </pc:picChg>
        <pc:inkChg chg="add del">
          <ac:chgData name="Lynnane George" userId="065056628ae16e64" providerId="LiveId" clId="{1E9AE552-6B83-46CE-A2DC-1FB506DB1638}" dt="2026-07-29T21:24:48.023" v="571" actId="478"/>
          <ac:inkMkLst>
            <pc:docMk/>
            <pc:sldMk cId="2121253253" sldId="625"/>
            <ac:inkMk id="2" creationId="{61725140-4351-3082-086B-83FECE9846DA}"/>
          </ac:inkMkLst>
        </pc:inkChg>
      </pc:sldChg>
      <pc:sldChg chg="modSp mod">
        <pc:chgData name="Lynnane George" userId="065056628ae16e64" providerId="LiveId" clId="{1E9AE552-6B83-46CE-A2DC-1FB506DB1638}" dt="2026-07-29T21:17:44.697" v="525" actId="20577"/>
        <pc:sldMkLst>
          <pc:docMk/>
          <pc:sldMk cId="2806529202" sldId="626"/>
        </pc:sldMkLst>
        <pc:spChg chg="mod">
          <ac:chgData name="Lynnane George" userId="065056628ae16e64" providerId="LiveId" clId="{1E9AE552-6B83-46CE-A2DC-1FB506DB1638}" dt="2026-07-29T21:16:12.973" v="510" actId="20577"/>
          <ac:spMkLst>
            <pc:docMk/>
            <pc:sldMk cId="2806529202" sldId="626"/>
            <ac:spMk id="2" creationId="{4D56062A-1275-A2D9-F902-5A1CD37BE905}"/>
          </ac:spMkLst>
        </pc:spChg>
        <pc:spChg chg="mod">
          <ac:chgData name="Lynnane George" userId="065056628ae16e64" providerId="LiveId" clId="{1E9AE552-6B83-46CE-A2DC-1FB506DB1638}" dt="2026-07-29T21:17:44.697" v="525" actId="20577"/>
          <ac:spMkLst>
            <pc:docMk/>
            <pc:sldMk cId="2806529202" sldId="626"/>
            <ac:spMk id="4" creationId="{85705547-0D64-4E8B-ABC3-B75751765CF3}"/>
          </ac:spMkLst>
        </pc:spChg>
        <pc:picChg chg="mod">
          <ac:chgData name="Lynnane George" userId="065056628ae16e64" providerId="LiveId" clId="{1E9AE552-6B83-46CE-A2DC-1FB506DB1638}" dt="2026-07-29T21:16:47.599" v="511"/>
          <ac:picMkLst>
            <pc:docMk/>
            <pc:sldMk cId="2806529202" sldId="626"/>
            <ac:picMk id="1026" creationId="{41BCF404-E05D-449A-AA7D-9487C21ED74A}"/>
          </ac:picMkLst>
        </pc:picChg>
      </pc:sldChg>
      <pc:sldChg chg="addSp modSp add del mod modAnim">
        <pc:chgData name="Lynnane George" userId="065056628ae16e64" providerId="LiveId" clId="{1E9AE552-6B83-46CE-A2DC-1FB506DB1638}" dt="2026-07-29T21:17:54.888" v="526" actId="2696"/>
        <pc:sldMkLst>
          <pc:docMk/>
          <pc:sldMk cId="187446522" sldId="627"/>
        </pc:sldMkLst>
      </pc:sldChg>
      <pc:sldChg chg="modSp new mod">
        <pc:chgData name="Lynnane George" userId="065056628ae16e64" providerId="LiveId" clId="{1E9AE552-6B83-46CE-A2DC-1FB506DB1638}" dt="2026-07-25T19:19:46.291" v="407" actId="20577"/>
        <pc:sldMkLst>
          <pc:docMk/>
          <pc:sldMk cId="3597583479" sldId="628"/>
        </pc:sldMkLst>
        <pc:spChg chg="mod">
          <ac:chgData name="Lynnane George" userId="065056628ae16e64" providerId="LiveId" clId="{1E9AE552-6B83-46CE-A2DC-1FB506DB1638}" dt="2026-07-25T19:19:35.749" v="382" actId="20577"/>
          <ac:spMkLst>
            <pc:docMk/>
            <pc:sldMk cId="3597583479" sldId="628"/>
            <ac:spMk id="2" creationId="{D0E73D0D-F917-6785-D9DD-A686C9846FBE}"/>
          </ac:spMkLst>
        </pc:spChg>
        <pc:spChg chg="mod">
          <ac:chgData name="Lynnane George" userId="065056628ae16e64" providerId="LiveId" clId="{1E9AE552-6B83-46CE-A2DC-1FB506DB1638}" dt="2026-07-25T19:19:46.291" v="407" actId="20577"/>
          <ac:spMkLst>
            <pc:docMk/>
            <pc:sldMk cId="3597583479" sldId="628"/>
            <ac:spMk id="3" creationId="{2DF22608-E34F-A1D2-A42A-41D7FCC337C8}"/>
          </ac:spMkLst>
        </pc:spChg>
      </pc:sldChg>
      <pc:sldChg chg="modSp add mod">
        <pc:chgData name="Lynnane George" userId="065056628ae16e64" providerId="LiveId" clId="{1E9AE552-6B83-46CE-A2DC-1FB506DB1638}" dt="2026-07-29T21:18:12.595" v="543" actId="20577"/>
        <pc:sldMkLst>
          <pc:docMk/>
          <pc:sldMk cId="433294569" sldId="629"/>
        </pc:sldMkLst>
        <pc:spChg chg="mod">
          <ac:chgData name="Lynnane George" userId="065056628ae16e64" providerId="LiveId" clId="{1E9AE552-6B83-46CE-A2DC-1FB506DB1638}" dt="2026-07-29T21:18:08.601" v="541" actId="20577"/>
          <ac:spMkLst>
            <pc:docMk/>
            <pc:sldMk cId="433294569" sldId="629"/>
            <ac:spMk id="2" creationId="{FA1D937A-6556-9CCE-2501-C5B85BD5CC95}"/>
          </ac:spMkLst>
        </pc:spChg>
        <pc:spChg chg="mod">
          <ac:chgData name="Lynnane George" userId="065056628ae16e64" providerId="LiveId" clId="{1E9AE552-6B83-46CE-A2DC-1FB506DB1638}" dt="2026-07-29T21:18:12.595" v="543" actId="20577"/>
          <ac:spMkLst>
            <pc:docMk/>
            <pc:sldMk cId="433294569" sldId="629"/>
            <ac:spMk id="4" creationId="{E767B8DD-9486-6ACF-7EF6-AB0E8AA72D97}"/>
          </ac:spMkLst>
        </pc:spChg>
      </pc:sldChg>
      <pc:sldChg chg="modSp add mod">
        <pc:chgData name="Lynnane George" userId="065056628ae16e64" providerId="LiveId" clId="{1E9AE552-6B83-46CE-A2DC-1FB506DB1638}" dt="2026-07-29T21:21:26.876" v="567" actId="20577"/>
        <pc:sldMkLst>
          <pc:docMk/>
          <pc:sldMk cId="2113857958" sldId="630"/>
        </pc:sldMkLst>
        <pc:spChg chg="mod">
          <ac:chgData name="Lynnane George" userId="065056628ae16e64" providerId="LiveId" clId="{1E9AE552-6B83-46CE-A2DC-1FB506DB1638}" dt="2026-07-29T21:21:23.290" v="565" actId="20577"/>
          <ac:spMkLst>
            <pc:docMk/>
            <pc:sldMk cId="2113857958" sldId="630"/>
            <ac:spMk id="2" creationId="{D4E9B3DC-6C4A-AA74-5928-BC67833627B4}"/>
          </ac:spMkLst>
        </pc:spChg>
        <pc:spChg chg="mod">
          <ac:chgData name="Lynnane George" userId="065056628ae16e64" providerId="LiveId" clId="{1E9AE552-6B83-46CE-A2DC-1FB506DB1638}" dt="2026-07-29T21:21:26.876" v="567" actId="20577"/>
          <ac:spMkLst>
            <pc:docMk/>
            <pc:sldMk cId="2113857958" sldId="630"/>
            <ac:spMk id="4" creationId="{BD4D24C8-8473-CBF9-5659-7F42653DC9C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326BDA-DC63-4F1E-89FF-0162DDA85E00}" type="datetimeFigureOut">
              <a:rPr lang="en-US" smtClean="0"/>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EE1DA9-70CD-4924-8F6B-D46BA6EEAFB6}" type="slidenum">
              <a:rPr lang="en-US" smtClean="0"/>
              <a:t>‹#›</a:t>
            </a:fld>
            <a:endParaRPr lang="en-US"/>
          </a:p>
        </p:txBody>
      </p:sp>
    </p:spTree>
    <p:extLst>
      <p:ext uri="{BB962C8B-B14F-4D97-AF65-F5344CB8AC3E}">
        <p14:creationId xmlns:p14="http://schemas.microsoft.com/office/powerpoint/2010/main" val="2460534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40663C8-5A64-4F20-89B9-6BD9033744B8}" type="slidenum">
              <a:rPr lang="en-US" smtClean="0"/>
              <a:t>1</a:t>
            </a:fld>
            <a:endParaRPr lang="en-US"/>
          </a:p>
        </p:txBody>
      </p:sp>
    </p:spTree>
    <p:extLst>
      <p:ext uri="{BB962C8B-B14F-4D97-AF65-F5344CB8AC3E}">
        <p14:creationId xmlns:p14="http://schemas.microsoft.com/office/powerpoint/2010/main" val="1307497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369080C2-6FCB-4017-ADFB-9AF863EB7125}"/>
              </a:ext>
            </a:extLst>
          </p:cNvPr>
          <p:cNvSpPr>
            <a:spLocks noGrp="1" noRot="1" noChangeAspect="1" noChangeArrowheads="1" noTextEdit="1"/>
          </p:cNvSpPr>
          <p:nvPr>
            <p:ph type="sldImg"/>
          </p:nvPr>
        </p:nvSpPr>
        <p:spPr>
          <a:xfrm>
            <a:off x="460375" y="2590800"/>
            <a:ext cx="6124575" cy="3446463"/>
          </a:xfrm>
          <a:ln/>
        </p:spPr>
      </p:sp>
      <p:sp>
        <p:nvSpPr>
          <p:cNvPr id="95236" name="Text Box 4">
            <a:extLst>
              <a:ext uri="{FF2B5EF4-FFF2-40B4-BE49-F238E27FC236}">
                <a16:creationId xmlns:a16="http://schemas.microsoft.com/office/drawing/2014/main" id="{C8F38A5C-4EC2-4306-87E2-2EA0AB16D95A}"/>
              </a:ext>
            </a:extLst>
          </p:cNvPr>
          <p:cNvSpPr txBox="1">
            <a:spLocks noChangeArrowheads="1"/>
          </p:cNvSpPr>
          <p:nvPr/>
        </p:nvSpPr>
        <p:spPr bwMode="auto">
          <a:xfrm>
            <a:off x="392113" y="1846263"/>
            <a:ext cx="34163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variety of environmental effects have a direct impact on the ability of spacecraft subsystems to execute their design objectives</a:t>
            </a:r>
          </a:p>
        </p:txBody>
      </p:sp>
      <p:sp>
        <p:nvSpPr>
          <p:cNvPr id="95237" name="Line 5">
            <a:extLst>
              <a:ext uri="{FF2B5EF4-FFF2-40B4-BE49-F238E27FC236}">
                <a16:creationId xmlns:a16="http://schemas.microsoft.com/office/drawing/2014/main" id="{097650BB-0663-4562-9113-C41D5E5A08DD}"/>
              </a:ext>
            </a:extLst>
          </p:cNvPr>
          <p:cNvSpPr>
            <a:spLocks noChangeShapeType="1"/>
          </p:cNvSpPr>
          <p:nvPr/>
        </p:nvSpPr>
        <p:spPr bwMode="auto">
          <a:xfrm>
            <a:off x="657225" y="2200275"/>
            <a:ext cx="666750" cy="11239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5238" name="Text Box 6">
            <a:extLst>
              <a:ext uri="{FF2B5EF4-FFF2-40B4-BE49-F238E27FC236}">
                <a16:creationId xmlns:a16="http://schemas.microsoft.com/office/drawing/2014/main" id="{EA69EE6C-C9C1-45B7-BEED-60CD343413AE}"/>
              </a:ext>
            </a:extLst>
          </p:cNvPr>
          <p:cNvSpPr txBox="1">
            <a:spLocks noChangeArrowheads="1"/>
          </p:cNvSpPr>
          <p:nvPr/>
        </p:nvSpPr>
        <p:spPr bwMode="auto">
          <a:xfrm>
            <a:off x="1835150" y="7469188"/>
            <a:ext cx="3417888"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This chart provides a good summary of the impacts of the space environment on these subsystems</a:t>
            </a:r>
          </a:p>
          <a:p>
            <a:pPr>
              <a:defRPr/>
            </a:pPr>
            <a:endParaRPr lang="en-US" altLang="en-US" sz="900" i="1"/>
          </a:p>
          <a:p>
            <a:pPr>
              <a:defRPr/>
            </a:pPr>
            <a:r>
              <a:rPr lang="en-US" altLang="en-US" sz="900" i="1">
                <a:sym typeface="Symbol" charset="2"/>
              </a:rPr>
              <a:t>     we’ll walk through each of these areas in the next several slides</a:t>
            </a:r>
            <a:endParaRPr lang="en-US" altLang="en-US" sz="900" i="1"/>
          </a:p>
        </p:txBody>
      </p:sp>
      <p:sp>
        <p:nvSpPr>
          <p:cNvPr id="95239" name="Text Box 7">
            <a:extLst>
              <a:ext uri="{FF2B5EF4-FFF2-40B4-BE49-F238E27FC236}">
                <a16:creationId xmlns:a16="http://schemas.microsoft.com/office/drawing/2014/main" id="{8CC6C045-5E15-4322-8738-58B34454455F}"/>
              </a:ext>
            </a:extLst>
          </p:cNvPr>
          <p:cNvSpPr txBox="1">
            <a:spLocks noChangeArrowheads="1"/>
          </p:cNvSpPr>
          <p:nvPr/>
        </p:nvSpPr>
        <p:spPr bwMode="auto">
          <a:xfrm>
            <a:off x="2462213" y="6184900"/>
            <a:ext cx="34163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Must recognize that extra margin must be designed into spacecraft subsystems to handle these impacts</a:t>
            </a:r>
          </a:p>
        </p:txBody>
      </p:sp>
      <p:sp>
        <p:nvSpPr>
          <p:cNvPr id="95240" name="Line 8">
            <a:extLst>
              <a:ext uri="{FF2B5EF4-FFF2-40B4-BE49-F238E27FC236}">
                <a16:creationId xmlns:a16="http://schemas.microsoft.com/office/drawing/2014/main" id="{A1934AB7-F442-4324-827B-9792A680AEB9}"/>
              </a:ext>
            </a:extLst>
          </p:cNvPr>
          <p:cNvSpPr>
            <a:spLocks noChangeShapeType="1"/>
          </p:cNvSpPr>
          <p:nvPr/>
        </p:nvSpPr>
        <p:spPr bwMode="auto">
          <a:xfrm flipV="1">
            <a:off x="2555875" y="5726113"/>
            <a:ext cx="342900" cy="4810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95241" name="Line 9">
            <a:extLst>
              <a:ext uri="{FF2B5EF4-FFF2-40B4-BE49-F238E27FC236}">
                <a16:creationId xmlns:a16="http://schemas.microsoft.com/office/drawing/2014/main" id="{EAAD7E58-E024-402C-9109-48B783EAFEDE}"/>
              </a:ext>
            </a:extLst>
          </p:cNvPr>
          <p:cNvSpPr>
            <a:spLocks noChangeShapeType="1"/>
          </p:cNvSpPr>
          <p:nvPr/>
        </p:nvSpPr>
        <p:spPr bwMode="auto">
          <a:xfrm flipH="1" flipV="1">
            <a:off x="5000625" y="5684838"/>
            <a:ext cx="363538" cy="50323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 name="Notes Placeholder 1">
            <a:extLst>
              <a:ext uri="{FF2B5EF4-FFF2-40B4-BE49-F238E27FC236}">
                <a16:creationId xmlns:a16="http://schemas.microsoft.com/office/drawing/2014/main" id="{D38C454D-CE4E-4CF7-81B9-BC627D5ED66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9538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C9E16A92-57F7-45AC-B6F7-B7C860C901E7}"/>
              </a:ext>
            </a:extLst>
          </p:cNvPr>
          <p:cNvSpPr>
            <a:spLocks noGrp="1" noRot="1" noChangeAspect="1" noChangeArrowheads="1" noTextEdit="1"/>
          </p:cNvSpPr>
          <p:nvPr>
            <p:ph type="sldImg"/>
          </p:nvPr>
        </p:nvSpPr>
        <p:spPr>
          <a:xfrm>
            <a:off x="460375" y="2590800"/>
            <a:ext cx="6124575" cy="3446463"/>
          </a:xfrm>
          <a:ln/>
        </p:spPr>
      </p:sp>
      <p:sp>
        <p:nvSpPr>
          <p:cNvPr id="110596" name="Text Box 4">
            <a:extLst>
              <a:ext uri="{FF2B5EF4-FFF2-40B4-BE49-F238E27FC236}">
                <a16:creationId xmlns:a16="http://schemas.microsoft.com/office/drawing/2014/main" id="{38B6D06A-869A-44C3-A2F0-71E0B76B6206}"/>
              </a:ext>
            </a:extLst>
          </p:cNvPr>
          <p:cNvSpPr txBox="1">
            <a:spLocks noChangeArrowheads="1"/>
          </p:cNvSpPr>
          <p:nvPr/>
        </p:nvSpPr>
        <p:spPr bwMode="auto">
          <a:xfrm>
            <a:off x="441325" y="2378075"/>
            <a:ext cx="1420813"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Energy transfer vs. charging</a:t>
            </a:r>
          </a:p>
        </p:txBody>
      </p:sp>
      <p:sp>
        <p:nvSpPr>
          <p:cNvPr id="110597" name="Line 5">
            <a:extLst>
              <a:ext uri="{FF2B5EF4-FFF2-40B4-BE49-F238E27FC236}">
                <a16:creationId xmlns:a16="http://schemas.microsoft.com/office/drawing/2014/main" id="{B6A0C391-ECE6-4393-ACF7-A17D8960B996}"/>
              </a:ext>
            </a:extLst>
          </p:cNvPr>
          <p:cNvSpPr>
            <a:spLocks noChangeShapeType="1"/>
          </p:cNvSpPr>
          <p:nvPr/>
        </p:nvSpPr>
        <p:spPr bwMode="auto">
          <a:xfrm>
            <a:off x="757238" y="2590800"/>
            <a:ext cx="768350" cy="7937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598" name="Text Box 6">
            <a:extLst>
              <a:ext uri="{FF2B5EF4-FFF2-40B4-BE49-F238E27FC236}">
                <a16:creationId xmlns:a16="http://schemas.microsoft.com/office/drawing/2014/main" id="{4D5FEE24-4026-4BD6-9C56-7E12E16B7E7A}"/>
              </a:ext>
            </a:extLst>
          </p:cNvPr>
          <p:cNvSpPr txBox="1">
            <a:spLocks noChangeArrowheads="1"/>
          </p:cNvSpPr>
          <p:nvPr/>
        </p:nvSpPr>
        <p:spPr bwMode="auto">
          <a:xfrm>
            <a:off x="3330575" y="1714500"/>
            <a:ext cx="337978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Energetic particles may displace or ionize material in their paths (also deposit energy to induce more low energy effects)</a:t>
            </a:r>
          </a:p>
        </p:txBody>
      </p:sp>
      <p:sp>
        <p:nvSpPr>
          <p:cNvPr id="110599" name="Text Box 7">
            <a:extLst>
              <a:ext uri="{FF2B5EF4-FFF2-40B4-BE49-F238E27FC236}">
                <a16:creationId xmlns:a16="http://schemas.microsoft.com/office/drawing/2014/main" id="{A6E0D19B-2161-4336-902A-23502367B0D4}"/>
              </a:ext>
            </a:extLst>
          </p:cNvPr>
          <p:cNvSpPr txBox="1">
            <a:spLocks noChangeArrowheads="1"/>
          </p:cNvSpPr>
          <p:nvPr/>
        </p:nvSpPr>
        <p:spPr bwMode="auto">
          <a:xfrm>
            <a:off x="3997325" y="3694113"/>
            <a:ext cx="1687513"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Dominant source depends on orbit</a:t>
            </a:r>
          </a:p>
        </p:txBody>
      </p:sp>
      <p:sp>
        <p:nvSpPr>
          <p:cNvPr id="110600" name="Line 8">
            <a:extLst>
              <a:ext uri="{FF2B5EF4-FFF2-40B4-BE49-F238E27FC236}">
                <a16:creationId xmlns:a16="http://schemas.microsoft.com/office/drawing/2014/main" id="{C4C0684A-6664-4C19-94F2-958958667EA7}"/>
              </a:ext>
            </a:extLst>
          </p:cNvPr>
          <p:cNvSpPr>
            <a:spLocks noChangeShapeType="1"/>
          </p:cNvSpPr>
          <p:nvPr/>
        </p:nvSpPr>
        <p:spPr bwMode="auto">
          <a:xfrm flipH="1">
            <a:off x="2889250" y="3786188"/>
            <a:ext cx="1120775" cy="1508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1" name="Text Box 9">
            <a:extLst>
              <a:ext uri="{FF2B5EF4-FFF2-40B4-BE49-F238E27FC236}">
                <a16:creationId xmlns:a16="http://schemas.microsoft.com/office/drawing/2014/main" id="{31C6082E-D71B-432E-88E9-C04C7610AB2E}"/>
              </a:ext>
            </a:extLst>
          </p:cNvPr>
          <p:cNvSpPr txBox="1">
            <a:spLocks noChangeArrowheads="1"/>
          </p:cNvSpPr>
          <p:nvPr/>
        </p:nvSpPr>
        <p:spPr bwMode="auto">
          <a:xfrm>
            <a:off x="0" y="4044950"/>
            <a:ext cx="141922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variety of naturally occurring sources exist</a:t>
            </a:r>
          </a:p>
        </p:txBody>
      </p:sp>
      <p:sp>
        <p:nvSpPr>
          <p:cNvPr id="110602" name="Text Box 10">
            <a:extLst>
              <a:ext uri="{FF2B5EF4-FFF2-40B4-BE49-F238E27FC236}">
                <a16:creationId xmlns:a16="http://schemas.microsoft.com/office/drawing/2014/main" id="{9143603B-E1D5-4488-B65F-1A28C3F24885}"/>
              </a:ext>
            </a:extLst>
          </p:cNvPr>
          <p:cNvSpPr txBox="1">
            <a:spLocks noChangeArrowheads="1"/>
          </p:cNvSpPr>
          <p:nvPr/>
        </p:nvSpPr>
        <p:spPr bwMode="auto">
          <a:xfrm>
            <a:off x="431800" y="6054725"/>
            <a:ext cx="226853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Ionization and atomic displacement reduce the current and power that a cell can produce</a:t>
            </a:r>
          </a:p>
        </p:txBody>
      </p:sp>
      <p:sp>
        <p:nvSpPr>
          <p:cNvPr id="110603" name="Line 11">
            <a:extLst>
              <a:ext uri="{FF2B5EF4-FFF2-40B4-BE49-F238E27FC236}">
                <a16:creationId xmlns:a16="http://schemas.microsoft.com/office/drawing/2014/main" id="{0AAD3C37-BE58-4EA8-8CE1-EDEA0A9EB3D3}"/>
              </a:ext>
            </a:extLst>
          </p:cNvPr>
          <p:cNvSpPr>
            <a:spLocks noChangeShapeType="1"/>
          </p:cNvSpPr>
          <p:nvPr/>
        </p:nvSpPr>
        <p:spPr bwMode="auto">
          <a:xfrm flipV="1">
            <a:off x="555625" y="4992688"/>
            <a:ext cx="1181100" cy="109378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4" name="Text Box 12">
            <a:extLst>
              <a:ext uri="{FF2B5EF4-FFF2-40B4-BE49-F238E27FC236}">
                <a16:creationId xmlns:a16="http://schemas.microsoft.com/office/drawing/2014/main" id="{BCE83C03-A0E1-4F51-B845-28ADE42A880B}"/>
              </a:ext>
            </a:extLst>
          </p:cNvPr>
          <p:cNvSpPr txBox="1">
            <a:spLocks noChangeArrowheads="1"/>
          </p:cNvSpPr>
          <p:nvPr/>
        </p:nvSpPr>
        <p:spPr bwMode="auto">
          <a:xfrm>
            <a:off x="4249738" y="5653088"/>
            <a:ext cx="1597025"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Similar to solar cell degradation</a:t>
            </a:r>
          </a:p>
        </p:txBody>
      </p:sp>
      <p:sp>
        <p:nvSpPr>
          <p:cNvPr id="110606" name="Line 14">
            <a:extLst>
              <a:ext uri="{FF2B5EF4-FFF2-40B4-BE49-F238E27FC236}">
                <a16:creationId xmlns:a16="http://schemas.microsoft.com/office/drawing/2014/main" id="{9B1CCFC3-FA50-45D2-BFAC-2D818C5208B8}"/>
              </a:ext>
            </a:extLst>
          </p:cNvPr>
          <p:cNvSpPr>
            <a:spLocks noChangeShapeType="1"/>
          </p:cNvSpPr>
          <p:nvPr/>
        </p:nvSpPr>
        <p:spPr bwMode="auto">
          <a:xfrm flipH="1" flipV="1">
            <a:off x="3848100" y="5534025"/>
            <a:ext cx="425450" cy="2111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7" name="Text Box 15">
            <a:extLst>
              <a:ext uri="{FF2B5EF4-FFF2-40B4-BE49-F238E27FC236}">
                <a16:creationId xmlns:a16="http://schemas.microsoft.com/office/drawing/2014/main" id="{51B315C7-A571-49AA-B6E9-F03861C4F278}"/>
              </a:ext>
            </a:extLst>
          </p:cNvPr>
          <p:cNvSpPr txBox="1">
            <a:spLocks noChangeArrowheads="1"/>
          </p:cNvSpPr>
          <p:nvPr/>
        </p:nvSpPr>
        <p:spPr bwMode="auto">
          <a:xfrm>
            <a:off x="4249738" y="6115050"/>
            <a:ext cx="1109662" cy="20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No response to inputs</a:t>
            </a:r>
          </a:p>
        </p:txBody>
      </p:sp>
      <p:sp>
        <p:nvSpPr>
          <p:cNvPr id="110608" name="Text Box 16">
            <a:extLst>
              <a:ext uri="{FF2B5EF4-FFF2-40B4-BE49-F238E27FC236}">
                <a16:creationId xmlns:a16="http://schemas.microsoft.com/office/drawing/2014/main" id="{628894B5-C465-489B-8E2F-176C102A7400}"/>
              </a:ext>
            </a:extLst>
          </p:cNvPr>
          <p:cNvSpPr txBox="1">
            <a:spLocks noChangeArrowheads="1"/>
          </p:cNvSpPr>
          <p:nvPr/>
        </p:nvSpPr>
        <p:spPr bwMode="auto">
          <a:xfrm>
            <a:off x="3825875" y="6516688"/>
            <a:ext cx="28162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Functions in a manner inconsistent with its design characteristics (e.g., memory register changes state)</a:t>
            </a:r>
          </a:p>
        </p:txBody>
      </p:sp>
      <p:sp>
        <p:nvSpPr>
          <p:cNvPr id="110609" name="Line 17">
            <a:extLst>
              <a:ext uri="{FF2B5EF4-FFF2-40B4-BE49-F238E27FC236}">
                <a16:creationId xmlns:a16="http://schemas.microsoft.com/office/drawing/2014/main" id="{40349246-9857-402F-8C55-11CFE343688C}"/>
              </a:ext>
            </a:extLst>
          </p:cNvPr>
          <p:cNvSpPr>
            <a:spLocks noChangeShapeType="1"/>
          </p:cNvSpPr>
          <p:nvPr/>
        </p:nvSpPr>
        <p:spPr bwMode="auto">
          <a:xfrm flipH="1" flipV="1">
            <a:off x="3333750" y="5826125"/>
            <a:ext cx="858838" cy="381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10" name="Line 18">
            <a:extLst>
              <a:ext uri="{FF2B5EF4-FFF2-40B4-BE49-F238E27FC236}">
                <a16:creationId xmlns:a16="http://schemas.microsoft.com/office/drawing/2014/main" id="{16595B4B-6498-47C7-9B56-DB4C1A890F7F}"/>
              </a:ext>
            </a:extLst>
          </p:cNvPr>
          <p:cNvSpPr>
            <a:spLocks noChangeShapeType="1"/>
          </p:cNvSpPr>
          <p:nvPr/>
        </p:nvSpPr>
        <p:spPr bwMode="auto">
          <a:xfrm flipH="1" flipV="1">
            <a:off x="2736850" y="5815013"/>
            <a:ext cx="1404938" cy="6334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11" name="Text Box 19">
            <a:extLst>
              <a:ext uri="{FF2B5EF4-FFF2-40B4-BE49-F238E27FC236}">
                <a16:creationId xmlns:a16="http://schemas.microsoft.com/office/drawing/2014/main" id="{8AE62511-7CEB-4673-AFFF-1BF45CC7D712}"/>
              </a:ext>
            </a:extLst>
          </p:cNvPr>
          <p:cNvSpPr txBox="1">
            <a:spLocks noChangeArrowheads="1"/>
          </p:cNvSpPr>
          <p:nvPr/>
        </p:nvSpPr>
        <p:spPr bwMode="auto">
          <a:xfrm>
            <a:off x="896938" y="7107238"/>
            <a:ext cx="14636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“soft”  -- bit flips</a:t>
            </a:r>
          </a:p>
          <a:p>
            <a:pPr>
              <a:defRPr/>
            </a:pPr>
            <a:r>
              <a:rPr lang="en-US" altLang="en-US" sz="900" i="1"/>
              <a:t>“hard” -- permanent damage</a:t>
            </a:r>
          </a:p>
        </p:txBody>
      </p:sp>
    </p:spTree>
    <p:extLst>
      <p:ext uri="{BB962C8B-B14F-4D97-AF65-F5344CB8AC3E}">
        <p14:creationId xmlns:p14="http://schemas.microsoft.com/office/powerpoint/2010/main" val="3372421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C9E16A92-57F7-45AC-B6F7-B7C860C901E7}"/>
              </a:ext>
            </a:extLst>
          </p:cNvPr>
          <p:cNvSpPr>
            <a:spLocks noGrp="1" noRot="1" noChangeAspect="1" noChangeArrowheads="1" noTextEdit="1"/>
          </p:cNvSpPr>
          <p:nvPr>
            <p:ph type="sldImg"/>
          </p:nvPr>
        </p:nvSpPr>
        <p:spPr>
          <a:xfrm>
            <a:off x="460375" y="2590800"/>
            <a:ext cx="6124575" cy="3446463"/>
          </a:xfrm>
          <a:ln/>
        </p:spPr>
      </p:sp>
      <p:sp>
        <p:nvSpPr>
          <p:cNvPr id="110596" name="Text Box 4">
            <a:extLst>
              <a:ext uri="{FF2B5EF4-FFF2-40B4-BE49-F238E27FC236}">
                <a16:creationId xmlns:a16="http://schemas.microsoft.com/office/drawing/2014/main" id="{38B6D06A-869A-44C3-A2F0-71E0B76B6206}"/>
              </a:ext>
            </a:extLst>
          </p:cNvPr>
          <p:cNvSpPr txBox="1">
            <a:spLocks noChangeArrowheads="1"/>
          </p:cNvSpPr>
          <p:nvPr/>
        </p:nvSpPr>
        <p:spPr bwMode="auto">
          <a:xfrm>
            <a:off x="441325" y="2378075"/>
            <a:ext cx="1420813"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Energy transfer vs. charging</a:t>
            </a:r>
          </a:p>
        </p:txBody>
      </p:sp>
      <p:sp>
        <p:nvSpPr>
          <p:cNvPr id="110597" name="Line 5">
            <a:extLst>
              <a:ext uri="{FF2B5EF4-FFF2-40B4-BE49-F238E27FC236}">
                <a16:creationId xmlns:a16="http://schemas.microsoft.com/office/drawing/2014/main" id="{B6A0C391-ECE6-4393-ACF7-A17D8960B996}"/>
              </a:ext>
            </a:extLst>
          </p:cNvPr>
          <p:cNvSpPr>
            <a:spLocks noChangeShapeType="1"/>
          </p:cNvSpPr>
          <p:nvPr/>
        </p:nvSpPr>
        <p:spPr bwMode="auto">
          <a:xfrm>
            <a:off x="757238" y="2590800"/>
            <a:ext cx="768350" cy="7937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598" name="Text Box 6">
            <a:extLst>
              <a:ext uri="{FF2B5EF4-FFF2-40B4-BE49-F238E27FC236}">
                <a16:creationId xmlns:a16="http://schemas.microsoft.com/office/drawing/2014/main" id="{4D5FEE24-4026-4BD6-9C56-7E12E16B7E7A}"/>
              </a:ext>
            </a:extLst>
          </p:cNvPr>
          <p:cNvSpPr txBox="1">
            <a:spLocks noChangeArrowheads="1"/>
          </p:cNvSpPr>
          <p:nvPr/>
        </p:nvSpPr>
        <p:spPr bwMode="auto">
          <a:xfrm>
            <a:off x="3330575" y="1714500"/>
            <a:ext cx="337978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Energetic particles may displace or ionize material in their paths (also deposit energy to induce more low energy effects)</a:t>
            </a:r>
          </a:p>
        </p:txBody>
      </p:sp>
      <p:sp>
        <p:nvSpPr>
          <p:cNvPr id="110599" name="Text Box 7">
            <a:extLst>
              <a:ext uri="{FF2B5EF4-FFF2-40B4-BE49-F238E27FC236}">
                <a16:creationId xmlns:a16="http://schemas.microsoft.com/office/drawing/2014/main" id="{A6E0D19B-2161-4336-902A-23502367B0D4}"/>
              </a:ext>
            </a:extLst>
          </p:cNvPr>
          <p:cNvSpPr txBox="1">
            <a:spLocks noChangeArrowheads="1"/>
          </p:cNvSpPr>
          <p:nvPr/>
        </p:nvSpPr>
        <p:spPr bwMode="auto">
          <a:xfrm>
            <a:off x="3997325" y="3694113"/>
            <a:ext cx="1687513" cy="2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Dominant source depends on orbit</a:t>
            </a:r>
          </a:p>
        </p:txBody>
      </p:sp>
      <p:sp>
        <p:nvSpPr>
          <p:cNvPr id="110600" name="Line 8">
            <a:extLst>
              <a:ext uri="{FF2B5EF4-FFF2-40B4-BE49-F238E27FC236}">
                <a16:creationId xmlns:a16="http://schemas.microsoft.com/office/drawing/2014/main" id="{C4C0684A-6664-4C19-94F2-958958667EA7}"/>
              </a:ext>
            </a:extLst>
          </p:cNvPr>
          <p:cNvSpPr>
            <a:spLocks noChangeShapeType="1"/>
          </p:cNvSpPr>
          <p:nvPr/>
        </p:nvSpPr>
        <p:spPr bwMode="auto">
          <a:xfrm flipH="1">
            <a:off x="2889250" y="3786188"/>
            <a:ext cx="1120775" cy="1508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1" name="Text Box 9">
            <a:extLst>
              <a:ext uri="{FF2B5EF4-FFF2-40B4-BE49-F238E27FC236}">
                <a16:creationId xmlns:a16="http://schemas.microsoft.com/office/drawing/2014/main" id="{31C6082E-D71B-432E-88E9-C04C7610AB2E}"/>
              </a:ext>
            </a:extLst>
          </p:cNvPr>
          <p:cNvSpPr txBox="1">
            <a:spLocks noChangeArrowheads="1"/>
          </p:cNvSpPr>
          <p:nvPr/>
        </p:nvSpPr>
        <p:spPr bwMode="auto">
          <a:xfrm>
            <a:off x="0" y="4044950"/>
            <a:ext cx="141922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A variety of naturally occurring sources exist</a:t>
            </a:r>
          </a:p>
        </p:txBody>
      </p:sp>
      <p:sp>
        <p:nvSpPr>
          <p:cNvPr id="110602" name="Text Box 10">
            <a:extLst>
              <a:ext uri="{FF2B5EF4-FFF2-40B4-BE49-F238E27FC236}">
                <a16:creationId xmlns:a16="http://schemas.microsoft.com/office/drawing/2014/main" id="{9143603B-E1D5-4488-B65F-1A28C3F24885}"/>
              </a:ext>
            </a:extLst>
          </p:cNvPr>
          <p:cNvSpPr txBox="1">
            <a:spLocks noChangeArrowheads="1"/>
          </p:cNvSpPr>
          <p:nvPr/>
        </p:nvSpPr>
        <p:spPr bwMode="auto">
          <a:xfrm>
            <a:off x="431800" y="6054725"/>
            <a:ext cx="226853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Ionization and atomic displacement reduce the current and power that a cell can produce</a:t>
            </a:r>
          </a:p>
        </p:txBody>
      </p:sp>
      <p:sp>
        <p:nvSpPr>
          <p:cNvPr id="110603" name="Line 11">
            <a:extLst>
              <a:ext uri="{FF2B5EF4-FFF2-40B4-BE49-F238E27FC236}">
                <a16:creationId xmlns:a16="http://schemas.microsoft.com/office/drawing/2014/main" id="{0AAD3C37-BE58-4EA8-8CE1-EDEA0A9EB3D3}"/>
              </a:ext>
            </a:extLst>
          </p:cNvPr>
          <p:cNvSpPr>
            <a:spLocks noChangeShapeType="1"/>
          </p:cNvSpPr>
          <p:nvPr/>
        </p:nvSpPr>
        <p:spPr bwMode="auto">
          <a:xfrm flipV="1">
            <a:off x="555625" y="4992688"/>
            <a:ext cx="1181100" cy="109378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4" name="Text Box 12">
            <a:extLst>
              <a:ext uri="{FF2B5EF4-FFF2-40B4-BE49-F238E27FC236}">
                <a16:creationId xmlns:a16="http://schemas.microsoft.com/office/drawing/2014/main" id="{BCE83C03-A0E1-4F51-B845-28ADE42A880B}"/>
              </a:ext>
            </a:extLst>
          </p:cNvPr>
          <p:cNvSpPr txBox="1">
            <a:spLocks noChangeArrowheads="1"/>
          </p:cNvSpPr>
          <p:nvPr/>
        </p:nvSpPr>
        <p:spPr bwMode="auto">
          <a:xfrm>
            <a:off x="4249738" y="5653088"/>
            <a:ext cx="1597025"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Similar to solar cell degradation</a:t>
            </a:r>
          </a:p>
        </p:txBody>
      </p:sp>
      <p:sp>
        <p:nvSpPr>
          <p:cNvPr id="110606" name="Line 14">
            <a:extLst>
              <a:ext uri="{FF2B5EF4-FFF2-40B4-BE49-F238E27FC236}">
                <a16:creationId xmlns:a16="http://schemas.microsoft.com/office/drawing/2014/main" id="{9B1CCFC3-FA50-45D2-BFAC-2D818C5208B8}"/>
              </a:ext>
            </a:extLst>
          </p:cNvPr>
          <p:cNvSpPr>
            <a:spLocks noChangeShapeType="1"/>
          </p:cNvSpPr>
          <p:nvPr/>
        </p:nvSpPr>
        <p:spPr bwMode="auto">
          <a:xfrm flipH="1" flipV="1">
            <a:off x="3848100" y="5534025"/>
            <a:ext cx="425450" cy="211138"/>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07" name="Text Box 15">
            <a:extLst>
              <a:ext uri="{FF2B5EF4-FFF2-40B4-BE49-F238E27FC236}">
                <a16:creationId xmlns:a16="http://schemas.microsoft.com/office/drawing/2014/main" id="{51B315C7-A571-49AA-B6E9-F03861C4F278}"/>
              </a:ext>
            </a:extLst>
          </p:cNvPr>
          <p:cNvSpPr txBox="1">
            <a:spLocks noChangeArrowheads="1"/>
          </p:cNvSpPr>
          <p:nvPr/>
        </p:nvSpPr>
        <p:spPr bwMode="auto">
          <a:xfrm>
            <a:off x="4249738" y="6115050"/>
            <a:ext cx="1109662" cy="20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No response to inputs</a:t>
            </a:r>
          </a:p>
        </p:txBody>
      </p:sp>
      <p:sp>
        <p:nvSpPr>
          <p:cNvPr id="110608" name="Text Box 16">
            <a:extLst>
              <a:ext uri="{FF2B5EF4-FFF2-40B4-BE49-F238E27FC236}">
                <a16:creationId xmlns:a16="http://schemas.microsoft.com/office/drawing/2014/main" id="{628894B5-C465-489B-8E2F-176C102A7400}"/>
              </a:ext>
            </a:extLst>
          </p:cNvPr>
          <p:cNvSpPr txBox="1">
            <a:spLocks noChangeArrowheads="1"/>
          </p:cNvSpPr>
          <p:nvPr/>
        </p:nvSpPr>
        <p:spPr bwMode="auto">
          <a:xfrm>
            <a:off x="3825875" y="6516688"/>
            <a:ext cx="28162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Functions in a manner inconsistent with its design characteristics (e.g., memory register changes state)</a:t>
            </a:r>
          </a:p>
        </p:txBody>
      </p:sp>
      <p:sp>
        <p:nvSpPr>
          <p:cNvPr id="110609" name="Line 17">
            <a:extLst>
              <a:ext uri="{FF2B5EF4-FFF2-40B4-BE49-F238E27FC236}">
                <a16:creationId xmlns:a16="http://schemas.microsoft.com/office/drawing/2014/main" id="{40349246-9857-402F-8C55-11CFE343688C}"/>
              </a:ext>
            </a:extLst>
          </p:cNvPr>
          <p:cNvSpPr>
            <a:spLocks noChangeShapeType="1"/>
          </p:cNvSpPr>
          <p:nvPr/>
        </p:nvSpPr>
        <p:spPr bwMode="auto">
          <a:xfrm flipH="1" flipV="1">
            <a:off x="3333750" y="5826125"/>
            <a:ext cx="858838" cy="3810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10" name="Line 18">
            <a:extLst>
              <a:ext uri="{FF2B5EF4-FFF2-40B4-BE49-F238E27FC236}">
                <a16:creationId xmlns:a16="http://schemas.microsoft.com/office/drawing/2014/main" id="{16595B4B-6498-47C7-9B56-DB4C1A890F7F}"/>
              </a:ext>
            </a:extLst>
          </p:cNvPr>
          <p:cNvSpPr>
            <a:spLocks noChangeShapeType="1"/>
          </p:cNvSpPr>
          <p:nvPr/>
        </p:nvSpPr>
        <p:spPr bwMode="auto">
          <a:xfrm flipH="1" flipV="1">
            <a:off x="2736850" y="5815013"/>
            <a:ext cx="1404938" cy="633412"/>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10611" name="Text Box 19">
            <a:extLst>
              <a:ext uri="{FF2B5EF4-FFF2-40B4-BE49-F238E27FC236}">
                <a16:creationId xmlns:a16="http://schemas.microsoft.com/office/drawing/2014/main" id="{8AE62511-7CEB-4673-AFFF-1BF45CC7D712}"/>
              </a:ext>
            </a:extLst>
          </p:cNvPr>
          <p:cNvSpPr txBox="1">
            <a:spLocks noChangeArrowheads="1"/>
          </p:cNvSpPr>
          <p:nvPr/>
        </p:nvSpPr>
        <p:spPr bwMode="auto">
          <a:xfrm>
            <a:off x="896938" y="7107238"/>
            <a:ext cx="14636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“soft”  -- bit flips</a:t>
            </a:r>
          </a:p>
          <a:p>
            <a:pPr>
              <a:defRPr/>
            </a:pPr>
            <a:r>
              <a:rPr lang="en-US" altLang="en-US" sz="900" i="1"/>
              <a:t>“hard” -- permanent damage</a:t>
            </a:r>
          </a:p>
        </p:txBody>
      </p:sp>
    </p:spTree>
    <p:extLst>
      <p:ext uri="{BB962C8B-B14F-4D97-AF65-F5344CB8AC3E}">
        <p14:creationId xmlns:p14="http://schemas.microsoft.com/office/powerpoint/2010/main" val="3889278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7A70D931-EFA0-4D56-8EAD-F8B25DE19629}"/>
              </a:ext>
            </a:extLst>
          </p:cNvPr>
          <p:cNvSpPr>
            <a:spLocks noGrp="1" noRot="1" noChangeAspect="1" noChangeArrowheads="1"/>
          </p:cNvSpPr>
          <p:nvPr>
            <p:ph type="sldImg"/>
          </p:nvPr>
        </p:nvSpPr>
        <p:spPr>
          <a:xfrm>
            <a:off x="460375" y="2590800"/>
            <a:ext cx="6124575" cy="3446463"/>
          </a:xfrm>
          <a:solidFill>
            <a:srgbClr val="FFFFFF"/>
          </a:solidFill>
          <a:ln/>
        </p:spPr>
      </p:sp>
      <p:sp>
        <p:nvSpPr>
          <p:cNvPr id="129027" name="Text Box 3">
            <a:extLst>
              <a:ext uri="{FF2B5EF4-FFF2-40B4-BE49-F238E27FC236}">
                <a16:creationId xmlns:a16="http://schemas.microsoft.com/office/drawing/2014/main" id="{F300F5E6-0DBC-421C-8428-839BB2305B79}"/>
              </a:ext>
            </a:extLst>
          </p:cNvPr>
          <p:cNvSpPr txBox="1">
            <a:spLocks noChangeArrowheads="1"/>
          </p:cNvSpPr>
          <p:nvPr/>
        </p:nvSpPr>
        <p:spPr bwMode="auto">
          <a:xfrm>
            <a:off x="939800" y="1924050"/>
            <a:ext cx="220027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Intense solar activity can be expected for about 3 years after its peak in March 2001</a:t>
            </a:r>
          </a:p>
        </p:txBody>
      </p:sp>
      <p:sp>
        <p:nvSpPr>
          <p:cNvPr id="129028" name="Text Box 4">
            <a:extLst>
              <a:ext uri="{FF2B5EF4-FFF2-40B4-BE49-F238E27FC236}">
                <a16:creationId xmlns:a16="http://schemas.microsoft.com/office/drawing/2014/main" id="{0D00FD72-52E9-4A3A-B2C6-F0D9F449208D}"/>
              </a:ext>
            </a:extLst>
          </p:cNvPr>
          <p:cNvSpPr txBox="1">
            <a:spLocks noChangeArrowheads="1"/>
          </p:cNvSpPr>
          <p:nvPr/>
        </p:nvSpPr>
        <p:spPr bwMode="auto">
          <a:xfrm>
            <a:off x="2019300" y="6623050"/>
            <a:ext cx="3381375"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900" i="1"/>
              <a:t>Helps to familiarize satellite owners with solar events and the problems they pose for sensitive electronics</a:t>
            </a:r>
          </a:p>
          <a:p>
            <a:pPr>
              <a:defRPr/>
            </a:pPr>
            <a:endParaRPr lang="en-US" altLang="en-US" sz="900" i="1"/>
          </a:p>
          <a:p>
            <a:pPr>
              <a:defRPr/>
            </a:pPr>
            <a:r>
              <a:rPr lang="en-US" altLang="en-US" sz="900" i="1"/>
              <a:t>(new satellite operators have emerged in recent years who have yet to experience a solar maximum)</a:t>
            </a:r>
          </a:p>
        </p:txBody>
      </p:sp>
      <p:sp>
        <p:nvSpPr>
          <p:cNvPr id="129029" name="Line 5">
            <a:extLst>
              <a:ext uri="{FF2B5EF4-FFF2-40B4-BE49-F238E27FC236}">
                <a16:creationId xmlns:a16="http://schemas.microsoft.com/office/drawing/2014/main" id="{4DDD5B9D-EE54-4BC9-B12D-915EB39C104A}"/>
              </a:ext>
            </a:extLst>
          </p:cNvPr>
          <p:cNvSpPr>
            <a:spLocks noChangeShapeType="1"/>
          </p:cNvSpPr>
          <p:nvPr/>
        </p:nvSpPr>
        <p:spPr bwMode="auto">
          <a:xfrm flipH="1" flipV="1">
            <a:off x="1917700" y="5638800"/>
            <a:ext cx="1409700" cy="9779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ndParaRPr>
          </a:p>
        </p:txBody>
      </p:sp>
    </p:spTree>
    <p:extLst>
      <p:ext uri="{BB962C8B-B14F-4D97-AF65-F5344CB8AC3E}">
        <p14:creationId xmlns:p14="http://schemas.microsoft.com/office/powerpoint/2010/main" val="2427481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C6557052-0F53-48C1-AA85-DF92FBEF2434}"/>
              </a:ext>
            </a:extLst>
          </p:cNvPr>
          <p:cNvSpPr>
            <a:spLocks noGrp="1" noRot="1" noChangeAspect="1" noChangeArrowheads="1" noTextEdit="1"/>
          </p:cNvSpPr>
          <p:nvPr>
            <p:ph type="sldImg"/>
          </p:nvPr>
        </p:nvSpPr>
        <p:spPr>
          <a:xfrm>
            <a:off x="590550" y="3846513"/>
            <a:ext cx="6126163" cy="3446462"/>
          </a:xfrm>
          <a:ln/>
        </p:spPr>
      </p:sp>
      <p:sp>
        <p:nvSpPr>
          <p:cNvPr id="111621" name="Text Box 5">
            <a:extLst>
              <a:ext uri="{FF2B5EF4-FFF2-40B4-BE49-F238E27FC236}">
                <a16:creationId xmlns:a16="http://schemas.microsoft.com/office/drawing/2014/main" id="{61723EE3-D054-4036-AB97-A2F216EC89C0}"/>
              </a:ext>
            </a:extLst>
          </p:cNvPr>
          <p:cNvSpPr txBox="1">
            <a:spLocks noChangeArrowheads="1"/>
          </p:cNvSpPr>
          <p:nvPr/>
        </p:nvSpPr>
        <p:spPr bwMode="auto">
          <a:xfrm>
            <a:off x="552450" y="458788"/>
            <a:ext cx="349250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tabLst>
                <a:tab pos="271463" algn="l"/>
              </a:tabLst>
              <a:defRPr sz="2400">
                <a:solidFill>
                  <a:schemeClr val="tx1"/>
                </a:solidFill>
                <a:latin typeface="Times New Roman" charset="0"/>
              </a:defRPr>
            </a:lvl1pPr>
            <a:lvl2pPr marL="361950" defTabSz="725488">
              <a:tabLst>
                <a:tab pos="271463" algn="l"/>
              </a:tabLst>
              <a:defRPr sz="2400">
                <a:solidFill>
                  <a:schemeClr val="tx1"/>
                </a:solidFill>
                <a:latin typeface="Times New Roman" charset="0"/>
              </a:defRPr>
            </a:lvl2pPr>
            <a:lvl3pPr marL="725488" defTabSz="725488">
              <a:tabLst>
                <a:tab pos="271463" algn="l"/>
              </a:tabLst>
              <a:defRPr sz="2400">
                <a:solidFill>
                  <a:schemeClr val="tx1"/>
                </a:solidFill>
                <a:latin typeface="Times New Roman" charset="0"/>
              </a:defRPr>
            </a:lvl3pPr>
            <a:lvl4pPr marL="1087438" defTabSz="725488">
              <a:tabLst>
                <a:tab pos="271463" algn="l"/>
              </a:tabLst>
              <a:defRPr sz="2400">
                <a:solidFill>
                  <a:schemeClr val="tx1"/>
                </a:solidFill>
                <a:latin typeface="Times New Roman" charset="0"/>
              </a:defRPr>
            </a:lvl4pPr>
            <a:lvl5pPr marL="1449388" defTabSz="725488">
              <a:tabLst>
                <a:tab pos="271463" algn="l"/>
              </a:tabLst>
              <a:defRPr sz="2400">
                <a:solidFill>
                  <a:schemeClr val="tx1"/>
                </a:solidFill>
                <a:latin typeface="Times New Roman" charset="0"/>
              </a:defRPr>
            </a:lvl5pPr>
            <a:lvl6pPr marL="1906588" defTabSz="725488" eaLnBrk="0" fontAlgn="base" hangingPunct="0">
              <a:spcBef>
                <a:spcPct val="0"/>
              </a:spcBef>
              <a:spcAft>
                <a:spcPct val="0"/>
              </a:spcAft>
              <a:tabLst>
                <a:tab pos="271463" algn="l"/>
              </a:tabLst>
              <a:defRPr sz="2400">
                <a:solidFill>
                  <a:schemeClr val="tx1"/>
                </a:solidFill>
                <a:latin typeface="Times New Roman" charset="0"/>
              </a:defRPr>
            </a:lvl6pPr>
            <a:lvl7pPr marL="2363788" defTabSz="725488" eaLnBrk="0" fontAlgn="base" hangingPunct="0">
              <a:spcBef>
                <a:spcPct val="0"/>
              </a:spcBef>
              <a:spcAft>
                <a:spcPct val="0"/>
              </a:spcAft>
              <a:tabLst>
                <a:tab pos="271463" algn="l"/>
              </a:tabLst>
              <a:defRPr sz="2400">
                <a:solidFill>
                  <a:schemeClr val="tx1"/>
                </a:solidFill>
                <a:latin typeface="Times New Roman" charset="0"/>
              </a:defRPr>
            </a:lvl7pPr>
            <a:lvl8pPr marL="2820988" defTabSz="725488" eaLnBrk="0" fontAlgn="base" hangingPunct="0">
              <a:spcBef>
                <a:spcPct val="0"/>
              </a:spcBef>
              <a:spcAft>
                <a:spcPct val="0"/>
              </a:spcAft>
              <a:tabLst>
                <a:tab pos="271463" algn="l"/>
              </a:tabLst>
              <a:defRPr sz="2400">
                <a:solidFill>
                  <a:schemeClr val="tx1"/>
                </a:solidFill>
                <a:latin typeface="Times New Roman" charset="0"/>
              </a:defRPr>
            </a:lvl8pPr>
            <a:lvl9pPr marL="3278188" defTabSz="725488" eaLnBrk="0" fontAlgn="base" hangingPunct="0">
              <a:spcBef>
                <a:spcPct val="0"/>
              </a:spcBef>
              <a:spcAft>
                <a:spcPct val="0"/>
              </a:spcAft>
              <a:tabLst>
                <a:tab pos="271463" algn="l"/>
              </a:tabLst>
              <a:defRPr sz="2400">
                <a:solidFill>
                  <a:schemeClr val="tx1"/>
                </a:solidFill>
                <a:latin typeface="Times New Roman" charset="0"/>
              </a:defRPr>
            </a:lvl9pPr>
          </a:lstStyle>
          <a:p>
            <a:pPr>
              <a:defRPr/>
            </a:pPr>
            <a:r>
              <a:rPr lang="en-US" altLang="en-US" sz="900" i="1"/>
              <a:t>The Earth’s magnetic field creates a “force field” to protect us from thes energetic particles, but …</a:t>
            </a:r>
          </a:p>
          <a:p>
            <a:pPr>
              <a:defRPr/>
            </a:pPr>
            <a:endParaRPr lang="en-US" altLang="en-US" sz="900" i="1"/>
          </a:p>
          <a:p>
            <a:pPr>
              <a:defRPr/>
            </a:pPr>
            <a:r>
              <a:rPr lang="en-US" altLang="en-US" sz="900" i="1"/>
              <a:t>some are trapped to gyrate back and forth along the Earth’s magnetic field lines (Van Allen radiation belts)</a:t>
            </a:r>
          </a:p>
          <a:p>
            <a:pPr>
              <a:defRPr/>
            </a:pPr>
            <a:r>
              <a:rPr lang="en-US" altLang="en-US" sz="900" i="1"/>
              <a:t>	-- two regions of electrons (peak densities at 3000 km and 25000 km)</a:t>
            </a:r>
          </a:p>
          <a:p>
            <a:pPr>
              <a:defRPr/>
            </a:pPr>
            <a:r>
              <a:rPr lang="en-US" altLang="en-US" sz="900" i="1"/>
              <a:t>	-- one region of protons (peak density at 3000 km)</a:t>
            </a:r>
          </a:p>
        </p:txBody>
      </p:sp>
      <p:sp>
        <p:nvSpPr>
          <p:cNvPr id="111622" name="Text Box 6">
            <a:extLst>
              <a:ext uri="{FF2B5EF4-FFF2-40B4-BE49-F238E27FC236}">
                <a16:creationId xmlns:a16="http://schemas.microsoft.com/office/drawing/2014/main" id="{E1E40002-4807-4DC9-A195-BA38E5709B05}"/>
              </a:ext>
            </a:extLst>
          </p:cNvPr>
          <p:cNvSpPr txBox="1">
            <a:spLocks noChangeArrowheads="1"/>
          </p:cNvSpPr>
          <p:nvPr/>
        </p:nvSpPr>
        <p:spPr bwMode="auto">
          <a:xfrm>
            <a:off x="2057400" y="8324850"/>
            <a:ext cx="3381375" cy="20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lgn="ctr">
              <a:defRPr/>
            </a:pPr>
            <a:r>
              <a:rPr lang="en-US" altLang="en-US" sz="900" i="1"/>
              <a:t>Van Allen belt effects tend to be most significant in polar orbits</a:t>
            </a:r>
          </a:p>
        </p:txBody>
      </p:sp>
      <p:grpSp>
        <p:nvGrpSpPr>
          <p:cNvPr id="41988" name="Group 24">
            <a:extLst>
              <a:ext uri="{FF2B5EF4-FFF2-40B4-BE49-F238E27FC236}">
                <a16:creationId xmlns:a16="http://schemas.microsoft.com/office/drawing/2014/main" id="{58607B01-0834-44DA-BAFE-E72DF33D98BA}"/>
              </a:ext>
            </a:extLst>
          </p:cNvPr>
          <p:cNvGrpSpPr>
            <a:grpSpLocks/>
          </p:cNvGrpSpPr>
          <p:nvPr/>
        </p:nvGrpSpPr>
        <p:grpSpPr bwMode="auto">
          <a:xfrm>
            <a:off x="3411538" y="1276350"/>
            <a:ext cx="3592512" cy="2544763"/>
            <a:chOff x="2451" y="1304"/>
            <a:chExt cx="2845" cy="2027"/>
          </a:xfrm>
        </p:grpSpPr>
        <p:pic>
          <p:nvPicPr>
            <p:cNvPr id="111641" name="Picture 25">
              <a:extLst>
                <a:ext uri="{FF2B5EF4-FFF2-40B4-BE49-F238E27FC236}">
                  <a16:creationId xmlns:a16="http://schemas.microsoft.com/office/drawing/2014/main" id="{02A57548-4619-4F05-B5FF-85DD8F3633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1" y="1320"/>
              <a:ext cx="2802" cy="2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41992" name="Group 26">
              <a:extLst>
                <a:ext uri="{FF2B5EF4-FFF2-40B4-BE49-F238E27FC236}">
                  <a16:creationId xmlns:a16="http://schemas.microsoft.com/office/drawing/2014/main" id="{F7BB60E1-45AA-4E24-9F23-D949F3FD3F25}"/>
                </a:ext>
              </a:extLst>
            </p:cNvPr>
            <p:cNvGrpSpPr>
              <a:grpSpLocks/>
            </p:cNvGrpSpPr>
            <p:nvPr/>
          </p:nvGrpSpPr>
          <p:grpSpPr bwMode="auto">
            <a:xfrm>
              <a:off x="2590" y="1304"/>
              <a:ext cx="2706" cy="2021"/>
              <a:chOff x="2590" y="1304"/>
              <a:chExt cx="2706" cy="2021"/>
            </a:xfrm>
          </p:grpSpPr>
          <p:sp>
            <p:nvSpPr>
              <p:cNvPr id="111643" name="Text Box 27">
                <a:extLst>
                  <a:ext uri="{FF2B5EF4-FFF2-40B4-BE49-F238E27FC236}">
                    <a16:creationId xmlns:a16="http://schemas.microsoft.com/office/drawing/2014/main" id="{18129E84-261D-40C0-A481-5A2A19375440}"/>
                  </a:ext>
                </a:extLst>
              </p:cNvPr>
              <p:cNvSpPr txBox="1">
                <a:spLocks noChangeArrowheads="1"/>
              </p:cNvSpPr>
              <p:nvPr/>
            </p:nvSpPr>
            <p:spPr bwMode="auto">
              <a:xfrm>
                <a:off x="3287" y="1411"/>
                <a:ext cx="547"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Bow Shock</a:t>
                </a:r>
              </a:p>
            </p:txBody>
          </p:sp>
          <p:sp>
            <p:nvSpPr>
              <p:cNvPr id="111644" name="Text Box 28">
                <a:extLst>
                  <a:ext uri="{FF2B5EF4-FFF2-40B4-BE49-F238E27FC236}">
                    <a16:creationId xmlns:a16="http://schemas.microsoft.com/office/drawing/2014/main" id="{FB6C5C5B-2ADC-4231-AB6A-BF38BA5FA9EA}"/>
                  </a:ext>
                </a:extLst>
              </p:cNvPr>
              <p:cNvSpPr txBox="1">
                <a:spLocks noChangeArrowheads="1"/>
              </p:cNvSpPr>
              <p:nvPr/>
            </p:nvSpPr>
            <p:spPr bwMode="auto">
              <a:xfrm>
                <a:off x="4083" y="1520"/>
                <a:ext cx="601" cy="10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Magnetosheath</a:t>
                </a:r>
              </a:p>
            </p:txBody>
          </p:sp>
          <p:sp>
            <p:nvSpPr>
              <p:cNvPr id="111645" name="Text Box 29">
                <a:extLst>
                  <a:ext uri="{FF2B5EF4-FFF2-40B4-BE49-F238E27FC236}">
                    <a16:creationId xmlns:a16="http://schemas.microsoft.com/office/drawing/2014/main" id="{98ECB363-E116-4141-978C-F9DF8585E6F5}"/>
                  </a:ext>
                </a:extLst>
              </p:cNvPr>
              <p:cNvSpPr txBox="1">
                <a:spLocks noChangeArrowheads="1"/>
              </p:cNvSpPr>
              <p:nvPr/>
            </p:nvSpPr>
            <p:spPr bwMode="auto">
              <a:xfrm>
                <a:off x="4097" y="1645"/>
                <a:ext cx="723"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Boundary Layer</a:t>
                </a:r>
              </a:p>
            </p:txBody>
          </p:sp>
          <p:sp>
            <p:nvSpPr>
              <p:cNvPr id="111646" name="Text Box 30">
                <a:extLst>
                  <a:ext uri="{FF2B5EF4-FFF2-40B4-BE49-F238E27FC236}">
                    <a16:creationId xmlns:a16="http://schemas.microsoft.com/office/drawing/2014/main" id="{877F58E5-CE9B-480F-BC78-FAA6D3521D45}"/>
                  </a:ext>
                </a:extLst>
              </p:cNvPr>
              <p:cNvSpPr txBox="1">
                <a:spLocks noChangeArrowheads="1"/>
              </p:cNvSpPr>
              <p:nvPr/>
            </p:nvSpPr>
            <p:spPr bwMode="auto">
              <a:xfrm>
                <a:off x="4333" y="1795"/>
                <a:ext cx="307"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Lobe</a:t>
                </a:r>
              </a:p>
            </p:txBody>
          </p:sp>
          <p:sp>
            <p:nvSpPr>
              <p:cNvPr id="111647" name="Text Box 31">
                <a:extLst>
                  <a:ext uri="{FF2B5EF4-FFF2-40B4-BE49-F238E27FC236}">
                    <a16:creationId xmlns:a16="http://schemas.microsoft.com/office/drawing/2014/main" id="{656DD86C-616D-43EC-987A-337A59A7DD94}"/>
                  </a:ext>
                </a:extLst>
              </p:cNvPr>
              <p:cNvSpPr txBox="1">
                <a:spLocks noChangeArrowheads="1"/>
              </p:cNvSpPr>
              <p:nvPr/>
            </p:nvSpPr>
            <p:spPr bwMode="auto">
              <a:xfrm>
                <a:off x="4039" y="1965"/>
                <a:ext cx="559" cy="10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Plasmasphere</a:t>
                </a:r>
              </a:p>
            </p:txBody>
          </p:sp>
          <p:sp>
            <p:nvSpPr>
              <p:cNvPr id="111648" name="Text Box 32">
                <a:extLst>
                  <a:ext uri="{FF2B5EF4-FFF2-40B4-BE49-F238E27FC236}">
                    <a16:creationId xmlns:a16="http://schemas.microsoft.com/office/drawing/2014/main" id="{5C5EF1BC-389B-4E8E-82F0-800ECEFA5B20}"/>
                  </a:ext>
                </a:extLst>
              </p:cNvPr>
              <p:cNvSpPr txBox="1">
                <a:spLocks noChangeArrowheads="1"/>
              </p:cNvSpPr>
              <p:nvPr/>
            </p:nvSpPr>
            <p:spPr bwMode="auto">
              <a:xfrm>
                <a:off x="4320" y="2144"/>
                <a:ext cx="632"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Plasma Sheet</a:t>
                </a:r>
              </a:p>
            </p:txBody>
          </p:sp>
          <p:sp>
            <p:nvSpPr>
              <p:cNvPr id="111649" name="Text Box 33">
                <a:extLst>
                  <a:ext uri="{FF2B5EF4-FFF2-40B4-BE49-F238E27FC236}">
                    <a16:creationId xmlns:a16="http://schemas.microsoft.com/office/drawing/2014/main" id="{B8AD8B8B-D79E-4CB6-9480-076F7899FCDE}"/>
                  </a:ext>
                </a:extLst>
              </p:cNvPr>
              <p:cNvSpPr txBox="1">
                <a:spLocks noChangeArrowheads="1"/>
              </p:cNvSpPr>
              <p:nvPr/>
            </p:nvSpPr>
            <p:spPr bwMode="auto">
              <a:xfrm>
                <a:off x="3990" y="2689"/>
                <a:ext cx="763"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Polar Wind</a:t>
                </a:r>
              </a:p>
            </p:txBody>
          </p:sp>
          <p:sp>
            <p:nvSpPr>
              <p:cNvPr id="111650" name="Text Box 34">
                <a:extLst>
                  <a:ext uri="{FF2B5EF4-FFF2-40B4-BE49-F238E27FC236}">
                    <a16:creationId xmlns:a16="http://schemas.microsoft.com/office/drawing/2014/main" id="{D974B8EE-40B3-436F-B7AB-5CBA42C5FF2E}"/>
                  </a:ext>
                </a:extLst>
              </p:cNvPr>
              <p:cNvSpPr txBox="1">
                <a:spLocks noChangeArrowheads="1"/>
              </p:cNvSpPr>
              <p:nvPr/>
            </p:nvSpPr>
            <p:spPr bwMode="auto">
              <a:xfrm>
                <a:off x="4152" y="2940"/>
                <a:ext cx="675" cy="15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Magnetopause</a:t>
                </a:r>
              </a:p>
            </p:txBody>
          </p:sp>
          <p:sp>
            <p:nvSpPr>
              <p:cNvPr id="111651" name="Text Box 35">
                <a:extLst>
                  <a:ext uri="{FF2B5EF4-FFF2-40B4-BE49-F238E27FC236}">
                    <a16:creationId xmlns:a16="http://schemas.microsoft.com/office/drawing/2014/main" id="{1AE1134D-B5C9-4878-A938-6BB2F8046253}"/>
                  </a:ext>
                </a:extLst>
              </p:cNvPr>
              <p:cNvSpPr txBox="1">
                <a:spLocks noChangeArrowheads="1"/>
              </p:cNvSpPr>
              <p:nvPr/>
            </p:nvSpPr>
            <p:spPr bwMode="auto">
              <a:xfrm>
                <a:off x="2591" y="1709"/>
                <a:ext cx="763" cy="11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Solar Wind</a:t>
                </a:r>
              </a:p>
            </p:txBody>
          </p:sp>
          <p:sp>
            <p:nvSpPr>
              <p:cNvPr id="111652" name="Text Box 36">
                <a:extLst>
                  <a:ext uri="{FF2B5EF4-FFF2-40B4-BE49-F238E27FC236}">
                    <a16:creationId xmlns:a16="http://schemas.microsoft.com/office/drawing/2014/main" id="{14E6931B-7864-49FD-B0E6-89F8C5D50204}"/>
                  </a:ext>
                </a:extLst>
              </p:cNvPr>
              <p:cNvSpPr txBox="1">
                <a:spLocks noChangeArrowheads="1"/>
              </p:cNvSpPr>
              <p:nvPr/>
            </p:nvSpPr>
            <p:spPr bwMode="auto">
              <a:xfrm>
                <a:off x="3135" y="1857"/>
                <a:ext cx="308" cy="2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Polar </a:t>
                </a:r>
              </a:p>
              <a:p>
                <a:pPr>
                  <a:defRPr/>
                </a:pPr>
                <a:r>
                  <a:rPr lang="en-US" altLang="en-US" sz="800" b="1">
                    <a:latin typeface="Arial" charset="0"/>
                  </a:rPr>
                  <a:t>Cusp</a:t>
                </a:r>
              </a:p>
            </p:txBody>
          </p:sp>
          <p:sp>
            <p:nvSpPr>
              <p:cNvPr id="111653" name="Text Box 37">
                <a:extLst>
                  <a:ext uri="{FF2B5EF4-FFF2-40B4-BE49-F238E27FC236}">
                    <a16:creationId xmlns:a16="http://schemas.microsoft.com/office/drawing/2014/main" id="{A7370F12-0777-49B1-BF5F-9BCEA8946197}"/>
                  </a:ext>
                </a:extLst>
              </p:cNvPr>
              <p:cNvSpPr txBox="1">
                <a:spLocks noChangeArrowheads="1"/>
              </p:cNvSpPr>
              <p:nvPr/>
            </p:nvSpPr>
            <p:spPr bwMode="auto">
              <a:xfrm>
                <a:off x="4210" y="2462"/>
                <a:ext cx="1017" cy="22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lvl1pPr defTabSz="725488">
                  <a:defRPr sz="2400">
                    <a:solidFill>
                      <a:schemeClr val="tx1"/>
                    </a:solidFill>
                    <a:latin typeface="Times New Roman" charset="0"/>
                  </a:defRPr>
                </a:lvl1pPr>
                <a:lvl2pPr marL="361950" defTabSz="725488">
                  <a:defRPr sz="2400">
                    <a:solidFill>
                      <a:schemeClr val="tx1"/>
                    </a:solidFill>
                    <a:latin typeface="Times New Roman" charset="0"/>
                  </a:defRPr>
                </a:lvl2pPr>
                <a:lvl3pPr marL="725488" defTabSz="725488">
                  <a:defRPr sz="2400">
                    <a:solidFill>
                      <a:schemeClr val="tx1"/>
                    </a:solidFill>
                    <a:latin typeface="Times New Roman" charset="0"/>
                  </a:defRPr>
                </a:lvl3pPr>
                <a:lvl4pPr marL="1087438" defTabSz="725488">
                  <a:defRPr sz="2400">
                    <a:solidFill>
                      <a:schemeClr val="tx1"/>
                    </a:solidFill>
                    <a:latin typeface="Times New Roman" charset="0"/>
                  </a:defRPr>
                </a:lvl4pPr>
                <a:lvl5pPr marL="1449388" defTabSz="725488">
                  <a:defRPr sz="2400">
                    <a:solidFill>
                      <a:schemeClr val="tx1"/>
                    </a:solidFill>
                    <a:latin typeface="Times New Roman" charset="0"/>
                  </a:defRPr>
                </a:lvl5pPr>
                <a:lvl6pPr marL="1906588" defTabSz="725488" eaLnBrk="0" fontAlgn="base" hangingPunct="0">
                  <a:spcBef>
                    <a:spcPct val="0"/>
                  </a:spcBef>
                  <a:spcAft>
                    <a:spcPct val="0"/>
                  </a:spcAft>
                  <a:defRPr sz="2400">
                    <a:solidFill>
                      <a:schemeClr val="tx1"/>
                    </a:solidFill>
                    <a:latin typeface="Times New Roman" charset="0"/>
                  </a:defRPr>
                </a:lvl6pPr>
                <a:lvl7pPr marL="2363788" defTabSz="725488" eaLnBrk="0" fontAlgn="base" hangingPunct="0">
                  <a:spcBef>
                    <a:spcPct val="0"/>
                  </a:spcBef>
                  <a:spcAft>
                    <a:spcPct val="0"/>
                  </a:spcAft>
                  <a:defRPr sz="2400">
                    <a:solidFill>
                      <a:schemeClr val="tx1"/>
                    </a:solidFill>
                    <a:latin typeface="Times New Roman" charset="0"/>
                  </a:defRPr>
                </a:lvl7pPr>
                <a:lvl8pPr marL="2820988" defTabSz="725488" eaLnBrk="0" fontAlgn="base" hangingPunct="0">
                  <a:spcBef>
                    <a:spcPct val="0"/>
                  </a:spcBef>
                  <a:spcAft>
                    <a:spcPct val="0"/>
                  </a:spcAft>
                  <a:defRPr sz="2400">
                    <a:solidFill>
                      <a:schemeClr val="tx1"/>
                    </a:solidFill>
                    <a:latin typeface="Times New Roman" charset="0"/>
                  </a:defRPr>
                </a:lvl8pPr>
                <a:lvl9pPr marL="3278188" defTabSz="725488" eaLnBrk="0" fontAlgn="base" hangingPunct="0">
                  <a:spcBef>
                    <a:spcPct val="0"/>
                  </a:spcBef>
                  <a:spcAft>
                    <a:spcPct val="0"/>
                  </a:spcAft>
                  <a:defRPr sz="2400">
                    <a:solidFill>
                      <a:schemeClr val="tx1"/>
                    </a:solidFill>
                    <a:latin typeface="Times New Roman" charset="0"/>
                  </a:defRPr>
                </a:lvl9pPr>
              </a:lstStyle>
              <a:p>
                <a:pPr>
                  <a:defRPr/>
                </a:pPr>
                <a:r>
                  <a:rPr lang="en-US" altLang="en-US" sz="800" b="1">
                    <a:latin typeface="Arial" charset="0"/>
                  </a:rPr>
                  <a:t>Radiation Belt and</a:t>
                </a:r>
              </a:p>
              <a:p>
                <a:pPr>
                  <a:defRPr/>
                </a:pPr>
                <a:r>
                  <a:rPr lang="en-US" altLang="en-US" sz="800" b="1">
                    <a:latin typeface="Arial" charset="0"/>
                  </a:rPr>
                  <a:t>Ring Current</a:t>
                </a:r>
              </a:p>
            </p:txBody>
          </p:sp>
          <p:sp>
            <p:nvSpPr>
              <p:cNvPr id="111654" name="Rectangle 38">
                <a:extLst>
                  <a:ext uri="{FF2B5EF4-FFF2-40B4-BE49-F238E27FC236}">
                    <a16:creationId xmlns:a16="http://schemas.microsoft.com/office/drawing/2014/main" id="{68703C75-12BC-4FDE-9B83-2E6C9A27E343}"/>
                  </a:ext>
                </a:extLst>
              </p:cNvPr>
              <p:cNvSpPr>
                <a:spLocks noChangeArrowheads="1"/>
              </p:cNvSpPr>
              <p:nvPr/>
            </p:nvSpPr>
            <p:spPr bwMode="auto">
              <a:xfrm>
                <a:off x="5097" y="1304"/>
                <a:ext cx="199" cy="202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7111" tIns="3556" rIns="7111" bIns="3556">
                <a:spAutoFit/>
              </a:bodyPr>
              <a:lstStyle/>
              <a:p>
                <a:pPr>
                  <a:defRPr/>
                </a:pPr>
                <a:endParaRPr lang="en-US">
                  <a:latin typeface="Times New Roman" charset="0"/>
                </a:endParaRPr>
              </a:p>
            </p:txBody>
          </p:sp>
        </p:grpSp>
      </p:grpSp>
      <p:sp>
        <p:nvSpPr>
          <p:cNvPr id="111655" name="Text Box 39">
            <a:extLst>
              <a:ext uri="{FF2B5EF4-FFF2-40B4-BE49-F238E27FC236}">
                <a16:creationId xmlns:a16="http://schemas.microsoft.com/office/drawing/2014/main" id="{381C5B27-097D-4AE7-B0F4-A5E64C4651CA}"/>
              </a:ext>
            </a:extLst>
          </p:cNvPr>
          <p:cNvSpPr txBox="1">
            <a:spLocks noChangeArrowheads="1"/>
          </p:cNvSpPr>
          <p:nvPr/>
        </p:nvSpPr>
        <p:spPr bwMode="auto">
          <a:xfrm>
            <a:off x="4138613" y="7340600"/>
            <a:ext cx="2663825"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72494" tIns="36247" rIns="72494" bIns="36247">
            <a:spAutoFit/>
          </a:bodyPr>
          <a:lstStyle>
            <a:lvl1pPr defTabSz="725488">
              <a:tabLst>
                <a:tab pos="271463" algn="l"/>
              </a:tabLst>
              <a:defRPr sz="2400">
                <a:solidFill>
                  <a:schemeClr val="tx1"/>
                </a:solidFill>
                <a:latin typeface="Times New Roman" charset="0"/>
              </a:defRPr>
            </a:lvl1pPr>
            <a:lvl2pPr marL="361950" defTabSz="725488">
              <a:tabLst>
                <a:tab pos="271463" algn="l"/>
              </a:tabLst>
              <a:defRPr sz="2400">
                <a:solidFill>
                  <a:schemeClr val="tx1"/>
                </a:solidFill>
                <a:latin typeface="Times New Roman" charset="0"/>
              </a:defRPr>
            </a:lvl2pPr>
            <a:lvl3pPr marL="725488" defTabSz="725488">
              <a:tabLst>
                <a:tab pos="271463" algn="l"/>
              </a:tabLst>
              <a:defRPr sz="2400">
                <a:solidFill>
                  <a:schemeClr val="tx1"/>
                </a:solidFill>
                <a:latin typeface="Times New Roman" charset="0"/>
              </a:defRPr>
            </a:lvl3pPr>
            <a:lvl4pPr marL="1087438" defTabSz="725488">
              <a:tabLst>
                <a:tab pos="271463" algn="l"/>
              </a:tabLst>
              <a:defRPr sz="2400">
                <a:solidFill>
                  <a:schemeClr val="tx1"/>
                </a:solidFill>
                <a:latin typeface="Times New Roman" charset="0"/>
              </a:defRPr>
            </a:lvl4pPr>
            <a:lvl5pPr marL="1449388" defTabSz="725488">
              <a:tabLst>
                <a:tab pos="271463" algn="l"/>
              </a:tabLst>
              <a:defRPr sz="2400">
                <a:solidFill>
                  <a:schemeClr val="tx1"/>
                </a:solidFill>
                <a:latin typeface="Times New Roman" charset="0"/>
              </a:defRPr>
            </a:lvl5pPr>
            <a:lvl6pPr marL="1906588" defTabSz="725488" eaLnBrk="0" fontAlgn="base" hangingPunct="0">
              <a:spcBef>
                <a:spcPct val="0"/>
              </a:spcBef>
              <a:spcAft>
                <a:spcPct val="0"/>
              </a:spcAft>
              <a:tabLst>
                <a:tab pos="271463" algn="l"/>
              </a:tabLst>
              <a:defRPr sz="2400">
                <a:solidFill>
                  <a:schemeClr val="tx1"/>
                </a:solidFill>
                <a:latin typeface="Times New Roman" charset="0"/>
              </a:defRPr>
            </a:lvl6pPr>
            <a:lvl7pPr marL="2363788" defTabSz="725488" eaLnBrk="0" fontAlgn="base" hangingPunct="0">
              <a:spcBef>
                <a:spcPct val="0"/>
              </a:spcBef>
              <a:spcAft>
                <a:spcPct val="0"/>
              </a:spcAft>
              <a:tabLst>
                <a:tab pos="271463" algn="l"/>
              </a:tabLst>
              <a:defRPr sz="2400">
                <a:solidFill>
                  <a:schemeClr val="tx1"/>
                </a:solidFill>
                <a:latin typeface="Times New Roman" charset="0"/>
              </a:defRPr>
            </a:lvl7pPr>
            <a:lvl8pPr marL="2820988" defTabSz="725488" eaLnBrk="0" fontAlgn="base" hangingPunct="0">
              <a:spcBef>
                <a:spcPct val="0"/>
              </a:spcBef>
              <a:spcAft>
                <a:spcPct val="0"/>
              </a:spcAft>
              <a:tabLst>
                <a:tab pos="271463" algn="l"/>
              </a:tabLst>
              <a:defRPr sz="2400">
                <a:solidFill>
                  <a:schemeClr val="tx1"/>
                </a:solidFill>
                <a:latin typeface="Times New Roman" charset="0"/>
              </a:defRPr>
            </a:lvl8pPr>
            <a:lvl9pPr marL="3278188" defTabSz="725488" eaLnBrk="0" fontAlgn="base" hangingPunct="0">
              <a:spcBef>
                <a:spcPct val="0"/>
              </a:spcBef>
              <a:spcAft>
                <a:spcPct val="0"/>
              </a:spcAft>
              <a:tabLst>
                <a:tab pos="271463" algn="l"/>
              </a:tabLst>
              <a:defRPr sz="2400">
                <a:solidFill>
                  <a:schemeClr val="tx1"/>
                </a:solidFill>
                <a:latin typeface="Times New Roman" charset="0"/>
              </a:defRPr>
            </a:lvl9pPr>
          </a:lstStyle>
          <a:p>
            <a:pPr>
              <a:defRPr/>
            </a:pPr>
            <a:r>
              <a:rPr lang="en-US" altLang="en-US" sz="900" i="1"/>
              <a:t>550 km, nearly polar orbit</a:t>
            </a:r>
          </a:p>
          <a:p>
            <a:pPr>
              <a:defRPr/>
            </a:pPr>
            <a:endParaRPr lang="en-US" altLang="en-US" sz="900" i="1"/>
          </a:p>
          <a:p>
            <a:pPr>
              <a:defRPr/>
            </a:pPr>
            <a:r>
              <a:rPr lang="en-US" altLang="en-US" sz="900" i="1"/>
              <a:t>47% of SEUs occurred in the South Atlantic Anomaly despite the fact that only 5% of the total orbital time was spent in this area</a:t>
            </a:r>
          </a:p>
        </p:txBody>
      </p:sp>
      <p:sp>
        <p:nvSpPr>
          <p:cNvPr id="111656" name="Line 40">
            <a:extLst>
              <a:ext uri="{FF2B5EF4-FFF2-40B4-BE49-F238E27FC236}">
                <a16:creationId xmlns:a16="http://schemas.microsoft.com/office/drawing/2014/main" id="{50DCE71B-9506-44E3-8417-EF4B3D28D9C9}"/>
              </a:ext>
            </a:extLst>
          </p:cNvPr>
          <p:cNvSpPr>
            <a:spLocks noChangeShapeType="1"/>
          </p:cNvSpPr>
          <p:nvPr/>
        </p:nvSpPr>
        <p:spPr bwMode="auto">
          <a:xfrm flipV="1">
            <a:off x="4514850" y="6904038"/>
            <a:ext cx="334963" cy="428625"/>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ndParaRPr>
          </a:p>
        </p:txBody>
      </p:sp>
    </p:spTree>
    <p:extLst>
      <p:ext uri="{BB962C8B-B14F-4D97-AF65-F5344CB8AC3E}">
        <p14:creationId xmlns:p14="http://schemas.microsoft.com/office/powerpoint/2010/main" val="4022295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2553CF-3753-4030-B956-0E17717FFA8A}"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7392866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E916AB-E2CE-4F53-9A4E-2FBC689DE670}"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941007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822EF1A-AA66-4B8F-8BD3-1CFEF4BAF018}"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935925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7BFFFF-B27D-42C0-8942-B1D7D407A10C}"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4121427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26D884-C82E-4F76-B303-A920A9522777}" type="datetime1">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37721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07E249-A449-44AB-95FB-8B2CAC08AF17}" type="datetime1">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37766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53F8C6F-32A6-4D20-87C5-EC8EE6115D51}" type="datetime1">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36403012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69C19E-A33C-4CFB-9944-D9A62AD8258A}"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78231067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B358399-CFD0-4FDB-84EC-CBF8080F49A9}" type="datetime1">
              <a:rPr lang="en-US" smtClean="0"/>
              <a:t>7/29/2026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70708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60FAB3A-94A8-416C-A72C-78EA7864A8CA}"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65278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4325F2-1029-4032-926D-3E79E61F9142}"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0716096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00B6D1-E356-4A33-BBD2-A8FC683A867D}"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22432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A8412EB-DAA5-4A4C-BC3E-ED7A0C4FEC6D}" type="datetime1">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581002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8D128B22-4ADF-4D89-BD90-CE9C8E4CCFAE}" type="datetime1">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4237653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0A2E7B1-1D42-4426-A172-3464B0125CD7}" type="datetime1">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2780749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A3ED9-03AD-425C-BFA7-71C22636FC11}"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37534144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610CF1-5857-4740-8E6E-5A3A3A9C71E7}"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C362F-97FB-4C1E-B0F0-C3069DD0CDD1}" type="slidenum">
              <a:rPr lang="en-US" smtClean="0"/>
              <a:t>‹#›</a:t>
            </a:fld>
            <a:endParaRPr lang="en-US"/>
          </a:p>
        </p:txBody>
      </p:sp>
    </p:spTree>
    <p:extLst>
      <p:ext uri="{BB962C8B-B14F-4D97-AF65-F5344CB8AC3E}">
        <p14:creationId xmlns:p14="http://schemas.microsoft.com/office/powerpoint/2010/main" val="1198134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A80C47-B259-427A-A753-926FB38AD6FE}" type="datetime1">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520853-C384-4919-8F9A-9CB57A0B2B64}" type="slidenum">
              <a:rPr lang="en-US" smtClean="0"/>
              <a:t>‹#›</a:t>
            </a:fld>
            <a:endParaRPr lang="en-US"/>
          </a:p>
        </p:txBody>
      </p:sp>
    </p:spTree>
    <p:extLst>
      <p:ext uri="{BB962C8B-B14F-4D97-AF65-F5344CB8AC3E}">
        <p14:creationId xmlns:p14="http://schemas.microsoft.com/office/powerpoint/2010/main" val="235457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46AF7F7-8276-44CF-B778-9475BB1EDC85}" type="datetime1">
              <a:rPr lang="en-US" smtClean="0"/>
              <a:t>7/29/2026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83C362F-97FB-4C1E-B0F0-C3069DD0CDD1}" type="slidenum">
              <a:rPr lang="en-US" smtClean="0"/>
              <a:t>‹#›</a:t>
            </a:fld>
            <a:endParaRPr lang="en-US"/>
          </a:p>
        </p:txBody>
      </p:sp>
    </p:spTree>
    <p:extLst>
      <p:ext uri="{BB962C8B-B14F-4D97-AF65-F5344CB8AC3E}">
        <p14:creationId xmlns:p14="http://schemas.microsoft.com/office/powerpoint/2010/main" val="167759062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uccsoffice365-my.sharepoint.com/:p:/g/personal/fschmidt_uccs_edu/IQDV8mayOqsTRIXfFdoUSE8sAYc6Z97nSS-DDKaq_5kPQA4?e=imYZnT" TargetMode="External"/><Relationship Id="rId1" Type="http://schemas.openxmlformats.org/officeDocument/2006/relationships/slideLayout" Target="../slideLayouts/slideLayout18.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uccsoffice365-my.sharepoint.com/:p:/g/personal/fschmidt_uccs_edu/IQDV8mayOqsTRIXfFdoUSE8sAYc6Z97nSS-DDKaq_5kPQA4?e=imYZnT" TargetMode="External"/><Relationship Id="rId1" Type="http://schemas.openxmlformats.org/officeDocument/2006/relationships/slideLayout" Target="../slideLayouts/slideLayout18.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uccsoffice365-my.sharepoint.com/:p:/g/personal/fschmidt_uccs_edu/IQDV8mayOqsTRIXfFdoUSE8sAYc6Z97nSS-DDKaq_5kPQA4?e=imYZnT" TargetMode="External"/><Relationship Id="rId1" Type="http://schemas.openxmlformats.org/officeDocument/2006/relationships/slideLayout" Target="../slideLayouts/slideLayout18.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8.jpeg"/><Relationship Id="rId4" Type="http://schemas.openxmlformats.org/officeDocument/2006/relationships/hyperlink" Target="https://fermi.gsfc.nasa.gov/science/constellation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60.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8.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hyperlink" Target="https://www.nasa.gov/feature/goddard/2020/nasa-sdo-sun-data-helps-new-model-predict-big-solar-flares" TargetMode="External"/><Relationship Id="rId5" Type="http://schemas.openxmlformats.org/officeDocument/2006/relationships/hyperlink" Target="https://www.realclearscience.com/blog/2020/01/14/the_largest_nuclear_test_in_outer_space_had_startling_effects_on_hawaii.html" TargetMode="External"/><Relationship Id="rId4" Type="http://schemas.openxmlformats.org/officeDocument/2006/relationships/hyperlink" Target="https://facilityexecutive.com/2013/11/web-exclusive-potential-impact-solar-flares/#:~:text=Solar%20flares%20occur%20when%20built%20up%20magnetic%20energy,When%20will%20the%20%E2%80%9Cthreat%E2%80%9D%20from%20solar%20flares%20dissipate%3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4D4DD4CF-9732-4771-98FE-77886DC91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See the source image">
            <a:extLst>
              <a:ext uri="{FF2B5EF4-FFF2-40B4-BE49-F238E27FC236}">
                <a16:creationId xmlns:a16="http://schemas.microsoft.com/office/drawing/2014/main" id="{05401413-7E9D-4E8A-8A4E-E3B3D468F0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20" r="34136"/>
          <a:stretch/>
        </p:blipFill>
        <p:spPr bwMode="auto">
          <a:xfrm>
            <a:off x="-62108" y="-2"/>
            <a:ext cx="7479157"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A2861A9C-C970-4FFE-B67C-222B6F57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791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D2FDF82E-EBD8-4EC5-AD10-CD9E70EE8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196408" y="640831"/>
            <a:ext cx="3352128" cy="1573863"/>
          </a:xfrm>
        </p:spPr>
        <p:txBody>
          <a:bodyPr vert="horz" lIns="91440" tIns="45720" rIns="91440" bIns="45720" rtlCol="0" anchor="ctr">
            <a:normAutofit/>
          </a:bodyPr>
          <a:lstStyle/>
          <a:p>
            <a:pPr algn="l"/>
            <a:r>
              <a:rPr lang="en-US" sz="3300" dirty="0"/>
              <a:t>SPCE 5065</a:t>
            </a:r>
            <a:br>
              <a:rPr lang="en-US" sz="3300" dirty="0"/>
            </a:br>
            <a:r>
              <a:rPr lang="en-US" sz="3300" dirty="0"/>
              <a:t>RADIATION ENVIRONMENT</a:t>
            </a:r>
          </a:p>
        </p:txBody>
      </p:sp>
      <p:sp>
        <p:nvSpPr>
          <p:cNvPr id="12" name="TextBox 11">
            <a:extLst>
              <a:ext uri="{FF2B5EF4-FFF2-40B4-BE49-F238E27FC236}">
                <a16:creationId xmlns:a16="http://schemas.microsoft.com/office/drawing/2014/main" id="{03916D6C-4306-4F1C-852E-79679F72FC6F}"/>
              </a:ext>
            </a:extLst>
          </p:cNvPr>
          <p:cNvSpPr txBox="1"/>
          <p:nvPr/>
        </p:nvSpPr>
        <p:spPr>
          <a:xfrm>
            <a:off x="7941883" y="2748946"/>
            <a:ext cx="3861177" cy="3881309"/>
          </a:xfrm>
          <a:prstGeom prst="rect">
            <a:avLst/>
          </a:prstGeom>
        </p:spPr>
        <p:txBody>
          <a:bodyPr vert="horz" lIns="91440" tIns="45720" rIns="91440" bIns="45720" rtlCol="0">
            <a:normAutofit/>
          </a:bodyPr>
          <a:lstStyle/>
          <a:p>
            <a:pPr algn="ctr" defTabSz="914400">
              <a:lnSpc>
                <a:spcPct val="120000"/>
              </a:lnSpc>
              <a:spcAft>
                <a:spcPts val="600"/>
              </a:spcAft>
              <a:buClr>
                <a:schemeClr val="tx1"/>
              </a:buClr>
            </a:pPr>
            <a:r>
              <a:rPr lang="en-US" cap="all" dirty="0"/>
              <a:t>ALL THAT REMAINED NOW WAS THE DISTRIBUTION OF THE ENERGY ALREADY RELEASED BY NATURAL LAWS WHICH NEITHER KNEW NOR CARED ABOUT THE PURPOSES OF THEIR MANIPULATORS.</a:t>
            </a:r>
          </a:p>
          <a:p>
            <a:pPr algn="ctr" defTabSz="914400">
              <a:lnSpc>
                <a:spcPct val="120000"/>
              </a:lnSpc>
              <a:spcAft>
                <a:spcPts val="600"/>
              </a:spcAft>
              <a:buClr>
                <a:schemeClr val="tx1"/>
              </a:buClr>
            </a:pPr>
            <a:r>
              <a:rPr lang="en-US" cap="all" dirty="0"/>
              <a:t>TOM CLANCY, THE SUM OF ALL FEARS</a:t>
            </a:r>
          </a:p>
        </p:txBody>
      </p:sp>
      <p:sp>
        <p:nvSpPr>
          <p:cNvPr id="4" name="Slide Number Placeholder 3"/>
          <p:cNvSpPr>
            <a:spLocks noGrp="1"/>
          </p:cNvSpPr>
          <p:nvPr>
            <p:ph type="sldNum" sz="quarter" idx="12"/>
          </p:nvPr>
        </p:nvSpPr>
        <p:spPr>
          <a:xfrm>
            <a:off x="10514011" y="6265130"/>
            <a:ext cx="764215" cy="365125"/>
          </a:xfrm>
        </p:spPr>
        <p:txBody>
          <a:bodyPr vert="horz" lIns="91440" tIns="45720" rIns="91440" bIns="45720" rtlCol="0" anchor="ctr">
            <a:normAutofit/>
          </a:bodyPr>
          <a:lstStyle/>
          <a:p>
            <a:pPr>
              <a:spcAft>
                <a:spcPts val="600"/>
              </a:spcAft>
            </a:pPr>
            <a:fld id="{ED1AABF0-59A5-4037-929A-6287642C3B54}" type="slidenum">
              <a:rPr lang="en-US" smtClean="0"/>
              <a:pPr>
                <a:spcAft>
                  <a:spcPts val="600"/>
                </a:spcAft>
              </a:pPr>
              <a:t>1</a:t>
            </a:fld>
            <a:endParaRPr lang="en-US"/>
          </a:p>
        </p:txBody>
      </p:sp>
      <p:sp>
        <p:nvSpPr>
          <p:cNvPr id="13" name="TextBox 12">
            <a:extLst>
              <a:ext uri="{FF2B5EF4-FFF2-40B4-BE49-F238E27FC236}">
                <a16:creationId xmlns:a16="http://schemas.microsoft.com/office/drawing/2014/main" id="{94F2496D-CA76-403E-AA25-751D054DE999}"/>
              </a:ext>
            </a:extLst>
          </p:cNvPr>
          <p:cNvSpPr txBox="1"/>
          <p:nvPr/>
        </p:nvSpPr>
        <p:spPr>
          <a:xfrm>
            <a:off x="437491" y="5057501"/>
            <a:ext cx="2750210" cy="1477328"/>
          </a:xfrm>
          <a:prstGeom prst="rect">
            <a:avLst/>
          </a:prstGeom>
          <a:noFill/>
        </p:spPr>
        <p:txBody>
          <a:bodyPr wrap="square" rtlCol="0">
            <a:spAutoFit/>
          </a:bodyPr>
          <a:lstStyle/>
          <a:p>
            <a:r>
              <a:rPr lang="en-US" b="1" dirty="0">
                <a:solidFill>
                  <a:schemeClr val="bg1"/>
                </a:solidFill>
              </a:rPr>
              <a:t>Part 1:</a:t>
            </a:r>
          </a:p>
          <a:p>
            <a:r>
              <a:rPr lang="en-US" b="1" dirty="0">
                <a:solidFill>
                  <a:schemeClr val="bg1"/>
                </a:solidFill>
              </a:rPr>
              <a:t>Sources</a:t>
            </a:r>
          </a:p>
          <a:p>
            <a:r>
              <a:rPr lang="en-US" b="1" dirty="0">
                <a:solidFill>
                  <a:schemeClr val="bg1"/>
                </a:solidFill>
              </a:rPr>
              <a:t>Human effects</a:t>
            </a:r>
          </a:p>
          <a:p>
            <a:r>
              <a:rPr lang="en-US" b="1" dirty="0">
                <a:solidFill>
                  <a:schemeClr val="bg1"/>
                </a:solidFill>
              </a:rPr>
              <a:t>Solar radiation pressure</a:t>
            </a:r>
          </a:p>
          <a:p>
            <a:endParaRPr lang="en-US" b="1" dirty="0">
              <a:solidFill>
                <a:schemeClr val="bg1"/>
              </a:solidFill>
            </a:endParaRPr>
          </a:p>
        </p:txBody>
      </p:sp>
      <p:sp>
        <p:nvSpPr>
          <p:cNvPr id="3" name="TextBox 2">
            <a:extLst>
              <a:ext uri="{FF2B5EF4-FFF2-40B4-BE49-F238E27FC236}">
                <a16:creationId xmlns:a16="http://schemas.microsoft.com/office/drawing/2014/main" id="{A429CBCB-C58E-DD02-81C4-E572E6394A76}"/>
              </a:ext>
            </a:extLst>
          </p:cNvPr>
          <p:cNvSpPr txBox="1"/>
          <p:nvPr/>
        </p:nvSpPr>
        <p:spPr>
          <a:xfrm>
            <a:off x="4261764" y="5057501"/>
            <a:ext cx="2750210" cy="1477328"/>
          </a:xfrm>
          <a:prstGeom prst="rect">
            <a:avLst/>
          </a:prstGeom>
          <a:noFill/>
        </p:spPr>
        <p:txBody>
          <a:bodyPr wrap="square" rtlCol="0">
            <a:spAutoFit/>
          </a:bodyPr>
          <a:lstStyle/>
          <a:p>
            <a:r>
              <a:rPr lang="en-US" b="1" dirty="0">
                <a:solidFill>
                  <a:schemeClr val="bg1"/>
                </a:solidFill>
              </a:rPr>
              <a:t>Part 2:</a:t>
            </a:r>
          </a:p>
          <a:p>
            <a:r>
              <a:rPr lang="en-US" b="1" dirty="0">
                <a:solidFill>
                  <a:schemeClr val="bg1"/>
                </a:solidFill>
              </a:rPr>
              <a:t>Basic radiation physics</a:t>
            </a:r>
          </a:p>
          <a:p>
            <a:endParaRPr lang="en-US" b="1" dirty="0">
              <a:solidFill>
                <a:schemeClr val="bg1"/>
              </a:solidFill>
            </a:endParaRPr>
          </a:p>
          <a:p>
            <a:r>
              <a:rPr lang="en-US" b="1" dirty="0">
                <a:solidFill>
                  <a:schemeClr val="bg1"/>
                </a:solidFill>
              </a:rPr>
              <a:t>Part 3: More on radiation</a:t>
            </a:r>
          </a:p>
          <a:p>
            <a:endParaRPr lang="en-US" b="1" dirty="0">
              <a:solidFill>
                <a:schemeClr val="bg1"/>
              </a:solidFill>
            </a:endParaRPr>
          </a:p>
        </p:txBody>
      </p:sp>
    </p:spTree>
    <p:extLst>
      <p:ext uri="{BB962C8B-B14F-4D97-AF65-F5344CB8AC3E}">
        <p14:creationId xmlns:p14="http://schemas.microsoft.com/office/powerpoint/2010/main" val="3619411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current events image and space">
            <a:extLst>
              <a:ext uri="{FF2B5EF4-FFF2-40B4-BE49-F238E27FC236}">
                <a16:creationId xmlns:a16="http://schemas.microsoft.com/office/drawing/2014/main" id="{41BCF404-E05D-449A-AA7D-9487C21ED7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9468"/>
            <a:ext cx="7571232" cy="6838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5705547-0D64-4E8B-ABC3-B75751765CF3}"/>
              </a:ext>
            </a:extLst>
          </p:cNvPr>
          <p:cNvSpPr txBox="1"/>
          <p:nvPr/>
        </p:nvSpPr>
        <p:spPr>
          <a:xfrm>
            <a:off x="7701776" y="2573976"/>
            <a:ext cx="4308244" cy="3970318"/>
          </a:xfrm>
          <a:prstGeom prst="rect">
            <a:avLst/>
          </a:prstGeom>
          <a:noFill/>
        </p:spPr>
        <p:txBody>
          <a:bodyPr wrap="square" rtlCol="0">
            <a:spAutoFit/>
          </a:bodyPr>
          <a:lstStyle/>
          <a:p>
            <a:r>
              <a:rPr lang="en-US" sz="2800" dirty="0"/>
              <a:t>HW Problem 1 PART a</a:t>
            </a:r>
          </a:p>
          <a:p>
            <a:r>
              <a:rPr lang="en-US" sz="2800" dirty="0"/>
              <a:t>Write:</a:t>
            </a:r>
          </a:p>
          <a:p>
            <a:pPr marL="342900" indent="-342900">
              <a:buAutoNum type="arabicParenR"/>
            </a:pPr>
            <a:r>
              <a:rPr lang="en-US" sz="2800" dirty="0"/>
              <a:t>Summarize the presentation</a:t>
            </a:r>
          </a:p>
          <a:p>
            <a:r>
              <a:rPr lang="en-US" sz="2800" dirty="0"/>
              <a:t>2) Describe something you learned from it</a:t>
            </a:r>
          </a:p>
          <a:p>
            <a:r>
              <a:rPr lang="en-US" sz="2800" dirty="0"/>
              <a:t>3)  Write one question you have left about the presentation</a:t>
            </a:r>
          </a:p>
        </p:txBody>
      </p:sp>
      <p:pic>
        <p:nvPicPr>
          <p:cNvPr id="1028" name="Picture 4" descr="Image result for current events image">
            <a:extLst>
              <a:ext uri="{FF2B5EF4-FFF2-40B4-BE49-F238E27FC236}">
                <a16:creationId xmlns:a16="http://schemas.microsoft.com/office/drawing/2014/main" id="{E7C27866-F914-4402-8A14-2212DCBE2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1612" y="0"/>
            <a:ext cx="4210050" cy="20764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D56062A-1275-A2D9-F902-5A1CD37BE905}"/>
              </a:ext>
            </a:extLst>
          </p:cNvPr>
          <p:cNvSpPr txBox="1">
            <a:spLocks noGrp="1"/>
          </p:cNvSpPr>
          <p:nvPr>
            <p:ph type="title" idx="4294967295"/>
          </p:nvPr>
        </p:nvSpPr>
        <p:spPr>
          <a:xfrm>
            <a:off x="7911612" y="1851102"/>
            <a:ext cx="4031761"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Forte Forward" pitchFamily="2" charset="0"/>
                <a:ea typeface="+mn-ea"/>
                <a:cs typeface="Forte Forward" pitchFamily="2" charset="0"/>
              </a:rPr>
              <a:t>Jason Ansley</a:t>
            </a:r>
          </a:p>
        </p:txBody>
      </p:sp>
    </p:spTree>
    <p:extLst>
      <p:ext uri="{BB962C8B-B14F-4D97-AF65-F5344CB8AC3E}">
        <p14:creationId xmlns:p14="http://schemas.microsoft.com/office/powerpoint/2010/main" val="1100958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current events image and space">
            <a:hlinkClick r:id="rId2"/>
            <a:extLst>
              <a:ext uri="{FF2B5EF4-FFF2-40B4-BE49-F238E27FC236}">
                <a16:creationId xmlns:a16="http://schemas.microsoft.com/office/drawing/2014/main" id="{41BCF404-E05D-449A-AA7D-9487C21ED74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19468"/>
            <a:ext cx="7571232" cy="6838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5705547-0D64-4E8B-ABC3-B75751765CF3}"/>
              </a:ext>
            </a:extLst>
          </p:cNvPr>
          <p:cNvSpPr txBox="1"/>
          <p:nvPr/>
        </p:nvSpPr>
        <p:spPr>
          <a:xfrm>
            <a:off x="7701776" y="2573976"/>
            <a:ext cx="4308244" cy="3970318"/>
          </a:xfrm>
          <a:prstGeom prst="rect">
            <a:avLst/>
          </a:prstGeom>
          <a:noFill/>
        </p:spPr>
        <p:txBody>
          <a:bodyPr wrap="square" rtlCol="0">
            <a:spAutoFit/>
          </a:bodyPr>
          <a:lstStyle/>
          <a:p>
            <a:r>
              <a:rPr lang="en-US" sz="2800" dirty="0"/>
              <a:t>HW Problem 1 PART b</a:t>
            </a:r>
          </a:p>
          <a:p>
            <a:r>
              <a:rPr lang="en-US" sz="2800" dirty="0"/>
              <a:t>Write:</a:t>
            </a:r>
          </a:p>
          <a:p>
            <a:pPr marL="342900" indent="-342900">
              <a:buAutoNum type="arabicParenR"/>
            </a:pPr>
            <a:r>
              <a:rPr lang="en-US" sz="2800" dirty="0"/>
              <a:t>Summarize the presentation</a:t>
            </a:r>
          </a:p>
          <a:p>
            <a:r>
              <a:rPr lang="en-US" sz="2800" dirty="0"/>
              <a:t>2) Describe something you learned from it</a:t>
            </a:r>
          </a:p>
          <a:p>
            <a:r>
              <a:rPr lang="en-US" sz="2800" dirty="0"/>
              <a:t>3)  Write one question you have left about the presentation</a:t>
            </a:r>
          </a:p>
        </p:txBody>
      </p:sp>
      <p:pic>
        <p:nvPicPr>
          <p:cNvPr id="1028" name="Picture 4" descr="Image result for current events image">
            <a:extLst>
              <a:ext uri="{FF2B5EF4-FFF2-40B4-BE49-F238E27FC236}">
                <a16:creationId xmlns:a16="http://schemas.microsoft.com/office/drawing/2014/main" id="{E7C27866-F914-4402-8A14-2212DCBE29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1612" y="0"/>
            <a:ext cx="4210050" cy="20764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D56062A-1275-A2D9-F902-5A1CD37BE905}"/>
              </a:ext>
            </a:extLst>
          </p:cNvPr>
          <p:cNvSpPr txBox="1">
            <a:spLocks noGrp="1"/>
          </p:cNvSpPr>
          <p:nvPr>
            <p:ph type="title" idx="4294967295"/>
          </p:nvPr>
        </p:nvSpPr>
        <p:spPr>
          <a:xfrm>
            <a:off x="7911612" y="1851102"/>
            <a:ext cx="4031761"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Forte Forward" pitchFamily="2" charset="0"/>
                <a:ea typeface="+mn-ea"/>
                <a:cs typeface="Forte Forward" pitchFamily="2" charset="0"/>
              </a:rPr>
              <a:t>Fanita Pfau</a:t>
            </a:r>
          </a:p>
        </p:txBody>
      </p:sp>
    </p:spTree>
    <p:extLst>
      <p:ext uri="{BB962C8B-B14F-4D97-AF65-F5344CB8AC3E}">
        <p14:creationId xmlns:p14="http://schemas.microsoft.com/office/powerpoint/2010/main" val="2806529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5A2E9-BEC2-49E7-CA28-47C0C84C9C71}"/>
            </a:ext>
          </a:extLst>
        </p:cNvPr>
        <p:cNvGrpSpPr/>
        <p:nvPr/>
      </p:nvGrpSpPr>
      <p:grpSpPr>
        <a:xfrm>
          <a:off x="0" y="0"/>
          <a:ext cx="0" cy="0"/>
          <a:chOff x="0" y="0"/>
          <a:chExt cx="0" cy="0"/>
        </a:xfrm>
      </p:grpSpPr>
      <p:pic>
        <p:nvPicPr>
          <p:cNvPr id="1026" name="Picture 2" descr="Image result for current events image and space">
            <a:hlinkClick r:id="rId2"/>
            <a:extLst>
              <a:ext uri="{FF2B5EF4-FFF2-40B4-BE49-F238E27FC236}">
                <a16:creationId xmlns:a16="http://schemas.microsoft.com/office/drawing/2014/main" id="{3037F1C4-E855-CADD-E67E-29D4DDD6C5D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19468"/>
            <a:ext cx="7571232" cy="6838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767B8DD-9486-6ACF-7EF6-AB0E8AA72D97}"/>
              </a:ext>
            </a:extLst>
          </p:cNvPr>
          <p:cNvSpPr txBox="1"/>
          <p:nvPr/>
        </p:nvSpPr>
        <p:spPr>
          <a:xfrm>
            <a:off x="7701776" y="2573976"/>
            <a:ext cx="4308244" cy="3970318"/>
          </a:xfrm>
          <a:prstGeom prst="rect">
            <a:avLst/>
          </a:prstGeom>
          <a:noFill/>
        </p:spPr>
        <p:txBody>
          <a:bodyPr wrap="square" rtlCol="0">
            <a:spAutoFit/>
          </a:bodyPr>
          <a:lstStyle/>
          <a:p>
            <a:r>
              <a:rPr lang="en-US" sz="2800" dirty="0"/>
              <a:t>HW Problem 1 PART c</a:t>
            </a:r>
          </a:p>
          <a:p>
            <a:r>
              <a:rPr lang="en-US" sz="2800" dirty="0"/>
              <a:t>Write:</a:t>
            </a:r>
          </a:p>
          <a:p>
            <a:pPr marL="342900" indent="-342900">
              <a:buAutoNum type="arabicParenR"/>
            </a:pPr>
            <a:r>
              <a:rPr lang="en-US" sz="2800" dirty="0"/>
              <a:t>Summarize the presentation</a:t>
            </a:r>
          </a:p>
          <a:p>
            <a:r>
              <a:rPr lang="en-US" sz="2800" dirty="0"/>
              <a:t>2) Describe something you learned from it</a:t>
            </a:r>
          </a:p>
          <a:p>
            <a:r>
              <a:rPr lang="en-US" sz="2800" dirty="0"/>
              <a:t>3)  Write one question you have left about the presentation</a:t>
            </a:r>
          </a:p>
        </p:txBody>
      </p:sp>
      <p:pic>
        <p:nvPicPr>
          <p:cNvPr id="1028" name="Picture 4" descr="Image result for current events image">
            <a:extLst>
              <a:ext uri="{FF2B5EF4-FFF2-40B4-BE49-F238E27FC236}">
                <a16:creationId xmlns:a16="http://schemas.microsoft.com/office/drawing/2014/main" id="{E52862E6-4FFB-D03C-5655-4408B073E5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1612" y="0"/>
            <a:ext cx="4210050" cy="20764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A1D937A-6556-9CCE-2501-C5B85BD5CC95}"/>
              </a:ext>
            </a:extLst>
          </p:cNvPr>
          <p:cNvSpPr txBox="1">
            <a:spLocks noGrp="1"/>
          </p:cNvSpPr>
          <p:nvPr>
            <p:ph type="title" idx="4294967295"/>
          </p:nvPr>
        </p:nvSpPr>
        <p:spPr>
          <a:xfrm>
            <a:off x="7911612" y="1851102"/>
            <a:ext cx="4031761"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tx1"/>
                </a:solidFill>
                <a:effectLst/>
                <a:uLnTx/>
                <a:uFillTx/>
                <a:latin typeface="Forte Forward" pitchFamily="2" charset="0"/>
                <a:ea typeface="+mn-ea"/>
                <a:cs typeface="Forte Forward" pitchFamily="2" charset="0"/>
              </a:rPr>
              <a:t>Rachel </a:t>
            </a:r>
            <a:r>
              <a:rPr kumimoji="0" lang="en-US" sz="3600" b="0" i="0" u="none" strike="noStrike" kern="1200" cap="none" spc="0" normalizeH="0" baseline="0" noProof="0" dirty="0" err="1">
                <a:ln>
                  <a:noFill/>
                </a:ln>
                <a:solidFill>
                  <a:schemeClr val="tx1"/>
                </a:solidFill>
                <a:effectLst/>
                <a:uLnTx/>
                <a:uFillTx/>
                <a:latin typeface="Forte Forward" pitchFamily="2" charset="0"/>
                <a:ea typeface="+mn-ea"/>
                <a:cs typeface="Forte Forward" pitchFamily="2" charset="0"/>
              </a:rPr>
              <a:t>Danover</a:t>
            </a:r>
            <a:endParaRPr kumimoji="0" lang="en-US" sz="3600" b="0" i="0" u="none" strike="noStrike" kern="1200" cap="none" spc="0" normalizeH="0" baseline="0" noProof="0" dirty="0">
              <a:ln>
                <a:noFill/>
              </a:ln>
              <a:solidFill>
                <a:schemeClr val="tx1"/>
              </a:solidFill>
              <a:effectLst/>
              <a:uLnTx/>
              <a:uFillTx/>
              <a:latin typeface="Forte Forward" pitchFamily="2" charset="0"/>
              <a:ea typeface="+mn-ea"/>
              <a:cs typeface="Forte Forward" pitchFamily="2" charset="0"/>
            </a:endParaRPr>
          </a:p>
        </p:txBody>
      </p:sp>
    </p:spTree>
    <p:extLst>
      <p:ext uri="{BB962C8B-B14F-4D97-AF65-F5344CB8AC3E}">
        <p14:creationId xmlns:p14="http://schemas.microsoft.com/office/powerpoint/2010/main" val="433294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EB3A9-D443-2185-B56B-3BA14D343E8C}"/>
            </a:ext>
          </a:extLst>
        </p:cNvPr>
        <p:cNvGrpSpPr/>
        <p:nvPr/>
      </p:nvGrpSpPr>
      <p:grpSpPr>
        <a:xfrm>
          <a:off x="0" y="0"/>
          <a:ext cx="0" cy="0"/>
          <a:chOff x="0" y="0"/>
          <a:chExt cx="0" cy="0"/>
        </a:xfrm>
      </p:grpSpPr>
      <p:pic>
        <p:nvPicPr>
          <p:cNvPr id="1026" name="Picture 2" descr="Image result for current events image and space">
            <a:hlinkClick r:id="rId2"/>
            <a:extLst>
              <a:ext uri="{FF2B5EF4-FFF2-40B4-BE49-F238E27FC236}">
                <a16:creationId xmlns:a16="http://schemas.microsoft.com/office/drawing/2014/main" id="{FF70686E-4406-76F8-B9E4-385DF402B38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19468"/>
            <a:ext cx="7571232" cy="6838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D4D24C8-8473-CBF9-5659-7F42653DC9C9}"/>
              </a:ext>
            </a:extLst>
          </p:cNvPr>
          <p:cNvSpPr txBox="1"/>
          <p:nvPr/>
        </p:nvSpPr>
        <p:spPr>
          <a:xfrm>
            <a:off x="7701776" y="2573976"/>
            <a:ext cx="4308244" cy="3970318"/>
          </a:xfrm>
          <a:prstGeom prst="rect">
            <a:avLst/>
          </a:prstGeom>
          <a:noFill/>
        </p:spPr>
        <p:txBody>
          <a:bodyPr wrap="square" rtlCol="0">
            <a:spAutoFit/>
          </a:bodyPr>
          <a:lstStyle/>
          <a:p>
            <a:r>
              <a:rPr lang="en-US" sz="2800" dirty="0"/>
              <a:t>HW Problem 1 PART d</a:t>
            </a:r>
          </a:p>
          <a:p>
            <a:r>
              <a:rPr lang="en-US" sz="2800" dirty="0"/>
              <a:t>Write:</a:t>
            </a:r>
          </a:p>
          <a:p>
            <a:pPr marL="342900" indent="-342900">
              <a:buAutoNum type="arabicParenR"/>
            </a:pPr>
            <a:r>
              <a:rPr lang="en-US" sz="2800" dirty="0"/>
              <a:t>Summarize the presentation</a:t>
            </a:r>
          </a:p>
          <a:p>
            <a:r>
              <a:rPr lang="en-US" sz="2800" dirty="0"/>
              <a:t>2) Describe something you learned from it</a:t>
            </a:r>
          </a:p>
          <a:p>
            <a:r>
              <a:rPr lang="en-US" sz="2800" dirty="0"/>
              <a:t>3)  Write one question you have left about the presentation</a:t>
            </a:r>
          </a:p>
        </p:txBody>
      </p:sp>
      <p:pic>
        <p:nvPicPr>
          <p:cNvPr id="1028" name="Picture 4" descr="Image result for current events image">
            <a:extLst>
              <a:ext uri="{FF2B5EF4-FFF2-40B4-BE49-F238E27FC236}">
                <a16:creationId xmlns:a16="http://schemas.microsoft.com/office/drawing/2014/main" id="{392BFB57-E4A4-844B-39E7-4972F1B5B8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1612" y="0"/>
            <a:ext cx="4210050" cy="20764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4E9B3DC-6C4A-AA74-5928-BC67833627B4}"/>
              </a:ext>
            </a:extLst>
          </p:cNvPr>
          <p:cNvSpPr txBox="1">
            <a:spLocks noGrp="1"/>
          </p:cNvSpPr>
          <p:nvPr>
            <p:ph type="title" idx="4294967295"/>
          </p:nvPr>
        </p:nvSpPr>
        <p:spPr>
          <a:xfrm>
            <a:off x="7911612" y="1851102"/>
            <a:ext cx="4031761"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cap="none" dirty="0" err="1">
                <a:latin typeface="Forte Forward" pitchFamily="2" charset="0"/>
                <a:ea typeface="+mn-ea"/>
                <a:cs typeface="Forte Forward" pitchFamily="2" charset="0"/>
              </a:rPr>
              <a:t>Moyiwa</a:t>
            </a:r>
            <a:r>
              <a:rPr lang="en-US" cap="none" dirty="0">
                <a:latin typeface="Forte Forward" pitchFamily="2" charset="0"/>
                <a:ea typeface="+mn-ea"/>
                <a:cs typeface="Forte Forward" pitchFamily="2" charset="0"/>
              </a:rPr>
              <a:t> Adewumi</a:t>
            </a:r>
            <a:endParaRPr kumimoji="0" lang="en-US" sz="3600" b="0" i="0" u="none" strike="noStrike" kern="1200" cap="none" spc="0" normalizeH="0" baseline="0" noProof="0" dirty="0">
              <a:ln>
                <a:noFill/>
              </a:ln>
              <a:solidFill>
                <a:schemeClr val="tx1"/>
              </a:solidFill>
              <a:effectLst/>
              <a:uLnTx/>
              <a:uFillTx/>
              <a:latin typeface="Forte Forward" pitchFamily="2" charset="0"/>
              <a:ea typeface="+mn-ea"/>
              <a:cs typeface="Forte Forward" pitchFamily="2" charset="0"/>
            </a:endParaRPr>
          </a:p>
        </p:txBody>
      </p:sp>
    </p:spTree>
    <p:extLst>
      <p:ext uri="{BB962C8B-B14F-4D97-AF65-F5344CB8AC3E}">
        <p14:creationId xmlns:p14="http://schemas.microsoft.com/office/powerpoint/2010/main" val="2113857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21B57E8-902A-4C03-97BD-A7A6B2AC0520}"/>
              </a:ext>
            </a:extLst>
          </p:cNvPr>
          <p:cNvSpPr>
            <a:spLocks noGrp="1" noChangeArrowheads="1"/>
          </p:cNvSpPr>
          <p:nvPr>
            <p:ph type="title"/>
          </p:nvPr>
        </p:nvSpPr>
        <p:spPr>
          <a:xfrm>
            <a:off x="1979613" y="476170"/>
            <a:ext cx="8483600" cy="762000"/>
          </a:xfrm>
        </p:spPr>
        <p:txBody>
          <a:bodyPr>
            <a:normAutofit/>
          </a:bodyPr>
          <a:lstStyle/>
          <a:p>
            <a:pPr>
              <a:defRPr/>
            </a:pPr>
            <a:r>
              <a:rPr lang="en-US" altLang="en-US" sz="2400" dirty="0"/>
              <a:t>Impact of the Space Environment on Spacecraft Systems</a:t>
            </a:r>
          </a:p>
        </p:txBody>
      </p:sp>
      <p:graphicFrame>
        <p:nvGraphicFramePr>
          <p:cNvPr id="8198" name="Group 6">
            <a:extLst>
              <a:ext uri="{FF2B5EF4-FFF2-40B4-BE49-F238E27FC236}">
                <a16:creationId xmlns:a16="http://schemas.microsoft.com/office/drawing/2014/main" id="{49530EF0-FDCA-491E-8C4B-13CF6B56CDE0}"/>
              </a:ext>
            </a:extLst>
          </p:cNvPr>
          <p:cNvGraphicFramePr>
            <a:graphicFrameLocks noGrp="1"/>
          </p:cNvGraphicFramePr>
          <p:nvPr>
            <p:extLst>
              <p:ext uri="{D42A27DB-BD31-4B8C-83A1-F6EECF244321}">
                <p14:modId xmlns:p14="http://schemas.microsoft.com/office/powerpoint/2010/main" val="2497753009"/>
              </p:ext>
            </p:extLst>
          </p:nvPr>
        </p:nvGraphicFramePr>
        <p:xfrm>
          <a:off x="2565400" y="1308100"/>
          <a:ext cx="8051800" cy="368300"/>
        </p:xfrm>
        <a:graphic>
          <a:graphicData uri="http://schemas.openxmlformats.org/drawingml/2006/table">
            <a:tbl>
              <a:tblPr firstRow="1"/>
              <a:tblGrid>
                <a:gridCol w="8051800">
                  <a:extLst>
                    <a:ext uri="{9D8B030D-6E8A-4147-A177-3AD203B41FA5}">
                      <a16:colId xmlns:a16="http://schemas.microsoft.com/office/drawing/2014/main" val="20000"/>
                    </a:ext>
                  </a:extLst>
                </a:gridCol>
              </a:tblGrid>
              <a:tr h="3683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charset="0"/>
                        </a:rPr>
                        <a:t>Space Environments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204" name="Group 12">
            <a:extLst>
              <a:ext uri="{FF2B5EF4-FFF2-40B4-BE49-F238E27FC236}">
                <a16:creationId xmlns:a16="http://schemas.microsoft.com/office/drawing/2014/main" id="{54669313-A1E6-4B94-B2BD-2C0670E5E4BE}"/>
              </a:ext>
            </a:extLst>
          </p:cNvPr>
          <p:cNvGraphicFramePr>
            <a:graphicFrameLocks noGrp="1"/>
          </p:cNvGraphicFramePr>
          <p:nvPr>
            <p:extLst>
              <p:ext uri="{D42A27DB-BD31-4B8C-83A1-F6EECF244321}">
                <p14:modId xmlns:p14="http://schemas.microsoft.com/office/powerpoint/2010/main" val="3629268163"/>
              </p:ext>
            </p:extLst>
          </p:nvPr>
        </p:nvGraphicFramePr>
        <p:xfrm>
          <a:off x="2565400" y="1676400"/>
          <a:ext cx="8051800" cy="304800"/>
        </p:xfrm>
        <a:graphic>
          <a:graphicData uri="http://schemas.openxmlformats.org/drawingml/2006/table">
            <a:tbl>
              <a:tblPr firstRow="1"/>
              <a:tblGrid>
                <a:gridCol w="1435100">
                  <a:extLst>
                    <a:ext uri="{9D8B030D-6E8A-4147-A177-3AD203B41FA5}">
                      <a16:colId xmlns:a16="http://schemas.microsoft.com/office/drawing/2014/main" val="20000"/>
                    </a:ext>
                  </a:extLst>
                </a:gridCol>
                <a:gridCol w="2273300">
                  <a:extLst>
                    <a:ext uri="{9D8B030D-6E8A-4147-A177-3AD203B41FA5}">
                      <a16:colId xmlns:a16="http://schemas.microsoft.com/office/drawing/2014/main" val="20001"/>
                    </a:ext>
                  </a:extLst>
                </a:gridCol>
                <a:gridCol w="1841500">
                  <a:extLst>
                    <a:ext uri="{9D8B030D-6E8A-4147-A177-3AD203B41FA5}">
                      <a16:colId xmlns:a16="http://schemas.microsoft.com/office/drawing/2014/main" val="20002"/>
                    </a:ext>
                  </a:extLst>
                </a:gridCol>
                <a:gridCol w="1638300">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tblGrid>
              <a:tr h="304800">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Vacuum</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Neutral</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Plasma</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Radiation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charset="0"/>
                        </a:rPr>
                        <a:t>MM/OD</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406" name="Group 214">
            <a:extLst>
              <a:ext uri="{FF2B5EF4-FFF2-40B4-BE49-F238E27FC236}">
                <a16:creationId xmlns:a16="http://schemas.microsoft.com/office/drawing/2014/main" id="{164A7846-F587-4F91-91F6-31E02662EFB3}"/>
              </a:ext>
            </a:extLst>
          </p:cNvPr>
          <p:cNvGraphicFramePr>
            <a:graphicFrameLocks noGrp="1"/>
          </p:cNvGraphicFramePr>
          <p:nvPr>
            <p:extLst>
              <p:ext uri="{D42A27DB-BD31-4B8C-83A1-F6EECF244321}">
                <p14:modId xmlns:p14="http://schemas.microsoft.com/office/powerpoint/2010/main" val="1849810927"/>
              </p:ext>
            </p:extLst>
          </p:nvPr>
        </p:nvGraphicFramePr>
        <p:xfrm>
          <a:off x="1574800" y="1981200"/>
          <a:ext cx="9042400" cy="4019630"/>
        </p:xfrm>
        <a:graphic>
          <a:graphicData uri="http://schemas.openxmlformats.org/drawingml/2006/table">
            <a:tbl>
              <a:tblPr firstRow="1"/>
              <a:tblGrid>
                <a:gridCol w="990600">
                  <a:extLst>
                    <a:ext uri="{9D8B030D-6E8A-4147-A177-3AD203B41FA5}">
                      <a16:colId xmlns:a16="http://schemas.microsoft.com/office/drawing/2014/main" val="20000"/>
                    </a:ext>
                  </a:extLst>
                </a:gridCol>
                <a:gridCol w="4826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876300">
                  <a:extLst>
                    <a:ext uri="{9D8B030D-6E8A-4147-A177-3AD203B41FA5}">
                      <a16:colId xmlns:a16="http://schemas.microsoft.com/office/drawing/2014/main" val="20006"/>
                    </a:ext>
                  </a:extLst>
                </a:gridCol>
                <a:gridCol w="965200">
                  <a:extLst>
                    <a:ext uri="{9D8B030D-6E8A-4147-A177-3AD203B41FA5}">
                      <a16:colId xmlns:a16="http://schemas.microsoft.com/office/drawing/2014/main" val="20007"/>
                    </a:ext>
                  </a:extLst>
                </a:gridCol>
                <a:gridCol w="495300">
                  <a:extLst>
                    <a:ext uri="{9D8B030D-6E8A-4147-A177-3AD203B41FA5}">
                      <a16:colId xmlns:a16="http://schemas.microsoft.com/office/drawing/2014/main" val="20008"/>
                    </a:ext>
                  </a:extLst>
                </a:gridCol>
                <a:gridCol w="584200">
                  <a:extLst>
                    <a:ext uri="{9D8B030D-6E8A-4147-A177-3AD203B41FA5}">
                      <a16:colId xmlns:a16="http://schemas.microsoft.com/office/drawing/2014/main" val="20009"/>
                    </a:ext>
                  </a:extLst>
                </a:gridCol>
                <a:gridCol w="558800">
                  <a:extLst>
                    <a:ext uri="{9D8B030D-6E8A-4147-A177-3AD203B41FA5}">
                      <a16:colId xmlns:a16="http://schemas.microsoft.com/office/drawing/2014/main" val="20010"/>
                    </a:ext>
                  </a:extLst>
                </a:gridCol>
                <a:gridCol w="863600">
                  <a:extLst>
                    <a:ext uri="{9D8B030D-6E8A-4147-A177-3AD203B41FA5}">
                      <a16:colId xmlns:a16="http://schemas.microsoft.com/office/drawing/2014/main" val="20011"/>
                    </a:ext>
                  </a:extLst>
                </a:gridCol>
              </a:tblGrid>
              <a:tr h="5333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50000"/>
                        </a:lnSpc>
                        <a:spcBef>
                          <a:spcPct val="0"/>
                        </a:spcBef>
                        <a:spcAft>
                          <a:spcPct val="0"/>
                        </a:spcAft>
                        <a:buClrTx/>
                        <a:buSzTx/>
                        <a:buFontTx/>
                        <a:buNone/>
                        <a:tabLst/>
                      </a:pPr>
                      <a:endParaRPr kumimoji="0" lang="en-US" altLang="en-US" sz="1100" b="1"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Arial" charset="0"/>
                        </a:rPr>
                        <a:t>Spacecraft Subsystems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Solar UV</a:t>
                      </a: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Outgassing/</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Contamination</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Aerodynamic Drag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7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Sputtering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Atomic Oxygen</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Spacecraft Glow</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Spacecraft Charging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Van Allen Belts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Galactic Cosmic Rays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Solar Proton Events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7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3337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Attitude Determination &amp; Control</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Degradation of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Induced torques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Interference with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Torques due to induced potentials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extLst>
                  <a:ext uri="{0D108BD9-81ED-4DB2-BD59-A6C34878D82A}">
                    <a16:rowId xmlns:a16="http://schemas.microsoft.com/office/drawing/2014/main" val="10001"/>
                  </a:ext>
                </a:extLst>
              </a:tr>
              <a:tr h="380982">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3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Avionics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Upsets due to EMI from arcing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4614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Electrical Power</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Shift in floating potential, reattraction of contaminants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Destruction/</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obscuration </a:t>
                      </a:r>
                      <a:br>
                        <a:rPr kumimoji="0" lang="en-US" altLang="en-US" sz="1000" b="0" i="0" u="none" strike="noStrike" cap="none" normalizeH="0" baseline="0">
                          <a:ln>
                            <a:noFill/>
                          </a:ln>
                          <a:solidFill>
                            <a:schemeClr val="tx1"/>
                          </a:solidFill>
                          <a:effectLst/>
                          <a:latin typeface="Arial" charset="0"/>
                        </a:rPr>
                      </a:br>
                      <a:r>
                        <a:rPr kumimoji="0" lang="en-US" altLang="en-US" sz="1000" b="0" i="0" u="none" strike="noStrike" cap="none" normalizeH="0" baseline="0">
                          <a:ln>
                            <a:noFill/>
                          </a:ln>
                          <a:solidFill>
                            <a:schemeClr val="tx1"/>
                          </a:solidFill>
                          <a:effectLst/>
                          <a:latin typeface="Arial" charset="0"/>
                        </a:rPr>
                        <a:t>of solar cells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4614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4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Propulsion</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Thruster plumes may be a contaminant source</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Drag makeup fuel requirement</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Shift in floating potential due to thruster firings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Rupture of pressurized tanks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38114">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Structures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Penetration</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93753">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Telemetry, Tracking &amp; Communications</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Degradation of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Interference with sensors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arcing</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EMI due to impacts</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547662">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75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Thermal Control</a:t>
                      </a:r>
                    </a:p>
                  </a:txBody>
                  <a:tcPr marL="18288" marR="18288" marT="18287" marB="18287"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28575"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2"/>
                    </a:solid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2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000" b="0" i="0" u="none" strike="noStrike" cap="none" normalizeH="0" baseline="0">
                          <a:ln>
                            <a:noFill/>
                          </a:ln>
                          <a:solidFill>
                            <a:schemeClr val="tx1"/>
                          </a:solidFill>
                          <a:effectLst/>
                          <a:latin typeface="Arial" charset="0"/>
                        </a:rPr>
                        <a:t>Reattraction of comtaminants</a:t>
                      </a:r>
                    </a:p>
                  </a:txBody>
                  <a:tcPr marL="18288" marR="18288" marT="18287" marB="18287"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w="12700" cap="flat" cmpd="sng" algn="ctr">
                      <a:solidFill>
                        <a:schemeClr val="tx1"/>
                      </a:solidFill>
                      <a:prstDash val="solid"/>
                      <a:round/>
                      <a:headEnd type="none" w="sm" len="sm"/>
                      <a:tailEnd type="none" w="sm" len="sm"/>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altLang="en-US" sz="1000" b="0" i="0" u="none" strike="noStrike" cap="none" normalizeH="0" baseline="0">
                        <a:ln>
                          <a:noFill/>
                        </a:ln>
                        <a:solidFill>
                          <a:schemeClr val="tx1"/>
                        </a:solidFill>
                        <a:effectLst/>
                        <a:latin typeface="Arial" charset="0"/>
                      </a:endParaRPr>
                    </a:p>
                  </a:txBody>
                  <a:tcPr marL="18288" marR="18288" marT="18287" marB="18287" horzOverflow="overflow">
                    <a:lnL>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charset="0"/>
                        </a:rPr>
                        <a:t>Degradation of alpha/epsilon</a:t>
                      </a:r>
                    </a:p>
                  </a:txBody>
                  <a:tcPr marL="18288" marR="18288" marT="18287" marB="18287"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8340" name="Group 202" descr="Alt text: Table summarizing the impact of the space environment on spacecraft systems. Environmental effects are organized into five categories: vacuum (solar ultraviolet radiation and outgassing/contamination), neutral environment (aerodynamic drag, sputtering, and atomic oxygen), plasma (spacecraft glow and spacecraft charging), radiation (Van Allen belts, galactic cosmic rays, and solar proton events), and micrometeoroids/orbital debris. Rows represent major spacecraft subsystems, including attitude determination and control, avionics, electrical power, propulsion, structures, communications, and thermal control. Each cell identifies representative impacts, such as sensor degradation, induced torques, charging, single-event upsets, solar cell degradation, thermal property changes, or structural penetration.">
            <a:extLst>
              <a:ext uri="{FF2B5EF4-FFF2-40B4-BE49-F238E27FC236}">
                <a16:creationId xmlns:a16="http://schemas.microsoft.com/office/drawing/2014/main" id="{F9A4584C-06A3-429E-96E4-87241A38447E}"/>
              </a:ext>
            </a:extLst>
          </p:cNvPr>
          <p:cNvGrpSpPr>
            <a:grpSpLocks/>
          </p:cNvGrpSpPr>
          <p:nvPr/>
        </p:nvGrpSpPr>
        <p:grpSpPr bwMode="auto">
          <a:xfrm>
            <a:off x="2530475" y="2586039"/>
            <a:ext cx="7164388" cy="3317875"/>
            <a:chOff x="634" y="1629"/>
            <a:chExt cx="4513" cy="2090"/>
          </a:xfrm>
        </p:grpSpPr>
        <p:sp>
          <p:nvSpPr>
            <p:cNvPr id="8395" name="Text Box 203">
              <a:extLst>
                <a:ext uri="{FF2B5EF4-FFF2-40B4-BE49-F238E27FC236}">
                  <a16:creationId xmlns:a16="http://schemas.microsoft.com/office/drawing/2014/main" id="{08BAFD15-534E-498B-A3A7-34420FBD6194}"/>
                </a:ext>
              </a:extLst>
            </p:cNvPr>
            <p:cNvSpPr txBox="1">
              <a:spLocks noChangeArrowheads="1"/>
            </p:cNvSpPr>
            <p:nvPr/>
          </p:nvSpPr>
          <p:spPr bwMode="auto">
            <a:xfrm>
              <a:off x="2230" y="1629"/>
              <a:ext cx="7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sensor coatings</a:t>
              </a:r>
            </a:p>
          </p:txBody>
        </p:sp>
        <p:sp>
          <p:nvSpPr>
            <p:cNvPr id="8396" name="Text Box 204">
              <a:extLst>
                <a:ext uri="{FF2B5EF4-FFF2-40B4-BE49-F238E27FC236}">
                  <a16:creationId xmlns:a16="http://schemas.microsoft.com/office/drawing/2014/main" id="{26E4E614-DE64-4225-8213-079A61C44CC0}"/>
                </a:ext>
              </a:extLst>
            </p:cNvPr>
            <p:cNvSpPr txBox="1">
              <a:spLocks noChangeArrowheads="1"/>
            </p:cNvSpPr>
            <p:nvPr/>
          </p:nvSpPr>
          <p:spPr bwMode="auto">
            <a:xfrm>
              <a:off x="634" y="2245"/>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coverslide transmittance</a:t>
              </a:r>
            </a:p>
          </p:txBody>
        </p:sp>
        <p:sp>
          <p:nvSpPr>
            <p:cNvPr id="8397" name="Text Box 205">
              <a:extLst>
                <a:ext uri="{FF2B5EF4-FFF2-40B4-BE49-F238E27FC236}">
                  <a16:creationId xmlns:a16="http://schemas.microsoft.com/office/drawing/2014/main" id="{639DEF82-250A-4310-919C-CA5E64794917}"/>
                </a:ext>
              </a:extLst>
            </p:cNvPr>
            <p:cNvSpPr txBox="1">
              <a:spLocks noChangeArrowheads="1"/>
            </p:cNvSpPr>
            <p:nvPr/>
          </p:nvSpPr>
          <p:spPr bwMode="auto">
            <a:xfrm>
              <a:off x="2094" y="223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coverslide transmittance</a:t>
              </a:r>
            </a:p>
          </p:txBody>
        </p:sp>
        <p:sp>
          <p:nvSpPr>
            <p:cNvPr id="8398" name="Text Box 206">
              <a:extLst>
                <a:ext uri="{FF2B5EF4-FFF2-40B4-BE49-F238E27FC236}">
                  <a16:creationId xmlns:a16="http://schemas.microsoft.com/office/drawing/2014/main" id="{F4741016-A9C6-4531-AC30-4DA5B1AD37B9}"/>
                </a:ext>
              </a:extLst>
            </p:cNvPr>
            <p:cNvSpPr txBox="1">
              <a:spLocks noChangeArrowheads="1"/>
            </p:cNvSpPr>
            <p:nvPr/>
          </p:nvSpPr>
          <p:spPr bwMode="auto">
            <a:xfrm>
              <a:off x="4202" y="223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of solar cell output</a:t>
              </a:r>
            </a:p>
          </p:txBody>
        </p:sp>
        <p:sp>
          <p:nvSpPr>
            <p:cNvPr id="8399" name="Text Box 207">
              <a:extLst>
                <a:ext uri="{FF2B5EF4-FFF2-40B4-BE49-F238E27FC236}">
                  <a16:creationId xmlns:a16="http://schemas.microsoft.com/office/drawing/2014/main" id="{3010EF75-8B73-40E3-91C0-51B2EA12BB25}"/>
                </a:ext>
              </a:extLst>
            </p:cNvPr>
            <p:cNvSpPr txBox="1">
              <a:spLocks noChangeArrowheads="1"/>
            </p:cNvSpPr>
            <p:nvPr/>
          </p:nvSpPr>
          <p:spPr bwMode="auto">
            <a:xfrm>
              <a:off x="4202" y="1917"/>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SEUs, bit errors, …</a:t>
              </a:r>
            </a:p>
          </p:txBody>
        </p:sp>
        <p:sp>
          <p:nvSpPr>
            <p:cNvPr id="8400" name="Text Box 208">
              <a:extLst>
                <a:ext uri="{FF2B5EF4-FFF2-40B4-BE49-F238E27FC236}">
                  <a16:creationId xmlns:a16="http://schemas.microsoft.com/office/drawing/2014/main" id="{FE2EF1F1-652C-42E5-8765-E205D5A83D8C}"/>
                </a:ext>
              </a:extLst>
            </p:cNvPr>
            <p:cNvSpPr txBox="1">
              <a:spLocks noChangeArrowheads="1"/>
            </p:cNvSpPr>
            <p:nvPr/>
          </p:nvSpPr>
          <p:spPr bwMode="auto">
            <a:xfrm>
              <a:off x="2202" y="3173"/>
              <a:ext cx="7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sensor coatings</a:t>
              </a:r>
            </a:p>
          </p:txBody>
        </p:sp>
        <p:sp>
          <p:nvSpPr>
            <p:cNvPr id="8401" name="Text Box 209">
              <a:extLst>
                <a:ext uri="{FF2B5EF4-FFF2-40B4-BE49-F238E27FC236}">
                  <a16:creationId xmlns:a16="http://schemas.microsoft.com/office/drawing/2014/main" id="{6F941F3D-4E36-4E05-823A-F68E25BCDD05}"/>
                </a:ext>
              </a:extLst>
            </p:cNvPr>
            <p:cNvSpPr txBox="1">
              <a:spLocks noChangeArrowheads="1"/>
            </p:cNvSpPr>
            <p:nvPr/>
          </p:nvSpPr>
          <p:spPr bwMode="auto">
            <a:xfrm>
              <a:off x="4202" y="3173"/>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Degradation of electronics</a:t>
              </a:r>
            </a:p>
          </p:txBody>
        </p:sp>
        <p:sp>
          <p:nvSpPr>
            <p:cNvPr id="8402" name="Text Box 210">
              <a:extLst>
                <a:ext uri="{FF2B5EF4-FFF2-40B4-BE49-F238E27FC236}">
                  <a16:creationId xmlns:a16="http://schemas.microsoft.com/office/drawing/2014/main" id="{B10C158C-D535-465F-921A-A51B7254CE0F}"/>
                </a:ext>
              </a:extLst>
            </p:cNvPr>
            <p:cNvSpPr txBox="1">
              <a:spLocks noChangeArrowheads="1"/>
            </p:cNvSpPr>
            <p:nvPr/>
          </p:nvSpPr>
          <p:spPr bwMode="auto">
            <a:xfrm>
              <a:off x="634"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surface alpha/epsilon ratio</a:t>
              </a:r>
            </a:p>
          </p:txBody>
        </p:sp>
        <p:sp>
          <p:nvSpPr>
            <p:cNvPr id="8403" name="Text Box 211">
              <a:extLst>
                <a:ext uri="{FF2B5EF4-FFF2-40B4-BE49-F238E27FC236}">
                  <a16:creationId xmlns:a16="http://schemas.microsoft.com/office/drawing/2014/main" id="{E22870DD-8BE7-49E8-9327-26236FD2C33F}"/>
                </a:ext>
              </a:extLst>
            </p:cNvPr>
            <p:cNvSpPr txBox="1">
              <a:spLocks noChangeArrowheads="1"/>
            </p:cNvSpPr>
            <p:nvPr/>
          </p:nvSpPr>
          <p:spPr bwMode="auto">
            <a:xfrm>
              <a:off x="2094"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Change in surface alpha/epsilon ratio</a:t>
              </a:r>
            </a:p>
          </p:txBody>
        </p:sp>
        <p:sp>
          <p:nvSpPr>
            <p:cNvPr id="8404" name="Text Box 212">
              <a:extLst>
                <a:ext uri="{FF2B5EF4-FFF2-40B4-BE49-F238E27FC236}">
                  <a16:creationId xmlns:a16="http://schemas.microsoft.com/office/drawing/2014/main" id="{49FC661D-D6B6-4F8A-A0A5-3E6DB1639B30}"/>
                </a:ext>
              </a:extLst>
            </p:cNvPr>
            <p:cNvSpPr txBox="1">
              <a:spLocks noChangeArrowheads="1"/>
            </p:cNvSpPr>
            <p:nvPr/>
          </p:nvSpPr>
          <p:spPr bwMode="auto">
            <a:xfrm>
              <a:off x="4202" y="3469"/>
              <a:ext cx="9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defRPr/>
              </a:pPr>
              <a:r>
                <a:rPr lang="en-US" altLang="en-US" sz="1000">
                  <a:latin typeface="Arial" charset="0"/>
                </a:rPr>
                <a:t>Cold surfaces may experience heating</a:t>
              </a:r>
            </a:p>
          </p:txBody>
        </p:sp>
      </p:grpSp>
      <p:sp>
        <p:nvSpPr>
          <p:cNvPr id="8405" name="Rectangle 213">
            <a:extLst>
              <a:ext uri="{FF2B5EF4-FFF2-40B4-BE49-F238E27FC236}">
                <a16:creationId xmlns:a16="http://schemas.microsoft.com/office/drawing/2014/main" id="{311AA753-1161-43D0-9AF8-A52DC424F8E9}"/>
              </a:ext>
            </a:extLst>
          </p:cNvPr>
          <p:cNvSpPr>
            <a:spLocks noChangeArrowheads="1"/>
          </p:cNvSpPr>
          <p:nvPr/>
        </p:nvSpPr>
        <p:spPr bwMode="auto">
          <a:xfrm>
            <a:off x="9742488" y="6253164"/>
            <a:ext cx="925512"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spcBef>
                <a:spcPct val="50000"/>
              </a:spcBef>
              <a:defRPr/>
            </a:pPr>
            <a:r>
              <a:rPr lang="en-US" altLang="en-US" sz="1000">
                <a:latin typeface="Arial" charset="0"/>
              </a:rPr>
              <a:t>TSE, Fig 7.1</a:t>
            </a:r>
          </a:p>
        </p:txBody>
      </p:sp>
      <p:sp>
        <p:nvSpPr>
          <p:cNvPr id="2" name="Slide Number Placeholder 1">
            <a:extLst>
              <a:ext uri="{FF2B5EF4-FFF2-40B4-BE49-F238E27FC236}">
                <a16:creationId xmlns:a16="http://schemas.microsoft.com/office/drawing/2014/main" id="{706F7035-5831-46D1-8F51-4D6752CAED29}"/>
              </a:ext>
            </a:extLst>
          </p:cNvPr>
          <p:cNvSpPr>
            <a:spLocks noGrp="1"/>
          </p:cNvSpPr>
          <p:nvPr>
            <p:ph type="sldNum" sz="quarter" idx="12"/>
          </p:nvPr>
        </p:nvSpPr>
        <p:spPr/>
        <p:txBody>
          <a:bodyPr/>
          <a:lstStyle/>
          <a:p>
            <a:fld id="{C83C362F-97FB-4C1E-B0F0-C3069DD0CDD1}" type="slidenum">
              <a:rPr lang="en-US" smtClean="0"/>
              <a:t>6</a:t>
            </a:fld>
            <a:endParaRPr lang="en-US"/>
          </a:p>
        </p:txBody>
      </p:sp>
    </p:spTree>
    <p:extLst>
      <p:ext uri="{BB962C8B-B14F-4D97-AF65-F5344CB8AC3E}">
        <p14:creationId xmlns:p14="http://schemas.microsoft.com/office/powerpoint/2010/main" val="183852300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4D4DD4CF-9732-4771-98FE-77886DC91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See the source image">
            <a:extLst>
              <a:ext uri="{FF2B5EF4-FFF2-40B4-BE49-F238E27FC236}">
                <a16:creationId xmlns:a16="http://schemas.microsoft.com/office/drawing/2014/main" id="{CAE42824-1D46-4405-B7CC-356A1DE4AC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182" r="7567" b="-1"/>
          <a:stretch/>
        </p:blipFill>
        <p:spPr bwMode="auto">
          <a:xfrm>
            <a:off x="1" y="10"/>
            <a:ext cx="7479157" cy="6857990"/>
          </a:xfrm>
          <a:prstGeom prst="rect">
            <a:avLst/>
          </a:prstGeom>
          <a:noFill/>
          <a:extLst>
            <a:ext uri="{909E8E84-426E-40DD-AFC4-6F175D3DCCD1}">
              <a14:hiddenFill xmlns:a14="http://schemas.microsoft.com/office/drawing/2010/main">
                <a:solidFill>
                  <a:srgbClr val="FFFFFF"/>
                </a:solidFill>
              </a14:hiddenFill>
            </a:ext>
          </a:extLst>
        </p:spPr>
      </p:pic>
      <p:sp>
        <p:nvSpPr>
          <p:cNvPr id="80" name="Rectangle 79">
            <a:extLst>
              <a:ext uri="{FF2B5EF4-FFF2-40B4-BE49-F238E27FC236}">
                <a16:creationId xmlns:a16="http://schemas.microsoft.com/office/drawing/2014/main" id="{A2861A9C-C970-4FFE-B67C-222B6F57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791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Picture 81">
            <a:extLst>
              <a:ext uri="{FF2B5EF4-FFF2-40B4-BE49-F238E27FC236}">
                <a16:creationId xmlns:a16="http://schemas.microsoft.com/office/drawing/2014/main" id="{D2FDF82E-EBD8-4EC5-AD10-CD9E70EE8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8852" name="Rectangle 4">
            <a:extLst>
              <a:ext uri="{FF2B5EF4-FFF2-40B4-BE49-F238E27FC236}">
                <a16:creationId xmlns:a16="http://schemas.microsoft.com/office/drawing/2014/main" id="{9B5BCB49-8CC0-42DD-97C6-7A3E126CD8B4}"/>
              </a:ext>
            </a:extLst>
          </p:cNvPr>
          <p:cNvSpPr>
            <a:spLocks noGrp="1" noChangeArrowheads="1"/>
          </p:cNvSpPr>
          <p:nvPr>
            <p:ph type="title"/>
          </p:nvPr>
        </p:nvSpPr>
        <p:spPr>
          <a:xfrm>
            <a:off x="8196408" y="640831"/>
            <a:ext cx="3352128" cy="1573863"/>
          </a:xfrm>
        </p:spPr>
        <p:txBody>
          <a:bodyPr>
            <a:normAutofit/>
          </a:bodyPr>
          <a:lstStyle/>
          <a:p>
            <a:pPr algn="l">
              <a:defRPr/>
            </a:pPr>
            <a:r>
              <a:rPr lang="en-US" altLang="en-US" dirty="0"/>
              <a:t>Radiation Environment and Its Effects</a:t>
            </a:r>
            <a:endParaRPr lang="en-US" altLang="en-US"/>
          </a:p>
        </p:txBody>
      </p:sp>
      <p:sp>
        <p:nvSpPr>
          <p:cNvPr id="78853" name="Rectangle 5">
            <a:extLst>
              <a:ext uri="{FF2B5EF4-FFF2-40B4-BE49-F238E27FC236}">
                <a16:creationId xmlns:a16="http://schemas.microsoft.com/office/drawing/2014/main" id="{D67D4191-E1E4-4E09-8977-474A1424D9A8}"/>
              </a:ext>
            </a:extLst>
          </p:cNvPr>
          <p:cNvSpPr>
            <a:spLocks noGrp="1" noChangeArrowheads="1"/>
          </p:cNvSpPr>
          <p:nvPr>
            <p:ph sz="quarter" idx="13"/>
          </p:nvPr>
        </p:nvSpPr>
        <p:spPr>
          <a:xfrm>
            <a:off x="8196408" y="2367092"/>
            <a:ext cx="3352128" cy="3881309"/>
          </a:xfrm>
        </p:spPr>
        <p:txBody>
          <a:bodyPr>
            <a:normAutofit/>
          </a:bodyPr>
          <a:lstStyle/>
          <a:p>
            <a:pPr>
              <a:defRPr/>
            </a:pPr>
            <a:r>
              <a:rPr lang="en-US" altLang="en-US" sz="1800"/>
              <a:t>Radiation is any object that deposits energy in a material</a:t>
            </a:r>
          </a:p>
          <a:p>
            <a:pPr lvl="1">
              <a:spcBef>
                <a:spcPct val="15000"/>
              </a:spcBef>
              <a:defRPr/>
            </a:pPr>
            <a:r>
              <a:rPr lang="en-US" altLang="en-US" dirty="0"/>
              <a:t>Charged particles (electrons, protons)</a:t>
            </a:r>
          </a:p>
          <a:p>
            <a:pPr lvl="1">
              <a:spcBef>
                <a:spcPct val="15000"/>
              </a:spcBef>
              <a:defRPr/>
            </a:pPr>
            <a:r>
              <a:rPr lang="en-US" altLang="en-US" dirty="0"/>
              <a:t>Uncharged particles (neutrons)</a:t>
            </a:r>
          </a:p>
          <a:p>
            <a:pPr lvl="1">
              <a:spcBef>
                <a:spcPct val="15000"/>
              </a:spcBef>
              <a:defRPr/>
            </a:pPr>
            <a:r>
              <a:rPr lang="en-US" altLang="en-US" dirty="0"/>
              <a:t>Photons (gamma rays, x-rays)</a:t>
            </a:r>
          </a:p>
          <a:p>
            <a:pPr marL="457200" lvl="1" indent="0">
              <a:spcBef>
                <a:spcPct val="15000"/>
              </a:spcBef>
              <a:buNone/>
              <a:defRPr/>
            </a:pPr>
            <a:endParaRPr lang="en-US" altLang="en-US" dirty="0"/>
          </a:p>
        </p:txBody>
      </p:sp>
      <p:sp>
        <p:nvSpPr>
          <p:cNvPr id="2" name="Slide Number Placeholder 1">
            <a:extLst>
              <a:ext uri="{FF2B5EF4-FFF2-40B4-BE49-F238E27FC236}">
                <a16:creationId xmlns:a16="http://schemas.microsoft.com/office/drawing/2014/main" id="{D38B54A8-B6E4-49AD-8038-64313FE1DC73}"/>
              </a:ext>
            </a:extLst>
          </p:cNvPr>
          <p:cNvSpPr>
            <a:spLocks noGrp="1"/>
          </p:cNvSpPr>
          <p:nvPr>
            <p:ph type="sldNum" sz="quarter" idx="12"/>
          </p:nvPr>
        </p:nvSpPr>
        <p:spPr>
          <a:xfrm>
            <a:off x="10514011" y="6265130"/>
            <a:ext cx="764215" cy="365125"/>
          </a:xfrm>
        </p:spPr>
        <p:txBody>
          <a:bodyPr>
            <a:normAutofit/>
          </a:bodyPr>
          <a:lstStyle/>
          <a:p>
            <a:pPr>
              <a:spcAft>
                <a:spcPts val="600"/>
              </a:spcAft>
            </a:pPr>
            <a:fld id="{C83C362F-97FB-4C1E-B0F0-C3069DD0CDD1}" type="slidenum">
              <a:rPr lang="en-US" smtClean="0"/>
              <a:pPr>
                <a:spcAft>
                  <a:spcPts val="600"/>
                </a:spcAft>
              </a:pPr>
              <a:t>7</a:t>
            </a:fld>
            <a:endParaRPr lang="en-US"/>
          </a:p>
        </p:txBody>
      </p:sp>
    </p:spTree>
    <p:extLst>
      <p:ext uri="{BB962C8B-B14F-4D97-AF65-F5344CB8AC3E}">
        <p14:creationId xmlns:p14="http://schemas.microsoft.com/office/powerpoint/2010/main" val="3430854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3D0D-F917-6785-D9DD-A686C9846FBE}"/>
              </a:ext>
            </a:extLst>
          </p:cNvPr>
          <p:cNvSpPr>
            <a:spLocks noGrp="1"/>
          </p:cNvSpPr>
          <p:nvPr>
            <p:ph type="title"/>
          </p:nvPr>
        </p:nvSpPr>
        <p:spPr/>
        <p:txBody>
          <a:bodyPr/>
          <a:lstStyle/>
          <a:p>
            <a:r>
              <a:rPr lang="en-US" dirty="0"/>
              <a:t>TYPES</a:t>
            </a:r>
          </a:p>
        </p:txBody>
      </p:sp>
      <p:sp>
        <p:nvSpPr>
          <p:cNvPr id="3" name="Content Placeholder 2">
            <a:extLst>
              <a:ext uri="{FF2B5EF4-FFF2-40B4-BE49-F238E27FC236}">
                <a16:creationId xmlns:a16="http://schemas.microsoft.com/office/drawing/2014/main" id="{2DF22608-E34F-A1D2-A42A-41D7FCC337C8}"/>
              </a:ext>
            </a:extLst>
          </p:cNvPr>
          <p:cNvSpPr>
            <a:spLocks noGrp="1"/>
          </p:cNvSpPr>
          <p:nvPr>
            <p:ph sz="quarter" idx="13"/>
          </p:nvPr>
        </p:nvSpPr>
        <p:spPr/>
        <p:txBody>
          <a:bodyPr/>
          <a:lstStyle/>
          <a:p>
            <a:r>
              <a:rPr lang="en-US" dirty="0"/>
              <a:t>NON-IONIZING</a:t>
            </a:r>
          </a:p>
          <a:p>
            <a:endParaRPr lang="en-US" dirty="0"/>
          </a:p>
          <a:p>
            <a:endParaRPr lang="en-US" dirty="0"/>
          </a:p>
          <a:p>
            <a:r>
              <a:rPr lang="en-US" dirty="0"/>
              <a:t>IONIZING</a:t>
            </a:r>
          </a:p>
        </p:txBody>
      </p:sp>
      <p:sp>
        <p:nvSpPr>
          <p:cNvPr id="4" name="Slide Number Placeholder 3">
            <a:extLst>
              <a:ext uri="{FF2B5EF4-FFF2-40B4-BE49-F238E27FC236}">
                <a16:creationId xmlns:a16="http://schemas.microsoft.com/office/drawing/2014/main" id="{19841425-9A38-6ED6-C74B-559BF4DF6B31}"/>
              </a:ext>
            </a:extLst>
          </p:cNvPr>
          <p:cNvSpPr>
            <a:spLocks noGrp="1"/>
          </p:cNvSpPr>
          <p:nvPr>
            <p:ph type="sldNum" sz="quarter" idx="12"/>
          </p:nvPr>
        </p:nvSpPr>
        <p:spPr/>
        <p:txBody>
          <a:bodyPr/>
          <a:lstStyle/>
          <a:p>
            <a:fld id="{C83C362F-97FB-4C1E-B0F0-C3069DD0CDD1}" type="slidenum">
              <a:rPr lang="en-US" smtClean="0"/>
              <a:t>8</a:t>
            </a:fld>
            <a:endParaRPr lang="en-US"/>
          </a:p>
        </p:txBody>
      </p:sp>
    </p:spTree>
    <p:extLst>
      <p:ext uri="{BB962C8B-B14F-4D97-AF65-F5344CB8AC3E}">
        <p14:creationId xmlns:p14="http://schemas.microsoft.com/office/powerpoint/2010/main" val="3597583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4D4DD4CF-9732-4771-98FE-77886DC91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descr="See the source image">
            <a:extLst>
              <a:ext uri="{FF2B5EF4-FFF2-40B4-BE49-F238E27FC236}">
                <a16:creationId xmlns:a16="http://schemas.microsoft.com/office/drawing/2014/main" id="{211BF35E-B5E1-4C2A-B5A8-8F610EEB700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127" r="7169" b="-1"/>
          <a:stretch/>
        </p:blipFill>
        <p:spPr bwMode="auto">
          <a:xfrm>
            <a:off x="1" y="10"/>
            <a:ext cx="7479157" cy="6857990"/>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75">
            <a:extLst>
              <a:ext uri="{FF2B5EF4-FFF2-40B4-BE49-F238E27FC236}">
                <a16:creationId xmlns:a16="http://schemas.microsoft.com/office/drawing/2014/main" id="{A2861A9C-C970-4FFE-B67C-222B6F57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791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8" name="Picture 77">
            <a:extLst>
              <a:ext uri="{FF2B5EF4-FFF2-40B4-BE49-F238E27FC236}">
                <a16:creationId xmlns:a16="http://schemas.microsoft.com/office/drawing/2014/main" id="{D2FDF82E-EBD8-4EC5-AD10-CD9E70EE8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8852" name="Rectangle 4">
            <a:extLst>
              <a:ext uri="{FF2B5EF4-FFF2-40B4-BE49-F238E27FC236}">
                <a16:creationId xmlns:a16="http://schemas.microsoft.com/office/drawing/2014/main" id="{9B5BCB49-8CC0-42DD-97C6-7A3E126CD8B4}"/>
              </a:ext>
            </a:extLst>
          </p:cNvPr>
          <p:cNvSpPr>
            <a:spLocks noGrp="1" noChangeArrowheads="1"/>
          </p:cNvSpPr>
          <p:nvPr>
            <p:ph type="title"/>
          </p:nvPr>
        </p:nvSpPr>
        <p:spPr>
          <a:xfrm>
            <a:off x="8196408" y="640831"/>
            <a:ext cx="3352128" cy="1573863"/>
          </a:xfrm>
        </p:spPr>
        <p:txBody>
          <a:bodyPr>
            <a:normAutofit/>
          </a:bodyPr>
          <a:lstStyle/>
          <a:p>
            <a:pPr>
              <a:defRPr/>
            </a:pPr>
            <a:r>
              <a:rPr lang="en-US" altLang="en-US" dirty="0"/>
              <a:t>RADIATION ENVIRONMENT</a:t>
            </a:r>
          </a:p>
        </p:txBody>
      </p:sp>
      <p:sp>
        <p:nvSpPr>
          <p:cNvPr id="78853" name="Rectangle 5">
            <a:extLst>
              <a:ext uri="{FF2B5EF4-FFF2-40B4-BE49-F238E27FC236}">
                <a16:creationId xmlns:a16="http://schemas.microsoft.com/office/drawing/2014/main" id="{D67D4191-E1E4-4E09-8977-474A1424D9A8}"/>
              </a:ext>
            </a:extLst>
          </p:cNvPr>
          <p:cNvSpPr>
            <a:spLocks noGrp="1" noChangeArrowheads="1"/>
          </p:cNvSpPr>
          <p:nvPr>
            <p:ph sz="quarter" idx="13"/>
          </p:nvPr>
        </p:nvSpPr>
        <p:spPr>
          <a:xfrm>
            <a:off x="8196408" y="2367092"/>
            <a:ext cx="3352128" cy="3881309"/>
          </a:xfrm>
        </p:spPr>
        <p:txBody>
          <a:bodyPr>
            <a:normAutofit/>
          </a:bodyPr>
          <a:lstStyle/>
          <a:p>
            <a:pPr>
              <a:lnSpc>
                <a:spcPct val="110000"/>
              </a:lnSpc>
              <a:spcBef>
                <a:spcPct val="60000"/>
              </a:spcBef>
              <a:defRPr/>
            </a:pPr>
            <a:r>
              <a:rPr lang="en-US" altLang="en-US" sz="1500" dirty="0"/>
              <a:t>MAJOR Radiation sources</a:t>
            </a:r>
          </a:p>
          <a:p>
            <a:pPr lvl="1">
              <a:lnSpc>
                <a:spcPct val="110000"/>
              </a:lnSpc>
              <a:spcBef>
                <a:spcPct val="15000"/>
              </a:spcBef>
              <a:defRPr/>
            </a:pPr>
            <a:r>
              <a:rPr lang="en-US" altLang="en-US" sz="1500" dirty="0"/>
              <a:t>Solar particle events (SPE), highest during peaks in the solar cycle</a:t>
            </a:r>
          </a:p>
          <a:p>
            <a:pPr lvl="1">
              <a:lnSpc>
                <a:spcPct val="110000"/>
              </a:lnSpc>
              <a:spcBef>
                <a:spcPct val="15000"/>
              </a:spcBef>
              <a:defRPr/>
            </a:pPr>
            <a:r>
              <a:rPr lang="en-US" altLang="en-US" sz="1500" dirty="0"/>
              <a:t>Trapped radiation in the Van Allen Belts</a:t>
            </a:r>
          </a:p>
          <a:p>
            <a:pPr lvl="1">
              <a:lnSpc>
                <a:spcPct val="110000"/>
              </a:lnSpc>
              <a:spcBef>
                <a:spcPct val="15000"/>
              </a:spcBef>
              <a:defRPr/>
            </a:pPr>
            <a:r>
              <a:rPr lang="en-US" altLang="en-US" sz="1500" dirty="0"/>
              <a:t>Galactic cosmic rays (GCR):  mostly hydrogen and helium ions</a:t>
            </a:r>
          </a:p>
          <a:p>
            <a:pPr lvl="1">
              <a:lnSpc>
                <a:spcPct val="110000"/>
              </a:lnSpc>
              <a:spcBef>
                <a:spcPct val="15000"/>
              </a:spcBef>
              <a:defRPr/>
            </a:pPr>
            <a:r>
              <a:rPr lang="en-US" altLang="en-US" sz="1500" dirty="0"/>
              <a:t>Nuclear blasts in space</a:t>
            </a:r>
          </a:p>
          <a:p>
            <a:pPr lvl="1">
              <a:lnSpc>
                <a:spcPct val="110000"/>
              </a:lnSpc>
              <a:spcBef>
                <a:spcPct val="15000"/>
              </a:spcBef>
              <a:defRPr/>
            </a:pPr>
            <a:r>
              <a:rPr lang="en-US" altLang="en-US" sz="1500" dirty="0"/>
              <a:t>Things we carry with us</a:t>
            </a:r>
          </a:p>
          <a:p>
            <a:pPr lvl="1">
              <a:lnSpc>
                <a:spcPct val="110000"/>
              </a:lnSpc>
              <a:spcBef>
                <a:spcPct val="15000"/>
              </a:spcBef>
              <a:defRPr/>
            </a:pPr>
            <a:endParaRPr lang="en-US" altLang="en-US" sz="1500" dirty="0"/>
          </a:p>
        </p:txBody>
      </p:sp>
      <p:sp>
        <p:nvSpPr>
          <p:cNvPr id="2" name="Slide Number Placeholder 1">
            <a:extLst>
              <a:ext uri="{FF2B5EF4-FFF2-40B4-BE49-F238E27FC236}">
                <a16:creationId xmlns:a16="http://schemas.microsoft.com/office/drawing/2014/main" id="{D38B54A8-B6E4-49AD-8038-64313FE1DC73}"/>
              </a:ext>
            </a:extLst>
          </p:cNvPr>
          <p:cNvSpPr>
            <a:spLocks noGrp="1"/>
          </p:cNvSpPr>
          <p:nvPr>
            <p:ph type="sldNum" sz="quarter" idx="12"/>
          </p:nvPr>
        </p:nvSpPr>
        <p:spPr>
          <a:xfrm>
            <a:off x="10514011" y="6265130"/>
            <a:ext cx="764215" cy="365125"/>
          </a:xfrm>
        </p:spPr>
        <p:txBody>
          <a:bodyPr>
            <a:normAutofit/>
          </a:bodyPr>
          <a:lstStyle/>
          <a:p>
            <a:pPr>
              <a:spcAft>
                <a:spcPts val="600"/>
              </a:spcAft>
            </a:pPr>
            <a:fld id="{C83C362F-97FB-4C1E-B0F0-C3069DD0CDD1}" type="slidenum">
              <a:rPr lang="en-US" smtClean="0"/>
              <a:pPr>
                <a:spcAft>
                  <a:spcPts val="600"/>
                </a:spcAft>
              </a:pPr>
              <a:t>9</a:t>
            </a:fld>
            <a:endParaRPr lang="en-US"/>
          </a:p>
        </p:txBody>
      </p:sp>
    </p:spTree>
    <p:extLst>
      <p:ext uri="{BB962C8B-B14F-4D97-AF65-F5344CB8AC3E}">
        <p14:creationId xmlns:p14="http://schemas.microsoft.com/office/powerpoint/2010/main" val="600070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71"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lide Number Placeholder 3">
            <a:extLst>
              <a:ext uri="{FF2B5EF4-FFF2-40B4-BE49-F238E27FC236}">
                <a16:creationId xmlns:a16="http://schemas.microsoft.com/office/drawing/2014/main" id="{21231809-92B4-4093-B51A-6EC15794BDBF}"/>
              </a:ext>
            </a:extLst>
          </p:cNvPr>
          <p:cNvSpPr>
            <a:spLocks noGrp="1"/>
          </p:cNvSpPr>
          <p:nvPr>
            <p:ph type="sldNum" sz="quarter" idx="12"/>
          </p:nvPr>
        </p:nvSpPr>
        <p:spPr>
          <a:xfrm>
            <a:off x="10514011" y="5883275"/>
            <a:ext cx="764215" cy="365125"/>
          </a:xfrm>
        </p:spPr>
        <p:txBody>
          <a:bodyPr vert="horz" lIns="91440" tIns="45720" rIns="91440" bIns="45720" rtlCol="0" anchor="ctr">
            <a:normAutofit/>
          </a:bodyPr>
          <a:lstStyle/>
          <a:p>
            <a:pPr>
              <a:spcAft>
                <a:spcPts val="600"/>
              </a:spcAft>
            </a:pPr>
            <a:fld id="{C83C362F-97FB-4C1E-B0F0-C3069DD0CDD1}" type="slidenum">
              <a:rPr lang="en-US" smtClean="0"/>
              <a:pPr>
                <a:spcAft>
                  <a:spcPts val="600"/>
                </a:spcAft>
              </a:pPr>
              <a:t>10</a:t>
            </a:fld>
            <a:endParaRPr lang="en-US"/>
          </a:p>
        </p:txBody>
      </p:sp>
      <p:pic>
        <p:nvPicPr>
          <p:cNvPr id="6" name="Picture 5">
            <a:extLst>
              <a:ext uri="{FF2B5EF4-FFF2-40B4-BE49-F238E27FC236}">
                <a16:creationId xmlns:a16="http://schemas.microsoft.com/office/drawing/2014/main" id="{7484B486-F34B-1B7E-5879-CA4CCD6D94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5033" y="-18312"/>
            <a:ext cx="10287000" cy="6857999"/>
          </a:xfrm>
          <a:prstGeom prst="rect">
            <a:avLst/>
          </a:prstGeom>
        </p:spPr>
      </p:pic>
    </p:spTree>
    <p:extLst>
      <p:ext uri="{BB962C8B-B14F-4D97-AF65-F5344CB8AC3E}">
        <p14:creationId xmlns:p14="http://schemas.microsoft.com/office/powerpoint/2010/main" val="2926861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5EA1B62F-3E9F-4E72-9C3F-44B864F028CE}"/>
              </a:ext>
            </a:extLst>
          </p:cNvPr>
          <p:cNvSpPr>
            <a:spLocks noGrp="1" noChangeArrowheads="1"/>
          </p:cNvSpPr>
          <p:nvPr>
            <p:ph type="title"/>
          </p:nvPr>
        </p:nvSpPr>
        <p:spPr>
          <a:xfrm>
            <a:off x="705812" y="-180494"/>
            <a:ext cx="10364451" cy="1596177"/>
          </a:xfrm>
        </p:spPr>
        <p:txBody>
          <a:bodyPr/>
          <a:lstStyle/>
          <a:p>
            <a:pPr>
              <a:defRPr/>
            </a:pPr>
            <a:r>
              <a:rPr lang="en-US" altLang="en-US" dirty="0"/>
              <a:t>Solar Particle Events</a:t>
            </a:r>
          </a:p>
        </p:txBody>
      </p:sp>
      <p:sp>
        <p:nvSpPr>
          <p:cNvPr id="128003" name="Text Box 3">
            <a:extLst>
              <a:ext uri="{FF2B5EF4-FFF2-40B4-BE49-F238E27FC236}">
                <a16:creationId xmlns:a16="http://schemas.microsoft.com/office/drawing/2014/main" id="{FCE29FE0-48AF-4C11-BC3B-F002C954F1A5}"/>
              </a:ext>
            </a:extLst>
          </p:cNvPr>
          <p:cNvSpPr txBox="1">
            <a:spLocks noChangeArrowheads="1"/>
          </p:cNvSpPr>
          <p:nvPr/>
        </p:nvSpPr>
        <p:spPr bwMode="auto">
          <a:xfrm>
            <a:off x="1524000" y="1027113"/>
            <a:ext cx="2952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tLang="en-US">
                <a:latin typeface="Arial" charset="0"/>
              </a:rPr>
              <a:t>Solar radiation storm scale:</a:t>
            </a:r>
          </a:p>
        </p:txBody>
      </p:sp>
      <p:graphicFrame>
        <p:nvGraphicFramePr>
          <p:cNvPr id="128004" name="Group 4">
            <a:extLst>
              <a:ext uri="{FF2B5EF4-FFF2-40B4-BE49-F238E27FC236}">
                <a16:creationId xmlns:a16="http://schemas.microsoft.com/office/drawing/2014/main" id="{E64C2397-20D6-453E-8FA5-EC4070A0A485}"/>
              </a:ext>
            </a:extLst>
          </p:cNvPr>
          <p:cNvGraphicFramePr>
            <a:graphicFrameLocks noGrp="1"/>
          </p:cNvGraphicFramePr>
          <p:nvPr>
            <p:extLst>
              <p:ext uri="{D42A27DB-BD31-4B8C-83A1-F6EECF244321}">
                <p14:modId xmlns:p14="http://schemas.microsoft.com/office/powerpoint/2010/main" val="3551639209"/>
              </p:ext>
            </p:extLst>
          </p:nvPr>
        </p:nvGraphicFramePr>
        <p:xfrm>
          <a:off x="1871664" y="1677988"/>
          <a:ext cx="3932237" cy="4292896"/>
        </p:xfrm>
        <a:graphic>
          <a:graphicData uri="http://schemas.openxmlformats.org/drawingml/2006/table">
            <a:tbl>
              <a:tblPr firstRow="1"/>
              <a:tblGrid>
                <a:gridCol w="1239837">
                  <a:extLst>
                    <a:ext uri="{9D8B030D-6E8A-4147-A177-3AD203B41FA5}">
                      <a16:colId xmlns:a16="http://schemas.microsoft.com/office/drawing/2014/main" val="20000"/>
                    </a:ext>
                  </a:extLst>
                </a:gridCol>
                <a:gridCol w="2692400">
                  <a:extLst>
                    <a:ext uri="{9D8B030D-6E8A-4147-A177-3AD203B41FA5}">
                      <a16:colId xmlns:a16="http://schemas.microsoft.com/office/drawing/2014/main" val="20001"/>
                    </a:ext>
                  </a:extLst>
                </a:gridCol>
              </a:tblGrid>
              <a:tr h="625382">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rPr>
                        <a:t>Category</a:t>
                      </a:r>
                    </a:p>
                  </a:txBody>
                  <a:tcPr marT="45713" marB="4571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Arial" charset="0"/>
                        </a:rPr>
                        <a:t>Effects on </a:t>
                      </a:r>
                      <a:br>
                        <a:rPr kumimoji="0" lang="en-US" altLang="en-US" sz="1400" b="1" i="0" u="none" strike="noStrike" cap="none" normalizeH="0" baseline="0">
                          <a:ln>
                            <a:noFill/>
                          </a:ln>
                          <a:solidFill>
                            <a:schemeClr val="tx1"/>
                          </a:solidFill>
                          <a:effectLst/>
                          <a:latin typeface="Arial" charset="0"/>
                        </a:rPr>
                      </a:br>
                      <a:r>
                        <a:rPr kumimoji="0" lang="en-US" altLang="en-US" sz="1400" b="1" i="0" u="none" strike="noStrike" cap="none" normalizeH="0" baseline="0">
                          <a:ln>
                            <a:noFill/>
                          </a:ln>
                          <a:solidFill>
                            <a:schemeClr val="tx1"/>
                          </a:solidFill>
                          <a:effectLst/>
                          <a:latin typeface="Arial" charset="0"/>
                        </a:rPr>
                        <a:t>Satellite Operators</a:t>
                      </a:r>
                    </a:p>
                  </a:txBody>
                  <a:tcPr marT="45713" marB="4571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188544">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S-5:  Extreme</a:t>
                      </a:r>
                    </a:p>
                  </a:txBody>
                  <a:tcPr marT="45713" marB="4571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200" b="0" i="0" u="none" strike="noStrike" cap="none" normalizeH="0" baseline="0">
                          <a:ln>
                            <a:noFill/>
                          </a:ln>
                          <a:solidFill>
                            <a:schemeClr val="tx1"/>
                          </a:solidFill>
                          <a:effectLst/>
                          <a:latin typeface="Arial" charset="0"/>
                        </a:rPr>
                        <a:t>Total loss of some satellites; permanent damage to solar panels; memory device problems cause loss of control, serious noise in image data; star trackers unable to locate sources.</a:t>
                      </a:r>
                    </a:p>
                  </a:txBody>
                  <a:tcPr marT="45713" marB="4571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1005691">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S-4:  Severe</a:t>
                      </a:r>
                    </a:p>
                  </a:txBody>
                  <a:tcPr marT="45713" marB="4571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200" b="0" i="0" u="none" strike="noStrike" cap="none" normalizeH="0" baseline="0">
                          <a:ln>
                            <a:noFill/>
                          </a:ln>
                          <a:solidFill>
                            <a:schemeClr val="tx1"/>
                          </a:solidFill>
                          <a:effectLst/>
                          <a:latin typeface="Arial" charset="0"/>
                        </a:rPr>
                        <a:t>Memory device problems; noise in imaging systems; interference with star trackers cause orientation problems; degradation of solar panels.</a:t>
                      </a:r>
                    </a:p>
                  </a:txBody>
                  <a:tcPr marT="45713" marB="4571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838076">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S-3:  Strong</a:t>
                      </a:r>
                    </a:p>
                  </a:txBody>
                  <a:tcPr marT="45713" marB="4571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200" b="0" i="0" u="none" strike="noStrike" cap="none" normalizeH="0" baseline="0">
                          <a:ln>
                            <a:noFill/>
                          </a:ln>
                          <a:solidFill>
                            <a:schemeClr val="tx1"/>
                          </a:solidFill>
                          <a:effectLst/>
                          <a:latin typeface="Arial" charset="0"/>
                        </a:rPr>
                        <a:t>Noise in imaging systems; permanent damage to exposed components and detectors; decrease of current generated by solar panels</a:t>
                      </a:r>
                    </a:p>
                  </a:txBody>
                  <a:tcPr marT="45713" marB="4571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330151">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S-2:  Moderate</a:t>
                      </a:r>
                    </a:p>
                  </a:txBody>
                  <a:tcPr marT="45713" marB="4571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200" b="0" i="0" u="none" strike="noStrike" cap="none" normalizeH="0" baseline="0">
                          <a:ln>
                            <a:noFill/>
                          </a:ln>
                          <a:solidFill>
                            <a:schemeClr val="tx1"/>
                          </a:solidFill>
                          <a:effectLst/>
                          <a:latin typeface="Arial" charset="0"/>
                        </a:rPr>
                        <a:t>Infrequent, isolated problems</a:t>
                      </a:r>
                    </a:p>
                  </a:txBody>
                  <a:tcPr marT="45713" marB="4571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304755">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200" b="1" i="0" u="none" strike="noStrike" cap="none" normalizeH="0" baseline="0">
                          <a:ln>
                            <a:noFill/>
                          </a:ln>
                          <a:solidFill>
                            <a:schemeClr val="tx1"/>
                          </a:solidFill>
                          <a:effectLst/>
                          <a:latin typeface="Arial" charset="0"/>
                        </a:rPr>
                        <a:t>S-1:  Minor</a:t>
                      </a:r>
                    </a:p>
                  </a:txBody>
                  <a:tcPr marT="45713" marB="4571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defRPr sz="2000">
                          <a:solidFill>
                            <a:schemeClr val="tx1"/>
                          </a:solidFill>
                          <a:latin typeface="Arial" charset="0"/>
                        </a:defRPr>
                      </a:lvl1pPr>
                      <a:lvl2pPr>
                        <a:spcBef>
                          <a:spcPct val="20000"/>
                        </a:spcBef>
                        <a:defRPr>
                          <a:solidFill>
                            <a:schemeClr val="tx1"/>
                          </a:solidFill>
                          <a:latin typeface="Arial" charset="0"/>
                        </a:defRPr>
                      </a:lvl2pPr>
                      <a:lvl3pPr>
                        <a:spcBef>
                          <a:spcPct val="20000"/>
                        </a:spcBef>
                        <a:defRPr sz="1600">
                          <a:solidFill>
                            <a:schemeClr val="tx1"/>
                          </a:solidFill>
                          <a:latin typeface="Arial" charset="0"/>
                        </a:defRPr>
                      </a:lvl3pPr>
                      <a:lvl4pPr>
                        <a:spcBef>
                          <a:spcPct val="20000"/>
                        </a:spcBef>
                        <a:defRPr sz="1400">
                          <a:solidFill>
                            <a:schemeClr val="tx1"/>
                          </a:solidFill>
                          <a:latin typeface="Arial" charset="0"/>
                        </a:defRPr>
                      </a:lvl4pPr>
                      <a:lvl5pPr>
                        <a:spcBef>
                          <a:spcPct val="20000"/>
                        </a:spcBef>
                        <a:defRPr sz="1200">
                          <a:solidFill>
                            <a:schemeClr val="tx1"/>
                          </a:solidFill>
                          <a:latin typeface="Arial" charset="0"/>
                        </a:defRPr>
                      </a:lvl5pPr>
                      <a:lvl6pPr eaLnBrk="0" fontAlgn="base" hangingPunct="0">
                        <a:spcBef>
                          <a:spcPct val="20000"/>
                        </a:spcBef>
                        <a:spcAft>
                          <a:spcPct val="0"/>
                        </a:spcAft>
                        <a:defRPr sz="1200">
                          <a:solidFill>
                            <a:schemeClr val="tx1"/>
                          </a:solidFill>
                          <a:latin typeface="Arial" charset="0"/>
                        </a:defRPr>
                      </a:lvl6pPr>
                      <a:lvl7pPr eaLnBrk="0" fontAlgn="base" hangingPunct="0">
                        <a:spcBef>
                          <a:spcPct val="20000"/>
                        </a:spcBef>
                        <a:spcAft>
                          <a:spcPct val="0"/>
                        </a:spcAft>
                        <a:defRPr sz="1200">
                          <a:solidFill>
                            <a:schemeClr val="tx1"/>
                          </a:solidFill>
                          <a:latin typeface="Arial" charset="0"/>
                        </a:defRPr>
                      </a:lvl7pPr>
                      <a:lvl8pPr eaLnBrk="0" fontAlgn="base" hangingPunct="0">
                        <a:spcBef>
                          <a:spcPct val="20000"/>
                        </a:spcBef>
                        <a:spcAft>
                          <a:spcPct val="0"/>
                        </a:spcAft>
                        <a:defRPr sz="1200">
                          <a:solidFill>
                            <a:schemeClr val="tx1"/>
                          </a:solidFill>
                          <a:latin typeface="Arial" charset="0"/>
                        </a:defRPr>
                      </a:lvl8pPr>
                      <a:lvl9pPr eaLnBrk="0" fontAlgn="base" hangingPunct="0">
                        <a:spcBef>
                          <a:spcPct val="20000"/>
                        </a:spcBef>
                        <a:spcAft>
                          <a:spcPct val="0"/>
                        </a:spcAft>
                        <a:defRPr sz="1200">
                          <a:solidFill>
                            <a:schemeClr val="tx1"/>
                          </a:solidFill>
                          <a:latin typeface="Arial"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charset="0"/>
                        </a:rPr>
                        <a:t>None</a:t>
                      </a:r>
                    </a:p>
                  </a:txBody>
                  <a:tcPr marT="45713" marB="4571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28027" name="Text Box 27">
            <a:extLst>
              <a:ext uri="{FF2B5EF4-FFF2-40B4-BE49-F238E27FC236}">
                <a16:creationId xmlns:a16="http://schemas.microsoft.com/office/drawing/2014/main" id="{067A2889-98FF-4C1D-9A62-94B23AC4C90D}"/>
              </a:ext>
            </a:extLst>
          </p:cNvPr>
          <p:cNvSpPr txBox="1">
            <a:spLocks noChangeArrowheads="1"/>
          </p:cNvSpPr>
          <p:nvPr/>
        </p:nvSpPr>
        <p:spPr bwMode="auto">
          <a:xfrm>
            <a:off x="3163888" y="5965825"/>
            <a:ext cx="272415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defRPr/>
            </a:pPr>
            <a:r>
              <a:rPr lang="en-US" altLang="en-US" sz="900">
                <a:latin typeface="Arial" charset="0"/>
              </a:rPr>
              <a:t>Adapted from Space News (Nov. 22, 1999 – Pg 3)</a:t>
            </a:r>
          </a:p>
        </p:txBody>
      </p:sp>
      <p:sp>
        <p:nvSpPr>
          <p:cNvPr id="128028" name="Text Box 28">
            <a:extLst>
              <a:ext uri="{FF2B5EF4-FFF2-40B4-BE49-F238E27FC236}">
                <a16:creationId xmlns:a16="http://schemas.microsoft.com/office/drawing/2014/main" id="{AC948AF0-9F8B-4D5A-BEE3-DC27C6CB4AF1}"/>
              </a:ext>
            </a:extLst>
          </p:cNvPr>
          <p:cNvSpPr txBox="1">
            <a:spLocks noChangeArrowheads="1"/>
          </p:cNvSpPr>
          <p:nvPr/>
        </p:nvSpPr>
        <p:spPr bwMode="auto">
          <a:xfrm>
            <a:off x="6296025" y="1027113"/>
            <a:ext cx="4133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57200" indent="-457200">
              <a:defRPr sz="2400">
                <a:solidFill>
                  <a:schemeClr val="tx1"/>
                </a:solidFill>
                <a:latin typeface="Times New Roman" charset="0"/>
              </a:defRPr>
            </a:lvl1pPr>
            <a:lvl2pPr marL="635000">
              <a:defRPr sz="2400">
                <a:solidFill>
                  <a:schemeClr val="tx1"/>
                </a:solidFill>
                <a:latin typeface="Times New Roman" charset="0"/>
              </a:defRPr>
            </a:lvl2pPr>
            <a:lvl3pPr>
              <a:defRPr sz="2400">
                <a:solidFill>
                  <a:schemeClr val="tx1"/>
                </a:solidFill>
                <a:latin typeface="Times New Roman" charset="0"/>
              </a:defRPr>
            </a:lvl3pPr>
            <a:lvl4pPr>
              <a:defRPr sz="2400">
                <a:solidFill>
                  <a:schemeClr val="tx1"/>
                </a:solidFill>
                <a:latin typeface="Times New Roman" charset="0"/>
              </a:defRPr>
            </a:lvl4pPr>
            <a:lvl5pPr>
              <a:defRPr sz="2400">
                <a:solidFill>
                  <a:schemeClr val="tx1"/>
                </a:solidFill>
                <a:latin typeface="Times New Roman" charset="0"/>
              </a:defRPr>
            </a:lvl5pPr>
            <a:lvl6pPr eaLnBrk="0" fontAlgn="base" hangingPunct="0">
              <a:spcBef>
                <a:spcPct val="0"/>
              </a:spcBef>
              <a:spcAft>
                <a:spcPct val="0"/>
              </a:spcAft>
              <a:defRPr sz="2400">
                <a:solidFill>
                  <a:schemeClr val="tx1"/>
                </a:solidFill>
                <a:latin typeface="Times New Roman" charset="0"/>
              </a:defRPr>
            </a:lvl6pPr>
            <a:lvl7pPr eaLnBrk="0" fontAlgn="base" hangingPunct="0">
              <a:spcBef>
                <a:spcPct val="0"/>
              </a:spcBef>
              <a:spcAft>
                <a:spcPct val="0"/>
              </a:spcAft>
              <a:defRPr sz="2400">
                <a:solidFill>
                  <a:schemeClr val="tx1"/>
                </a:solidFill>
                <a:latin typeface="Times New Roman" charset="0"/>
              </a:defRPr>
            </a:lvl7pPr>
            <a:lvl8pPr eaLnBrk="0" fontAlgn="base" hangingPunct="0">
              <a:spcBef>
                <a:spcPct val="0"/>
              </a:spcBef>
              <a:spcAft>
                <a:spcPct val="0"/>
              </a:spcAft>
              <a:defRPr sz="2400">
                <a:solidFill>
                  <a:schemeClr val="tx1"/>
                </a:solidFill>
                <a:latin typeface="Times New Roman" charset="0"/>
              </a:defRPr>
            </a:lvl8pPr>
            <a:lvl9pPr eaLnBrk="0" fontAlgn="base" hangingPunct="0">
              <a:spcBef>
                <a:spcPct val="0"/>
              </a:spcBef>
              <a:spcAft>
                <a:spcPct val="0"/>
              </a:spcAft>
              <a:defRPr sz="2400">
                <a:solidFill>
                  <a:schemeClr val="tx1"/>
                </a:solidFill>
                <a:latin typeface="Times New Roman" charset="0"/>
              </a:defRPr>
            </a:lvl9pPr>
          </a:lstStyle>
          <a:p>
            <a:pPr>
              <a:defRPr/>
            </a:pPr>
            <a:r>
              <a:rPr lang="en-US" altLang="en-US" sz="1800">
                <a:latin typeface="Arial" charset="0"/>
              </a:rPr>
              <a:t>Typical time evolution of an event observed on Earth:</a:t>
            </a:r>
          </a:p>
        </p:txBody>
      </p:sp>
      <p:grpSp>
        <p:nvGrpSpPr>
          <p:cNvPr id="38940" name="Group 54" descr="Logarithmic graph illustrating the relative timing and intensity of different emissions from a solar eruptive event. X-rays appear first, followed by high-energy protons, while a shock wave propagates outward over several days. The figure highlights that different radiation hazards reach spacecraft and astronauts on different time scales.">
            <a:extLst>
              <a:ext uri="{FF2B5EF4-FFF2-40B4-BE49-F238E27FC236}">
                <a16:creationId xmlns:a16="http://schemas.microsoft.com/office/drawing/2014/main" id="{B83AAA29-67CA-4D8C-A968-D593E8B95782}"/>
              </a:ext>
            </a:extLst>
          </p:cNvPr>
          <p:cNvGrpSpPr>
            <a:grpSpLocks/>
          </p:cNvGrpSpPr>
          <p:nvPr/>
        </p:nvGrpSpPr>
        <p:grpSpPr bwMode="auto">
          <a:xfrm>
            <a:off x="6193401" y="1811240"/>
            <a:ext cx="4341813" cy="2733675"/>
            <a:chOff x="2921" y="1406"/>
            <a:chExt cx="2735" cy="1722"/>
          </a:xfrm>
        </p:grpSpPr>
        <p:sp>
          <p:nvSpPr>
            <p:cNvPr id="128030" name="Rectangle 30">
              <a:extLst>
                <a:ext uri="{FF2B5EF4-FFF2-40B4-BE49-F238E27FC236}">
                  <a16:creationId xmlns:a16="http://schemas.microsoft.com/office/drawing/2014/main" id="{ED367F4F-023B-44C3-A80D-5699FF231D86}"/>
                </a:ext>
              </a:extLst>
            </p:cNvPr>
            <p:cNvSpPr>
              <a:spLocks noChangeArrowheads="1"/>
            </p:cNvSpPr>
            <p:nvPr/>
          </p:nvSpPr>
          <p:spPr bwMode="auto">
            <a:xfrm>
              <a:off x="4929" y="2972"/>
              <a:ext cx="727"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spcBef>
                  <a:spcPct val="50000"/>
                </a:spcBef>
                <a:defRPr/>
              </a:pPr>
              <a:r>
                <a:rPr lang="en-US" altLang="en-US" sz="1000">
                  <a:latin typeface="Arial" charset="0"/>
                </a:rPr>
                <a:t>SMAD, Fig 8.11</a:t>
              </a:r>
            </a:p>
          </p:txBody>
        </p:sp>
        <p:pic>
          <p:nvPicPr>
            <p:cNvPr id="38943" name="Picture 32" descr="spe">
              <a:extLst>
                <a:ext uri="{FF2B5EF4-FFF2-40B4-BE49-F238E27FC236}">
                  <a16:creationId xmlns:a16="http://schemas.microsoft.com/office/drawing/2014/main" id="{5BF6711B-CE5D-41A0-ACC8-B9A57831B8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0" y="1441"/>
              <a:ext cx="2247" cy="1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33" name="Rectangle 33">
              <a:extLst>
                <a:ext uri="{FF2B5EF4-FFF2-40B4-BE49-F238E27FC236}">
                  <a16:creationId xmlns:a16="http://schemas.microsoft.com/office/drawing/2014/main" id="{6274C18F-3DA6-4F06-98AF-7BEFEE4AFD55}"/>
                </a:ext>
              </a:extLst>
            </p:cNvPr>
            <p:cNvSpPr>
              <a:spLocks noChangeArrowheads="1"/>
            </p:cNvSpPr>
            <p:nvPr/>
          </p:nvSpPr>
          <p:spPr bwMode="auto">
            <a:xfrm rot="16172136">
              <a:off x="2403" y="2008"/>
              <a:ext cx="1191" cy="1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lgn="ctr">
                <a:spcBef>
                  <a:spcPct val="50000"/>
                </a:spcBef>
                <a:defRPr/>
              </a:pPr>
              <a:r>
                <a:rPr lang="en-US" altLang="en-US" sz="1000" b="1">
                  <a:latin typeface="Arial" charset="0"/>
                </a:rPr>
                <a:t>Relative Units</a:t>
              </a:r>
            </a:p>
          </p:txBody>
        </p:sp>
        <p:sp>
          <p:nvSpPr>
            <p:cNvPr id="128034" name="Rectangle 34">
              <a:extLst>
                <a:ext uri="{FF2B5EF4-FFF2-40B4-BE49-F238E27FC236}">
                  <a16:creationId xmlns:a16="http://schemas.microsoft.com/office/drawing/2014/main" id="{4126E0D7-0B8C-4340-9F91-0600FC725D7B}"/>
                </a:ext>
              </a:extLst>
            </p:cNvPr>
            <p:cNvSpPr>
              <a:spLocks noChangeArrowheads="1"/>
            </p:cNvSpPr>
            <p:nvPr/>
          </p:nvSpPr>
          <p:spPr bwMode="auto">
            <a:xfrm>
              <a:off x="3066" y="2325"/>
              <a:ext cx="159" cy="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spcBef>
                  <a:spcPct val="50000"/>
                </a:spcBef>
                <a:defRPr/>
              </a:pPr>
              <a:r>
                <a:rPr lang="en-US" altLang="en-US" sz="900">
                  <a:latin typeface="Arial" charset="0"/>
                </a:rPr>
                <a:t>10</a:t>
              </a:r>
              <a:r>
                <a:rPr lang="en-US" altLang="en-US" sz="900" baseline="30000">
                  <a:latin typeface="Arial" charset="0"/>
                </a:rPr>
                <a:t>1</a:t>
              </a:r>
              <a:endParaRPr lang="en-US" altLang="en-US" sz="900">
                <a:latin typeface="Arial" charset="0"/>
              </a:endParaRPr>
            </a:p>
          </p:txBody>
        </p:sp>
        <p:sp>
          <p:nvSpPr>
            <p:cNvPr id="128035" name="Rectangle 35">
              <a:extLst>
                <a:ext uri="{FF2B5EF4-FFF2-40B4-BE49-F238E27FC236}">
                  <a16:creationId xmlns:a16="http://schemas.microsoft.com/office/drawing/2014/main" id="{735C4FDD-3328-48F6-9381-64A33EA099C4}"/>
                </a:ext>
              </a:extLst>
            </p:cNvPr>
            <p:cNvSpPr>
              <a:spLocks noChangeArrowheads="1"/>
            </p:cNvSpPr>
            <p:nvPr/>
          </p:nvSpPr>
          <p:spPr bwMode="auto">
            <a:xfrm>
              <a:off x="3066" y="2001"/>
              <a:ext cx="159" cy="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spcBef>
                  <a:spcPct val="50000"/>
                </a:spcBef>
                <a:defRPr/>
              </a:pPr>
              <a:r>
                <a:rPr lang="en-US" altLang="en-US" sz="900">
                  <a:latin typeface="Arial" charset="0"/>
                </a:rPr>
                <a:t>10</a:t>
              </a:r>
              <a:r>
                <a:rPr lang="en-US" altLang="en-US" sz="900" baseline="30000">
                  <a:latin typeface="Arial" charset="0"/>
                </a:rPr>
                <a:t>2</a:t>
              </a:r>
              <a:endParaRPr lang="en-US" altLang="en-US" sz="900">
                <a:latin typeface="Arial" charset="0"/>
              </a:endParaRPr>
            </a:p>
          </p:txBody>
        </p:sp>
        <p:sp>
          <p:nvSpPr>
            <p:cNvPr id="128036" name="Rectangle 36">
              <a:extLst>
                <a:ext uri="{FF2B5EF4-FFF2-40B4-BE49-F238E27FC236}">
                  <a16:creationId xmlns:a16="http://schemas.microsoft.com/office/drawing/2014/main" id="{C617ED0A-1488-4E6F-B30C-91A130832F71}"/>
                </a:ext>
              </a:extLst>
            </p:cNvPr>
            <p:cNvSpPr>
              <a:spLocks noChangeArrowheads="1"/>
            </p:cNvSpPr>
            <p:nvPr/>
          </p:nvSpPr>
          <p:spPr bwMode="auto">
            <a:xfrm>
              <a:off x="3066" y="1700"/>
              <a:ext cx="159" cy="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spcBef>
                  <a:spcPct val="50000"/>
                </a:spcBef>
                <a:defRPr/>
              </a:pPr>
              <a:r>
                <a:rPr lang="en-US" altLang="en-US" sz="900">
                  <a:latin typeface="Arial" charset="0"/>
                </a:rPr>
                <a:t>10</a:t>
              </a:r>
              <a:r>
                <a:rPr lang="en-US" altLang="en-US" sz="900" baseline="30000">
                  <a:latin typeface="Arial" charset="0"/>
                </a:rPr>
                <a:t>3</a:t>
              </a:r>
              <a:endParaRPr lang="en-US" altLang="en-US" sz="900">
                <a:latin typeface="Arial" charset="0"/>
              </a:endParaRPr>
            </a:p>
          </p:txBody>
        </p:sp>
        <p:sp>
          <p:nvSpPr>
            <p:cNvPr id="128037" name="Rectangle 37">
              <a:extLst>
                <a:ext uri="{FF2B5EF4-FFF2-40B4-BE49-F238E27FC236}">
                  <a16:creationId xmlns:a16="http://schemas.microsoft.com/office/drawing/2014/main" id="{CAB5C242-E2A9-4324-962B-FB1997D61750}"/>
                </a:ext>
              </a:extLst>
            </p:cNvPr>
            <p:cNvSpPr>
              <a:spLocks noChangeArrowheads="1"/>
            </p:cNvSpPr>
            <p:nvPr/>
          </p:nvSpPr>
          <p:spPr bwMode="auto">
            <a:xfrm>
              <a:off x="3066" y="1406"/>
              <a:ext cx="159" cy="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spcBef>
                  <a:spcPct val="50000"/>
                </a:spcBef>
                <a:defRPr/>
              </a:pPr>
              <a:r>
                <a:rPr lang="en-US" altLang="en-US" sz="900">
                  <a:latin typeface="Arial" charset="0"/>
                </a:rPr>
                <a:t>10</a:t>
              </a:r>
              <a:r>
                <a:rPr lang="en-US" altLang="en-US" sz="900" baseline="30000">
                  <a:latin typeface="Arial" charset="0"/>
                </a:rPr>
                <a:t>4</a:t>
              </a:r>
              <a:endParaRPr lang="en-US" altLang="en-US" sz="900">
                <a:latin typeface="Arial" charset="0"/>
              </a:endParaRPr>
            </a:p>
          </p:txBody>
        </p:sp>
        <p:sp>
          <p:nvSpPr>
            <p:cNvPr id="128038" name="Rectangle 38">
              <a:extLst>
                <a:ext uri="{FF2B5EF4-FFF2-40B4-BE49-F238E27FC236}">
                  <a16:creationId xmlns:a16="http://schemas.microsoft.com/office/drawing/2014/main" id="{003D26FC-14D1-47EF-A697-4ED0579D26E5}"/>
                </a:ext>
              </a:extLst>
            </p:cNvPr>
            <p:cNvSpPr>
              <a:spLocks noChangeArrowheads="1"/>
            </p:cNvSpPr>
            <p:nvPr/>
          </p:nvSpPr>
          <p:spPr bwMode="auto">
            <a:xfrm>
              <a:off x="3066" y="2625"/>
              <a:ext cx="159" cy="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spcBef>
                  <a:spcPct val="50000"/>
                </a:spcBef>
                <a:defRPr/>
              </a:pPr>
              <a:r>
                <a:rPr lang="en-US" altLang="en-US" sz="900">
                  <a:latin typeface="Arial" charset="0"/>
                </a:rPr>
                <a:t>10</a:t>
              </a:r>
              <a:r>
                <a:rPr lang="en-US" altLang="en-US" sz="900" baseline="30000">
                  <a:latin typeface="Arial" charset="0"/>
                </a:rPr>
                <a:t>0</a:t>
              </a:r>
              <a:endParaRPr lang="en-US" altLang="en-US" sz="900">
                <a:latin typeface="Arial" charset="0"/>
              </a:endParaRPr>
            </a:p>
          </p:txBody>
        </p:sp>
        <p:sp>
          <p:nvSpPr>
            <p:cNvPr id="128039" name="Rectangle 39">
              <a:extLst>
                <a:ext uri="{FF2B5EF4-FFF2-40B4-BE49-F238E27FC236}">
                  <a16:creationId xmlns:a16="http://schemas.microsoft.com/office/drawing/2014/main" id="{48448831-DC1F-4B58-A8E1-36A88A153073}"/>
                </a:ext>
              </a:extLst>
            </p:cNvPr>
            <p:cNvSpPr>
              <a:spLocks noChangeArrowheads="1"/>
            </p:cNvSpPr>
            <p:nvPr/>
          </p:nvSpPr>
          <p:spPr bwMode="auto">
            <a:xfrm>
              <a:off x="4014" y="2863"/>
              <a:ext cx="711" cy="1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lgn="ctr">
                <a:spcBef>
                  <a:spcPct val="50000"/>
                </a:spcBef>
                <a:defRPr/>
              </a:pPr>
              <a:r>
                <a:rPr lang="en-US" altLang="en-US" sz="1000" b="1">
                  <a:latin typeface="Arial" charset="0"/>
                </a:rPr>
                <a:t>Time (Hours)</a:t>
              </a:r>
            </a:p>
          </p:txBody>
        </p:sp>
        <p:sp>
          <p:nvSpPr>
            <p:cNvPr id="128040" name="Rectangle 40">
              <a:extLst>
                <a:ext uri="{FF2B5EF4-FFF2-40B4-BE49-F238E27FC236}">
                  <a16:creationId xmlns:a16="http://schemas.microsoft.com/office/drawing/2014/main" id="{5B0D36F8-9888-40B7-8B95-D2CB70BC0320}"/>
                </a:ext>
              </a:extLst>
            </p:cNvPr>
            <p:cNvSpPr>
              <a:spLocks noChangeArrowheads="1"/>
            </p:cNvSpPr>
            <p:nvPr/>
          </p:nvSpPr>
          <p:spPr bwMode="auto">
            <a:xfrm>
              <a:off x="3718" y="2692"/>
              <a:ext cx="167" cy="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0" rIns="92075" bIns="0">
              <a:spAutoFit/>
            </a:bodyPr>
            <a:lstStyle/>
            <a:p>
              <a:pPr algn="ctr">
                <a:spcBef>
                  <a:spcPct val="50000"/>
                </a:spcBef>
                <a:defRPr/>
              </a:pPr>
              <a:r>
                <a:rPr lang="en-US" altLang="en-US" sz="900">
                  <a:latin typeface="Arial" charset="0"/>
                </a:rPr>
                <a:t>1</a:t>
              </a:r>
            </a:p>
          </p:txBody>
        </p:sp>
        <p:sp>
          <p:nvSpPr>
            <p:cNvPr id="128041" name="Rectangle 41">
              <a:extLst>
                <a:ext uri="{FF2B5EF4-FFF2-40B4-BE49-F238E27FC236}">
                  <a16:creationId xmlns:a16="http://schemas.microsoft.com/office/drawing/2014/main" id="{175E56A1-98CE-4D39-89C6-720A1FF8453E}"/>
                </a:ext>
              </a:extLst>
            </p:cNvPr>
            <p:cNvSpPr>
              <a:spLocks noChangeArrowheads="1"/>
            </p:cNvSpPr>
            <p:nvPr/>
          </p:nvSpPr>
          <p:spPr bwMode="auto">
            <a:xfrm>
              <a:off x="4272" y="2692"/>
              <a:ext cx="218" cy="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0" rIns="92075" bIns="0">
              <a:spAutoFit/>
            </a:bodyPr>
            <a:lstStyle/>
            <a:p>
              <a:pPr algn="ctr">
                <a:spcBef>
                  <a:spcPct val="50000"/>
                </a:spcBef>
                <a:defRPr/>
              </a:pPr>
              <a:r>
                <a:rPr lang="en-US" altLang="en-US" sz="900">
                  <a:latin typeface="Arial" charset="0"/>
                </a:rPr>
                <a:t>10</a:t>
              </a:r>
            </a:p>
          </p:txBody>
        </p:sp>
        <p:sp>
          <p:nvSpPr>
            <p:cNvPr id="128042" name="Rectangle 42">
              <a:extLst>
                <a:ext uri="{FF2B5EF4-FFF2-40B4-BE49-F238E27FC236}">
                  <a16:creationId xmlns:a16="http://schemas.microsoft.com/office/drawing/2014/main" id="{94D6D12C-A77C-4E79-9E2E-3C76DC2EB25A}"/>
                </a:ext>
              </a:extLst>
            </p:cNvPr>
            <p:cNvSpPr>
              <a:spLocks noChangeArrowheads="1"/>
            </p:cNvSpPr>
            <p:nvPr/>
          </p:nvSpPr>
          <p:spPr bwMode="auto">
            <a:xfrm>
              <a:off x="4835" y="2686"/>
              <a:ext cx="242" cy="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0" rIns="92075" bIns="0">
              <a:spAutoFit/>
            </a:bodyPr>
            <a:lstStyle/>
            <a:p>
              <a:pPr algn="ctr">
                <a:spcBef>
                  <a:spcPct val="50000"/>
                </a:spcBef>
                <a:defRPr/>
              </a:pPr>
              <a:r>
                <a:rPr lang="en-US" altLang="en-US" sz="900">
                  <a:latin typeface="Arial" charset="0"/>
                </a:rPr>
                <a:t>100</a:t>
              </a:r>
            </a:p>
          </p:txBody>
        </p:sp>
        <p:sp>
          <p:nvSpPr>
            <p:cNvPr id="128043" name="Line 43">
              <a:extLst>
                <a:ext uri="{FF2B5EF4-FFF2-40B4-BE49-F238E27FC236}">
                  <a16:creationId xmlns:a16="http://schemas.microsoft.com/office/drawing/2014/main" id="{23299960-2AE0-46EB-AABC-3497671FCC4A}"/>
                </a:ext>
              </a:extLst>
            </p:cNvPr>
            <p:cNvSpPr>
              <a:spLocks noChangeShapeType="1"/>
            </p:cNvSpPr>
            <p:nvPr/>
          </p:nvSpPr>
          <p:spPr bwMode="auto">
            <a:xfrm>
              <a:off x="4587" y="2688"/>
              <a:ext cx="0" cy="12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ndParaRPr>
            </a:p>
          </p:txBody>
        </p:sp>
        <p:sp>
          <p:nvSpPr>
            <p:cNvPr id="128044" name="Line 44">
              <a:extLst>
                <a:ext uri="{FF2B5EF4-FFF2-40B4-BE49-F238E27FC236}">
                  <a16:creationId xmlns:a16="http://schemas.microsoft.com/office/drawing/2014/main" id="{C945036D-6B86-40E5-8257-0CE826D080DF}"/>
                </a:ext>
              </a:extLst>
            </p:cNvPr>
            <p:cNvSpPr>
              <a:spLocks noChangeShapeType="1"/>
            </p:cNvSpPr>
            <p:nvPr/>
          </p:nvSpPr>
          <p:spPr bwMode="auto">
            <a:xfrm flipH="1">
              <a:off x="4756" y="2691"/>
              <a:ext cx="0" cy="13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ndParaRPr>
            </a:p>
          </p:txBody>
        </p:sp>
        <p:sp>
          <p:nvSpPr>
            <p:cNvPr id="128045" name="Line 45">
              <a:extLst>
                <a:ext uri="{FF2B5EF4-FFF2-40B4-BE49-F238E27FC236}">
                  <a16:creationId xmlns:a16="http://schemas.microsoft.com/office/drawing/2014/main" id="{D3C8BA5B-3A7F-4EF8-B72C-15E739015F39}"/>
                </a:ext>
              </a:extLst>
            </p:cNvPr>
            <p:cNvSpPr>
              <a:spLocks noChangeShapeType="1"/>
            </p:cNvSpPr>
            <p:nvPr/>
          </p:nvSpPr>
          <p:spPr bwMode="auto">
            <a:xfrm>
              <a:off x="5076" y="2688"/>
              <a:ext cx="0" cy="127"/>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ndParaRPr>
            </a:p>
          </p:txBody>
        </p:sp>
        <p:sp>
          <p:nvSpPr>
            <p:cNvPr id="128046" name="Rectangle 46">
              <a:extLst>
                <a:ext uri="{FF2B5EF4-FFF2-40B4-BE49-F238E27FC236}">
                  <a16:creationId xmlns:a16="http://schemas.microsoft.com/office/drawing/2014/main" id="{489C6CA7-B4F4-4D6E-A9DF-A8D74EAA0E6E}"/>
                </a:ext>
              </a:extLst>
            </p:cNvPr>
            <p:cNvSpPr>
              <a:spLocks noChangeArrowheads="1"/>
            </p:cNvSpPr>
            <p:nvPr/>
          </p:nvSpPr>
          <p:spPr bwMode="auto">
            <a:xfrm>
              <a:off x="4475" y="2817"/>
              <a:ext cx="188" cy="7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spcBef>
                  <a:spcPct val="50000"/>
                </a:spcBef>
                <a:defRPr/>
              </a:pPr>
              <a:r>
                <a:rPr lang="en-US" altLang="en-US" sz="800">
                  <a:latin typeface="Arial" charset="0"/>
                </a:rPr>
                <a:t>1 day</a:t>
              </a:r>
            </a:p>
          </p:txBody>
        </p:sp>
        <p:sp>
          <p:nvSpPr>
            <p:cNvPr id="128047" name="Rectangle 47">
              <a:extLst>
                <a:ext uri="{FF2B5EF4-FFF2-40B4-BE49-F238E27FC236}">
                  <a16:creationId xmlns:a16="http://schemas.microsoft.com/office/drawing/2014/main" id="{5EC5B825-5735-47E0-8778-F048F254DF13}"/>
                </a:ext>
              </a:extLst>
            </p:cNvPr>
            <p:cNvSpPr>
              <a:spLocks noChangeArrowheads="1"/>
            </p:cNvSpPr>
            <p:nvPr/>
          </p:nvSpPr>
          <p:spPr bwMode="auto">
            <a:xfrm>
              <a:off x="4708" y="2817"/>
              <a:ext cx="224" cy="7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spcBef>
                  <a:spcPct val="50000"/>
                </a:spcBef>
                <a:defRPr/>
              </a:pPr>
              <a:r>
                <a:rPr lang="en-US" altLang="en-US" sz="800">
                  <a:latin typeface="Arial" charset="0"/>
                </a:rPr>
                <a:t>2 days</a:t>
              </a:r>
            </a:p>
          </p:txBody>
        </p:sp>
        <p:sp>
          <p:nvSpPr>
            <p:cNvPr id="128048" name="Rectangle 48">
              <a:extLst>
                <a:ext uri="{FF2B5EF4-FFF2-40B4-BE49-F238E27FC236}">
                  <a16:creationId xmlns:a16="http://schemas.microsoft.com/office/drawing/2014/main" id="{20928B35-33CB-47C4-9DCA-28F5D67A957F}"/>
                </a:ext>
              </a:extLst>
            </p:cNvPr>
            <p:cNvSpPr>
              <a:spLocks noChangeArrowheads="1"/>
            </p:cNvSpPr>
            <p:nvPr/>
          </p:nvSpPr>
          <p:spPr bwMode="auto">
            <a:xfrm>
              <a:off x="4934" y="2817"/>
              <a:ext cx="407" cy="10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0" rIns="92075" bIns="46038">
              <a:spAutoFit/>
            </a:bodyPr>
            <a:lstStyle/>
            <a:p>
              <a:pPr>
                <a:spcBef>
                  <a:spcPct val="50000"/>
                </a:spcBef>
                <a:defRPr/>
              </a:pPr>
              <a:r>
                <a:rPr lang="en-US" altLang="en-US" sz="800">
                  <a:latin typeface="Arial" charset="0"/>
                </a:rPr>
                <a:t>1 week</a:t>
              </a:r>
            </a:p>
          </p:txBody>
        </p:sp>
        <p:sp>
          <p:nvSpPr>
            <p:cNvPr id="128049" name="Rectangle 49">
              <a:extLst>
                <a:ext uri="{FF2B5EF4-FFF2-40B4-BE49-F238E27FC236}">
                  <a16:creationId xmlns:a16="http://schemas.microsoft.com/office/drawing/2014/main" id="{B24A3E80-A40D-43CD-9694-87B3471AE061}"/>
                </a:ext>
              </a:extLst>
            </p:cNvPr>
            <p:cNvSpPr>
              <a:spLocks noChangeArrowheads="1"/>
            </p:cNvSpPr>
            <p:nvPr/>
          </p:nvSpPr>
          <p:spPr bwMode="auto">
            <a:xfrm>
              <a:off x="3532" y="1559"/>
              <a:ext cx="399"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46038">
              <a:spAutoFit/>
            </a:bodyPr>
            <a:lstStyle/>
            <a:p>
              <a:pPr algn="ctr">
                <a:spcBef>
                  <a:spcPct val="50000"/>
                </a:spcBef>
                <a:defRPr/>
              </a:pPr>
              <a:r>
                <a:rPr lang="en-US" altLang="en-US" sz="800">
                  <a:latin typeface="Arial" charset="0"/>
                </a:rPr>
                <a:t>Protons</a:t>
              </a:r>
              <a:br>
                <a:rPr lang="en-US" altLang="en-US" sz="800">
                  <a:latin typeface="Arial" charset="0"/>
                </a:rPr>
              </a:br>
              <a:r>
                <a:rPr lang="en-US" altLang="en-US" sz="800">
                  <a:latin typeface="Arial" charset="0"/>
                </a:rPr>
                <a:t>&gt; 29 MeV</a:t>
              </a:r>
            </a:p>
          </p:txBody>
        </p:sp>
        <p:sp>
          <p:nvSpPr>
            <p:cNvPr id="128050" name="Rectangle 50">
              <a:extLst>
                <a:ext uri="{FF2B5EF4-FFF2-40B4-BE49-F238E27FC236}">
                  <a16:creationId xmlns:a16="http://schemas.microsoft.com/office/drawing/2014/main" id="{4F8F23E6-C5BC-489D-A143-B4E3CC3CB28D}"/>
                </a:ext>
              </a:extLst>
            </p:cNvPr>
            <p:cNvSpPr>
              <a:spLocks noChangeArrowheads="1"/>
            </p:cNvSpPr>
            <p:nvPr/>
          </p:nvSpPr>
          <p:spPr bwMode="auto">
            <a:xfrm>
              <a:off x="3431" y="2494"/>
              <a:ext cx="316" cy="1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spcBef>
                  <a:spcPct val="50000"/>
                </a:spcBef>
                <a:defRPr/>
              </a:pPr>
              <a:r>
                <a:rPr lang="en-US" altLang="en-US" sz="800">
                  <a:latin typeface="Arial" charset="0"/>
                </a:rPr>
                <a:t>Protons</a:t>
              </a:r>
              <a:br>
                <a:rPr lang="en-US" altLang="en-US" sz="800">
                  <a:latin typeface="Arial" charset="0"/>
                </a:rPr>
              </a:br>
              <a:r>
                <a:rPr lang="en-US" altLang="en-US" sz="800">
                  <a:latin typeface="Arial" charset="0"/>
                </a:rPr>
                <a:t>&gt; 500 MeV</a:t>
              </a:r>
            </a:p>
          </p:txBody>
        </p:sp>
        <p:sp>
          <p:nvSpPr>
            <p:cNvPr id="128051" name="Rectangle 51">
              <a:extLst>
                <a:ext uri="{FF2B5EF4-FFF2-40B4-BE49-F238E27FC236}">
                  <a16:creationId xmlns:a16="http://schemas.microsoft.com/office/drawing/2014/main" id="{02DAAF89-28A9-4F56-A3CB-91B8AD249203}"/>
                </a:ext>
              </a:extLst>
            </p:cNvPr>
            <p:cNvSpPr>
              <a:spLocks noChangeArrowheads="1"/>
            </p:cNvSpPr>
            <p:nvPr/>
          </p:nvSpPr>
          <p:spPr bwMode="auto">
            <a:xfrm>
              <a:off x="3394" y="2098"/>
              <a:ext cx="272"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46038">
              <a:spAutoFit/>
            </a:bodyPr>
            <a:lstStyle/>
            <a:p>
              <a:pPr algn="ctr">
                <a:spcBef>
                  <a:spcPct val="50000"/>
                </a:spcBef>
                <a:defRPr/>
              </a:pPr>
              <a:r>
                <a:rPr lang="en-US" altLang="en-US" sz="800">
                  <a:latin typeface="Arial" charset="0"/>
                </a:rPr>
                <a:t>X-Rays</a:t>
              </a:r>
              <a:br>
                <a:rPr lang="en-US" altLang="en-US" sz="800">
                  <a:latin typeface="Arial" charset="0"/>
                </a:rPr>
              </a:br>
              <a:r>
                <a:rPr lang="en-US" altLang="en-US" sz="800">
                  <a:latin typeface="Arial" charset="0"/>
                </a:rPr>
                <a:t>1-8 </a:t>
              </a:r>
              <a:r>
                <a:rPr lang="en-US" altLang="en-US" sz="800">
                  <a:latin typeface="Arial" charset="0"/>
                  <a:sym typeface="Times New Roman Special G1" charset="0"/>
                </a:rPr>
                <a:t></a:t>
              </a:r>
              <a:endParaRPr lang="en-US" altLang="en-US" sz="800">
                <a:latin typeface="Arial" charset="0"/>
              </a:endParaRPr>
            </a:p>
          </p:txBody>
        </p:sp>
        <p:sp>
          <p:nvSpPr>
            <p:cNvPr id="128052" name="Rectangle 52">
              <a:extLst>
                <a:ext uri="{FF2B5EF4-FFF2-40B4-BE49-F238E27FC236}">
                  <a16:creationId xmlns:a16="http://schemas.microsoft.com/office/drawing/2014/main" id="{111E7544-A601-485D-BA6A-8485FDE0A33C}"/>
                </a:ext>
              </a:extLst>
            </p:cNvPr>
            <p:cNvSpPr>
              <a:spLocks noChangeArrowheads="1"/>
            </p:cNvSpPr>
            <p:nvPr/>
          </p:nvSpPr>
          <p:spPr bwMode="auto">
            <a:xfrm>
              <a:off x="4686" y="1496"/>
              <a:ext cx="250" cy="7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spcBef>
                  <a:spcPct val="50000"/>
                </a:spcBef>
                <a:defRPr/>
              </a:pPr>
              <a:r>
                <a:rPr lang="en-US" altLang="en-US" sz="800">
                  <a:latin typeface="Arial" charset="0"/>
                </a:rPr>
                <a:t>Shock</a:t>
              </a:r>
            </a:p>
          </p:txBody>
        </p:sp>
      </p:grpSp>
      <p:sp>
        <p:nvSpPr>
          <p:cNvPr id="128053" name="Text Box 53">
            <a:extLst>
              <a:ext uri="{FF2B5EF4-FFF2-40B4-BE49-F238E27FC236}">
                <a16:creationId xmlns:a16="http://schemas.microsoft.com/office/drawing/2014/main" id="{E3FB7CCA-CAD0-409C-AD6C-BE3D2F3F11AB}"/>
              </a:ext>
            </a:extLst>
          </p:cNvPr>
          <p:cNvSpPr txBox="1">
            <a:spLocks noChangeArrowheads="1"/>
          </p:cNvSpPr>
          <p:nvPr/>
        </p:nvSpPr>
        <p:spPr bwMode="auto">
          <a:xfrm>
            <a:off x="6440898" y="5390221"/>
            <a:ext cx="400843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defRPr/>
            </a:pPr>
            <a:r>
              <a:rPr lang="en-US" altLang="en-US" sz="1400" dirty="0">
                <a:latin typeface="Arial" charset="0"/>
              </a:rPr>
              <a:t>Event activity peaks within a year or two of a sunspot maximum and diminishes greatly during the few years surrounding a sunspot minimum</a:t>
            </a:r>
          </a:p>
        </p:txBody>
      </p:sp>
      <p:sp>
        <p:nvSpPr>
          <p:cNvPr id="2" name="Slide Number Placeholder 1">
            <a:extLst>
              <a:ext uri="{FF2B5EF4-FFF2-40B4-BE49-F238E27FC236}">
                <a16:creationId xmlns:a16="http://schemas.microsoft.com/office/drawing/2014/main" id="{A969386C-0542-4EBE-8456-F9AE247A5382}"/>
              </a:ext>
            </a:extLst>
          </p:cNvPr>
          <p:cNvSpPr>
            <a:spLocks noGrp="1"/>
          </p:cNvSpPr>
          <p:nvPr>
            <p:ph type="sldNum" sz="quarter" idx="12"/>
          </p:nvPr>
        </p:nvSpPr>
        <p:spPr/>
        <p:txBody>
          <a:bodyPr/>
          <a:lstStyle/>
          <a:p>
            <a:fld id="{C83C362F-97FB-4C1E-B0F0-C3069DD0CDD1}" type="slidenum">
              <a:rPr lang="en-US" smtClean="0"/>
              <a:t>11</a:t>
            </a:fld>
            <a:endParaRPr lang="en-US"/>
          </a:p>
        </p:txBody>
      </p:sp>
      <p:sp>
        <p:nvSpPr>
          <p:cNvPr id="6" name="TextBox 5">
            <a:extLst>
              <a:ext uri="{FF2B5EF4-FFF2-40B4-BE49-F238E27FC236}">
                <a16:creationId xmlns:a16="http://schemas.microsoft.com/office/drawing/2014/main" id="{9CB23EEC-D63A-32AD-4205-495AD1AAAAB7}"/>
              </a:ext>
            </a:extLst>
          </p:cNvPr>
          <p:cNvSpPr txBox="1"/>
          <p:nvPr/>
        </p:nvSpPr>
        <p:spPr>
          <a:xfrm>
            <a:off x="5756276" y="4412056"/>
            <a:ext cx="6097348" cy="923330"/>
          </a:xfrm>
          <a:prstGeom prst="rect">
            <a:avLst/>
          </a:prstGeom>
          <a:noFill/>
        </p:spPr>
        <p:txBody>
          <a:bodyPr wrap="square">
            <a:spAutoFit/>
          </a:bodyPr>
          <a:lstStyle/>
          <a:p>
            <a:pPr algn="ctr"/>
            <a:r>
              <a:rPr lang="en-US" dirty="0"/>
              <a:t>Typical timeline of emissions from a solar eruptive event, illustrating the arrival of X-rays, solar energetic protons, and the associated interplanetary shock over time.</a:t>
            </a:r>
          </a:p>
        </p:txBody>
      </p:sp>
    </p:spTree>
    <p:extLst>
      <p:ext uri="{BB962C8B-B14F-4D97-AF65-F5344CB8AC3E}">
        <p14:creationId xmlns:p14="http://schemas.microsoft.com/office/powerpoint/2010/main" val="732098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206CF48C-4E69-477B-B040-7B6DECE9C459}"/>
              </a:ext>
            </a:extLst>
          </p:cNvPr>
          <p:cNvSpPr>
            <a:spLocks noGrp="1" noChangeArrowheads="1"/>
          </p:cNvSpPr>
          <p:nvPr>
            <p:ph type="title"/>
          </p:nvPr>
        </p:nvSpPr>
        <p:spPr>
          <a:xfrm>
            <a:off x="835987" y="-373467"/>
            <a:ext cx="10364451" cy="1596177"/>
          </a:xfrm>
        </p:spPr>
        <p:txBody>
          <a:bodyPr/>
          <a:lstStyle/>
          <a:p>
            <a:pPr>
              <a:defRPr/>
            </a:pPr>
            <a:r>
              <a:rPr lang="en-US" altLang="en-US" dirty="0"/>
              <a:t>The Van Allen Radiation Belts</a:t>
            </a:r>
          </a:p>
        </p:txBody>
      </p:sp>
      <p:pic>
        <p:nvPicPr>
          <p:cNvPr id="40962" name="Picture 38" descr="taos">
            <a:extLst>
              <a:ext uri="{FF2B5EF4-FFF2-40B4-BE49-F238E27FC236}">
                <a16:creationId xmlns:a16="http://schemas.microsoft.com/office/drawing/2014/main" id="{BFC96278-7297-4961-A2BE-FA3D6AEA25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8713" y="4410075"/>
            <a:ext cx="469900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963" name="Group 71" descr="Diagram of Earth's Van Allen radiation belts showing the inner and outer belts surrounding the planet. The Earth's magnetic axis is tilted relative to its rotational axis, causing the inner radiation belt to approach Earth's surface over the South Atlantic, where it forms the South Atlantic Anomaly (SAA).">
            <a:extLst>
              <a:ext uri="{FF2B5EF4-FFF2-40B4-BE49-F238E27FC236}">
                <a16:creationId xmlns:a16="http://schemas.microsoft.com/office/drawing/2014/main" id="{581A220F-C8F8-4D3A-BFE0-7A8DB604AE3D}"/>
              </a:ext>
            </a:extLst>
          </p:cNvPr>
          <p:cNvGrpSpPr>
            <a:grpSpLocks/>
          </p:cNvGrpSpPr>
          <p:nvPr/>
        </p:nvGrpSpPr>
        <p:grpSpPr bwMode="auto">
          <a:xfrm>
            <a:off x="3954463" y="784225"/>
            <a:ext cx="4125912" cy="2192338"/>
            <a:chOff x="1531" y="494"/>
            <a:chExt cx="2599" cy="1381"/>
          </a:xfrm>
        </p:grpSpPr>
        <p:pic>
          <p:nvPicPr>
            <p:cNvPr id="40974" name="Picture 52" descr="belt2">
              <a:extLst>
                <a:ext uri="{FF2B5EF4-FFF2-40B4-BE49-F238E27FC236}">
                  <a16:creationId xmlns:a16="http://schemas.microsoft.com/office/drawing/2014/main" id="{96BB8457-35D9-4DA9-8628-311B62339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383" b="4510"/>
            <a:stretch>
              <a:fillRect/>
            </a:stretch>
          </p:blipFill>
          <p:spPr bwMode="auto">
            <a:xfrm>
              <a:off x="1564" y="494"/>
              <a:ext cx="2566" cy="1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3" name="Text Box 53">
              <a:extLst>
                <a:ext uri="{FF2B5EF4-FFF2-40B4-BE49-F238E27FC236}">
                  <a16:creationId xmlns:a16="http://schemas.microsoft.com/office/drawing/2014/main" id="{E1D6B2A1-3533-45CB-AF35-A84E0B33D900}"/>
                </a:ext>
              </a:extLst>
            </p:cNvPr>
            <p:cNvSpPr txBox="1">
              <a:spLocks noChangeArrowheads="1"/>
            </p:cNvSpPr>
            <p:nvPr/>
          </p:nvSpPr>
          <p:spPr bwMode="auto">
            <a:xfrm>
              <a:off x="2019" y="915"/>
              <a:ext cx="195" cy="21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36576">
              <a:spAutoFit/>
            </a:bodyPr>
            <a:lstStyle/>
            <a:p>
              <a:pPr algn="ctr">
                <a:defRPr/>
              </a:pPr>
              <a:r>
                <a:rPr lang="en-US" altLang="en-US" sz="1000">
                  <a:latin typeface="Arial" charset="0"/>
                </a:rPr>
                <a:t>Inner</a:t>
              </a:r>
            </a:p>
            <a:p>
              <a:pPr algn="ctr">
                <a:defRPr/>
              </a:pPr>
              <a:r>
                <a:rPr lang="en-US" altLang="en-US" sz="1000">
                  <a:latin typeface="Arial" charset="0"/>
                </a:rPr>
                <a:t>Belt</a:t>
              </a:r>
            </a:p>
          </p:txBody>
        </p:sp>
        <p:sp>
          <p:nvSpPr>
            <p:cNvPr id="92214" name="Text Box 54">
              <a:extLst>
                <a:ext uri="{FF2B5EF4-FFF2-40B4-BE49-F238E27FC236}">
                  <a16:creationId xmlns:a16="http://schemas.microsoft.com/office/drawing/2014/main" id="{491F616E-F30B-4CCA-AA5A-0030C8A1ECEA}"/>
                </a:ext>
              </a:extLst>
            </p:cNvPr>
            <p:cNvSpPr txBox="1">
              <a:spLocks noChangeArrowheads="1"/>
            </p:cNvSpPr>
            <p:nvPr/>
          </p:nvSpPr>
          <p:spPr bwMode="auto">
            <a:xfrm>
              <a:off x="3155" y="1475"/>
              <a:ext cx="323" cy="314"/>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36576">
              <a:spAutoFit/>
            </a:bodyPr>
            <a:lstStyle/>
            <a:p>
              <a:pPr algn="ctr">
                <a:defRPr/>
              </a:pPr>
              <a:r>
                <a:rPr lang="en-US" altLang="en-US" sz="1000">
                  <a:latin typeface="Arial" charset="0"/>
                </a:rPr>
                <a:t>South</a:t>
              </a:r>
            </a:p>
            <a:p>
              <a:pPr algn="ctr">
                <a:defRPr/>
              </a:pPr>
              <a:r>
                <a:rPr lang="en-US" altLang="en-US" sz="1000">
                  <a:latin typeface="Arial" charset="0"/>
                </a:rPr>
                <a:t>Atlantic</a:t>
              </a:r>
            </a:p>
            <a:p>
              <a:pPr algn="ctr">
                <a:defRPr/>
              </a:pPr>
              <a:r>
                <a:rPr lang="en-US" altLang="en-US" sz="1000">
                  <a:latin typeface="Arial" charset="0"/>
                </a:rPr>
                <a:t>Anomaly</a:t>
              </a:r>
            </a:p>
          </p:txBody>
        </p:sp>
        <p:sp>
          <p:nvSpPr>
            <p:cNvPr id="92215" name="Text Box 55">
              <a:extLst>
                <a:ext uri="{FF2B5EF4-FFF2-40B4-BE49-F238E27FC236}">
                  <a16:creationId xmlns:a16="http://schemas.microsoft.com/office/drawing/2014/main" id="{B4E365FD-3C39-43EA-BBAA-80ADAAB00402}"/>
                </a:ext>
              </a:extLst>
            </p:cNvPr>
            <p:cNvSpPr txBox="1">
              <a:spLocks noChangeArrowheads="1"/>
            </p:cNvSpPr>
            <p:nvPr/>
          </p:nvSpPr>
          <p:spPr bwMode="auto">
            <a:xfrm>
              <a:off x="1531" y="923"/>
              <a:ext cx="235" cy="21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36576">
              <a:spAutoFit/>
            </a:bodyPr>
            <a:lstStyle/>
            <a:p>
              <a:pPr algn="ctr">
                <a:defRPr/>
              </a:pPr>
              <a:r>
                <a:rPr lang="en-US" altLang="en-US" sz="1000">
                  <a:latin typeface="Arial" charset="0"/>
                </a:rPr>
                <a:t>Outer</a:t>
              </a:r>
            </a:p>
            <a:p>
              <a:pPr algn="ctr">
                <a:defRPr/>
              </a:pPr>
              <a:r>
                <a:rPr lang="en-US" altLang="en-US" sz="1000">
                  <a:latin typeface="Arial" charset="0"/>
                </a:rPr>
                <a:t>Belt</a:t>
              </a:r>
            </a:p>
          </p:txBody>
        </p:sp>
        <p:sp>
          <p:nvSpPr>
            <p:cNvPr id="92216" name="Text Box 56">
              <a:extLst>
                <a:ext uri="{FF2B5EF4-FFF2-40B4-BE49-F238E27FC236}">
                  <a16:creationId xmlns:a16="http://schemas.microsoft.com/office/drawing/2014/main" id="{5CDFEAF3-DD5A-4356-8ADC-DD4CB1C048F3}"/>
                </a:ext>
              </a:extLst>
            </p:cNvPr>
            <p:cNvSpPr txBox="1">
              <a:spLocks noChangeArrowheads="1"/>
            </p:cNvSpPr>
            <p:nvPr/>
          </p:nvSpPr>
          <p:spPr bwMode="auto">
            <a:xfrm>
              <a:off x="2027" y="803"/>
              <a:ext cx="315" cy="9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defRPr/>
              </a:pPr>
              <a:r>
                <a:rPr lang="en-US" altLang="en-US" sz="1000">
                  <a:latin typeface="Arial" charset="0"/>
                </a:rPr>
                <a:t>1200 km</a:t>
              </a:r>
            </a:p>
          </p:txBody>
        </p:sp>
        <p:sp>
          <p:nvSpPr>
            <p:cNvPr id="92217" name="Text Box 57">
              <a:extLst>
                <a:ext uri="{FF2B5EF4-FFF2-40B4-BE49-F238E27FC236}">
                  <a16:creationId xmlns:a16="http://schemas.microsoft.com/office/drawing/2014/main" id="{FD6AE3F1-E7C5-44EC-ABA2-B6C507E1A4F6}"/>
                </a:ext>
              </a:extLst>
            </p:cNvPr>
            <p:cNvSpPr txBox="1">
              <a:spLocks noChangeArrowheads="1"/>
            </p:cNvSpPr>
            <p:nvPr/>
          </p:nvSpPr>
          <p:spPr bwMode="auto">
            <a:xfrm>
              <a:off x="1963" y="1131"/>
              <a:ext cx="315" cy="9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defRPr/>
              </a:pPr>
              <a:r>
                <a:rPr lang="en-US" altLang="en-US" sz="1000">
                  <a:latin typeface="Arial" charset="0"/>
                </a:rPr>
                <a:t>1300 km</a:t>
              </a:r>
            </a:p>
          </p:txBody>
        </p:sp>
        <p:sp>
          <p:nvSpPr>
            <p:cNvPr id="92218" name="Text Box 58">
              <a:extLst>
                <a:ext uri="{FF2B5EF4-FFF2-40B4-BE49-F238E27FC236}">
                  <a16:creationId xmlns:a16="http://schemas.microsoft.com/office/drawing/2014/main" id="{2895CD3B-6545-460A-8FB4-132A9173D176}"/>
                </a:ext>
              </a:extLst>
            </p:cNvPr>
            <p:cNvSpPr txBox="1">
              <a:spLocks noChangeArrowheads="1"/>
            </p:cNvSpPr>
            <p:nvPr/>
          </p:nvSpPr>
          <p:spPr bwMode="auto">
            <a:xfrm>
              <a:off x="3427" y="1003"/>
              <a:ext cx="315" cy="9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defRPr/>
              </a:pPr>
              <a:r>
                <a:rPr lang="en-US" altLang="en-US" sz="1000">
                  <a:latin typeface="Arial" charset="0"/>
                </a:rPr>
                <a:t>800 km</a:t>
              </a:r>
            </a:p>
          </p:txBody>
        </p:sp>
        <p:sp>
          <p:nvSpPr>
            <p:cNvPr id="92219" name="Text Box 59">
              <a:extLst>
                <a:ext uri="{FF2B5EF4-FFF2-40B4-BE49-F238E27FC236}">
                  <a16:creationId xmlns:a16="http://schemas.microsoft.com/office/drawing/2014/main" id="{6E874238-42B7-4CF0-82B1-5607592E7FFE}"/>
                </a:ext>
              </a:extLst>
            </p:cNvPr>
            <p:cNvSpPr txBox="1">
              <a:spLocks noChangeArrowheads="1"/>
            </p:cNvSpPr>
            <p:nvPr/>
          </p:nvSpPr>
          <p:spPr bwMode="auto">
            <a:xfrm>
              <a:off x="3307" y="1299"/>
              <a:ext cx="315" cy="9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lgn="ctr">
                <a:defRPr/>
              </a:pPr>
              <a:r>
                <a:rPr lang="en-US" altLang="en-US" sz="1000">
                  <a:latin typeface="Arial" charset="0"/>
                </a:rPr>
                <a:t>200 km</a:t>
              </a:r>
            </a:p>
          </p:txBody>
        </p:sp>
        <p:sp>
          <p:nvSpPr>
            <p:cNvPr id="92220" name="Text Box 60">
              <a:extLst>
                <a:ext uri="{FF2B5EF4-FFF2-40B4-BE49-F238E27FC236}">
                  <a16:creationId xmlns:a16="http://schemas.microsoft.com/office/drawing/2014/main" id="{45F1EAB1-19C5-428E-AC27-64FCD4B572D2}"/>
                </a:ext>
              </a:extLst>
            </p:cNvPr>
            <p:cNvSpPr txBox="1">
              <a:spLocks noChangeArrowheads="1"/>
            </p:cNvSpPr>
            <p:nvPr/>
          </p:nvSpPr>
          <p:spPr bwMode="auto">
            <a:xfrm>
              <a:off x="3059" y="515"/>
              <a:ext cx="515" cy="192"/>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defRPr/>
              </a:pPr>
              <a:r>
                <a:rPr lang="en-US" altLang="en-US" sz="1000">
                  <a:latin typeface="Arial" charset="0"/>
                </a:rPr>
                <a:t>Magnetic</a:t>
              </a:r>
            </a:p>
            <a:p>
              <a:pPr>
                <a:defRPr/>
              </a:pPr>
              <a:r>
                <a:rPr lang="en-US" altLang="en-US" sz="1000">
                  <a:latin typeface="Arial" charset="0"/>
                </a:rPr>
                <a:t>Axis</a:t>
              </a:r>
            </a:p>
          </p:txBody>
        </p:sp>
        <p:sp>
          <p:nvSpPr>
            <p:cNvPr id="92221" name="Text Box 61">
              <a:extLst>
                <a:ext uri="{FF2B5EF4-FFF2-40B4-BE49-F238E27FC236}">
                  <a16:creationId xmlns:a16="http://schemas.microsoft.com/office/drawing/2014/main" id="{E3337185-88D2-4810-8D43-7748A0F5415A}"/>
                </a:ext>
              </a:extLst>
            </p:cNvPr>
            <p:cNvSpPr txBox="1">
              <a:spLocks noChangeArrowheads="1"/>
            </p:cNvSpPr>
            <p:nvPr/>
          </p:nvSpPr>
          <p:spPr bwMode="auto">
            <a:xfrm>
              <a:off x="2443" y="1683"/>
              <a:ext cx="707"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0" tIns="0" rIns="0" bIns="0">
              <a:spAutoFit/>
            </a:bodyPr>
            <a:lstStyle/>
            <a:p>
              <a:pPr>
                <a:defRPr/>
              </a:pPr>
              <a:r>
                <a:rPr lang="en-US" altLang="en-US" sz="1000">
                  <a:latin typeface="Arial" charset="0"/>
                </a:rPr>
                <a:t>Earth’s</a:t>
              </a:r>
            </a:p>
            <a:p>
              <a:pPr>
                <a:defRPr/>
              </a:pPr>
              <a:r>
                <a:rPr lang="en-US" altLang="en-US" sz="1000">
                  <a:latin typeface="Arial" charset="0"/>
                </a:rPr>
                <a:t>Rotational Axis</a:t>
              </a:r>
            </a:p>
          </p:txBody>
        </p:sp>
      </p:grpSp>
      <p:grpSp>
        <p:nvGrpSpPr>
          <p:cNvPr id="40964" name="Group 66" descr="Diagram of Earth's outer magnetosphere showing the trapped electron radiation belts for electrons with energies greater than 0.5 MeV. Contours illustrate how electron intensity varies with distance from Earth, with the highest concentrations occurring within the radiation belts.">
            <a:extLst>
              <a:ext uri="{FF2B5EF4-FFF2-40B4-BE49-F238E27FC236}">
                <a16:creationId xmlns:a16="http://schemas.microsoft.com/office/drawing/2014/main" id="{4355A67F-81D5-43C6-B663-41F242914F88}"/>
              </a:ext>
            </a:extLst>
          </p:cNvPr>
          <p:cNvGrpSpPr>
            <a:grpSpLocks/>
          </p:cNvGrpSpPr>
          <p:nvPr/>
        </p:nvGrpSpPr>
        <p:grpSpPr bwMode="auto">
          <a:xfrm>
            <a:off x="1774825" y="1865313"/>
            <a:ext cx="2641600" cy="2532062"/>
            <a:chOff x="158" y="1247"/>
            <a:chExt cx="1664" cy="1595"/>
          </a:xfrm>
        </p:grpSpPr>
        <p:pic>
          <p:nvPicPr>
            <p:cNvPr id="40972" name="Picture 35" descr="vb1">
              <a:extLst>
                <a:ext uri="{FF2B5EF4-FFF2-40B4-BE49-F238E27FC236}">
                  <a16:creationId xmlns:a16="http://schemas.microsoft.com/office/drawing/2014/main" id="{712E121D-8633-45B9-A3B6-95FB3F1B12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 y="1247"/>
              <a:ext cx="1664" cy="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2" name="Text Box 62">
              <a:extLst>
                <a:ext uri="{FF2B5EF4-FFF2-40B4-BE49-F238E27FC236}">
                  <a16:creationId xmlns:a16="http://schemas.microsoft.com/office/drawing/2014/main" id="{61CE05AE-CF69-47B6-B3AF-543664A1D39A}"/>
                </a:ext>
              </a:extLst>
            </p:cNvPr>
            <p:cNvSpPr txBox="1">
              <a:spLocks noChangeArrowheads="1"/>
            </p:cNvSpPr>
            <p:nvPr/>
          </p:nvSpPr>
          <p:spPr bwMode="auto">
            <a:xfrm>
              <a:off x="325" y="2573"/>
              <a:ext cx="1329"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altLang="en-US" sz="1200">
                  <a:latin typeface="Arial" charset="0"/>
                </a:rPr>
                <a:t>Electron Belts (E &gt; 0.5 MeV)</a:t>
              </a:r>
            </a:p>
            <a:p>
              <a:pPr algn="ctr">
                <a:defRPr/>
              </a:pPr>
              <a:r>
                <a:rPr lang="en-US" altLang="en-US" sz="1000">
                  <a:latin typeface="Arial" charset="0"/>
                </a:rPr>
                <a:t>SMAD, Fig 8.7</a:t>
              </a:r>
            </a:p>
          </p:txBody>
        </p:sp>
      </p:grpSp>
      <p:grpSp>
        <p:nvGrpSpPr>
          <p:cNvPr id="40965" name="Group 67" descr="Cross-sectional diagram of Earth's inner proton radiation belt for protons with energies greater than 100 MeV. Contours show proton intensity surrounding Earth, with the highest concentrations occurring close to the planet within the inner Van Allen belt.">
            <a:extLst>
              <a:ext uri="{FF2B5EF4-FFF2-40B4-BE49-F238E27FC236}">
                <a16:creationId xmlns:a16="http://schemas.microsoft.com/office/drawing/2014/main" id="{20A2C1ED-AF6C-49E4-AA3C-913E27659813}"/>
              </a:ext>
            </a:extLst>
          </p:cNvPr>
          <p:cNvGrpSpPr>
            <a:grpSpLocks/>
          </p:cNvGrpSpPr>
          <p:nvPr/>
        </p:nvGrpSpPr>
        <p:grpSpPr bwMode="auto">
          <a:xfrm>
            <a:off x="8002588" y="1914525"/>
            <a:ext cx="2665412" cy="2482850"/>
            <a:chOff x="4081" y="1278"/>
            <a:chExt cx="1679" cy="1564"/>
          </a:xfrm>
        </p:grpSpPr>
        <p:pic>
          <p:nvPicPr>
            <p:cNvPr id="40970" name="Picture 36" descr="vb2">
              <a:extLst>
                <a:ext uri="{FF2B5EF4-FFF2-40B4-BE49-F238E27FC236}">
                  <a16:creationId xmlns:a16="http://schemas.microsoft.com/office/drawing/2014/main" id="{66ABAE24-CF32-495D-B501-DB2ADC2D85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1" y="1278"/>
              <a:ext cx="1679" cy="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3" name="Text Box 63">
              <a:extLst>
                <a:ext uri="{FF2B5EF4-FFF2-40B4-BE49-F238E27FC236}">
                  <a16:creationId xmlns:a16="http://schemas.microsoft.com/office/drawing/2014/main" id="{BA5F287B-7AEE-4157-96BE-0FEB4983AC4B}"/>
                </a:ext>
              </a:extLst>
            </p:cNvPr>
            <p:cNvSpPr txBox="1">
              <a:spLocks noChangeArrowheads="1"/>
            </p:cNvSpPr>
            <p:nvPr/>
          </p:nvSpPr>
          <p:spPr bwMode="auto">
            <a:xfrm>
              <a:off x="4301" y="2573"/>
              <a:ext cx="123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altLang="en-US" sz="1200">
                  <a:latin typeface="Arial" charset="0"/>
                </a:rPr>
                <a:t>Proton Belt (E &gt; 100 MeV)</a:t>
              </a:r>
            </a:p>
            <a:p>
              <a:pPr algn="ctr">
                <a:defRPr/>
              </a:pPr>
              <a:r>
                <a:rPr lang="en-US" altLang="en-US" sz="1000">
                  <a:latin typeface="Arial" charset="0"/>
                </a:rPr>
                <a:t>SMAD, Fig 8.8</a:t>
              </a:r>
            </a:p>
          </p:txBody>
        </p:sp>
      </p:grpSp>
      <p:sp>
        <p:nvSpPr>
          <p:cNvPr id="92224" name="Text Box 64">
            <a:extLst>
              <a:ext uri="{FF2B5EF4-FFF2-40B4-BE49-F238E27FC236}">
                <a16:creationId xmlns:a16="http://schemas.microsoft.com/office/drawing/2014/main" id="{A8DDAB9F-5364-4E2D-85F5-16C7752C77D1}"/>
              </a:ext>
            </a:extLst>
          </p:cNvPr>
          <p:cNvSpPr txBox="1">
            <a:spLocks noChangeArrowheads="1"/>
          </p:cNvSpPr>
          <p:nvPr/>
        </p:nvSpPr>
        <p:spPr bwMode="auto">
          <a:xfrm>
            <a:off x="8283576" y="4851401"/>
            <a:ext cx="22955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defRPr/>
            </a:pPr>
            <a:r>
              <a:rPr lang="en-US" altLang="en-US" sz="1200" b="1">
                <a:latin typeface="Arial" charset="0"/>
              </a:rPr>
              <a:t>The South Atlantic Anomaly:</a:t>
            </a:r>
            <a:r>
              <a:rPr lang="en-US" altLang="en-US" sz="1200">
                <a:latin typeface="Arial" charset="0"/>
              </a:rPr>
              <a:t>  Single Event Upsets</a:t>
            </a:r>
          </a:p>
          <a:p>
            <a:pPr algn="ctr">
              <a:defRPr/>
            </a:pPr>
            <a:r>
              <a:rPr lang="en-US" altLang="en-US" sz="1200">
                <a:latin typeface="Arial" charset="0"/>
              </a:rPr>
              <a:t>on the </a:t>
            </a:r>
          </a:p>
          <a:p>
            <a:pPr algn="ctr">
              <a:defRPr/>
            </a:pPr>
            <a:r>
              <a:rPr lang="en-US" altLang="en-US" sz="1200">
                <a:latin typeface="Arial" charset="0"/>
              </a:rPr>
              <a:t>USAF Technology Autonomous Operational Survivability (TAOS) satellite</a:t>
            </a:r>
          </a:p>
        </p:txBody>
      </p:sp>
      <p:sp>
        <p:nvSpPr>
          <p:cNvPr id="92225" name="Rectangle 65">
            <a:extLst>
              <a:ext uri="{FF2B5EF4-FFF2-40B4-BE49-F238E27FC236}">
                <a16:creationId xmlns:a16="http://schemas.microsoft.com/office/drawing/2014/main" id="{95F1BAA3-30F5-4049-A2C5-B49DAE8671A5}"/>
              </a:ext>
            </a:extLst>
          </p:cNvPr>
          <p:cNvSpPr>
            <a:spLocks noChangeArrowheads="1"/>
          </p:cNvSpPr>
          <p:nvPr/>
        </p:nvSpPr>
        <p:spPr bwMode="auto">
          <a:xfrm>
            <a:off x="4310064" y="3656014"/>
            <a:ext cx="3438525" cy="542925"/>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lgn="ctr">
              <a:defRPr/>
            </a:pPr>
            <a:r>
              <a:rPr lang="en-US" altLang="en-US" sz="1400" b="1">
                <a:latin typeface="Arial" charset="0"/>
              </a:rPr>
              <a:t>Radiation belts define a natural upper limit to “low-Earth orbit” of  ~ 900 km</a:t>
            </a:r>
          </a:p>
        </p:txBody>
      </p:sp>
      <p:sp>
        <p:nvSpPr>
          <p:cNvPr id="92228" name="Rectangle 68">
            <a:extLst>
              <a:ext uri="{FF2B5EF4-FFF2-40B4-BE49-F238E27FC236}">
                <a16:creationId xmlns:a16="http://schemas.microsoft.com/office/drawing/2014/main" id="{A3930CC1-0685-4077-8272-79DBAAFD9154}"/>
              </a:ext>
            </a:extLst>
          </p:cNvPr>
          <p:cNvSpPr>
            <a:spLocks noChangeArrowheads="1"/>
          </p:cNvSpPr>
          <p:nvPr/>
        </p:nvSpPr>
        <p:spPr bwMode="auto">
          <a:xfrm>
            <a:off x="4773613" y="3032126"/>
            <a:ext cx="2489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defRPr/>
            </a:pPr>
            <a:r>
              <a:rPr lang="en-US" altLang="en-US" sz="1000">
                <a:latin typeface="Arial" charset="0"/>
              </a:rPr>
              <a:t>http://aoss.engin.umich.edu/earth_space/</a:t>
            </a:r>
          </a:p>
          <a:p>
            <a:pPr algn="ctr">
              <a:defRPr/>
            </a:pPr>
            <a:r>
              <a:rPr lang="en-US" altLang="en-US" sz="1000">
                <a:latin typeface="Arial" charset="0"/>
              </a:rPr>
              <a:t>courtesy of The Aerospace Corporation</a:t>
            </a:r>
          </a:p>
        </p:txBody>
      </p:sp>
      <p:sp>
        <p:nvSpPr>
          <p:cNvPr id="92230" name="Rectangle 70">
            <a:extLst>
              <a:ext uri="{FF2B5EF4-FFF2-40B4-BE49-F238E27FC236}">
                <a16:creationId xmlns:a16="http://schemas.microsoft.com/office/drawing/2014/main" id="{AB1F394D-F082-43F2-88E0-1C3EA148D917}"/>
              </a:ext>
            </a:extLst>
          </p:cNvPr>
          <p:cNvSpPr>
            <a:spLocks noChangeArrowheads="1"/>
          </p:cNvSpPr>
          <p:nvPr/>
        </p:nvSpPr>
        <p:spPr bwMode="auto">
          <a:xfrm>
            <a:off x="8402638" y="6105526"/>
            <a:ext cx="205740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defRPr/>
            </a:pPr>
            <a:r>
              <a:rPr lang="en-US" altLang="en-US" sz="1000">
                <a:latin typeface="Arial" charset="0"/>
              </a:rPr>
              <a:t>http://envnet.gsfc.nasa.gov/</a:t>
            </a:r>
          </a:p>
          <a:p>
            <a:pPr algn="ctr">
              <a:defRPr/>
            </a:pPr>
            <a:r>
              <a:rPr lang="en-US" altLang="en-US" sz="1000">
                <a:latin typeface="Arial" charset="0"/>
              </a:rPr>
              <a:t>Papers/Reno98.html</a:t>
            </a:r>
          </a:p>
        </p:txBody>
      </p:sp>
      <p:sp>
        <p:nvSpPr>
          <p:cNvPr id="2" name="Slide Number Placeholder 1">
            <a:extLst>
              <a:ext uri="{FF2B5EF4-FFF2-40B4-BE49-F238E27FC236}">
                <a16:creationId xmlns:a16="http://schemas.microsoft.com/office/drawing/2014/main" id="{C2AE0990-FD84-44D0-B26A-7904E6C3C8E8}"/>
              </a:ext>
            </a:extLst>
          </p:cNvPr>
          <p:cNvSpPr>
            <a:spLocks noGrp="1"/>
          </p:cNvSpPr>
          <p:nvPr>
            <p:ph type="sldNum" sz="quarter" idx="12"/>
          </p:nvPr>
        </p:nvSpPr>
        <p:spPr/>
        <p:txBody>
          <a:bodyPr/>
          <a:lstStyle/>
          <a:p>
            <a:fld id="{C83C362F-97FB-4C1E-B0F0-C3069DD0CDD1}" type="slidenum">
              <a:rPr lang="en-US" smtClean="0"/>
              <a:t>12</a:t>
            </a:fld>
            <a:endParaRPr lang="en-US"/>
          </a:p>
        </p:txBody>
      </p:sp>
    </p:spTree>
    <p:extLst>
      <p:ext uri="{BB962C8B-B14F-4D97-AF65-F5344CB8AC3E}">
        <p14:creationId xmlns:p14="http://schemas.microsoft.com/office/powerpoint/2010/main" val="3505878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FC25D-FDEB-B4BE-4237-1B31722F1599}"/>
              </a:ext>
            </a:extLst>
          </p:cNvPr>
          <p:cNvSpPr>
            <a:spLocks noGrp="1"/>
          </p:cNvSpPr>
          <p:nvPr>
            <p:ph type="title"/>
          </p:nvPr>
        </p:nvSpPr>
        <p:spPr>
          <a:xfrm>
            <a:off x="8064471" y="2817807"/>
            <a:ext cx="3543464" cy="916531"/>
          </a:xfrm>
        </p:spPr>
        <p:txBody>
          <a:bodyPr vert="horz" lIns="91440" tIns="45720" rIns="91440" bIns="45720" rtlCol="0" anchor="b">
            <a:normAutofit/>
          </a:bodyPr>
          <a:lstStyle/>
          <a:p>
            <a:r>
              <a:rPr lang="en-US" sz="4800" dirty="0">
                <a:solidFill>
                  <a:srgbClr val="7030A0"/>
                </a:solidFill>
              </a:rPr>
              <a:t>EXAMPLE</a:t>
            </a:r>
          </a:p>
        </p:txBody>
      </p:sp>
      <p:pic>
        <p:nvPicPr>
          <p:cNvPr id="2050" name="Picture 2" descr="See the source image">
            <a:extLst>
              <a:ext uri="{FF2B5EF4-FFF2-40B4-BE49-F238E27FC236}">
                <a16:creationId xmlns:a16="http://schemas.microsoft.com/office/drawing/2014/main" id="{3888A6D9-E2BD-1C95-98F4-EE3DBE0233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565" r="15803"/>
          <a:stretch/>
        </p:blipFill>
        <p:spPr bwMode="auto">
          <a:xfrm>
            <a:off x="-12195" y="10"/>
            <a:ext cx="4044430" cy="685799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ee the source image">
            <a:extLst>
              <a:ext uri="{FF2B5EF4-FFF2-40B4-BE49-F238E27FC236}">
                <a16:creationId xmlns:a16="http://schemas.microsoft.com/office/drawing/2014/main" id="{60EDACD6-A186-A233-0869-6AF4B33D8AA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227" r="20111"/>
          <a:stretch/>
        </p:blipFill>
        <p:spPr bwMode="auto">
          <a:xfrm>
            <a:off x="4032237" y="10"/>
            <a:ext cx="3727705" cy="6857991"/>
          </a:xfrm>
          <a:custGeom>
            <a:avLst/>
            <a:gdLst/>
            <a:ahLst/>
            <a:cxnLst/>
            <a:rect l="l" t="t" r="r" b="b"/>
            <a:pathLst>
              <a:path w="3727705" h="6858001">
                <a:moveTo>
                  <a:pt x="2382990" y="0"/>
                </a:moveTo>
                <a:lnTo>
                  <a:pt x="3726528" y="0"/>
                </a:lnTo>
                <a:lnTo>
                  <a:pt x="3701483" y="155677"/>
                </a:lnTo>
                <a:lnTo>
                  <a:pt x="3677614" y="310668"/>
                </a:lnTo>
                <a:lnTo>
                  <a:pt x="3654250" y="466344"/>
                </a:lnTo>
                <a:lnTo>
                  <a:pt x="3634247" y="622707"/>
                </a:lnTo>
                <a:lnTo>
                  <a:pt x="3614076" y="778383"/>
                </a:lnTo>
                <a:lnTo>
                  <a:pt x="3595250" y="934746"/>
                </a:lnTo>
                <a:lnTo>
                  <a:pt x="3579114" y="1089051"/>
                </a:lnTo>
                <a:lnTo>
                  <a:pt x="3563818" y="1245413"/>
                </a:lnTo>
                <a:lnTo>
                  <a:pt x="3549866" y="1401090"/>
                </a:lnTo>
                <a:lnTo>
                  <a:pt x="3537764" y="1554023"/>
                </a:lnTo>
                <a:lnTo>
                  <a:pt x="3525661" y="1709014"/>
                </a:lnTo>
                <a:lnTo>
                  <a:pt x="3515576" y="1861947"/>
                </a:lnTo>
                <a:lnTo>
                  <a:pt x="3507676" y="2014881"/>
                </a:lnTo>
                <a:lnTo>
                  <a:pt x="3499439" y="2167128"/>
                </a:lnTo>
                <a:lnTo>
                  <a:pt x="3492548" y="2318004"/>
                </a:lnTo>
                <a:lnTo>
                  <a:pt x="3487673" y="2467509"/>
                </a:lnTo>
                <a:lnTo>
                  <a:pt x="3483471" y="2617013"/>
                </a:lnTo>
                <a:lnTo>
                  <a:pt x="3479437" y="2765146"/>
                </a:lnTo>
                <a:lnTo>
                  <a:pt x="3477588" y="2911221"/>
                </a:lnTo>
                <a:lnTo>
                  <a:pt x="3475571" y="3057297"/>
                </a:lnTo>
                <a:lnTo>
                  <a:pt x="3474562" y="3201315"/>
                </a:lnTo>
                <a:lnTo>
                  <a:pt x="3475571" y="3343961"/>
                </a:lnTo>
                <a:lnTo>
                  <a:pt x="3475571" y="3485236"/>
                </a:lnTo>
                <a:lnTo>
                  <a:pt x="3477588" y="3625139"/>
                </a:lnTo>
                <a:lnTo>
                  <a:pt x="3480613" y="3762299"/>
                </a:lnTo>
                <a:lnTo>
                  <a:pt x="3483471" y="3898087"/>
                </a:lnTo>
                <a:lnTo>
                  <a:pt x="3486665" y="4031133"/>
                </a:lnTo>
                <a:lnTo>
                  <a:pt x="3491539" y="4163492"/>
                </a:lnTo>
                <a:lnTo>
                  <a:pt x="3496750" y="4293793"/>
                </a:lnTo>
                <a:lnTo>
                  <a:pt x="3501456" y="4421352"/>
                </a:lnTo>
                <a:lnTo>
                  <a:pt x="3514736" y="4670298"/>
                </a:lnTo>
                <a:lnTo>
                  <a:pt x="3528855" y="4908956"/>
                </a:lnTo>
                <a:lnTo>
                  <a:pt x="3543647" y="5138013"/>
                </a:lnTo>
                <a:lnTo>
                  <a:pt x="3559952" y="5354726"/>
                </a:lnTo>
                <a:lnTo>
                  <a:pt x="3576929" y="5561838"/>
                </a:lnTo>
                <a:lnTo>
                  <a:pt x="3595250" y="5753862"/>
                </a:lnTo>
                <a:lnTo>
                  <a:pt x="3613236" y="5934227"/>
                </a:lnTo>
                <a:lnTo>
                  <a:pt x="3631221" y="6100191"/>
                </a:lnTo>
                <a:lnTo>
                  <a:pt x="3648198" y="6252438"/>
                </a:lnTo>
                <a:lnTo>
                  <a:pt x="3664335" y="6387541"/>
                </a:lnTo>
                <a:lnTo>
                  <a:pt x="3679631" y="6509613"/>
                </a:lnTo>
                <a:lnTo>
                  <a:pt x="3692406" y="6612483"/>
                </a:lnTo>
                <a:lnTo>
                  <a:pt x="3704508" y="6698894"/>
                </a:lnTo>
                <a:lnTo>
                  <a:pt x="3721822" y="6817538"/>
                </a:lnTo>
                <a:lnTo>
                  <a:pt x="3727705" y="6858000"/>
                </a:lnTo>
                <a:lnTo>
                  <a:pt x="2822351" y="6858000"/>
                </a:lnTo>
                <a:lnTo>
                  <a:pt x="2822351" y="6858001"/>
                </a:lnTo>
                <a:lnTo>
                  <a:pt x="0" y="6858001"/>
                </a:lnTo>
                <a:lnTo>
                  <a:pt x="0" y="1"/>
                </a:lnTo>
                <a:lnTo>
                  <a:pt x="2382990" y="1"/>
                </a:lnTo>
                <a:close/>
              </a:path>
            </a:pathLst>
          </a:cu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4269E734-43E3-CEFF-98D5-7A1B95DAB5AB}"/>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42D04D60-E5B4-4164-B742-8031034258CE}" type="slidenum">
              <a:rPr lang="en-US">
                <a:solidFill>
                  <a:srgbClr val="FFFFFF"/>
                </a:solidFill>
              </a:rPr>
              <a:pPr>
                <a:spcAft>
                  <a:spcPts val="600"/>
                </a:spcAft>
              </a:pPr>
              <a:t>13</a:t>
            </a:fld>
            <a:endParaRPr lang="en-US">
              <a:solidFill>
                <a:srgbClr val="FFFFFF"/>
              </a:solidFill>
            </a:endParaRPr>
          </a:p>
        </p:txBody>
      </p:sp>
    </p:spTree>
    <p:extLst>
      <p:ext uri="{BB962C8B-B14F-4D97-AF65-F5344CB8AC3E}">
        <p14:creationId xmlns:p14="http://schemas.microsoft.com/office/powerpoint/2010/main" val="1404818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71"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75" name="Rectangle 74">
            <a:extLst>
              <a:ext uri="{FF2B5EF4-FFF2-40B4-BE49-F238E27FC236}">
                <a16:creationId xmlns:a16="http://schemas.microsoft.com/office/drawing/2014/main" id="{45873676-3D69-48B0-BA02-D759766A9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2">
            <a:extLst>
              <a:ext uri="{FF2B5EF4-FFF2-40B4-BE49-F238E27FC236}">
                <a16:creationId xmlns:a16="http://schemas.microsoft.com/office/drawing/2014/main" id="{248E96D7-6599-4607-9958-FD9E100013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See the source image">
            <a:hlinkClick r:id="rId4"/>
            <a:extLst>
              <a:ext uri="{FF2B5EF4-FFF2-40B4-BE49-F238E27FC236}">
                <a16:creationId xmlns:a16="http://schemas.microsoft.com/office/drawing/2014/main" id="{A5AF5CF3-0BA8-452D-923B-9528491EA44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6858" b="24446"/>
          <a:stretch/>
        </p:blipFill>
        <p:spPr bwMode="auto">
          <a:xfrm>
            <a:off x="20" y="-1"/>
            <a:ext cx="12191980" cy="4187739"/>
          </a:xfrm>
          <a:prstGeom prst="rect">
            <a:avLst/>
          </a:prstGeom>
          <a:noFill/>
          <a:extLst>
            <a:ext uri="{909E8E84-426E-40DD-AFC4-6F175D3DCCD1}">
              <a14:hiddenFill xmlns:a14="http://schemas.microsoft.com/office/drawing/2010/main">
                <a:solidFill>
                  <a:srgbClr val="FFFFFF"/>
                </a:solidFill>
              </a14:hiddenFill>
            </a:ext>
          </a:extLst>
        </p:spPr>
      </p:pic>
      <p:cxnSp>
        <p:nvCxnSpPr>
          <p:cNvPr id="79" name="Straight Connector 78">
            <a:extLst>
              <a:ext uri="{FF2B5EF4-FFF2-40B4-BE49-F238E27FC236}">
                <a16:creationId xmlns:a16="http://schemas.microsoft.com/office/drawing/2014/main" id="{99478AA5-D1D0-4B5E-9FDE-6F55026DA3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229100"/>
            <a:ext cx="12192000" cy="0"/>
          </a:xfrm>
          <a:prstGeom prst="line">
            <a:avLst/>
          </a:prstGeom>
          <a:ln w="82550" cap="sq">
            <a:solidFill>
              <a:srgbClr val="D9D9D9"/>
            </a:solidFill>
            <a:miter lim="800000"/>
          </a:ln>
          <a:scene3d>
            <a:camera prst="orthographicFront"/>
            <a:lightRig rig="threePt" dir="t">
              <a:rot lat="0" lon="0" rev="2700000"/>
            </a:lightRig>
          </a:scene3d>
          <a:sp3d contourW="6350">
            <a:bevelT h="38100"/>
            <a:contourClr>
              <a:srgbClr val="BFBFBF"/>
            </a:contourClr>
          </a:sp3d>
        </p:spPr>
        <p:style>
          <a:lnRef idx="1">
            <a:schemeClr val="accent1"/>
          </a:lnRef>
          <a:fillRef idx="0">
            <a:schemeClr val="accent1"/>
          </a:fillRef>
          <a:effectRef idx="0">
            <a:schemeClr val="accent1"/>
          </a:effectRef>
          <a:fontRef idx="minor">
            <a:schemeClr val="tx1"/>
          </a:fontRef>
        </p:style>
      </p:cxnSp>
      <p:pic>
        <p:nvPicPr>
          <p:cNvPr id="81" name="Picture 80">
            <a:extLst>
              <a:ext uri="{FF2B5EF4-FFF2-40B4-BE49-F238E27FC236}">
                <a16:creationId xmlns:a16="http://schemas.microsoft.com/office/drawing/2014/main" id="{3CA8EEE2-DA9A-4635-9B41-33EB565145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F268B86-708F-47C5-B8E7-7B328758C8D6}"/>
              </a:ext>
            </a:extLst>
          </p:cNvPr>
          <p:cNvSpPr>
            <a:spLocks noGrp="1"/>
          </p:cNvSpPr>
          <p:nvPr>
            <p:ph type="title"/>
          </p:nvPr>
        </p:nvSpPr>
        <p:spPr>
          <a:xfrm>
            <a:off x="1146048" y="4437888"/>
            <a:ext cx="9899904" cy="1116711"/>
          </a:xfrm>
        </p:spPr>
        <p:txBody>
          <a:bodyPr vert="horz" lIns="91440" tIns="45720" rIns="91440" bIns="45720" rtlCol="0" anchor="b">
            <a:normAutofit/>
          </a:bodyPr>
          <a:lstStyle/>
          <a:p>
            <a:r>
              <a:rPr lang="en-US" sz="4800" dirty="0"/>
              <a:t>GALACTIC COSMIC RAYS</a:t>
            </a:r>
          </a:p>
        </p:txBody>
      </p:sp>
      <p:sp>
        <p:nvSpPr>
          <p:cNvPr id="3" name="Slide Number Placeholder 2">
            <a:extLst>
              <a:ext uri="{FF2B5EF4-FFF2-40B4-BE49-F238E27FC236}">
                <a16:creationId xmlns:a16="http://schemas.microsoft.com/office/drawing/2014/main" id="{95BF1528-A82D-48EF-A761-374C939AA036}"/>
              </a:ext>
            </a:extLst>
          </p:cNvPr>
          <p:cNvSpPr>
            <a:spLocks noGrp="1"/>
          </p:cNvSpPr>
          <p:nvPr>
            <p:ph type="sldNum" sz="quarter" idx="12"/>
          </p:nvPr>
        </p:nvSpPr>
        <p:spPr>
          <a:xfrm>
            <a:off x="10514011" y="5883275"/>
            <a:ext cx="764215" cy="365125"/>
          </a:xfrm>
        </p:spPr>
        <p:txBody>
          <a:bodyPr vert="horz" lIns="91440" tIns="45720" rIns="91440" bIns="45720" rtlCol="0" anchor="ctr">
            <a:normAutofit/>
          </a:bodyPr>
          <a:lstStyle/>
          <a:p>
            <a:pPr>
              <a:spcAft>
                <a:spcPts val="600"/>
              </a:spcAft>
            </a:pPr>
            <a:fld id="{C83C362F-97FB-4C1E-B0F0-C3069DD0CDD1}" type="slidenum">
              <a:rPr lang="en-US" smtClean="0"/>
              <a:pPr>
                <a:spcAft>
                  <a:spcPts val="600"/>
                </a:spcAft>
              </a:pPr>
              <a:t>14</a:t>
            </a:fld>
            <a:endParaRPr lang="en-US"/>
          </a:p>
        </p:txBody>
      </p:sp>
    </p:spTree>
    <p:extLst>
      <p:ext uri="{BB962C8B-B14F-4D97-AF65-F5344CB8AC3E}">
        <p14:creationId xmlns:p14="http://schemas.microsoft.com/office/powerpoint/2010/main" val="188934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71"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75" name="Rectangle 74">
            <a:extLst>
              <a:ext uri="{FF2B5EF4-FFF2-40B4-BE49-F238E27FC236}">
                <a16:creationId xmlns:a16="http://schemas.microsoft.com/office/drawing/2014/main" id="{45873676-3D69-48B0-BA02-D759766A9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2">
            <a:extLst>
              <a:ext uri="{FF2B5EF4-FFF2-40B4-BE49-F238E27FC236}">
                <a16:creationId xmlns:a16="http://schemas.microsoft.com/office/drawing/2014/main" id="{248E96D7-6599-4607-9958-FD9E100013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See the source image">
            <a:extLst>
              <a:ext uri="{FF2B5EF4-FFF2-40B4-BE49-F238E27FC236}">
                <a16:creationId xmlns:a16="http://schemas.microsoft.com/office/drawing/2014/main" id="{3EDBF3BA-ED5F-4A99-8C65-3BA149C6D61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390" b="30546"/>
          <a:stretch/>
        </p:blipFill>
        <p:spPr bwMode="auto">
          <a:xfrm>
            <a:off x="20" y="-1"/>
            <a:ext cx="12191980" cy="4187739"/>
          </a:xfrm>
          <a:prstGeom prst="rect">
            <a:avLst/>
          </a:prstGeom>
          <a:noFill/>
          <a:extLst>
            <a:ext uri="{909E8E84-426E-40DD-AFC4-6F175D3DCCD1}">
              <a14:hiddenFill xmlns:a14="http://schemas.microsoft.com/office/drawing/2010/main">
                <a:solidFill>
                  <a:srgbClr val="FFFFFF"/>
                </a:solidFill>
              </a14:hiddenFill>
            </a:ext>
          </a:extLst>
        </p:spPr>
      </p:pic>
      <p:cxnSp>
        <p:nvCxnSpPr>
          <p:cNvPr id="79" name="Straight Connector 78">
            <a:extLst>
              <a:ext uri="{FF2B5EF4-FFF2-40B4-BE49-F238E27FC236}">
                <a16:creationId xmlns:a16="http://schemas.microsoft.com/office/drawing/2014/main" id="{99478AA5-D1D0-4B5E-9FDE-6F55026DA3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229100"/>
            <a:ext cx="12192000" cy="0"/>
          </a:xfrm>
          <a:prstGeom prst="line">
            <a:avLst/>
          </a:prstGeom>
          <a:ln w="82550" cap="sq">
            <a:solidFill>
              <a:srgbClr val="D9D9D9"/>
            </a:solidFill>
            <a:miter lim="800000"/>
          </a:ln>
          <a:scene3d>
            <a:camera prst="orthographicFront"/>
            <a:lightRig rig="threePt" dir="t">
              <a:rot lat="0" lon="0" rev="2700000"/>
            </a:lightRig>
          </a:scene3d>
          <a:sp3d contourW="6350">
            <a:bevelT h="38100"/>
            <a:contourClr>
              <a:srgbClr val="BFBFBF"/>
            </a:contourClr>
          </a:sp3d>
        </p:spPr>
        <p:style>
          <a:lnRef idx="1">
            <a:schemeClr val="accent1"/>
          </a:lnRef>
          <a:fillRef idx="0">
            <a:schemeClr val="accent1"/>
          </a:fillRef>
          <a:effectRef idx="0">
            <a:schemeClr val="accent1"/>
          </a:effectRef>
          <a:fontRef idx="minor">
            <a:schemeClr val="tx1"/>
          </a:fontRef>
        </p:style>
      </p:cxnSp>
      <p:pic>
        <p:nvPicPr>
          <p:cNvPr id="81" name="Picture 80">
            <a:extLst>
              <a:ext uri="{FF2B5EF4-FFF2-40B4-BE49-F238E27FC236}">
                <a16:creationId xmlns:a16="http://schemas.microsoft.com/office/drawing/2014/main" id="{3CA8EEE2-DA9A-4635-9B41-33EB565145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BB919B1-11CB-422C-8976-E5F1C948893B}"/>
              </a:ext>
            </a:extLst>
          </p:cNvPr>
          <p:cNvSpPr>
            <a:spLocks noGrp="1"/>
          </p:cNvSpPr>
          <p:nvPr>
            <p:ph type="title"/>
          </p:nvPr>
        </p:nvSpPr>
        <p:spPr>
          <a:xfrm>
            <a:off x="1146048" y="4437888"/>
            <a:ext cx="9899904" cy="1116711"/>
          </a:xfrm>
        </p:spPr>
        <p:txBody>
          <a:bodyPr vert="horz" lIns="91440" tIns="45720" rIns="91440" bIns="45720" rtlCol="0" anchor="b">
            <a:normAutofit/>
          </a:bodyPr>
          <a:lstStyle/>
          <a:p>
            <a:r>
              <a:rPr lang="en-US" sz="4800" dirty="0"/>
              <a:t>NUCLEAR DETONATIONS</a:t>
            </a:r>
          </a:p>
        </p:txBody>
      </p:sp>
      <p:sp>
        <p:nvSpPr>
          <p:cNvPr id="3" name="Slide Number Placeholder 2">
            <a:extLst>
              <a:ext uri="{FF2B5EF4-FFF2-40B4-BE49-F238E27FC236}">
                <a16:creationId xmlns:a16="http://schemas.microsoft.com/office/drawing/2014/main" id="{1A572023-EA70-4F15-BE87-9CB0280F440A}"/>
              </a:ext>
            </a:extLst>
          </p:cNvPr>
          <p:cNvSpPr>
            <a:spLocks noGrp="1"/>
          </p:cNvSpPr>
          <p:nvPr>
            <p:ph type="sldNum" sz="quarter" idx="12"/>
          </p:nvPr>
        </p:nvSpPr>
        <p:spPr>
          <a:xfrm>
            <a:off x="10514011" y="5883275"/>
            <a:ext cx="764215" cy="365125"/>
          </a:xfrm>
        </p:spPr>
        <p:txBody>
          <a:bodyPr vert="horz" lIns="91440" tIns="45720" rIns="91440" bIns="45720" rtlCol="0" anchor="ctr">
            <a:normAutofit/>
          </a:bodyPr>
          <a:lstStyle/>
          <a:p>
            <a:pPr>
              <a:spcAft>
                <a:spcPts val="600"/>
              </a:spcAft>
            </a:pPr>
            <a:fld id="{C83C362F-97FB-4C1E-B0F0-C3069DD0CDD1}" type="slidenum">
              <a:rPr lang="en-US" smtClean="0"/>
              <a:pPr>
                <a:spcAft>
                  <a:spcPts val="600"/>
                </a:spcAft>
              </a:pPr>
              <a:t>15</a:t>
            </a:fld>
            <a:endParaRPr lang="en-US"/>
          </a:p>
        </p:txBody>
      </p:sp>
    </p:spTree>
    <p:extLst>
      <p:ext uri="{BB962C8B-B14F-4D97-AF65-F5344CB8AC3E}">
        <p14:creationId xmlns:p14="http://schemas.microsoft.com/office/powerpoint/2010/main" val="3632164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71"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75" name="Rectangle 74">
            <a:extLst>
              <a:ext uri="{FF2B5EF4-FFF2-40B4-BE49-F238E27FC236}">
                <a16:creationId xmlns:a16="http://schemas.microsoft.com/office/drawing/2014/main" id="{45873676-3D69-48B0-BA02-D759766A9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Picture 2">
            <a:extLst>
              <a:ext uri="{FF2B5EF4-FFF2-40B4-BE49-F238E27FC236}">
                <a16:creationId xmlns:a16="http://schemas.microsoft.com/office/drawing/2014/main" id="{248E96D7-6599-4607-9958-FD9E100013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Picture of RTG">
            <a:extLst>
              <a:ext uri="{FF2B5EF4-FFF2-40B4-BE49-F238E27FC236}">
                <a16:creationId xmlns:a16="http://schemas.microsoft.com/office/drawing/2014/main" id="{C7CA0128-1167-41F8-BCC4-15AB1939AB7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8398" b="30144"/>
          <a:stretch/>
        </p:blipFill>
        <p:spPr bwMode="auto">
          <a:xfrm>
            <a:off x="20" y="-1"/>
            <a:ext cx="12191980" cy="4187739"/>
          </a:xfrm>
          <a:prstGeom prst="rect">
            <a:avLst/>
          </a:prstGeom>
          <a:noFill/>
          <a:extLst>
            <a:ext uri="{909E8E84-426E-40DD-AFC4-6F175D3DCCD1}">
              <a14:hiddenFill xmlns:a14="http://schemas.microsoft.com/office/drawing/2010/main">
                <a:solidFill>
                  <a:srgbClr val="FFFFFF"/>
                </a:solidFill>
              </a14:hiddenFill>
            </a:ext>
          </a:extLst>
        </p:spPr>
      </p:pic>
      <p:cxnSp>
        <p:nvCxnSpPr>
          <p:cNvPr id="79" name="Straight Connector 78">
            <a:extLst>
              <a:ext uri="{FF2B5EF4-FFF2-40B4-BE49-F238E27FC236}">
                <a16:creationId xmlns:a16="http://schemas.microsoft.com/office/drawing/2014/main" id="{99478AA5-D1D0-4B5E-9FDE-6F55026DA3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229100"/>
            <a:ext cx="12192000" cy="0"/>
          </a:xfrm>
          <a:prstGeom prst="line">
            <a:avLst/>
          </a:prstGeom>
          <a:ln w="82550" cap="sq">
            <a:solidFill>
              <a:srgbClr val="D9D9D9"/>
            </a:solidFill>
            <a:miter lim="800000"/>
          </a:ln>
          <a:scene3d>
            <a:camera prst="orthographicFront"/>
            <a:lightRig rig="threePt" dir="t">
              <a:rot lat="0" lon="0" rev="2700000"/>
            </a:lightRig>
          </a:scene3d>
          <a:sp3d contourW="6350">
            <a:bevelT h="38100"/>
            <a:contourClr>
              <a:srgbClr val="BFBFBF"/>
            </a:contourClr>
          </a:sp3d>
        </p:spPr>
        <p:style>
          <a:lnRef idx="1">
            <a:schemeClr val="accent1"/>
          </a:lnRef>
          <a:fillRef idx="0">
            <a:schemeClr val="accent1"/>
          </a:fillRef>
          <a:effectRef idx="0">
            <a:schemeClr val="accent1"/>
          </a:effectRef>
          <a:fontRef idx="minor">
            <a:schemeClr val="tx1"/>
          </a:fontRef>
        </p:style>
      </p:cxnSp>
      <p:pic>
        <p:nvPicPr>
          <p:cNvPr id="81" name="Picture 80">
            <a:extLst>
              <a:ext uri="{FF2B5EF4-FFF2-40B4-BE49-F238E27FC236}">
                <a16:creationId xmlns:a16="http://schemas.microsoft.com/office/drawing/2014/main" id="{3CA8EEE2-DA9A-4635-9B41-33EB565145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42DBE19-AE5A-43CF-A402-2A7A9040BFAD}"/>
              </a:ext>
            </a:extLst>
          </p:cNvPr>
          <p:cNvSpPr>
            <a:spLocks noGrp="1"/>
          </p:cNvSpPr>
          <p:nvPr>
            <p:ph type="title"/>
          </p:nvPr>
        </p:nvSpPr>
        <p:spPr>
          <a:xfrm>
            <a:off x="1146048" y="4437888"/>
            <a:ext cx="9899904" cy="1116711"/>
          </a:xfrm>
        </p:spPr>
        <p:txBody>
          <a:bodyPr vert="horz" lIns="91440" tIns="45720" rIns="91440" bIns="45720" rtlCol="0" anchor="b">
            <a:normAutofit/>
          </a:bodyPr>
          <a:lstStyle/>
          <a:p>
            <a:r>
              <a:rPr lang="en-US" sz="4800" dirty="0"/>
              <a:t>RTGS</a:t>
            </a:r>
          </a:p>
        </p:txBody>
      </p:sp>
      <p:sp>
        <p:nvSpPr>
          <p:cNvPr id="3" name="Slide Number Placeholder 2">
            <a:extLst>
              <a:ext uri="{FF2B5EF4-FFF2-40B4-BE49-F238E27FC236}">
                <a16:creationId xmlns:a16="http://schemas.microsoft.com/office/drawing/2014/main" id="{20797C3B-7D33-4E2E-86C7-2BF180B82DE9}"/>
              </a:ext>
            </a:extLst>
          </p:cNvPr>
          <p:cNvSpPr>
            <a:spLocks noGrp="1"/>
          </p:cNvSpPr>
          <p:nvPr>
            <p:ph type="sldNum" sz="quarter" idx="12"/>
          </p:nvPr>
        </p:nvSpPr>
        <p:spPr>
          <a:xfrm>
            <a:off x="10514011" y="5883275"/>
            <a:ext cx="764215" cy="365125"/>
          </a:xfrm>
        </p:spPr>
        <p:txBody>
          <a:bodyPr vert="horz" lIns="91440" tIns="45720" rIns="91440" bIns="45720" rtlCol="0" anchor="ctr">
            <a:normAutofit/>
          </a:bodyPr>
          <a:lstStyle/>
          <a:p>
            <a:pPr>
              <a:spcAft>
                <a:spcPts val="600"/>
              </a:spcAft>
            </a:pPr>
            <a:fld id="{C83C362F-97FB-4C1E-B0F0-C3069DD0CDD1}" type="slidenum">
              <a:rPr lang="en-US" smtClean="0"/>
              <a:pPr>
                <a:spcAft>
                  <a:spcPts val="600"/>
                </a:spcAft>
              </a:pPr>
              <a:t>16</a:t>
            </a:fld>
            <a:endParaRPr lang="en-US"/>
          </a:p>
        </p:txBody>
      </p:sp>
    </p:spTree>
    <p:extLst>
      <p:ext uri="{BB962C8B-B14F-4D97-AF65-F5344CB8AC3E}">
        <p14:creationId xmlns:p14="http://schemas.microsoft.com/office/powerpoint/2010/main" val="3461603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7294-96B3-83B5-35D2-50648AC816CC}"/>
              </a:ext>
            </a:extLst>
          </p:cNvPr>
          <p:cNvSpPr>
            <a:spLocks noGrp="1"/>
          </p:cNvSpPr>
          <p:nvPr>
            <p:ph type="title"/>
          </p:nvPr>
        </p:nvSpPr>
        <p:spPr>
          <a:xfrm>
            <a:off x="875355" y="403364"/>
            <a:ext cx="3673593" cy="1596177"/>
          </a:xfrm>
        </p:spPr>
        <p:txBody>
          <a:bodyPr/>
          <a:lstStyle/>
          <a:p>
            <a:r>
              <a:rPr lang="en-US" dirty="0"/>
              <a:t>RADIOBIOLOGY</a:t>
            </a:r>
          </a:p>
        </p:txBody>
      </p:sp>
      <p:sp>
        <p:nvSpPr>
          <p:cNvPr id="3" name="Slide Number Placeholder 2">
            <a:extLst>
              <a:ext uri="{FF2B5EF4-FFF2-40B4-BE49-F238E27FC236}">
                <a16:creationId xmlns:a16="http://schemas.microsoft.com/office/drawing/2014/main" id="{5A030167-6BE9-71B0-C94C-D3670D699D23}"/>
              </a:ext>
            </a:extLst>
          </p:cNvPr>
          <p:cNvSpPr>
            <a:spLocks noGrp="1"/>
          </p:cNvSpPr>
          <p:nvPr>
            <p:ph type="sldNum" sz="quarter" idx="12"/>
          </p:nvPr>
        </p:nvSpPr>
        <p:spPr/>
        <p:txBody>
          <a:bodyPr/>
          <a:lstStyle/>
          <a:p>
            <a:fld id="{C83C362F-97FB-4C1E-B0F0-C3069DD0CDD1}" type="slidenum">
              <a:rPr lang="en-US" smtClean="0"/>
              <a:t>17</a:t>
            </a:fld>
            <a:endParaRPr lang="en-US"/>
          </a:p>
        </p:txBody>
      </p:sp>
      <p:graphicFrame>
        <p:nvGraphicFramePr>
          <p:cNvPr id="4" name="Object 3" descr="NASA Human Research Program risk matrix summarizing the risk of radiation-induced cancer for different exploration missions. Operational risks are generally rated acceptable, while long-term cancer risk increases with mission duration and distance from Earth, progressing from acceptable in low Earth orbit to requiring mitigation for Mars missions.">
            <a:extLst>
              <a:ext uri="{FF2B5EF4-FFF2-40B4-BE49-F238E27FC236}">
                <a16:creationId xmlns:a16="http://schemas.microsoft.com/office/drawing/2014/main" id="{8D62FEF2-7F44-13E1-1311-3E29F15E6653}"/>
              </a:ext>
            </a:extLst>
          </p:cNvPr>
          <p:cNvGraphicFramePr>
            <a:graphicFrameLocks noChangeAspect="1"/>
          </p:cNvGraphicFramePr>
          <p:nvPr>
            <p:extLst>
              <p:ext uri="{D42A27DB-BD31-4B8C-83A1-F6EECF244321}">
                <p14:modId xmlns:p14="http://schemas.microsoft.com/office/powerpoint/2010/main" val="3984008191"/>
              </p:ext>
            </p:extLst>
          </p:nvPr>
        </p:nvGraphicFramePr>
        <p:xfrm>
          <a:off x="5371646" y="498475"/>
          <a:ext cx="6673850" cy="5861050"/>
        </p:xfrm>
        <a:graphic>
          <a:graphicData uri="http://schemas.openxmlformats.org/presentationml/2006/ole">
            <mc:AlternateContent xmlns:mc="http://schemas.openxmlformats.org/markup-compatibility/2006">
              <mc:Choice xmlns:v="urn:schemas-microsoft-com:vml" Requires="v">
                <p:oleObj name="Bitmap Image" r:id="rId2" imgW="6673680" imgH="5861160" progId="PBrush">
                  <p:embed/>
                </p:oleObj>
              </mc:Choice>
              <mc:Fallback>
                <p:oleObj name="Bitmap Image" r:id="rId2" imgW="6673680" imgH="5861160" progId="PBrush">
                  <p:embed/>
                  <p:pic>
                    <p:nvPicPr>
                      <p:cNvPr id="4" name="Object 3" descr="NASA Human Research Program risk matrix summarizing the risk of radiation-induced cancer for different exploration missions. Operational risks are generally rated acceptable, while long-term cancer risk increases with mission duration and distance from Earth, progressing from acceptable in low Earth orbit to requiring mitigation for Mars missions.">
                        <a:extLst>
                          <a:ext uri="{FF2B5EF4-FFF2-40B4-BE49-F238E27FC236}">
                            <a16:creationId xmlns:a16="http://schemas.microsoft.com/office/drawing/2014/main" id="{8D62FEF2-7F44-13E1-1311-3E29F15E6653}"/>
                          </a:ext>
                        </a:extLst>
                      </p:cNvPr>
                      <p:cNvPicPr/>
                      <p:nvPr/>
                    </p:nvPicPr>
                    <p:blipFill>
                      <a:blip r:embed="rId3"/>
                      <a:stretch>
                        <a:fillRect/>
                      </a:stretch>
                    </p:blipFill>
                    <p:spPr>
                      <a:xfrm>
                        <a:off x="5371646" y="498475"/>
                        <a:ext cx="6673850" cy="5861050"/>
                      </a:xfrm>
                      <a:prstGeom prst="rect">
                        <a:avLst/>
                      </a:prstGeom>
                    </p:spPr>
                  </p:pic>
                </p:oleObj>
              </mc:Fallback>
            </mc:AlternateContent>
          </a:graphicData>
        </a:graphic>
      </p:graphicFrame>
      <p:sp>
        <p:nvSpPr>
          <p:cNvPr id="5" name="Title 1">
            <a:extLst>
              <a:ext uri="{FF2B5EF4-FFF2-40B4-BE49-F238E27FC236}">
                <a16:creationId xmlns:a16="http://schemas.microsoft.com/office/drawing/2014/main" id="{7A7D75D8-5FFF-5135-A220-26857500803C}"/>
              </a:ext>
            </a:extLst>
          </p:cNvPr>
          <p:cNvSpPr txBox="1">
            <a:spLocks/>
          </p:cNvSpPr>
          <p:nvPr/>
        </p:nvSpPr>
        <p:spPr>
          <a:xfrm>
            <a:off x="781866" y="1716053"/>
            <a:ext cx="3673593" cy="4738583"/>
          </a:xfrm>
          <a:prstGeom prst="rect">
            <a:avLst/>
          </a:prstGeom>
        </p:spPr>
        <p:txBody>
          <a:bodyPr vert="horz" lIns="91440" tIns="45720" rIns="91440" bIns="45720" rtlCol="0" anchor="ctr">
            <a:normAutofit fontScale="77500" lnSpcReduction="20000"/>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pPr marL="571500" indent="-571500" algn="l">
              <a:buFontTx/>
              <a:buChar char="-"/>
            </a:pPr>
            <a:r>
              <a:rPr lang="en-US" dirty="0"/>
              <a:t>Acute and late central nervous system effects</a:t>
            </a:r>
          </a:p>
          <a:p>
            <a:pPr marL="571500" indent="-571500" algn="l">
              <a:buFontTx/>
              <a:buChar char="-"/>
            </a:pPr>
            <a:r>
              <a:rPr lang="en-US" dirty="0"/>
              <a:t>Acute radiation syndromes due to </a:t>
            </a:r>
            <a:r>
              <a:rPr lang="en-US" dirty="0" err="1"/>
              <a:t>spes</a:t>
            </a:r>
            <a:endParaRPr lang="en-US" dirty="0"/>
          </a:p>
          <a:p>
            <a:pPr marL="571500" indent="-571500" algn="l">
              <a:buFontTx/>
              <a:buChar char="-"/>
            </a:pPr>
            <a:r>
              <a:rPr lang="en-US" dirty="0"/>
              <a:t>Cardiovascular disease/degenerative tissue</a:t>
            </a:r>
          </a:p>
          <a:p>
            <a:pPr marL="571500" indent="-571500" algn="l">
              <a:buFontTx/>
              <a:buChar char="-"/>
            </a:pPr>
            <a:r>
              <a:rPr lang="en-US" dirty="0"/>
              <a:t>Radiation carcinogenesis</a:t>
            </a:r>
          </a:p>
        </p:txBody>
      </p:sp>
    </p:spTree>
    <p:extLst>
      <p:ext uri="{BB962C8B-B14F-4D97-AF65-F5344CB8AC3E}">
        <p14:creationId xmlns:p14="http://schemas.microsoft.com/office/powerpoint/2010/main" val="2473192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ee the source image">
            <a:extLst>
              <a:ext uri="{FF2B5EF4-FFF2-40B4-BE49-F238E27FC236}">
                <a16:creationId xmlns:a16="http://schemas.microsoft.com/office/drawing/2014/main" id="{20ECA0F6-5A96-5B69-FECF-D5342B5EB2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705"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5E2CA4A-7672-C4AD-D325-40C92A92BE24}"/>
              </a:ext>
            </a:extLst>
          </p:cNvPr>
          <p:cNvSpPr>
            <a:spLocks noGrp="1"/>
          </p:cNvSpPr>
          <p:nvPr>
            <p:ph type="title"/>
          </p:nvPr>
        </p:nvSpPr>
        <p:spPr>
          <a:xfrm>
            <a:off x="913774" y="-202195"/>
            <a:ext cx="10364451" cy="1596177"/>
          </a:xfrm>
        </p:spPr>
        <p:txBody>
          <a:bodyPr/>
          <a:lstStyle/>
          <a:p>
            <a:pPr algn="ctr"/>
            <a:r>
              <a:rPr lang="en-US" dirty="0">
                <a:solidFill>
                  <a:schemeClr val="bg1"/>
                </a:solidFill>
              </a:rPr>
              <a:t>RADIATION DEFINITIONS</a:t>
            </a:r>
          </a:p>
        </p:txBody>
      </p:sp>
      <p:sp>
        <p:nvSpPr>
          <p:cNvPr id="3" name="Content Placeholder 2">
            <a:extLst>
              <a:ext uri="{FF2B5EF4-FFF2-40B4-BE49-F238E27FC236}">
                <a16:creationId xmlns:a16="http://schemas.microsoft.com/office/drawing/2014/main" id="{FB47D473-92A9-959C-E91C-E88D98EA0357}"/>
              </a:ext>
            </a:extLst>
          </p:cNvPr>
          <p:cNvSpPr>
            <a:spLocks noGrp="1"/>
          </p:cNvSpPr>
          <p:nvPr>
            <p:ph idx="1"/>
          </p:nvPr>
        </p:nvSpPr>
        <p:spPr>
          <a:xfrm>
            <a:off x="838200" y="1393982"/>
            <a:ext cx="10515600" cy="4351338"/>
          </a:xfrm>
        </p:spPr>
        <p:txBody>
          <a:bodyPr/>
          <a:lstStyle/>
          <a:p>
            <a:r>
              <a:rPr lang="en-US" dirty="0">
                <a:solidFill>
                  <a:schemeClr val="bg1"/>
                </a:solidFill>
              </a:rPr>
              <a:t>RADIOBIOLOGY</a:t>
            </a:r>
          </a:p>
          <a:p>
            <a:pPr marL="0" indent="0">
              <a:buNone/>
            </a:pPr>
            <a:endParaRPr lang="en-US" dirty="0">
              <a:solidFill>
                <a:schemeClr val="bg1"/>
              </a:solidFill>
            </a:endParaRPr>
          </a:p>
          <a:p>
            <a:r>
              <a:rPr lang="en-US" dirty="0">
                <a:solidFill>
                  <a:schemeClr val="bg1"/>
                </a:solidFill>
              </a:rPr>
              <a:t>- DETERMINISTIC</a:t>
            </a:r>
          </a:p>
          <a:p>
            <a:endParaRPr lang="en-US" dirty="0">
              <a:solidFill>
                <a:schemeClr val="bg1"/>
              </a:solidFill>
            </a:endParaRPr>
          </a:p>
          <a:p>
            <a:r>
              <a:rPr lang="en-US" dirty="0">
                <a:solidFill>
                  <a:schemeClr val="bg1"/>
                </a:solidFill>
              </a:rPr>
              <a:t>- STOCHASTIC</a:t>
            </a:r>
          </a:p>
          <a:p>
            <a:endParaRPr lang="en-US" dirty="0">
              <a:solidFill>
                <a:schemeClr val="bg1"/>
              </a:solidFill>
            </a:endParaRPr>
          </a:p>
          <a:p>
            <a:r>
              <a:rPr lang="en-US" dirty="0">
                <a:solidFill>
                  <a:schemeClr val="bg1"/>
                </a:solidFill>
              </a:rPr>
              <a:t>ALARA</a:t>
            </a:r>
          </a:p>
        </p:txBody>
      </p:sp>
    </p:spTree>
    <p:extLst>
      <p:ext uri="{BB962C8B-B14F-4D97-AF65-F5344CB8AC3E}">
        <p14:creationId xmlns:p14="http://schemas.microsoft.com/office/powerpoint/2010/main" val="2904615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2CA4A-7672-C4AD-D325-40C92A92BE24}"/>
              </a:ext>
            </a:extLst>
          </p:cNvPr>
          <p:cNvSpPr>
            <a:spLocks noGrp="1"/>
          </p:cNvSpPr>
          <p:nvPr>
            <p:ph type="title"/>
          </p:nvPr>
        </p:nvSpPr>
        <p:spPr>
          <a:xfrm>
            <a:off x="913774" y="-202195"/>
            <a:ext cx="10364451" cy="1596177"/>
          </a:xfrm>
        </p:spPr>
        <p:txBody>
          <a:bodyPr/>
          <a:lstStyle/>
          <a:p>
            <a:pPr algn="ctr"/>
            <a:r>
              <a:rPr lang="en-US" dirty="0"/>
              <a:t>RADIATION DEFINITIONS - UNITS</a:t>
            </a:r>
          </a:p>
        </p:txBody>
      </p:sp>
      <p:sp>
        <p:nvSpPr>
          <p:cNvPr id="3" name="Content Placeholder 2">
            <a:extLst>
              <a:ext uri="{FF2B5EF4-FFF2-40B4-BE49-F238E27FC236}">
                <a16:creationId xmlns:a16="http://schemas.microsoft.com/office/drawing/2014/main" id="{FB47D473-92A9-959C-E91C-E88D98EA0357}"/>
              </a:ext>
            </a:extLst>
          </p:cNvPr>
          <p:cNvSpPr>
            <a:spLocks noGrp="1"/>
          </p:cNvSpPr>
          <p:nvPr>
            <p:ph idx="1"/>
          </p:nvPr>
        </p:nvSpPr>
        <p:spPr>
          <a:xfrm>
            <a:off x="838200" y="1393982"/>
            <a:ext cx="5208181" cy="4351338"/>
          </a:xfrm>
        </p:spPr>
        <p:txBody>
          <a:bodyPr>
            <a:normAutofit/>
          </a:bodyPr>
          <a:lstStyle/>
          <a:p>
            <a:r>
              <a:rPr lang="en-US" dirty="0"/>
              <a:t>ACTIVITY</a:t>
            </a:r>
          </a:p>
          <a:p>
            <a:endParaRPr lang="en-US" dirty="0"/>
          </a:p>
          <a:p>
            <a:r>
              <a:rPr lang="en-US" dirty="0"/>
              <a:t>EXPOSURE</a:t>
            </a:r>
          </a:p>
          <a:p>
            <a:pPr lvl="1"/>
            <a:r>
              <a:rPr lang="en-US" dirty="0"/>
              <a:t>ROENTGEN</a:t>
            </a:r>
          </a:p>
          <a:p>
            <a:pPr lvl="1"/>
            <a:endParaRPr lang="en-US" dirty="0"/>
          </a:p>
          <a:p>
            <a:r>
              <a:rPr lang="en-US" dirty="0"/>
              <a:t>RAD</a:t>
            </a:r>
          </a:p>
          <a:p>
            <a:pPr lvl="1"/>
            <a:r>
              <a:rPr lang="en-US" dirty="0"/>
              <a:t>GRAY</a:t>
            </a:r>
          </a:p>
          <a:p>
            <a:pPr lvl="1"/>
            <a:endParaRPr lang="en-US" dirty="0"/>
          </a:p>
          <a:p>
            <a:r>
              <a:rPr lang="en-US" dirty="0"/>
              <a:t>SAR</a:t>
            </a:r>
          </a:p>
          <a:p>
            <a:endParaRPr lang="en-US" dirty="0"/>
          </a:p>
        </p:txBody>
      </p:sp>
    </p:spTree>
    <p:extLst>
      <p:ext uri="{BB962C8B-B14F-4D97-AF65-F5344CB8AC3E}">
        <p14:creationId xmlns:p14="http://schemas.microsoft.com/office/powerpoint/2010/main" val="293474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2CA4A-7672-C4AD-D325-40C92A92BE24}"/>
              </a:ext>
            </a:extLst>
          </p:cNvPr>
          <p:cNvSpPr>
            <a:spLocks noGrp="1"/>
          </p:cNvSpPr>
          <p:nvPr>
            <p:ph type="title"/>
          </p:nvPr>
        </p:nvSpPr>
        <p:spPr>
          <a:xfrm>
            <a:off x="913774" y="-202195"/>
            <a:ext cx="10364451" cy="1596177"/>
          </a:xfrm>
        </p:spPr>
        <p:txBody>
          <a:bodyPr/>
          <a:lstStyle/>
          <a:p>
            <a:pPr algn="ctr"/>
            <a:r>
              <a:rPr lang="en-US" dirty="0"/>
              <a:t>RADIATION ENVIRONMENT DEFINITIONS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47D473-92A9-959C-E91C-E88D98EA0357}"/>
                  </a:ext>
                </a:extLst>
              </p:cNvPr>
              <p:cNvSpPr>
                <a:spLocks noGrp="1"/>
              </p:cNvSpPr>
              <p:nvPr>
                <p:ph idx="1"/>
              </p:nvPr>
            </p:nvSpPr>
            <p:spPr>
              <a:xfrm>
                <a:off x="838200" y="1393982"/>
                <a:ext cx="10515600" cy="4351338"/>
              </a:xfrm>
            </p:spPr>
            <p:txBody>
              <a:bodyPr>
                <a:normAutofit fontScale="92500" lnSpcReduction="20000"/>
              </a:bodyPr>
              <a:lstStyle/>
              <a:p>
                <a:r>
                  <a:rPr lang="en-US" dirty="0"/>
                  <a:t>Absorbed dose (d)</a:t>
                </a:r>
              </a:p>
              <a:p>
                <a:pPr lvl="1"/>
                <a:r>
                  <a:rPr lang="en-US" dirty="0"/>
                  <a:t>Gray</a:t>
                </a:r>
              </a:p>
              <a:p>
                <a:pPr lvl="1"/>
                <a:endParaRPr lang="en-US" dirty="0"/>
              </a:p>
              <a:p>
                <a:r>
                  <a:rPr lang="en-US" dirty="0"/>
                  <a:t>Equivalent dose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𝑇</m:t>
                        </m:r>
                      </m:sub>
                    </m:sSub>
                    <m:r>
                      <a:rPr lang="en-US" b="0" i="1" smtClean="0">
                        <a:latin typeface="Cambria Math" panose="02040503050406030204" pitchFamily="18" charset="0"/>
                      </a:rPr>
                      <m:t>)</m:t>
                    </m:r>
                  </m:oMath>
                </a14:m>
                <a:endParaRPr lang="en-US" b="0" dirty="0"/>
              </a:p>
              <a:p>
                <a:pPr lvl="1"/>
                <a:r>
                  <a:rPr lang="en-US" dirty="0"/>
                  <a:t>Sievert</a:t>
                </a:r>
              </a:p>
              <a:p>
                <a:pPr marL="0" indent="0">
                  <a:buNone/>
                </a:pPr>
                <a:endParaRPr lang="en-US" dirty="0"/>
              </a:p>
              <a:p>
                <a:r>
                  <a:rPr lang="en-US" dirty="0"/>
                  <a:t>RBE</a:t>
                </a:r>
              </a:p>
              <a:p>
                <a:pPr marL="0" indent="0">
                  <a:buNone/>
                </a:pPr>
                <a:endParaRPr lang="en-US" dirty="0"/>
              </a:p>
              <a:p>
                <a:r>
                  <a:rPr lang="en-US" dirty="0"/>
                  <a:t>RAD</a:t>
                </a:r>
              </a:p>
              <a:p>
                <a:pPr marL="457200" lvl="1" indent="0">
                  <a:buNone/>
                </a:pPr>
                <a:endParaRPr lang="en-US" dirty="0"/>
              </a:p>
              <a:p>
                <a:r>
                  <a:rPr lang="en-US" dirty="0"/>
                  <a:t>REM (Roentgen Equivalent Man)</a:t>
                </a:r>
              </a:p>
            </p:txBody>
          </p:sp>
        </mc:Choice>
        <mc:Fallback xmlns="">
          <p:sp>
            <p:nvSpPr>
              <p:cNvPr id="3" name="Content Placeholder 2">
                <a:extLst>
                  <a:ext uri="{FF2B5EF4-FFF2-40B4-BE49-F238E27FC236}">
                    <a16:creationId xmlns:a16="http://schemas.microsoft.com/office/drawing/2014/main" id="{FB47D473-92A9-959C-E91C-E88D98EA0357}"/>
                  </a:ext>
                </a:extLst>
              </p:cNvPr>
              <p:cNvSpPr>
                <a:spLocks noGrp="1" noRot="1" noChangeAspect="1" noMove="1" noResize="1" noEditPoints="1" noAdjustHandles="1" noChangeArrowheads="1" noChangeShapeType="1" noTextEdit="1"/>
              </p:cNvSpPr>
              <p:nvPr>
                <p:ph idx="1"/>
              </p:nvPr>
            </p:nvSpPr>
            <p:spPr>
              <a:xfrm>
                <a:off x="838200" y="1393982"/>
                <a:ext cx="10515600" cy="4351338"/>
              </a:xfrm>
              <a:blipFill>
                <a:blip r:embed="rId2"/>
                <a:stretch>
                  <a:fillRect l="-464" t="-842"/>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BA6C90FB-F001-9206-118E-AA90262FD5A5}"/>
              </a:ext>
            </a:extLst>
          </p:cNvPr>
          <p:cNvSpPr txBox="1"/>
          <p:nvPr/>
        </p:nvSpPr>
        <p:spPr>
          <a:xfrm>
            <a:off x="6286500" y="2839135"/>
            <a:ext cx="2736850" cy="646331"/>
          </a:xfrm>
          <a:prstGeom prst="rect">
            <a:avLst/>
          </a:prstGeom>
          <a:noFill/>
        </p:spPr>
        <p:txBody>
          <a:bodyPr wrap="square">
            <a:spAutoFit/>
          </a:bodyPr>
          <a:lstStyle/>
          <a:p>
            <a:pPr marL="0" indent="0">
              <a:buNone/>
            </a:pPr>
            <a:endParaRPr lang="en-US" dirty="0"/>
          </a:p>
          <a:p>
            <a:pPr marL="0" indent="0">
              <a:buNone/>
            </a:pPr>
            <a:r>
              <a:rPr lang="en-US" dirty="0">
                <a:solidFill>
                  <a:srgbClr val="FF0000"/>
                </a:solidFill>
              </a:rPr>
              <a:t>REM = RAD * RBE</a:t>
            </a:r>
          </a:p>
        </p:txBody>
      </p:sp>
    </p:spTree>
    <p:extLst>
      <p:ext uri="{BB962C8B-B14F-4D97-AF65-F5344CB8AC3E}">
        <p14:creationId xmlns:p14="http://schemas.microsoft.com/office/powerpoint/2010/main" val="3867880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175AC-24F4-7039-90D6-2FAEE09F4D0D}"/>
              </a:ext>
            </a:extLst>
          </p:cNvPr>
          <p:cNvSpPr>
            <a:spLocks noGrp="1"/>
          </p:cNvSpPr>
          <p:nvPr>
            <p:ph type="title"/>
          </p:nvPr>
        </p:nvSpPr>
        <p:spPr>
          <a:xfrm>
            <a:off x="913774" y="21266"/>
            <a:ext cx="10364451" cy="1596177"/>
          </a:xfrm>
        </p:spPr>
        <p:txBody>
          <a:bodyPr/>
          <a:lstStyle/>
          <a:p>
            <a:pPr algn="ctr"/>
            <a:r>
              <a:rPr lang="en-US" dirty="0"/>
              <a:t>DOSE LEVELS</a:t>
            </a:r>
          </a:p>
        </p:txBody>
      </p:sp>
      <p:sp>
        <p:nvSpPr>
          <p:cNvPr id="3" name="Content Placeholder 2">
            <a:extLst>
              <a:ext uri="{FF2B5EF4-FFF2-40B4-BE49-F238E27FC236}">
                <a16:creationId xmlns:a16="http://schemas.microsoft.com/office/drawing/2014/main" id="{13662B0B-7F22-1F8C-BDAE-A0AAF7897C92}"/>
              </a:ext>
            </a:extLst>
          </p:cNvPr>
          <p:cNvSpPr>
            <a:spLocks noGrp="1"/>
          </p:cNvSpPr>
          <p:nvPr>
            <p:ph idx="1"/>
          </p:nvPr>
        </p:nvSpPr>
        <p:spPr>
          <a:xfrm>
            <a:off x="838201" y="1825625"/>
            <a:ext cx="4929554" cy="2103950"/>
          </a:xfrm>
        </p:spPr>
        <p:txBody>
          <a:bodyPr/>
          <a:lstStyle/>
          <a:p>
            <a:pPr marL="0" indent="0">
              <a:buNone/>
            </a:pPr>
            <a:r>
              <a:rPr lang="en-US" dirty="0"/>
              <a:t>What				RBE	</a:t>
            </a:r>
          </a:p>
          <a:p>
            <a:pPr marL="0" indent="0">
              <a:buNone/>
            </a:pPr>
            <a:r>
              <a:rPr lang="en-US" dirty="0"/>
              <a:t>EM Radiation at Earth	  	1</a:t>
            </a:r>
          </a:p>
          <a:p>
            <a:pPr marL="0" indent="0">
              <a:buNone/>
            </a:pPr>
            <a:r>
              <a:rPr lang="en-US" dirty="0"/>
              <a:t>Radiation Belts			5 – 7</a:t>
            </a:r>
          </a:p>
          <a:p>
            <a:pPr marL="0" indent="0">
              <a:buNone/>
            </a:pPr>
            <a:r>
              <a:rPr lang="en-US" dirty="0"/>
              <a:t>Charged Particles		10</a:t>
            </a:r>
          </a:p>
          <a:p>
            <a:pPr marL="0" indent="0">
              <a:buNone/>
            </a:pPr>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17C42918-81FD-1220-7C1C-7DA1E7ABD44D}"/>
                  </a:ext>
                </a:extLst>
              </p:cNvPr>
              <p:cNvSpPr txBox="1">
                <a:spLocks/>
              </p:cNvSpPr>
              <p:nvPr/>
            </p:nvSpPr>
            <p:spPr>
              <a:xfrm>
                <a:off x="6237849" y="1776388"/>
                <a:ext cx="5764237"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What				Damage 					Threshold 					(Gray)	</a:t>
                </a:r>
              </a:p>
              <a:p>
                <a:pPr marL="0" indent="0">
                  <a:buFont typeface="Arial" panose="020B0604020202020204" pitchFamily="34" charset="0"/>
                  <a:buNone/>
                </a:pPr>
                <a:r>
                  <a:rPr lang="en-US" dirty="0"/>
                  <a:t>Humans/animals		0.1 – 1</a:t>
                </a:r>
              </a:p>
              <a:p>
                <a:pPr marL="0" indent="0">
                  <a:buFont typeface="Arial" panose="020B0604020202020204" pitchFamily="34" charset="0"/>
                  <a:buNone/>
                </a:pPr>
                <a:r>
                  <a:rPr lang="en-US" dirty="0"/>
                  <a:t>Electronics			1 – 10000</a:t>
                </a:r>
              </a:p>
              <a:p>
                <a:pPr marL="0" indent="0">
                  <a:buFont typeface="Arial" panose="020B0604020202020204" pitchFamily="34" charset="0"/>
                  <a:buNone/>
                </a:pPr>
                <a:r>
                  <a:rPr lang="en-US" dirty="0"/>
                  <a:t>Lubricants/fluids		1000–10000</a:t>
                </a:r>
              </a:p>
              <a:p>
                <a:pPr marL="0" indent="0">
                  <a:buNone/>
                </a:pPr>
                <a:r>
                  <a:rPr lang="en-US" dirty="0"/>
                  <a:t>Ceramics/glasses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4</m:t>
                        </m:r>
                      </m:sup>
                    </m:sSup>
                    <m:r>
                      <a:rPr lang="en-US" b="0" i="1" smtClean="0">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6</m:t>
                        </m:r>
                      </m:sup>
                    </m:sSup>
                  </m:oMath>
                </a14:m>
                <a:endParaRPr lang="en-US" dirty="0"/>
              </a:p>
              <a:p>
                <a:pPr marL="0" indent="0">
                  <a:buNone/>
                </a:pPr>
                <a:r>
                  <a:rPr lang="en-US" dirty="0"/>
                  <a:t>Polymeric materials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           10</m:t>
                        </m:r>
                      </m:e>
                      <m:sup>
                        <m:r>
                          <a:rPr lang="en-US" b="0" i="1" smtClean="0">
                            <a:latin typeface="Cambria Math" panose="02040503050406030204" pitchFamily="18" charset="0"/>
                          </a:rPr>
                          <m:t>5</m:t>
                        </m:r>
                      </m:sup>
                    </m:sSup>
                    <m:r>
                      <a:rPr lang="en-US" b="0" i="1" smtClean="0">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7</m:t>
                        </m:r>
                      </m:sup>
                    </m:sSup>
                  </m:oMath>
                </a14:m>
                <a:endParaRPr lang="en-US" b="0" dirty="0"/>
              </a:p>
              <a:p>
                <a:pPr marL="0" indent="0">
                  <a:buNone/>
                </a:pPr>
                <a:r>
                  <a:rPr lang="en-US" dirty="0"/>
                  <a:t>Structural Metals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7</m:t>
                        </m:r>
                      </m:sup>
                    </m:sSup>
                    <m:r>
                      <a:rPr lang="en-US" b="0" i="1" smtClean="0">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9</m:t>
                        </m:r>
                      </m:sup>
                    </m:sSup>
                  </m:oMath>
                </a14:m>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mc:Choice>
        <mc:Fallback xmlns="">
          <p:sp>
            <p:nvSpPr>
              <p:cNvPr id="4" name="Content Placeholder 2">
                <a:extLst>
                  <a:ext uri="{FF2B5EF4-FFF2-40B4-BE49-F238E27FC236}">
                    <a16:creationId xmlns:a16="http://schemas.microsoft.com/office/drawing/2014/main" id="{17C42918-81FD-1220-7C1C-7DA1E7ABD44D}"/>
                  </a:ext>
                </a:extLst>
              </p:cNvPr>
              <p:cNvSpPr txBox="1">
                <a:spLocks noRot="1" noChangeAspect="1" noMove="1" noResize="1" noEditPoints="1" noAdjustHandles="1" noChangeArrowheads="1" noChangeShapeType="1" noTextEdit="1"/>
              </p:cNvSpPr>
              <p:nvPr/>
            </p:nvSpPr>
            <p:spPr>
              <a:xfrm>
                <a:off x="6237849" y="1776388"/>
                <a:ext cx="5764237" cy="4351338"/>
              </a:xfrm>
              <a:prstGeom prst="rect">
                <a:avLst/>
              </a:prstGeom>
              <a:blipFill>
                <a:blip r:embed="rId2"/>
                <a:stretch>
                  <a:fillRect l="-2114" t="-3221" b="-2241"/>
                </a:stretch>
              </a:blipFill>
            </p:spPr>
            <p:txBody>
              <a:bodyPr/>
              <a:lstStyle/>
              <a:p>
                <a:r>
                  <a:rPr lang="en-US">
                    <a:noFill/>
                  </a:rPr>
                  <a:t> </a:t>
                </a:r>
              </a:p>
            </p:txBody>
          </p:sp>
        </mc:Fallback>
      </mc:AlternateContent>
      <p:pic>
        <p:nvPicPr>
          <p:cNvPr id="4098" name="Picture 2" descr="See the source image">
            <a:extLst>
              <a:ext uri="{FF2B5EF4-FFF2-40B4-BE49-F238E27FC236}">
                <a16:creationId xmlns:a16="http://schemas.microsoft.com/office/drawing/2014/main" id="{A0638ECB-0B7C-9EC2-A8C4-2BB0E85FE2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078" y="3862460"/>
            <a:ext cx="2995540" cy="2995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840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175AC-24F4-7039-90D6-2FAEE09F4D0D}"/>
              </a:ext>
            </a:extLst>
          </p:cNvPr>
          <p:cNvSpPr>
            <a:spLocks noGrp="1"/>
          </p:cNvSpPr>
          <p:nvPr>
            <p:ph type="title"/>
          </p:nvPr>
        </p:nvSpPr>
        <p:spPr>
          <a:xfrm>
            <a:off x="1017564" y="61627"/>
            <a:ext cx="10364451" cy="1596177"/>
          </a:xfrm>
        </p:spPr>
        <p:txBody>
          <a:bodyPr/>
          <a:lstStyle/>
          <a:p>
            <a:pPr algn="ctr"/>
            <a:r>
              <a:rPr lang="en-US" dirty="0"/>
              <a:t>DOSE LEVELS AND EFFECTS</a:t>
            </a:r>
          </a:p>
        </p:txBody>
      </p:sp>
      <p:sp>
        <p:nvSpPr>
          <p:cNvPr id="5" name="TextBox 4">
            <a:extLst>
              <a:ext uri="{FF2B5EF4-FFF2-40B4-BE49-F238E27FC236}">
                <a16:creationId xmlns:a16="http://schemas.microsoft.com/office/drawing/2014/main" id="{A38D0D98-743F-BC95-4950-BF52B617640F}"/>
              </a:ext>
            </a:extLst>
          </p:cNvPr>
          <p:cNvSpPr txBox="1"/>
          <p:nvPr/>
        </p:nvSpPr>
        <p:spPr>
          <a:xfrm>
            <a:off x="3473548" y="2277355"/>
            <a:ext cx="5244904" cy="523220"/>
          </a:xfrm>
          <a:prstGeom prst="rect">
            <a:avLst/>
          </a:prstGeom>
          <a:solidFill>
            <a:srgbClr val="00B050"/>
          </a:solidFill>
        </p:spPr>
        <p:txBody>
          <a:bodyPr wrap="square" rtlCol="0">
            <a:spAutoFit/>
          </a:bodyPr>
          <a:lstStyle/>
          <a:p>
            <a:pPr algn="ctr"/>
            <a:r>
              <a:rPr lang="en-US" sz="2800" dirty="0"/>
              <a:t>LIFE LIMIT = 600 mSv (60 REM)</a:t>
            </a:r>
          </a:p>
        </p:txBody>
      </p:sp>
      <p:sp>
        <p:nvSpPr>
          <p:cNvPr id="7" name="TextBox 6">
            <a:extLst>
              <a:ext uri="{FF2B5EF4-FFF2-40B4-BE49-F238E27FC236}">
                <a16:creationId xmlns:a16="http://schemas.microsoft.com/office/drawing/2014/main" id="{6202558D-6407-ACF1-E844-55ED15931231}"/>
              </a:ext>
            </a:extLst>
          </p:cNvPr>
          <p:cNvSpPr txBox="1"/>
          <p:nvPr/>
        </p:nvSpPr>
        <p:spPr>
          <a:xfrm>
            <a:off x="91000" y="1416605"/>
            <a:ext cx="11844996" cy="923330"/>
          </a:xfrm>
          <a:prstGeom prst="rect">
            <a:avLst/>
          </a:prstGeom>
          <a:noFill/>
        </p:spPr>
        <p:txBody>
          <a:bodyPr wrap="square">
            <a:spAutoFit/>
          </a:bodyPr>
          <a:lstStyle/>
          <a:p>
            <a:pPr algn="ctr"/>
            <a:r>
              <a:rPr lang="en-US" dirty="0"/>
              <a:t>Career Space Permissible Exposure Limit for Space Flight Radiation.  An individual astronaut’s total career effective radiation dose due to space flight radiation exposure shall be less than 600 mSv. This limit is universal for all ages and sexes.</a:t>
            </a:r>
          </a:p>
          <a:p>
            <a:pPr algn="ctr"/>
            <a:r>
              <a:rPr lang="en-US" dirty="0"/>
              <a:t>NASA STD 3001</a:t>
            </a:r>
          </a:p>
        </p:txBody>
      </p:sp>
      <p:sp>
        <p:nvSpPr>
          <p:cNvPr id="9" name="TextBox 8">
            <a:extLst>
              <a:ext uri="{FF2B5EF4-FFF2-40B4-BE49-F238E27FC236}">
                <a16:creationId xmlns:a16="http://schemas.microsoft.com/office/drawing/2014/main" id="{5F3AF68E-2FEB-CB6D-29C8-94DC78B9B2BE}"/>
              </a:ext>
            </a:extLst>
          </p:cNvPr>
          <p:cNvSpPr txBox="1"/>
          <p:nvPr/>
        </p:nvSpPr>
        <p:spPr>
          <a:xfrm>
            <a:off x="1017564" y="3155852"/>
            <a:ext cx="3826412" cy="369332"/>
          </a:xfrm>
          <a:prstGeom prst="rect">
            <a:avLst/>
          </a:prstGeom>
          <a:noFill/>
        </p:spPr>
        <p:txBody>
          <a:bodyPr wrap="square" rtlCol="0">
            <a:spAutoFit/>
          </a:bodyPr>
          <a:lstStyle/>
          <a:p>
            <a:r>
              <a:rPr lang="en-US" dirty="0"/>
              <a:t>ACUTE EXPOSURE (SHORT TERM)</a:t>
            </a:r>
          </a:p>
        </p:txBody>
      </p:sp>
      <p:sp>
        <p:nvSpPr>
          <p:cNvPr id="11" name="TextBox 10">
            <a:extLst>
              <a:ext uri="{FF2B5EF4-FFF2-40B4-BE49-F238E27FC236}">
                <a16:creationId xmlns:a16="http://schemas.microsoft.com/office/drawing/2014/main" id="{CFCC8355-1F3A-D4CC-A883-E92B6EFCEB49}"/>
              </a:ext>
            </a:extLst>
          </p:cNvPr>
          <p:cNvSpPr txBox="1"/>
          <p:nvPr/>
        </p:nvSpPr>
        <p:spPr>
          <a:xfrm>
            <a:off x="6805246" y="3155852"/>
            <a:ext cx="3826412" cy="369332"/>
          </a:xfrm>
          <a:prstGeom prst="rect">
            <a:avLst/>
          </a:prstGeom>
          <a:noFill/>
        </p:spPr>
        <p:txBody>
          <a:bodyPr wrap="square" rtlCol="0">
            <a:spAutoFit/>
          </a:bodyPr>
          <a:lstStyle/>
          <a:p>
            <a:r>
              <a:rPr lang="en-US" dirty="0"/>
              <a:t>ACUTE EXPOSURE (LONG TERM)</a:t>
            </a:r>
          </a:p>
        </p:txBody>
      </p:sp>
    </p:spTree>
    <p:extLst>
      <p:ext uri="{BB962C8B-B14F-4D97-AF65-F5344CB8AC3E}">
        <p14:creationId xmlns:p14="http://schemas.microsoft.com/office/powerpoint/2010/main" val="1001243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175AC-24F4-7039-90D6-2FAEE09F4D0D}"/>
              </a:ext>
            </a:extLst>
          </p:cNvPr>
          <p:cNvSpPr>
            <a:spLocks noGrp="1"/>
          </p:cNvSpPr>
          <p:nvPr>
            <p:ph type="title"/>
          </p:nvPr>
        </p:nvSpPr>
        <p:spPr/>
        <p:txBody>
          <a:bodyPr/>
          <a:lstStyle/>
          <a:p>
            <a:pPr algn="ctr"/>
            <a:r>
              <a:rPr lang="en-US" dirty="0"/>
              <a:t>TYPICAL EXPOSURE LEVELS</a:t>
            </a:r>
          </a:p>
        </p:txBody>
      </p:sp>
      <p:sp>
        <p:nvSpPr>
          <p:cNvPr id="5" name="TextBox 4">
            <a:extLst>
              <a:ext uri="{FF2B5EF4-FFF2-40B4-BE49-F238E27FC236}">
                <a16:creationId xmlns:a16="http://schemas.microsoft.com/office/drawing/2014/main" id="{A38D0D98-743F-BC95-4950-BF52B617640F}"/>
              </a:ext>
            </a:extLst>
          </p:cNvPr>
          <p:cNvSpPr txBox="1"/>
          <p:nvPr/>
        </p:nvSpPr>
        <p:spPr>
          <a:xfrm>
            <a:off x="3078480" y="5123717"/>
            <a:ext cx="5244904" cy="523220"/>
          </a:xfrm>
          <a:prstGeom prst="rect">
            <a:avLst/>
          </a:prstGeom>
          <a:solidFill>
            <a:srgbClr val="00B050"/>
          </a:solidFill>
        </p:spPr>
        <p:txBody>
          <a:bodyPr wrap="square" rtlCol="0">
            <a:spAutoFit/>
          </a:bodyPr>
          <a:lstStyle/>
          <a:p>
            <a:pPr algn="ctr"/>
            <a:r>
              <a:rPr lang="en-US" sz="2800" dirty="0"/>
              <a:t>LIFE LIMIT = 600 mSv (60 REM)</a:t>
            </a:r>
          </a:p>
        </p:txBody>
      </p:sp>
      <p:sp>
        <p:nvSpPr>
          <p:cNvPr id="7" name="TextBox 6">
            <a:extLst>
              <a:ext uri="{FF2B5EF4-FFF2-40B4-BE49-F238E27FC236}">
                <a16:creationId xmlns:a16="http://schemas.microsoft.com/office/drawing/2014/main" id="{6202558D-6407-ACF1-E844-55ED15931231}"/>
              </a:ext>
            </a:extLst>
          </p:cNvPr>
          <p:cNvSpPr txBox="1"/>
          <p:nvPr/>
        </p:nvSpPr>
        <p:spPr>
          <a:xfrm>
            <a:off x="173502" y="1733964"/>
            <a:ext cx="5809956" cy="2308324"/>
          </a:xfrm>
          <a:prstGeom prst="rect">
            <a:avLst/>
          </a:prstGeom>
          <a:noFill/>
        </p:spPr>
        <p:txBody>
          <a:bodyPr wrap="square">
            <a:spAutoFit/>
          </a:bodyPr>
          <a:lstStyle/>
          <a:p>
            <a:r>
              <a:rPr lang="en-US" dirty="0"/>
              <a:t>WHERE			TYPICAL LEVEL (REM)</a:t>
            </a:r>
          </a:p>
          <a:p>
            <a:r>
              <a:rPr lang="en-US" dirty="0"/>
              <a:t>Sea level				0.1/year</a:t>
            </a:r>
          </a:p>
          <a:p>
            <a:r>
              <a:rPr lang="en-US" dirty="0"/>
              <a:t>Colorado Springs		0.2/year</a:t>
            </a:r>
          </a:p>
          <a:p>
            <a:r>
              <a:rPr lang="en-US" dirty="0"/>
              <a:t>Chest </a:t>
            </a:r>
            <a:r>
              <a:rPr lang="en-US" dirty="0" err="1"/>
              <a:t>xray</a:t>
            </a:r>
            <a:r>
              <a:rPr lang="en-US" dirty="0"/>
              <a:t>			0.01/year</a:t>
            </a:r>
          </a:p>
          <a:p>
            <a:r>
              <a:rPr lang="en-US" dirty="0"/>
              <a:t>Transcontinental flight	0.004/year</a:t>
            </a:r>
          </a:p>
          <a:p>
            <a:r>
              <a:rPr lang="en-US" dirty="0"/>
              <a:t>Skylab 84 days		17.85 (78/</a:t>
            </a:r>
            <a:r>
              <a:rPr lang="en-US" dirty="0" err="1"/>
              <a:t>yr</a:t>
            </a:r>
            <a:r>
              <a:rPr lang="en-US" dirty="0"/>
              <a:t>)</a:t>
            </a:r>
          </a:p>
          <a:p>
            <a:r>
              <a:rPr lang="en-US" dirty="0"/>
              <a:t>Shuttle 80 days		8.71 (40/</a:t>
            </a:r>
            <a:r>
              <a:rPr lang="en-US" dirty="0" err="1"/>
              <a:t>yr</a:t>
            </a:r>
            <a:r>
              <a:rPr lang="en-US" dirty="0"/>
              <a:t>)</a:t>
            </a:r>
          </a:p>
          <a:p>
            <a:r>
              <a:rPr lang="en-US" dirty="0"/>
              <a:t>ISS 80 days			4 (18/</a:t>
            </a:r>
            <a:r>
              <a:rPr lang="en-US" dirty="0" err="1"/>
              <a:t>yr</a:t>
            </a:r>
            <a:r>
              <a:rPr lang="en-US" dirty="0"/>
              <a:t>)</a:t>
            </a:r>
          </a:p>
        </p:txBody>
      </p:sp>
      <p:sp>
        <p:nvSpPr>
          <p:cNvPr id="8" name="TextBox 7">
            <a:extLst>
              <a:ext uri="{FF2B5EF4-FFF2-40B4-BE49-F238E27FC236}">
                <a16:creationId xmlns:a16="http://schemas.microsoft.com/office/drawing/2014/main" id="{558362A9-4B85-17DE-46E7-18288ECCA2A1}"/>
              </a:ext>
            </a:extLst>
          </p:cNvPr>
          <p:cNvSpPr txBox="1"/>
          <p:nvPr/>
        </p:nvSpPr>
        <p:spPr>
          <a:xfrm>
            <a:off x="5543844" y="1690688"/>
            <a:ext cx="5809956" cy="3139321"/>
          </a:xfrm>
          <a:prstGeom prst="rect">
            <a:avLst/>
          </a:prstGeom>
          <a:noFill/>
        </p:spPr>
        <p:txBody>
          <a:bodyPr wrap="square">
            <a:spAutoFit/>
          </a:bodyPr>
          <a:lstStyle/>
          <a:p>
            <a:r>
              <a:rPr lang="en-US" dirty="0"/>
              <a:t>	REM		EFFECT</a:t>
            </a:r>
          </a:p>
          <a:p>
            <a:r>
              <a:rPr lang="en-US" dirty="0"/>
              <a:t>	5 – 10		Radiation sickness (5 – 10%)</a:t>
            </a:r>
          </a:p>
          <a:p>
            <a:r>
              <a:rPr lang="en-US" dirty="0"/>
              <a:t>	10 – 15		Radiation sickness (25%)</a:t>
            </a:r>
          </a:p>
          <a:p>
            <a:r>
              <a:rPr lang="en-US" dirty="0"/>
              <a:t>	15 – 20		Radiation sickness (50%)</a:t>
            </a:r>
          </a:p>
          <a:p>
            <a:r>
              <a:rPr lang="en-US" dirty="0"/>
              <a:t>	15 – 50		Blood count changes</a:t>
            </a:r>
          </a:p>
          <a:p>
            <a:r>
              <a:rPr lang="en-US" dirty="0"/>
              <a:t>	100			Vomiting</a:t>
            </a:r>
          </a:p>
          <a:p>
            <a:r>
              <a:rPr lang="en-US" dirty="0"/>
              <a:t>	150			Mortality (5 – 25%)</a:t>
            </a:r>
          </a:p>
          <a:p>
            <a:r>
              <a:rPr lang="en-US" dirty="0"/>
              <a:t>	320 – 360	Mortality (50%)</a:t>
            </a:r>
          </a:p>
          <a:p>
            <a:r>
              <a:rPr lang="en-US" dirty="0"/>
              <a:t>	480 – 540	Mortality even with care (50%)</a:t>
            </a:r>
          </a:p>
          <a:p>
            <a:r>
              <a:rPr lang="en-US" dirty="0"/>
              <a:t>	1000		No survivors</a:t>
            </a:r>
          </a:p>
          <a:p>
            <a:endParaRPr lang="en-US" dirty="0"/>
          </a:p>
        </p:txBody>
      </p:sp>
    </p:spTree>
    <p:extLst>
      <p:ext uri="{BB962C8B-B14F-4D97-AF65-F5344CB8AC3E}">
        <p14:creationId xmlns:p14="http://schemas.microsoft.com/office/powerpoint/2010/main" val="4073991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CDC9D9-39EF-A6AC-D610-7B169D0501C6}"/>
              </a:ext>
            </a:extLst>
          </p:cNvPr>
          <p:cNvSpPr>
            <a:spLocks noGrp="1"/>
          </p:cNvSpPr>
          <p:nvPr>
            <p:ph type="sldNum" sz="quarter" idx="12"/>
          </p:nvPr>
        </p:nvSpPr>
        <p:spPr/>
        <p:txBody>
          <a:bodyPr/>
          <a:lstStyle/>
          <a:p>
            <a:fld id="{24520853-C384-4919-8F9A-9CB57A0B2B64}" type="slidenum">
              <a:rPr lang="en-US" smtClean="0"/>
              <a:t>24</a:t>
            </a:fld>
            <a:endParaRPr lang="en-US"/>
          </a:p>
        </p:txBody>
      </p:sp>
      <p:pic>
        <p:nvPicPr>
          <p:cNvPr id="10" name="Picture 9" descr="Color-coded model of the Van Allen radiation belts showing the distribution of trapped charged particles around Earth. Warmer colors represent regions of higher radiation intensity, while cooler colors indicate lower intensity. The highest radiation occurs within the inner and outer radiation belts.">
            <a:extLst>
              <a:ext uri="{FF2B5EF4-FFF2-40B4-BE49-F238E27FC236}">
                <a16:creationId xmlns:a16="http://schemas.microsoft.com/office/drawing/2014/main" id="{874A101A-F982-DA29-3A3E-8D32A2FCB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9636" y="3080657"/>
            <a:ext cx="4670439" cy="3431437"/>
          </a:xfrm>
          <a:prstGeom prst="rect">
            <a:avLst/>
          </a:prstGeom>
        </p:spPr>
      </p:pic>
      <p:pic>
        <p:nvPicPr>
          <p:cNvPr id="6" name="Picture 5">
            <a:extLst>
              <a:ext uri="{FF2B5EF4-FFF2-40B4-BE49-F238E27FC236}">
                <a16:creationId xmlns:a16="http://schemas.microsoft.com/office/drawing/2014/main" id="{F240688D-51B0-FF47-920D-649CE62902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4212" y="345906"/>
            <a:ext cx="4730993" cy="1866996"/>
          </a:xfrm>
          <a:prstGeom prst="rect">
            <a:avLst/>
          </a:prstGeom>
        </p:spPr>
      </p:pic>
      <p:pic>
        <p:nvPicPr>
          <p:cNvPr id="12" name="Picture 11">
            <a:extLst>
              <a:ext uri="{FF2B5EF4-FFF2-40B4-BE49-F238E27FC236}">
                <a16:creationId xmlns:a16="http://schemas.microsoft.com/office/drawing/2014/main" id="{67C69012-5D75-29D8-7E39-D3B6DEFD0E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212902"/>
            <a:ext cx="7760684" cy="1623958"/>
          </a:xfrm>
          <a:prstGeom prst="rect">
            <a:avLst/>
          </a:prstGeom>
        </p:spPr>
      </p:pic>
    </p:spTree>
    <p:extLst>
      <p:ext uri="{BB962C8B-B14F-4D97-AF65-F5344CB8AC3E}">
        <p14:creationId xmlns:p14="http://schemas.microsoft.com/office/powerpoint/2010/main" val="148312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DACD5-A378-5568-43C1-F9912A464431}"/>
              </a:ext>
            </a:extLst>
          </p:cNvPr>
          <p:cNvSpPr>
            <a:spLocks noGrp="1"/>
          </p:cNvSpPr>
          <p:nvPr>
            <p:ph type="title"/>
          </p:nvPr>
        </p:nvSpPr>
        <p:spPr>
          <a:xfrm>
            <a:off x="821627" y="-318976"/>
            <a:ext cx="10364451" cy="1596177"/>
          </a:xfrm>
        </p:spPr>
        <p:txBody>
          <a:bodyPr/>
          <a:lstStyle/>
          <a:p>
            <a:r>
              <a:rPr lang="en-US" dirty="0"/>
              <a:t>HOMEWORK PROBLEM 2</a:t>
            </a:r>
          </a:p>
        </p:txBody>
      </p:sp>
      <p:sp>
        <p:nvSpPr>
          <p:cNvPr id="4" name="Slide Number Placeholder 3">
            <a:extLst>
              <a:ext uri="{FF2B5EF4-FFF2-40B4-BE49-F238E27FC236}">
                <a16:creationId xmlns:a16="http://schemas.microsoft.com/office/drawing/2014/main" id="{10CDC9D9-39EF-A6AC-D610-7B169D0501C6}"/>
              </a:ext>
            </a:extLst>
          </p:cNvPr>
          <p:cNvSpPr>
            <a:spLocks noGrp="1"/>
          </p:cNvSpPr>
          <p:nvPr>
            <p:ph type="sldNum" sz="quarter" idx="12"/>
          </p:nvPr>
        </p:nvSpPr>
        <p:spPr/>
        <p:txBody>
          <a:bodyPr/>
          <a:lstStyle/>
          <a:p>
            <a:fld id="{24520853-C384-4919-8F9A-9CB57A0B2B64}" type="slidenum">
              <a:rPr lang="en-US" smtClean="0"/>
              <a:t>25</a:t>
            </a:fld>
            <a:endParaRPr lang="en-US"/>
          </a:p>
        </p:txBody>
      </p:sp>
      <p:pic>
        <p:nvPicPr>
          <p:cNvPr id="6" name="Picture 5">
            <a:extLst>
              <a:ext uri="{FF2B5EF4-FFF2-40B4-BE49-F238E27FC236}">
                <a16:creationId xmlns:a16="http://schemas.microsoft.com/office/drawing/2014/main" id="{C581D661-3BDB-F80A-1EB3-14BBC0202EF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27" y="835800"/>
            <a:ext cx="6496384" cy="2762392"/>
          </a:xfrm>
          <a:prstGeom prst="rect">
            <a:avLst/>
          </a:prstGeom>
        </p:spPr>
      </p:pic>
      <p:pic>
        <p:nvPicPr>
          <p:cNvPr id="8" name="Picture 7">
            <a:extLst>
              <a:ext uri="{FF2B5EF4-FFF2-40B4-BE49-F238E27FC236}">
                <a16:creationId xmlns:a16="http://schemas.microsoft.com/office/drawing/2014/main" id="{331790E4-7FEA-5B94-C0E1-3C64C49AE3DD}"/>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27" y="3633823"/>
            <a:ext cx="6109014" cy="387370"/>
          </a:xfrm>
          <a:prstGeom prst="rect">
            <a:avLst/>
          </a:prstGeom>
        </p:spPr>
      </p:pic>
      <p:pic>
        <p:nvPicPr>
          <p:cNvPr id="11" name="Picture 10" descr="Logarithmic graph showing absorbed radiation dose as a function of spacecraft shielding thickness during interplanetary travel. Increasing shielding greatly reduces the dose from solar cosmic radiation but has relatively little effect on the dose from galactic cosmic radiation.">
            <a:extLst>
              <a:ext uri="{FF2B5EF4-FFF2-40B4-BE49-F238E27FC236}">
                <a16:creationId xmlns:a16="http://schemas.microsoft.com/office/drawing/2014/main" id="{BDBAD745-C8E8-8C22-A471-4B6F2DB072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6806" y="955276"/>
            <a:ext cx="5621167" cy="5744464"/>
          </a:xfrm>
          <a:prstGeom prst="rect">
            <a:avLst/>
          </a:prstGeom>
        </p:spPr>
      </p:pic>
    </p:spTree>
    <p:extLst>
      <p:ext uri="{BB962C8B-B14F-4D97-AF65-F5344CB8AC3E}">
        <p14:creationId xmlns:p14="http://schemas.microsoft.com/office/powerpoint/2010/main" val="2882529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CDC9D9-39EF-A6AC-D610-7B169D0501C6}"/>
              </a:ext>
            </a:extLst>
          </p:cNvPr>
          <p:cNvSpPr>
            <a:spLocks noGrp="1"/>
          </p:cNvSpPr>
          <p:nvPr>
            <p:ph type="sldNum" sz="quarter" idx="12"/>
          </p:nvPr>
        </p:nvSpPr>
        <p:spPr/>
        <p:txBody>
          <a:bodyPr/>
          <a:lstStyle/>
          <a:p>
            <a:fld id="{24520853-C384-4919-8F9A-9CB57A0B2B64}" type="slidenum">
              <a:rPr lang="en-US" smtClean="0"/>
              <a:t>26</a:t>
            </a:fld>
            <a:endParaRPr lang="en-US"/>
          </a:p>
        </p:txBody>
      </p:sp>
      <p:pic>
        <p:nvPicPr>
          <p:cNvPr id="5" name="Picture 4">
            <a:extLst>
              <a:ext uri="{FF2B5EF4-FFF2-40B4-BE49-F238E27FC236}">
                <a16:creationId xmlns:a16="http://schemas.microsoft.com/office/drawing/2014/main" id="{C566FB17-BBD7-2F02-A25E-97D7243ABC0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74016"/>
            <a:ext cx="6477333" cy="3518081"/>
          </a:xfrm>
          <a:prstGeom prst="rect">
            <a:avLst/>
          </a:prstGeom>
        </p:spPr>
      </p:pic>
      <p:pic>
        <p:nvPicPr>
          <p:cNvPr id="8" name="Picture 7" descr="Diagram of a representative human Mars mission trajectory showing departure from Earth, transfer to Mars, an extended stay on the Martian surface, and return to Earth along separate interplanetary transfer trajectories.">
            <a:extLst>
              <a:ext uri="{FF2B5EF4-FFF2-40B4-BE49-F238E27FC236}">
                <a16:creationId xmlns:a16="http://schemas.microsoft.com/office/drawing/2014/main" id="{F56CFD60-7660-D726-112D-9F6F02E216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5064" y="1474016"/>
            <a:ext cx="5806936" cy="4573035"/>
          </a:xfrm>
          <a:prstGeom prst="rect">
            <a:avLst/>
          </a:prstGeom>
        </p:spPr>
      </p:pic>
      <p:sp>
        <p:nvSpPr>
          <p:cNvPr id="16" name="Title 15">
            <a:extLst>
              <a:ext uri="{FF2B5EF4-FFF2-40B4-BE49-F238E27FC236}">
                <a16:creationId xmlns:a16="http://schemas.microsoft.com/office/drawing/2014/main" id="{E6745823-1981-E4C9-4478-5DCFFF20CDB2}"/>
              </a:ext>
            </a:extLst>
          </p:cNvPr>
          <p:cNvSpPr>
            <a:spLocks noGrp="1"/>
          </p:cNvSpPr>
          <p:nvPr>
            <p:ph type="title"/>
          </p:nvPr>
        </p:nvSpPr>
        <p:spPr>
          <a:xfrm>
            <a:off x="913775" y="12860"/>
            <a:ext cx="10364451" cy="1596177"/>
          </a:xfrm>
        </p:spPr>
        <p:txBody>
          <a:bodyPr/>
          <a:lstStyle/>
          <a:p>
            <a:r>
              <a:rPr lang="en-US" dirty="0"/>
              <a:t>Homework PROBLEM 2</a:t>
            </a:r>
          </a:p>
        </p:txBody>
      </p:sp>
    </p:spTree>
    <p:extLst>
      <p:ext uri="{BB962C8B-B14F-4D97-AF65-F5344CB8AC3E}">
        <p14:creationId xmlns:p14="http://schemas.microsoft.com/office/powerpoint/2010/main" val="3449330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68FBBF1E-1555-488E-8C0C-058E5710BE8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F53966F8-4E34-4797-9621-E8C53362EBA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7" name="Rectangle 16">
            <a:extLst>
              <a:ext uri="{FF2B5EF4-FFF2-40B4-BE49-F238E27FC236}">
                <a16:creationId xmlns:a16="http://schemas.microsoft.com/office/drawing/2014/main" id="{7861DD06-AB17-4E8B-B828-D863D16E2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DB0468DF-40A1-4DCC-AABA-E800DB7102B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lide Number Placeholder 3">
            <a:extLst>
              <a:ext uri="{FF2B5EF4-FFF2-40B4-BE49-F238E27FC236}">
                <a16:creationId xmlns:a16="http://schemas.microsoft.com/office/drawing/2014/main" id="{10CDC9D9-39EF-A6AC-D610-7B169D0501C6}"/>
              </a:ext>
            </a:extLst>
          </p:cNvPr>
          <p:cNvSpPr>
            <a:spLocks noGrp="1"/>
          </p:cNvSpPr>
          <p:nvPr>
            <p:ph type="sldNum" sz="quarter" idx="12"/>
          </p:nvPr>
        </p:nvSpPr>
        <p:spPr>
          <a:xfrm>
            <a:off x="10514011" y="6431916"/>
            <a:ext cx="953392" cy="365125"/>
          </a:xfrm>
        </p:spPr>
        <p:txBody>
          <a:bodyPr vert="horz" lIns="91440" tIns="45720" rIns="91440" bIns="45720" rtlCol="0" anchor="ctr">
            <a:normAutofit/>
          </a:bodyPr>
          <a:lstStyle/>
          <a:p>
            <a:pPr>
              <a:spcAft>
                <a:spcPts val="600"/>
              </a:spcAft>
            </a:pPr>
            <a:fld id="{24520853-C384-4919-8F9A-9CB57A0B2B64}" type="slidenum">
              <a:rPr lang="en-US" kern="1200" dirty="0">
                <a:solidFill>
                  <a:schemeClr val="tx1"/>
                </a:solidFill>
                <a:latin typeface="+mn-lt"/>
                <a:ea typeface="+mn-ea"/>
                <a:cs typeface="+mn-cs"/>
              </a:rPr>
              <a:pPr>
                <a:spcAft>
                  <a:spcPts val="600"/>
                </a:spcAft>
              </a:pPr>
              <a:t>27</a:t>
            </a:fld>
            <a:endParaRPr lang="en-US" kern="1200" dirty="0">
              <a:solidFill>
                <a:schemeClr val="tx1"/>
              </a:solidFill>
              <a:latin typeface="+mn-lt"/>
              <a:ea typeface="+mn-ea"/>
              <a:cs typeface="+mn-cs"/>
            </a:endParaRPr>
          </a:p>
        </p:txBody>
      </p:sp>
      <p:pic>
        <p:nvPicPr>
          <p:cNvPr id="3" name="Picture 2">
            <a:extLst>
              <a:ext uri="{FF2B5EF4-FFF2-40B4-BE49-F238E27FC236}">
                <a16:creationId xmlns:a16="http://schemas.microsoft.com/office/drawing/2014/main" id="{824EBC3D-FF91-F245-A014-6032D33E427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 y="0"/>
            <a:ext cx="6147116" cy="2571882"/>
          </a:xfrm>
          <a:prstGeom prst="rect">
            <a:avLst/>
          </a:prstGeom>
        </p:spPr>
      </p:pic>
      <p:pic>
        <p:nvPicPr>
          <p:cNvPr id="7" name="Picture 6" descr="Global maps of the modeled cosmic-ray radiation environment on the surface of Mars. Colors represent annual radiation dose equivalent, showing that radiation exposure varies across the planet because of differences in elevation and atmospheric shielding.">
            <a:extLst>
              <a:ext uri="{FF2B5EF4-FFF2-40B4-BE49-F238E27FC236}">
                <a16:creationId xmlns:a16="http://schemas.microsoft.com/office/drawing/2014/main" id="{762DD1AA-84A3-875D-F175-6640F53CC8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6634" y="2571882"/>
            <a:ext cx="5553842" cy="4286118"/>
          </a:xfrm>
          <a:prstGeom prst="rect">
            <a:avLst/>
          </a:prstGeom>
        </p:spPr>
      </p:pic>
      <p:pic>
        <p:nvPicPr>
          <p:cNvPr id="10" name="Picture 9">
            <a:extLst>
              <a:ext uri="{FF2B5EF4-FFF2-40B4-BE49-F238E27FC236}">
                <a16:creationId xmlns:a16="http://schemas.microsoft.com/office/drawing/2014/main" id="{0961C8D9-843C-B12D-9E93-C140911FD0A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51706" y="2631449"/>
            <a:ext cx="5939064" cy="1595099"/>
          </a:xfrm>
          <a:prstGeom prst="rect">
            <a:avLst/>
          </a:prstGeom>
        </p:spPr>
      </p:pic>
      <p:sp>
        <p:nvSpPr>
          <p:cNvPr id="11" name="Title 10">
            <a:extLst>
              <a:ext uri="{FF2B5EF4-FFF2-40B4-BE49-F238E27FC236}">
                <a16:creationId xmlns:a16="http://schemas.microsoft.com/office/drawing/2014/main" id="{7CD21A69-B77A-D01C-7282-74A87231DAF4}"/>
              </a:ext>
            </a:extLst>
          </p:cNvPr>
          <p:cNvSpPr>
            <a:spLocks noGrp="1"/>
          </p:cNvSpPr>
          <p:nvPr>
            <p:ph type="title"/>
          </p:nvPr>
        </p:nvSpPr>
        <p:spPr>
          <a:xfrm>
            <a:off x="6042729" y="1311337"/>
            <a:ext cx="6253656" cy="434856"/>
          </a:xfrm>
        </p:spPr>
        <p:txBody>
          <a:bodyPr>
            <a:normAutofit fontScale="90000"/>
          </a:bodyPr>
          <a:lstStyle/>
          <a:p>
            <a:r>
              <a:rPr lang="en-US" dirty="0"/>
              <a:t>Homework problem 2 (</a:t>
            </a:r>
            <a:r>
              <a:rPr lang="en-US" dirty="0" err="1"/>
              <a:t>cont</a:t>
            </a:r>
            <a:r>
              <a:rPr lang="en-US" dirty="0"/>
              <a:t>)</a:t>
            </a:r>
          </a:p>
        </p:txBody>
      </p:sp>
    </p:spTree>
    <p:extLst>
      <p:ext uri="{BB962C8B-B14F-4D97-AF65-F5344CB8AC3E}">
        <p14:creationId xmlns:p14="http://schemas.microsoft.com/office/powerpoint/2010/main" val="2121253253"/>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gradFill rotWithShape="1">
            <a:gsLst>
              <a:gs pos="0">
                <a:schemeClr val="bg1">
                  <a:tint val="90000"/>
                  <a:lumMod val="110000"/>
                </a:schemeClr>
              </a:gs>
              <a:gs pos="100000">
                <a:schemeClr val="bg1">
                  <a:shade val="64000"/>
                  <a:lumMod val="88000"/>
                </a:schemeClr>
              </a:gs>
            </a:gsLst>
            <a:lin ang="5400000" scaled="0"/>
          </a:gradFill>
          <a:ln>
            <a:noFill/>
          </a:ln>
          <a:effectLst/>
        </p:spPr>
        <p:txBody>
          <a:bodyPr/>
          <a:lstStyle/>
          <a:p>
            <a:endParaRPr lang="en-US"/>
          </a:p>
        </p:txBody>
      </p:sp>
      <p:pic>
        <p:nvPicPr>
          <p:cNvPr id="11" name="Picture 2" descr="A picture containing electronics&#10;&#10;Description generated with high confidence"/>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picture containing thing&#10;&#10;Description generated with high confidence"/>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Rectangle 14">
            <a:extLs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solidFill>
            <a:schemeClr val="tx1">
              <a:lumMod val="95000"/>
              <a:lumOff val="5000"/>
            </a:schemeClr>
          </a:solidFill>
          <a:ln>
            <a:noFill/>
          </a:ln>
          <a:effectLst>
            <a:outerShdw blurRad="88900" dist="254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18" descr="A picture containing thing&#10;&#10;Description generated with high confidence"/>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Title 1">
            <a:extLst>
              <a:ext uri="{FF2B5EF4-FFF2-40B4-BE49-F238E27FC236}">
                <a16:creationId xmlns:a16="http://schemas.microsoft.com/office/drawing/2014/main" id="{65AF3C92-8B92-49DC-A7B4-5BD379644949}"/>
              </a:ext>
            </a:extLst>
          </p:cNvPr>
          <p:cNvSpPr>
            <a:spLocks noGrp="1"/>
          </p:cNvSpPr>
          <p:nvPr>
            <p:ph type="title"/>
          </p:nvPr>
        </p:nvSpPr>
        <p:spPr>
          <a:xfrm>
            <a:off x="959896" y="960814"/>
            <a:ext cx="2732249" cy="4912936"/>
          </a:xfrm>
        </p:spPr>
        <p:txBody>
          <a:bodyPr vert="horz" lIns="91440" tIns="45720" rIns="91440" bIns="45720" rtlCol="0" anchor="b">
            <a:normAutofit/>
          </a:bodyPr>
          <a:lstStyle/>
          <a:p>
            <a:pPr algn="r"/>
            <a:r>
              <a:rPr lang="en-US" sz="4000" dirty="0">
                <a:solidFill>
                  <a:schemeClr val="bg1"/>
                </a:solidFill>
              </a:rPr>
              <a:t>REFERENCES</a:t>
            </a:r>
          </a:p>
        </p:txBody>
      </p:sp>
      <p:sp>
        <p:nvSpPr>
          <p:cNvPr id="3" name="Slide Number Placeholder 2">
            <a:extLst>
              <a:ext uri="{FF2B5EF4-FFF2-40B4-BE49-F238E27FC236}">
                <a16:creationId xmlns:a16="http://schemas.microsoft.com/office/drawing/2014/main" id="{AB98A346-860C-40AF-9268-05BB4DF5849E}"/>
              </a:ext>
            </a:extLst>
          </p:cNvPr>
          <p:cNvSpPr>
            <a:spLocks noGrp="1"/>
          </p:cNvSpPr>
          <p:nvPr>
            <p:ph type="sldNum" sz="quarter" idx="12"/>
          </p:nvPr>
        </p:nvSpPr>
        <p:spPr>
          <a:xfrm>
            <a:off x="10385779" y="5883275"/>
            <a:ext cx="841021" cy="365125"/>
          </a:xfrm>
        </p:spPr>
        <p:txBody>
          <a:bodyPr vert="horz" lIns="91440" tIns="45720" rIns="91440" bIns="45720" rtlCol="0" anchor="ctr">
            <a:normAutofit/>
          </a:bodyPr>
          <a:lstStyle/>
          <a:p>
            <a:fld id="{C83C362F-97FB-4C1E-B0F0-C3069DD0CDD1}" type="slidenum">
              <a:rPr lang="en-US" kern="1200" dirty="0">
                <a:solidFill>
                  <a:schemeClr val="tx1"/>
                </a:solidFill>
                <a:latin typeface="+mn-lt"/>
                <a:ea typeface="+mn-ea"/>
                <a:cs typeface="+mn-cs"/>
              </a:rPr>
              <a:pPr/>
              <a:t>28</a:t>
            </a:fld>
            <a:endParaRPr lang="en-US" kern="1200" dirty="0">
              <a:solidFill>
                <a:schemeClr val="tx1"/>
              </a:solidFill>
              <a:latin typeface="+mn-lt"/>
              <a:ea typeface="+mn-ea"/>
              <a:cs typeface="+mn-cs"/>
            </a:endParaRPr>
          </a:p>
        </p:txBody>
      </p:sp>
      <p:sp>
        <p:nvSpPr>
          <p:cNvPr id="4" name="TextBox 3">
            <a:extLst>
              <a:ext uri="{FF2B5EF4-FFF2-40B4-BE49-F238E27FC236}">
                <a16:creationId xmlns:a16="http://schemas.microsoft.com/office/drawing/2014/main" id="{17DB62D9-EFF1-454D-B1A7-39368DFC01DC}"/>
              </a:ext>
            </a:extLst>
          </p:cNvPr>
          <p:cNvSpPr txBox="1"/>
          <p:nvPr/>
        </p:nvSpPr>
        <p:spPr>
          <a:xfrm>
            <a:off x="4979078" y="960814"/>
            <a:ext cx="6247722" cy="4830385"/>
          </a:xfrm>
          <a:prstGeom prst="rect">
            <a:avLst/>
          </a:prstGeom>
        </p:spPr>
        <p:txBody>
          <a:bodyPr vert="horz" lIns="91440" tIns="45720" rIns="91440" bIns="45720" rtlCol="0" anchor="ctr">
            <a:normAutofit fontScale="77500" lnSpcReduction="20000"/>
          </a:bodyPr>
          <a:lstStyle/>
          <a:p>
            <a:r>
              <a:rPr lang="en-US" dirty="0" err="1"/>
              <a:t>Braeunig</a:t>
            </a:r>
            <a:r>
              <a:rPr lang="en-US" dirty="0"/>
              <a:t>, Robert A.  (2013.) Rocket and Space Technology.   </a:t>
            </a:r>
            <a:r>
              <a:rPr lang="en-US" i="1" dirty="0"/>
              <a:t>Atmospheric Properties.  </a:t>
            </a:r>
          </a:p>
          <a:p>
            <a:endParaRPr lang="en-US" i="1" dirty="0"/>
          </a:p>
          <a:p>
            <a:r>
              <a:rPr lang="en-US" dirty="0">
                <a:effectLst/>
              </a:rPr>
              <a:t>Cosgrove, A. (2014, September 12). </a:t>
            </a:r>
            <a:r>
              <a:rPr lang="en-US" i="1" dirty="0">
                <a:effectLst/>
              </a:rPr>
              <a:t>Web exclusive: Potential impact of solar flares</a:t>
            </a:r>
            <a:r>
              <a:rPr lang="en-US" dirty="0">
                <a:effectLst/>
              </a:rPr>
              <a:t>. Facility Executive. Retrieved July 10, 2022, from </a:t>
            </a:r>
            <a:r>
              <a:rPr lang="en-US" dirty="0">
                <a:effectLst/>
                <a:hlinkClick r:id="rId4"/>
              </a:rPr>
              <a:t>Potential impact of solar flares</a:t>
            </a:r>
            <a:endParaRPr lang="en-US" dirty="0">
              <a:effectLst/>
            </a:endParaRPr>
          </a:p>
          <a:p>
            <a:endParaRPr lang="en-US" dirty="0"/>
          </a:p>
          <a:p>
            <a:r>
              <a:rPr lang="en-US" dirty="0"/>
              <a:t>ESA.  (19 June 2017.) </a:t>
            </a:r>
            <a:r>
              <a:rPr lang="en-US" i="1" dirty="0"/>
              <a:t>Magnetic Space Tug Could Target Dead Satellites.</a:t>
            </a:r>
          </a:p>
          <a:p>
            <a:endParaRPr lang="en-US" i="1" dirty="0"/>
          </a:p>
          <a:p>
            <a:r>
              <a:rPr lang="en-US" i="1" dirty="0">
                <a:effectLst/>
              </a:rPr>
              <a:t>The largest nuclear test in outer space had startling effects on Hawaii</a:t>
            </a:r>
            <a:r>
              <a:rPr lang="en-US" dirty="0">
                <a:effectLst/>
              </a:rPr>
              <a:t>. (n.d.). Retrieved July 11, 2022, from </a:t>
            </a:r>
            <a:r>
              <a:rPr lang="en-US" dirty="0">
                <a:effectLst/>
                <a:hlinkClick r:id="rId5"/>
              </a:rPr>
              <a:t>https://www.realclearscience.com/blog/2020/01/14/the_largest_nuclear_test_in_outer_space_had_startling_effects_on_hawaii.html</a:t>
            </a:r>
            <a:endParaRPr lang="en-US" dirty="0">
              <a:effectLst/>
            </a:endParaRPr>
          </a:p>
          <a:p>
            <a:endParaRPr lang="en-US" cap="all" dirty="0"/>
          </a:p>
          <a:p>
            <a:r>
              <a:rPr lang="en-US" cap="all" dirty="0"/>
              <a:t>Nasa Biosphere Science Research Portal. (2 June 2017.)  Research Highlights Feb 2016.</a:t>
            </a:r>
          </a:p>
          <a:p>
            <a:endParaRPr lang="en-US" cap="all" dirty="0"/>
          </a:p>
          <a:p>
            <a:r>
              <a:rPr lang="en-US" dirty="0"/>
              <a:t>OpenAI, </a:t>
            </a:r>
            <a:r>
              <a:rPr lang="en-US" i="1" dirty="0"/>
              <a:t>ChatGPT</a:t>
            </a:r>
            <a:r>
              <a:rPr lang="en-US" dirty="0"/>
              <a:t> (GPT-5.5) with DALL·E image generation, "Solar Wind Illustration," AI-generated image, July 25, 2026. Slide 9</a:t>
            </a:r>
            <a:endParaRPr lang="en-US" cap="all" dirty="0"/>
          </a:p>
          <a:p>
            <a:endParaRPr lang="en-US" i="1" dirty="0"/>
          </a:p>
          <a:p>
            <a:r>
              <a:rPr lang="en-US" dirty="0"/>
              <a:t>Space Propulsion.  (2017.)  Propellant Tanks.</a:t>
            </a:r>
          </a:p>
          <a:p>
            <a:endParaRPr lang="en-US" dirty="0"/>
          </a:p>
          <a:p>
            <a:r>
              <a:rPr lang="en-US" dirty="0">
                <a:effectLst/>
              </a:rPr>
              <a:t>Tran, L. (2020, July 31). </a:t>
            </a:r>
            <a:r>
              <a:rPr lang="en-US" i="1" dirty="0">
                <a:effectLst/>
              </a:rPr>
              <a:t>NASA Sun Data helps new model predict big solar flares</a:t>
            </a:r>
            <a:r>
              <a:rPr lang="en-US" dirty="0">
                <a:effectLst/>
              </a:rPr>
              <a:t>. NASA. Retrieved July 10, 2022, from </a:t>
            </a:r>
            <a:r>
              <a:rPr lang="en-US" dirty="0">
                <a:effectLst/>
                <a:hlinkClick r:id="rId6"/>
              </a:rPr>
              <a:t>https://www.nasa.gov/feature/goddard/2020/nasa-sdo-sun-data-helps-new-model-predict-big-solar-flares</a:t>
            </a:r>
            <a:endParaRPr lang="en-US" dirty="0">
              <a:effectLst/>
            </a:endParaRPr>
          </a:p>
          <a:p>
            <a:r>
              <a:rPr lang="en-US" dirty="0">
                <a:effectLst/>
              </a:rPr>
              <a:t> </a:t>
            </a:r>
          </a:p>
          <a:p>
            <a:endParaRPr lang="en-US" dirty="0"/>
          </a:p>
          <a:p>
            <a:pPr defTabSz="914400">
              <a:lnSpc>
                <a:spcPct val="120000"/>
              </a:lnSpc>
              <a:buClr>
                <a:schemeClr val="tx1"/>
              </a:buClr>
            </a:pPr>
            <a:endParaRPr lang="en-US" cap="all" dirty="0"/>
          </a:p>
        </p:txBody>
      </p:sp>
    </p:spTree>
    <p:extLst>
      <p:ext uri="{BB962C8B-B14F-4D97-AF65-F5344CB8AC3E}">
        <p14:creationId xmlns:p14="http://schemas.microsoft.com/office/powerpoint/2010/main" val="159846105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2022</TotalTime>
  <Words>1915</Words>
  <Application>Microsoft Office PowerPoint</Application>
  <PresentationFormat>Widescreen</PresentationFormat>
  <Paragraphs>367</Paragraphs>
  <Slides>28</Slides>
  <Notes>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7" baseType="lpstr">
      <vt:lpstr>Arial</vt:lpstr>
      <vt:lpstr>Calibri</vt:lpstr>
      <vt:lpstr>Cambria Math</vt:lpstr>
      <vt:lpstr>Forte Forward</vt:lpstr>
      <vt:lpstr>Symbol</vt:lpstr>
      <vt:lpstr>Times New Roman</vt:lpstr>
      <vt:lpstr>Tw Cen MT</vt:lpstr>
      <vt:lpstr>Droplet</vt:lpstr>
      <vt:lpstr>Bitmap Image</vt:lpstr>
      <vt:lpstr>SPCE 5065 RADIATION ENVIRONMENT</vt:lpstr>
      <vt:lpstr>Jason Ansley</vt:lpstr>
      <vt:lpstr>Fanita Pfau</vt:lpstr>
      <vt:lpstr>Rachel Danover</vt:lpstr>
      <vt:lpstr>Moyiwa Adewumi</vt:lpstr>
      <vt:lpstr>Impact of the Space Environment on Spacecraft Systems</vt:lpstr>
      <vt:lpstr>Radiation Environment and Its Effects</vt:lpstr>
      <vt:lpstr>TYPES</vt:lpstr>
      <vt:lpstr>RADIATION ENVIRONMENT</vt:lpstr>
      <vt:lpstr>PowerPoint Presentation</vt:lpstr>
      <vt:lpstr>Solar Particle Events</vt:lpstr>
      <vt:lpstr>The Van Allen Radiation Belts</vt:lpstr>
      <vt:lpstr>EXAMPLE</vt:lpstr>
      <vt:lpstr>GALACTIC COSMIC RAYS</vt:lpstr>
      <vt:lpstr>NUCLEAR DETONATIONS</vt:lpstr>
      <vt:lpstr>RTGS</vt:lpstr>
      <vt:lpstr>RADIOBIOLOGY</vt:lpstr>
      <vt:lpstr>RADIATION DEFINITIONS</vt:lpstr>
      <vt:lpstr>RADIATION DEFINITIONS - UNITS</vt:lpstr>
      <vt:lpstr>RADIATION ENVIRONMENT DEFINITIONS</vt:lpstr>
      <vt:lpstr>DOSE LEVELS</vt:lpstr>
      <vt:lpstr>DOSE LEVELS AND EFFECTS</vt:lpstr>
      <vt:lpstr>TYPICAL EXPOSURE LEVELS</vt:lpstr>
      <vt:lpstr>PowerPoint Presentation</vt:lpstr>
      <vt:lpstr>HOMEWORK PROBLEM 2</vt:lpstr>
      <vt:lpstr>Homework PROBLEM 2</vt:lpstr>
      <vt:lpstr>Homework problem 2 (cont)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Lynnane George</dc:creator>
  <cp:lastModifiedBy>Lynnane George</cp:lastModifiedBy>
  <cp:revision>65</cp:revision>
  <dcterms:created xsi:type="dcterms:W3CDTF">2017-06-12T22:04:21Z</dcterms:created>
  <dcterms:modified xsi:type="dcterms:W3CDTF">2026-07-29T21:49:47Z</dcterms:modified>
</cp:coreProperties>
</file>